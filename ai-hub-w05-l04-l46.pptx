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L5</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What is an agent?</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ReAct pattern</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Designing tools</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Memory — short-term + long-term</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60-line agent — real code</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5   /   LESSON 5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Tool Use · Reasoning · ReAct</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Paytm deployed an agent in 2025 that not only answers "what is my refund status?" but CALLS the refund system, updates the user, and emails an acknowledgement. That is the difference autonomy makes.
Which support question in your life should be handled by an agent, not a human?</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An LLM that answers is a chatbot. An LLM that acts is an agent.</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Agent = LLM + tools + memory + loop.</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Implement ReAct (Reason-Act-Observe).</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Design function-calling tools.</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Short-term + long-term memory.</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60-line production agent.</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What is an agent?</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Memorise the definition</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ReAct pattern</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Reason → Act → Observe → Repeat</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Designing tools</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What the LLM actually reads</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Memory — short-term +...</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Users expect both</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What is an agent?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Memorise the definition</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What is an agent?</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LLM — the reasoner.
Tools — functions the LLM can call.
Memory — short-term conversation + long-term episodic.
Loop — reason → act → observe → decide.
DEFINITION
L + T + M + Loop
Remove any one, you have a chatbot.</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What is an agent?</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Memorise the definition</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ReAct pattern</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THOUGHT: what do I need to know?
ACTION: call_tool(name, args).
OBSERVATION: parse tool result.
Repeat until done; then FINAL answer.
LOOP
R → A → O
The canonical agent cycle.</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THOUGHT: what do I need to know?</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ACTION: call_tool(name, args)</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OBSERVATION: parse tool result</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Repeat until done; then FINAL answer</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Designing tools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Verb-first name: search_web, query_db.
1–2 line description — the LLM picks based on this.
JSON schema for inputs.
Return concise, structured output.
RULE
Name verb; describe clearly
Vague description = wrong tool call.</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Designing tools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What the LLM actually reads</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Memory — short-term + long-term</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Short-term: running message history.
Long-term: episodic memory in a vector DB.
Working memory: scratchpad for mid-task notes.
Tool output cache: avoid re-calling expensive tools.
DIFFERENTIATOR
Long-term
"Remember last week" is the user's default assumption.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Short-term: running message history</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Long-term: episodic memory in a vector DB</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Working memory: scratchpad for mid-task notes</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Tool output cache: avoid re-calling expensive tools</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3 tools, 10 minutes</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would happen if your agent loops 20 times on one query?</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destructive tool needs human approval?</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task would your family pay for an agent to do?</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Agent = LLM + ? + ? + loop:</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Memory + Speed</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Tools + Memory</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Models + Users</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Queries + DB</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Agent = LLM + ? + ? + loop:</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Tools + Memory</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Tools + memory + reasoning loop</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ReAct steps: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Read-Act-Reset</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Reason-Act-Observe</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Remote-Access-Only</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React-Ask-Output</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ReAct steps: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Reason-Act-Observe</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Reason → Act → Observe → Repeat</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Why cap iterations?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Style</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Infinite loops common</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Speed</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Memory</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Why cap iterations?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Infinite loops common</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Agents can loop forever on confused tasks; always cap</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LLM — the reasoner.
Tools — functions the LLM can call.
Memory — short-term conversation + long-term episodic.
Loop — reason → act → observe → decide.
DEFINITION
L + T + M + Loop
Remove any one, you have a chatbot.</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"Until the user's question is answered."</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What is an agent?</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ReAct pattern</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Designing tools</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Memory — short-term +...</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Ship an agent</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Build a 60-line agent with 3 tools.</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Tools: web_search, calculator, send_email.</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Run ReAct loop; log every step.</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Handle 5 test queries.</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Push to GitHub.</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Deliverable: Repo + 5 (query, trace) examples.</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"Until the user's question is answered."</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5</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Rounded Rectangle 22"/>
          <p:cNvSpPr/>
          <p:nvPr/>
        </p:nvSpPr>
        <p:spPr>
          <a:xfrm>
            <a:off x="548640" y="5669280"/>
            <a:ext cx="11064240" cy="502920"/>
          </a:xfrm>
          <a:prstGeom prst="roundRect">
            <a:avLst/>
          </a:prstGeom>
          <a:solidFill>
            <a:srgbClr val="224036"/>
          </a:solidFill>
          <a:ln w="9525">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7240" y="5669280"/>
            <a:ext cx="10607040" cy="502920"/>
          </a:xfrm>
          <a:prstGeom prst="rect">
            <a:avLst/>
          </a:prstGeom>
          <a:noFill/>
        </p:spPr>
        <p:txBody>
          <a:bodyPr wrap="square" lIns="0" rIns="0" tIns="0" bIns="0" anchor="ctr">
            <a:spAutoFit/>
          </a:bodyPr>
          <a:lstStyle/>
          <a:p>
            <a:pPr algn="l"/>
            <a:r>
              <a:rPr sz="1100" b="1" i="0" spc="400">
                <a:solidFill>
                  <a:srgbClr val="C5E063"/>
                </a:solidFill>
                <a:latin typeface="Calibri"/>
              </a:rPr>
              <a:t>NEXT  →   Lesson 6 — Fine-tuning with LoRA.</a:t>
            </a:r>
          </a:p>
        </p:txBody>
      </p:sp>
      <p:sp>
        <p:nvSpPr>
          <p:cNvPr id="25" name="TextBox 2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6" name="TextBox 2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