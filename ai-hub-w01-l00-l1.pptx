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pic>
        <p:nvPicPr>
          <p:cNvPr id="2" name="Picture 1" descr="cover_hero.jpeg"/>
          <p:cNvPicPr>
            <a:picLocks noChangeAspect="1"/>
          </p:cNvPicPr>
          <p:nvPr/>
        </p:nvPicPr>
        <p:blipFill>
          <a:blip r:embed="rId2"/>
          <a:stretch>
            <a:fillRect/>
          </a:stretch>
        </p:blipFill>
        <p:spPr>
          <a:xfrm>
            <a:off x="6400800" y="0"/>
            <a:ext cx="5790895" cy="6858000"/>
          </a:xfrm>
          <a:prstGeom prst="rect">
            <a:avLst/>
          </a:prstGeom>
        </p:spPr>
      </p:pic>
      <p:sp>
        <p:nvSpPr>
          <p:cNvPr id="3" name="Rectangle 2"/>
          <p:cNvSpPr/>
          <p:nvPr/>
        </p:nvSpPr>
        <p:spPr>
          <a:xfrm>
            <a:off x="6400800" y="0"/>
            <a:ext cx="5790895" cy="6858000"/>
          </a:xfrm>
          <a:prstGeom prst="rect">
            <a:avLst/>
          </a:prstGeom>
          <a:solidFill>
            <a:srgbClr val="1A352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0" y="502920"/>
            <a:ext cx="1188720" cy="1188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0" y="502920"/>
            <a:ext cx="1188720" cy="1188720"/>
          </a:xfrm>
          <a:prstGeom prst="rect">
            <a:avLst/>
          </a:prstGeom>
          <a:noFill/>
        </p:spPr>
        <p:txBody>
          <a:bodyPr wrap="square" lIns="0" rIns="0" tIns="0" bIns="0" anchor="ctr">
            <a:spAutoFit/>
          </a:bodyPr>
          <a:lstStyle/>
          <a:p>
            <a:pPr algn="ctr"/>
            <a:r>
              <a:rPr sz="4400" b="1" i="0">
                <a:solidFill>
                  <a:srgbClr val="2C5244"/>
                </a:solidFill>
                <a:latin typeface="Georgia"/>
              </a:rPr>
              <a:t>L1</a:t>
            </a:r>
          </a:p>
        </p:txBody>
      </p:sp>
      <p:sp>
        <p:nvSpPr>
          <p:cNvPr id="6" name="TextBox 5"/>
          <p:cNvSpPr txBox="1"/>
          <p:nvPr/>
        </p:nvSpPr>
        <p:spPr>
          <a:xfrm>
            <a:off x="6858000" y="2286000"/>
            <a:ext cx="4572000" cy="274320"/>
          </a:xfrm>
          <a:prstGeom prst="rect">
            <a:avLst/>
          </a:prstGeom>
          <a:noFill/>
        </p:spPr>
        <p:txBody>
          <a:bodyPr wrap="square" lIns="0" rIns="0" tIns="0" bIns="0" anchor="t">
            <a:spAutoFit/>
          </a:bodyPr>
          <a:lstStyle/>
          <a:p>
            <a:pPr algn="l"/>
            <a:r>
              <a:rPr sz="1000" b="1" i="0" spc="500">
                <a:solidFill>
                  <a:srgbClr val="C5E063"/>
                </a:solidFill>
                <a:latin typeface="Calibri"/>
              </a:rPr>
              <a:t>WHAT'S INSIDE</a:t>
            </a:r>
          </a:p>
        </p:txBody>
      </p:sp>
      <p:sp>
        <p:nvSpPr>
          <p:cNvPr id="7" name="TextBox 6"/>
          <p:cNvSpPr txBox="1"/>
          <p:nvPr/>
        </p:nvSpPr>
        <p:spPr>
          <a:xfrm>
            <a:off x="6858000" y="2743200"/>
            <a:ext cx="365760" cy="457200"/>
          </a:xfrm>
          <a:prstGeom prst="rect">
            <a:avLst/>
          </a:prstGeom>
          <a:noFill/>
        </p:spPr>
        <p:txBody>
          <a:bodyPr wrap="square" lIns="0" rIns="0" tIns="0" bIns="0" anchor="ctr">
            <a:spAutoFit/>
          </a:bodyPr>
          <a:lstStyle/>
          <a:p>
            <a:pPr algn="l"/>
            <a:r>
              <a:rPr sz="2000" b="1" i="0">
                <a:solidFill>
                  <a:srgbClr val="C5E063"/>
                </a:solidFill>
                <a:latin typeface="Georgia"/>
              </a:rPr>
              <a:t>01</a:t>
            </a:r>
          </a:p>
        </p:txBody>
      </p:sp>
      <p:sp>
        <p:nvSpPr>
          <p:cNvPr id="8" name="TextBox 7"/>
          <p:cNvSpPr txBox="1"/>
          <p:nvPr/>
        </p:nvSpPr>
        <p:spPr>
          <a:xfrm>
            <a:off x="7360920" y="2743200"/>
            <a:ext cx="4663440" cy="502920"/>
          </a:xfrm>
          <a:prstGeom prst="rect">
            <a:avLst/>
          </a:prstGeom>
          <a:noFill/>
        </p:spPr>
        <p:txBody>
          <a:bodyPr wrap="square" lIns="0" rIns="0" tIns="0" bIns="0" anchor="ctr">
            <a:spAutoFit/>
          </a:bodyPr>
          <a:lstStyle/>
          <a:p>
            <a:pPr algn="l"/>
            <a:r>
              <a:rPr sz="1200" b="0" i="0">
                <a:solidFill>
                  <a:srgbClr val="FFFFFF"/>
                </a:solidFill>
                <a:latin typeface="Calibri"/>
              </a:rPr>
              <a:t>Four fields, defined plainly</a:t>
            </a:r>
          </a:p>
        </p:txBody>
      </p:sp>
      <p:sp>
        <p:nvSpPr>
          <p:cNvPr id="9" name="TextBox 8"/>
          <p:cNvSpPr txBox="1"/>
          <p:nvPr/>
        </p:nvSpPr>
        <p:spPr>
          <a:xfrm>
            <a:off x="6858000" y="3337560"/>
            <a:ext cx="365760" cy="457200"/>
          </a:xfrm>
          <a:prstGeom prst="rect">
            <a:avLst/>
          </a:prstGeom>
          <a:noFill/>
        </p:spPr>
        <p:txBody>
          <a:bodyPr wrap="square" lIns="0" rIns="0" tIns="0" bIns="0" anchor="ctr">
            <a:spAutoFit/>
          </a:bodyPr>
          <a:lstStyle/>
          <a:p>
            <a:pPr algn="l"/>
            <a:r>
              <a:rPr sz="2000" b="1" i="0">
                <a:solidFill>
                  <a:srgbClr val="C5E063"/>
                </a:solidFill>
                <a:latin typeface="Georgia"/>
              </a:rPr>
              <a:t>02</a:t>
            </a:r>
          </a:p>
        </p:txBody>
      </p:sp>
      <p:sp>
        <p:nvSpPr>
          <p:cNvPr id="10" name="TextBox 9"/>
          <p:cNvSpPr txBox="1"/>
          <p:nvPr/>
        </p:nvSpPr>
        <p:spPr>
          <a:xfrm>
            <a:off x="7360920" y="3337560"/>
            <a:ext cx="4663440" cy="502920"/>
          </a:xfrm>
          <a:prstGeom prst="rect">
            <a:avLst/>
          </a:prstGeom>
          <a:noFill/>
        </p:spPr>
        <p:txBody>
          <a:bodyPr wrap="square" lIns="0" rIns="0" tIns="0" bIns="0" anchor="ctr">
            <a:spAutoFit/>
          </a:bodyPr>
          <a:lstStyle/>
          <a:p>
            <a:pPr algn="l"/>
            <a:r>
              <a:rPr sz="1200" b="0" i="0">
                <a:solidFill>
                  <a:srgbClr val="FFFFFF"/>
                </a:solidFill>
                <a:latin typeface="Calibri"/>
              </a:rPr>
              <a:t>Seven decades of AI history</a:t>
            </a:r>
          </a:p>
        </p:txBody>
      </p:sp>
      <p:sp>
        <p:nvSpPr>
          <p:cNvPr id="11" name="TextBox 10"/>
          <p:cNvSpPr txBox="1"/>
          <p:nvPr/>
        </p:nvSpPr>
        <p:spPr>
          <a:xfrm>
            <a:off x="6858000" y="3931920"/>
            <a:ext cx="365760" cy="457200"/>
          </a:xfrm>
          <a:prstGeom prst="rect">
            <a:avLst/>
          </a:prstGeom>
          <a:noFill/>
        </p:spPr>
        <p:txBody>
          <a:bodyPr wrap="square" lIns="0" rIns="0" tIns="0" bIns="0" anchor="ctr">
            <a:spAutoFit/>
          </a:bodyPr>
          <a:lstStyle/>
          <a:p>
            <a:pPr algn="l"/>
            <a:r>
              <a:rPr sz="2000" b="1" i="0">
                <a:solidFill>
                  <a:srgbClr val="C5E063"/>
                </a:solidFill>
                <a:latin typeface="Georgia"/>
              </a:rPr>
              <a:t>03</a:t>
            </a:r>
          </a:p>
        </p:txBody>
      </p:sp>
      <p:sp>
        <p:nvSpPr>
          <p:cNvPr id="12" name="TextBox 11"/>
          <p:cNvSpPr txBox="1"/>
          <p:nvPr/>
        </p:nvSpPr>
        <p:spPr>
          <a:xfrm>
            <a:off x="7360920" y="3931920"/>
            <a:ext cx="4663440" cy="502920"/>
          </a:xfrm>
          <a:prstGeom prst="rect">
            <a:avLst/>
          </a:prstGeom>
          <a:noFill/>
        </p:spPr>
        <p:txBody>
          <a:bodyPr wrap="square" lIns="0" rIns="0" tIns="0" bIns="0" anchor="ctr">
            <a:spAutoFit/>
          </a:bodyPr>
          <a:lstStyle/>
          <a:p>
            <a:pPr algn="l"/>
            <a:r>
              <a:rPr sz="1200" b="0" i="0">
                <a:solidFill>
                  <a:srgbClr val="FFFFFF"/>
                </a:solidFill>
                <a:latin typeface="Calibri"/>
              </a:rPr>
              <a:t>How the fields nest inside each other</a:t>
            </a:r>
          </a:p>
        </p:txBody>
      </p:sp>
      <p:sp>
        <p:nvSpPr>
          <p:cNvPr id="13" name="TextBox 12"/>
          <p:cNvSpPr txBox="1"/>
          <p:nvPr/>
        </p:nvSpPr>
        <p:spPr>
          <a:xfrm>
            <a:off x="6858000" y="4526280"/>
            <a:ext cx="365760" cy="457200"/>
          </a:xfrm>
          <a:prstGeom prst="rect">
            <a:avLst/>
          </a:prstGeom>
          <a:noFill/>
        </p:spPr>
        <p:txBody>
          <a:bodyPr wrap="square" lIns="0" rIns="0" tIns="0" bIns="0" anchor="ctr">
            <a:spAutoFit/>
          </a:bodyPr>
          <a:lstStyle/>
          <a:p>
            <a:pPr algn="l"/>
            <a:r>
              <a:rPr sz="2000" b="1" i="0">
                <a:solidFill>
                  <a:srgbClr val="C5E063"/>
                </a:solidFill>
                <a:latin typeface="Georgia"/>
              </a:rPr>
              <a:t>04</a:t>
            </a:r>
          </a:p>
        </p:txBody>
      </p:sp>
      <p:sp>
        <p:nvSpPr>
          <p:cNvPr id="14" name="TextBox 13"/>
          <p:cNvSpPr txBox="1"/>
          <p:nvPr/>
        </p:nvSpPr>
        <p:spPr>
          <a:xfrm>
            <a:off x="7360920" y="4526280"/>
            <a:ext cx="4663440" cy="502920"/>
          </a:xfrm>
          <a:prstGeom prst="rect">
            <a:avLst/>
          </a:prstGeom>
          <a:noFill/>
        </p:spPr>
        <p:txBody>
          <a:bodyPr wrap="square" lIns="0" rIns="0" tIns="0" bIns="0" anchor="ctr">
            <a:spAutoFit/>
          </a:bodyPr>
          <a:lstStyle/>
          <a:p>
            <a:pPr algn="l"/>
            <a:r>
              <a:rPr sz="1200" b="0" i="0">
                <a:solidFill>
                  <a:srgbClr val="FFFFFF"/>
                </a:solidFill>
                <a:latin typeface="Calibri"/>
              </a:rPr>
              <a:t>Recipes vs. learning by example</a:t>
            </a:r>
          </a:p>
        </p:txBody>
      </p:sp>
      <p:sp>
        <p:nvSpPr>
          <p:cNvPr id="15" name="TextBox 14"/>
          <p:cNvSpPr txBox="1"/>
          <p:nvPr/>
        </p:nvSpPr>
        <p:spPr>
          <a:xfrm>
            <a:off x="6858000" y="5120640"/>
            <a:ext cx="365760" cy="457200"/>
          </a:xfrm>
          <a:prstGeom prst="rect">
            <a:avLst/>
          </a:prstGeom>
          <a:noFill/>
        </p:spPr>
        <p:txBody>
          <a:bodyPr wrap="square" lIns="0" rIns="0" tIns="0" bIns="0" anchor="ctr">
            <a:spAutoFit/>
          </a:bodyPr>
          <a:lstStyle/>
          <a:p>
            <a:pPr algn="l"/>
            <a:r>
              <a:rPr sz="2000" b="1" i="0">
                <a:solidFill>
                  <a:srgbClr val="C5E063"/>
                </a:solidFill>
                <a:latin typeface="Georgia"/>
              </a:rPr>
              <a:t>05</a:t>
            </a:r>
          </a:p>
        </p:txBody>
      </p:sp>
      <p:sp>
        <p:nvSpPr>
          <p:cNvPr id="16" name="TextBox 15"/>
          <p:cNvSpPr txBox="1"/>
          <p:nvPr/>
        </p:nvSpPr>
        <p:spPr>
          <a:xfrm>
            <a:off x="7360920" y="5120640"/>
            <a:ext cx="4663440" cy="502920"/>
          </a:xfrm>
          <a:prstGeom prst="rect">
            <a:avLst/>
          </a:prstGeom>
          <a:noFill/>
        </p:spPr>
        <p:txBody>
          <a:bodyPr wrap="square" lIns="0" rIns="0" tIns="0" bIns="0" anchor="ctr">
            <a:spAutoFit/>
          </a:bodyPr>
          <a:lstStyle/>
          <a:p>
            <a:pPr algn="l"/>
            <a:r>
              <a:rPr sz="1200" b="0" i="0">
                <a:solidFill>
                  <a:srgbClr val="FFFFFF"/>
                </a:solidFill>
                <a:latin typeface="Calibri"/>
              </a:rPr>
              <a:t>Where it leads — careers &amp; tools</a:t>
            </a:r>
          </a:p>
        </p:txBody>
      </p:sp>
      <p:sp>
        <p:nvSpPr>
          <p:cNvPr id="17" name="Rectangle 16"/>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29184"/>
            <a:ext cx="7315200" cy="274320"/>
          </a:xfrm>
          <a:prstGeom prst="rect">
            <a:avLst/>
          </a:prstGeom>
          <a:noFill/>
        </p:spPr>
        <p:txBody>
          <a:bodyPr wrap="square" lIns="0" rIns="0" tIns="0" bIns="0" anchor="t">
            <a:spAutoFit/>
          </a:bodyPr>
          <a:lstStyle/>
          <a:p>
            <a:pPr algn="l"/>
            <a:r>
              <a:rPr sz="1100" b="1" i="0" spc="600">
                <a:solidFill>
                  <a:srgbClr val="C5E063"/>
                </a:solidFill>
                <a:latin typeface="Calibri"/>
              </a:rPr>
              <a:t>AI  LEARNING  HUB</a:t>
            </a:r>
          </a:p>
        </p:txBody>
      </p:sp>
      <p:sp>
        <p:nvSpPr>
          <p:cNvPr id="19" name="TextBox 18"/>
          <p:cNvSpPr txBox="1"/>
          <p:nvPr/>
        </p:nvSpPr>
        <p:spPr>
          <a:xfrm>
            <a:off x="548640" y="676656"/>
            <a:ext cx="7315200" cy="274320"/>
          </a:xfrm>
          <a:prstGeom prst="rect">
            <a:avLst/>
          </a:prstGeom>
          <a:noFill/>
        </p:spPr>
        <p:txBody>
          <a:bodyPr wrap="square" lIns="0" rIns="0" tIns="0" bIns="0" anchor="t">
            <a:spAutoFit/>
          </a:bodyPr>
          <a:lstStyle/>
          <a:p>
            <a:pPr algn="l"/>
            <a:r>
              <a:rPr sz="1000" b="1" i="0" spc="400">
                <a:solidFill>
                  <a:srgbClr val="FFFFFF"/>
                </a:solidFill>
                <a:latin typeface="Calibri"/>
              </a:rPr>
              <a:t>WEEK 1   /   LESSON 1   /   45 MINUTES</a:t>
            </a:r>
          </a:p>
        </p:txBody>
      </p:sp>
      <p:sp>
        <p:nvSpPr>
          <p:cNvPr id="20" name="TextBox 19"/>
          <p:cNvSpPr txBox="1"/>
          <p:nvPr/>
        </p:nvSpPr>
        <p:spPr>
          <a:xfrm>
            <a:off x="548640" y="1508760"/>
            <a:ext cx="6400800" cy="2468880"/>
          </a:xfrm>
          <a:prstGeom prst="rect">
            <a:avLst/>
          </a:prstGeom>
          <a:noFill/>
        </p:spPr>
        <p:txBody>
          <a:bodyPr wrap="square" lIns="0" rIns="0" tIns="0" bIns="0" anchor="t">
            <a:spAutoFit/>
          </a:bodyPr>
          <a:lstStyle/>
          <a:p>
            <a:pPr algn="l">
              <a:lnSpc>
                <a:spcPct val="105000"/>
              </a:lnSpc>
            </a:pPr>
            <a:r>
              <a:rPr sz="4000" b="1" i="0">
                <a:solidFill>
                  <a:srgbClr val="FFFFFF"/>
                </a:solidFill>
                <a:latin typeface="Georgia"/>
              </a:rPr>
              <a:t>AI Ecosystem</a:t>
            </a:r>
          </a:p>
        </p:txBody>
      </p:sp>
      <p:sp>
        <p:nvSpPr>
          <p:cNvPr id="21" name="TextBox 20"/>
          <p:cNvSpPr txBox="1"/>
          <p:nvPr/>
        </p:nvSpPr>
        <p:spPr>
          <a:xfrm>
            <a:off x="548640" y="4160520"/>
            <a:ext cx="6400800" cy="1554480"/>
          </a:xfrm>
          <a:prstGeom prst="rect">
            <a:avLst/>
          </a:prstGeom>
          <a:noFill/>
        </p:spPr>
        <p:txBody>
          <a:bodyPr wrap="square" lIns="0" rIns="0" tIns="0" bIns="0" anchor="t">
            <a:spAutoFit/>
          </a:bodyPr>
          <a:lstStyle/>
          <a:p>
            <a:pPr algn="l">
              <a:lnSpc>
                <a:spcPct val="140000"/>
              </a:lnSpc>
            </a:pPr>
            <a:r>
              <a:rPr sz="1200" b="0" i="0">
                <a:solidFill>
                  <a:srgbClr val="E5E7EB"/>
                </a:solidFill>
                <a:latin typeface="Calibri"/>
              </a:rPr>
              <a:t>A clear, simple introduction to Artificial Intelligence, Machine Learning, Deep Learning, and Data Science — and how they fit together. By the end of this lesson, you will know which field a problem belongs to before you choose a tool.</a:t>
            </a:r>
          </a:p>
        </p:txBody>
      </p:sp>
      <p:sp>
        <p:nvSpPr>
          <p:cNvPr id="22" name="TextBox 2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 OF 7</a:t>
            </a:r>
          </a:p>
        </p:txBody>
      </p:sp>
      <p:sp>
        <p:nvSpPr>
          <p:cNvPr id="23" name="TextBox 2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COVER</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1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WHY  THIS  LESSON  MATTERS</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3400" b="0" i="0">
                <a:solidFill>
                  <a:srgbClr val="0F1F1A"/>
                </a:solidFill>
                <a:latin typeface="Georgia"/>
              </a:rPr>
              <a:t>Four words you'll hear every day — only three of them are interchangeable</a:t>
            </a:r>
          </a:p>
        </p:txBody>
      </p:sp>
      <p:sp>
        <p:nvSpPr>
          <p:cNvPr id="7" name="Rectangle 6"/>
          <p:cNvSpPr/>
          <p:nvPr/>
        </p:nvSpPr>
        <p:spPr>
          <a:xfrm>
            <a:off x="548640" y="2697480"/>
            <a:ext cx="457200" cy="45720"/>
          </a:xfrm>
          <a:prstGeom prst="rect">
            <a:avLst/>
          </a:prstGeom>
          <a:solidFill>
            <a:srgbClr val="A6C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AI</a:t>
            </a:r>
          </a:p>
        </p:txBody>
      </p:sp>
      <p:sp>
        <p:nvSpPr>
          <p:cNvPr id="10" name="TextBox 9"/>
          <p:cNvSpPr txBox="1"/>
          <p:nvPr/>
        </p:nvSpPr>
        <p:spPr>
          <a:xfrm>
            <a:off x="77724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~70 yr</a:t>
            </a:r>
          </a:p>
        </p:txBody>
      </p:sp>
      <p:sp>
        <p:nvSpPr>
          <p:cNvPr id="11" name="TextBox 10"/>
          <p:cNvSpPr txBox="1"/>
          <p:nvPr/>
        </p:nvSpPr>
        <p:spPr>
          <a:xfrm>
            <a:off x="77724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Years since the term was coined at Dartmouth, 1956.</a:t>
            </a:r>
          </a:p>
        </p:txBody>
      </p:sp>
      <p:sp>
        <p:nvSpPr>
          <p:cNvPr id="12" name="Rectangle 11"/>
          <p:cNvSpPr/>
          <p:nvPr/>
        </p:nvSpPr>
        <p:spPr>
          <a:xfrm>
            <a:off x="337185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045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ML</a:t>
            </a:r>
          </a:p>
        </p:txBody>
      </p:sp>
      <p:sp>
        <p:nvSpPr>
          <p:cNvPr id="14" name="TextBox 13"/>
          <p:cNvSpPr txBox="1"/>
          <p:nvPr/>
        </p:nvSpPr>
        <p:spPr>
          <a:xfrm>
            <a:off x="360045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Subset</a:t>
            </a:r>
          </a:p>
        </p:txBody>
      </p:sp>
      <p:sp>
        <p:nvSpPr>
          <p:cNvPr id="15" name="TextBox 14"/>
          <p:cNvSpPr txBox="1"/>
          <p:nvPr/>
        </p:nvSpPr>
        <p:spPr>
          <a:xfrm>
            <a:off x="360045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Machine Learning lives inside AI — one method among many.</a:t>
            </a:r>
          </a:p>
        </p:txBody>
      </p:sp>
      <p:sp>
        <p:nvSpPr>
          <p:cNvPr id="16" name="Rectangle 15"/>
          <p:cNvSpPr/>
          <p:nvPr/>
        </p:nvSpPr>
        <p:spPr>
          <a:xfrm>
            <a:off x="619506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366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DL</a:t>
            </a:r>
          </a:p>
        </p:txBody>
      </p:sp>
      <p:sp>
        <p:nvSpPr>
          <p:cNvPr id="18" name="TextBox 17"/>
          <p:cNvSpPr txBox="1"/>
          <p:nvPr/>
        </p:nvSpPr>
        <p:spPr>
          <a:xfrm>
            <a:off x="642366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Subset of ML</a:t>
            </a:r>
          </a:p>
        </p:txBody>
      </p:sp>
      <p:sp>
        <p:nvSpPr>
          <p:cNvPr id="19" name="TextBox 18"/>
          <p:cNvSpPr txBox="1"/>
          <p:nvPr/>
        </p:nvSpPr>
        <p:spPr>
          <a:xfrm>
            <a:off x="642366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Deep Learning is one method *inside* Machine Learning.</a:t>
            </a:r>
          </a:p>
        </p:txBody>
      </p:sp>
      <p:sp>
        <p:nvSpPr>
          <p:cNvPr id="20" name="Rectangle 19"/>
          <p:cNvSpPr/>
          <p:nvPr/>
        </p:nvSpPr>
        <p:spPr>
          <a:xfrm>
            <a:off x="901827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4687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DATA SCIENCE</a:t>
            </a:r>
          </a:p>
        </p:txBody>
      </p:sp>
      <p:sp>
        <p:nvSpPr>
          <p:cNvPr id="22" name="TextBox 21"/>
          <p:cNvSpPr txBox="1"/>
          <p:nvPr/>
        </p:nvSpPr>
        <p:spPr>
          <a:xfrm>
            <a:off x="924687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Sister</a:t>
            </a:r>
          </a:p>
        </p:txBody>
      </p:sp>
      <p:sp>
        <p:nvSpPr>
          <p:cNvPr id="23" name="TextBox 22"/>
          <p:cNvSpPr txBox="1"/>
          <p:nvPr/>
        </p:nvSpPr>
        <p:spPr>
          <a:xfrm>
            <a:off x="924687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Overlaps with all three, but isn't a subset of any.</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1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HOOK</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1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LEARNING OUTCOMES</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2800" b="0" i="0">
                <a:solidFill>
                  <a:srgbClr val="0F1F1A"/>
                </a:solidFill>
                <a:latin typeface="Georgia"/>
              </a:rPr>
              <a:t>By the end of this lesson, you will be able to —</a:t>
            </a:r>
          </a:p>
        </p:txBody>
      </p:sp>
      <p:sp>
        <p:nvSpPr>
          <p:cNvPr id="7" name="Oval 6"/>
          <p:cNvSpPr/>
          <p:nvPr/>
        </p:nvSpPr>
        <p:spPr>
          <a:xfrm>
            <a:off x="54864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9" name="TextBox 8"/>
          <p:cNvSpPr txBox="1"/>
          <p:nvPr/>
        </p:nvSpPr>
        <p:spPr>
          <a:xfrm>
            <a:off x="109728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Define AI, ML, DL and Data Science in your own words.</a:t>
            </a:r>
          </a:p>
        </p:txBody>
      </p:sp>
      <p:sp>
        <p:nvSpPr>
          <p:cNvPr id="10" name="Oval 9"/>
          <p:cNvSpPr/>
          <p:nvPr/>
        </p:nvSpPr>
        <p:spPr>
          <a:xfrm>
            <a:off x="608076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2" name="TextBox 11"/>
          <p:cNvSpPr txBox="1"/>
          <p:nvPr/>
        </p:nvSpPr>
        <p:spPr>
          <a:xfrm>
            <a:off x="662940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Explain how the four fields are related, with the nested diagram.</a:t>
            </a:r>
          </a:p>
        </p:txBody>
      </p:sp>
      <p:sp>
        <p:nvSpPr>
          <p:cNvPr id="13" name="Oval 12"/>
          <p:cNvSpPr/>
          <p:nvPr/>
        </p:nvSpPr>
        <p:spPr>
          <a:xfrm>
            <a:off x="54864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5" name="TextBox 14"/>
          <p:cNvSpPr txBox="1"/>
          <p:nvPr/>
        </p:nvSpPr>
        <p:spPr>
          <a:xfrm>
            <a:off x="109728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Pick the right field for any everyday problem in under ten seconds.</a:t>
            </a:r>
          </a:p>
        </p:txBody>
      </p:sp>
      <p:sp>
        <p:nvSpPr>
          <p:cNvPr id="16" name="Oval 15"/>
          <p:cNvSpPr/>
          <p:nvPr/>
        </p:nvSpPr>
        <p:spPr>
          <a:xfrm>
            <a:off x="608076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8076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8" name="TextBox 17"/>
          <p:cNvSpPr txBox="1"/>
          <p:nvPr/>
        </p:nvSpPr>
        <p:spPr>
          <a:xfrm>
            <a:off x="662940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Spot three common mix-ups that confuse most beginners.</a:t>
            </a:r>
          </a:p>
        </p:txBody>
      </p:sp>
      <p:sp>
        <p:nvSpPr>
          <p:cNvPr id="19" name="Oval 18"/>
          <p:cNvSpPr/>
          <p:nvPr/>
        </p:nvSpPr>
        <p:spPr>
          <a:xfrm>
            <a:off x="548640" y="452628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80"/>
            <a:ext cx="411480" cy="41148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1" name="TextBox 20"/>
          <p:cNvSpPr txBox="1"/>
          <p:nvPr/>
        </p:nvSpPr>
        <p:spPr>
          <a:xfrm>
            <a:off x="1097280" y="448056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Map a real Indian system to the field that drives its result.</a:t>
            </a:r>
          </a:p>
        </p:txBody>
      </p:sp>
      <p:sp>
        <p:nvSpPr>
          <p:cNvPr id="22" name="TextBox 2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1 OF 7</a:t>
            </a:r>
          </a:p>
        </p:txBody>
      </p:sp>
      <p:sp>
        <p:nvSpPr>
          <p:cNvPr id="23" name="TextBox 2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OUTCOMES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AGENDA</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3000" b="0" i="0">
                <a:solidFill>
                  <a:srgbClr val="FFFFFF"/>
                </a:solidFill>
                <a:latin typeface="Georgia"/>
              </a:rPr>
              <a:t>What we'll cover today</a:t>
            </a:r>
          </a:p>
        </p:txBody>
      </p:sp>
      <p:sp>
        <p:nvSpPr>
          <p:cNvPr id="7" name="TextBox 6"/>
          <p:cNvSpPr txBox="1"/>
          <p:nvPr/>
        </p:nvSpPr>
        <p:spPr>
          <a:xfrm>
            <a:off x="548640" y="2286000"/>
            <a:ext cx="100584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Short, sequenced parts. Each one builds on the last.</a:t>
            </a:r>
          </a:p>
        </p:txBody>
      </p:sp>
      <p:sp>
        <p:nvSpPr>
          <p:cNvPr id="8" name="Rectangle 7"/>
          <p:cNvSpPr/>
          <p:nvPr/>
        </p:nvSpPr>
        <p:spPr>
          <a:xfrm>
            <a:off x="54864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01</a:t>
            </a:r>
          </a:p>
        </p:txBody>
      </p:sp>
      <p:sp>
        <p:nvSpPr>
          <p:cNvPr id="10" name="TextBox 9"/>
          <p:cNvSpPr txBox="1"/>
          <p:nvPr/>
        </p:nvSpPr>
        <p:spPr>
          <a:xfrm>
            <a:off x="77724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The four fields</a:t>
            </a:r>
          </a:p>
        </p:txBody>
      </p:sp>
      <p:sp>
        <p:nvSpPr>
          <p:cNvPr id="11" name="TextBox 10"/>
          <p:cNvSpPr txBox="1"/>
          <p:nvPr/>
        </p:nvSpPr>
        <p:spPr>
          <a:xfrm>
            <a:off x="77724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Plain-language definitions of AI, ML, DL and Data Science — one example each.</a:t>
            </a:r>
          </a:p>
        </p:txBody>
      </p:sp>
      <p:sp>
        <p:nvSpPr>
          <p:cNvPr id="12" name="Rectangle 11"/>
          <p:cNvSpPr/>
          <p:nvPr/>
        </p:nvSpPr>
        <p:spPr>
          <a:xfrm>
            <a:off x="336042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8902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02</a:t>
            </a:r>
          </a:p>
        </p:txBody>
      </p:sp>
      <p:sp>
        <p:nvSpPr>
          <p:cNvPr id="14" name="TextBox 13"/>
          <p:cNvSpPr txBox="1"/>
          <p:nvPr/>
        </p:nvSpPr>
        <p:spPr>
          <a:xfrm>
            <a:off x="358902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How they fit together</a:t>
            </a:r>
          </a:p>
        </p:txBody>
      </p:sp>
      <p:sp>
        <p:nvSpPr>
          <p:cNvPr id="15" name="TextBox 14"/>
          <p:cNvSpPr txBox="1"/>
          <p:nvPr/>
        </p:nvSpPr>
        <p:spPr>
          <a:xfrm>
            <a:off x="358902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DL inside ML, ML inside AI, Data Science overlapping all three.</a:t>
            </a:r>
          </a:p>
        </p:txBody>
      </p:sp>
      <p:sp>
        <p:nvSpPr>
          <p:cNvPr id="16" name="Rectangle 15"/>
          <p:cNvSpPr/>
          <p:nvPr/>
        </p:nvSpPr>
        <p:spPr>
          <a:xfrm>
            <a:off x="617220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03</a:t>
            </a:r>
          </a:p>
        </p:txBody>
      </p:sp>
      <p:sp>
        <p:nvSpPr>
          <p:cNvPr id="18" name="TextBox 17"/>
          <p:cNvSpPr txBox="1"/>
          <p:nvPr/>
        </p:nvSpPr>
        <p:spPr>
          <a:xfrm>
            <a:off x="640080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Recipes vs. learning</a:t>
            </a:r>
          </a:p>
        </p:txBody>
      </p:sp>
      <p:sp>
        <p:nvSpPr>
          <p:cNvPr id="19" name="TextBox 18"/>
          <p:cNvSpPr txBox="1"/>
          <p:nvPr/>
        </p:nvSpPr>
        <p:spPr>
          <a:xfrm>
            <a:off x="640080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The single analogy that separates traditional code from Machine Learning.</a:t>
            </a:r>
          </a:p>
        </p:txBody>
      </p:sp>
      <p:sp>
        <p:nvSpPr>
          <p:cNvPr id="20" name="Rectangle 19"/>
          <p:cNvSpPr/>
          <p:nvPr/>
        </p:nvSpPr>
        <p:spPr>
          <a:xfrm>
            <a:off x="898398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1258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04</a:t>
            </a:r>
          </a:p>
        </p:txBody>
      </p:sp>
      <p:sp>
        <p:nvSpPr>
          <p:cNvPr id="22" name="TextBox 21"/>
          <p:cNvSpPr txBox="1"/>
          <p:nvPr/>
        </p:nvSpPr>
        <p:spPr>
          <a:xfrm>
            <a:off x="921258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Where it leads</a:t>
            </a:r>
          </a:p>
        </p:txBody>
      </p:sp>
      <p:sp>
        <p:nvSpPr>
          <p:cNvPr id="23" name="TextBox 22"/>
          <p:cNvSpPr txBox="1"/>
          <p:nvPr/>
        </p:nvSpPr>
        <p:spPr>
          <a:xfrm>
            <a:off x="921258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Real Indian systems and the career paths that grow from each field.</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AGENDA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01</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1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The four fields, defined plainly</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One slide per field — definition on the left, real-world example on the right.</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FIELD 1 OF 4   ·   ARTIFICIAL INTELLIGENCE</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AI is the umbrella — about 70 years of it</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Artificial Intelligence is the broadest of the four fields. It is any technique that makes a machine perform a task that would normally need human-like thinking — perceiving, deciding, responding.
AI includes everything below: rule-based systems, expert systems, Machine Learning, Deep Learning. The umbrella covers them all.</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DEFINITION</a:t>
            </a:r>
          </a:p>
        </p:txBody>
      </p:sp>
      <p:sp>
        <p:nvSpPr>
          <p:cNvPr id="10" name="TextBox 9"/>
          <p:cNvSpPr txBox="1"/>
          <p:nvPr/>
        </p:nvSpPr>
        <p:spPr>
          <a:xfrm>
            <a:off x="7589520" y="2057400"/>
            <a:ext cx="3749040" cy="1188720"/>
          </a:xfrm>
          <a:prstGeom prst="rect">
            <a:avLst/>
          </a:prstGeom>
          <a:noFill/>
        </p:spPr>
        <p:txBody>
          <a:bodyPr wrap="square" lIns="0" rIns="0" tIns="0" bIns="0" anchor="t">
            <a:spAutoFit/>
          </a:bodyPr>
          <a:lstStyle/>
          <a:p>
            <a:pPr algn="l"/>
            <a:r>
              <a:rPr sz="2400" b="1" i="0">
                <a:solidFill>
                  <a:srgbClr val="FFFFFF"/>
                </a:solidFill>
                <a:latin typeface="Georgia"/>
              </a:rPr>
              <a:t>Artificial Intelligence</a:t>
            </a:r>
          </a:p>
        </p:txBody>
      </p:sp>
      <p:sp>
        <p:nvSpPr>
          <p:cNvPr id="11" name="TextBox 10"/>
          <p:cNvSpPr txBox="1"/>
          <p:nvPr/>
        </p:nvSpPr>
        <p:spPr>
          <a:xfrm>
            <a:off x="7589520" y="3246120"/>
            <a:ext cx="3749040" cy="13716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Making machines do tasks that need human-like thinking — from simple rules to advanced learning.</a:t>
            </a:r>
          </a:p>
        </p:txBody>
      </p:sp>
      <p:sp>
        <p:nvSpPr>
          <p:cNvPr id="12" name="Rectangle 11"/>
          <p:cNvSpPr/>
          <p:nvPr/>
        </p:nvSpPr>
        <p:spPr>
          <a:xfrm>
            <a:off x="7589520" y="4892040"/>
            <a:ext cx="365760" cy="36576"/>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5029200"/>
            <a:ext cx="3749040" cy="274320"/>
          </a:xfrm>
          <a:prstGeom prst="rect">
            <a:avLst/>
          </a:prstGeom>
          <a:noFill/>
        </p:spPr>
        <p:txBody>
          <a:bodyPr wrap="square" lIns="0" rIns="0" tIns="0" bIns="0" anchor="t">
            <a:spAutoFit/>
          </a:bodyPr>
          <a:lstStyle/>
          <a:p>
            <a:pPr algn="l"/>
            <a:r>
              <a:rPr sz="900" b="1" i="0" spc="500">
                <a:solidFill>
                  <a:srgbClr val="C5E063"/>
                </a:solidFill>
                <a:latin typeface="Calibri"/>
              </a:rPr>
              <a:t>EXAMPLE</a:t>
            </a:r>
          </a:p>
        </p:txBody>
      </p:sp>
      <p:sp>
        <p:nvSpPr>
          <p:cNvPr id="14" name="TextBox 13"/>
          <p:cNvSpPr txBox="1"/>
          <p:nvPr/>
        </p:nvSpPr>
        <p:spPr>
          <a:xfrm>
            <a:off x="7589520" y="5303520"/>
            <a:ext cx="3749040" cy="548640"/>
          </a:xfrm>
          <a:prstGeom prst="rect">
            <a:avLst/>
          </a:prstGeom>
          <a:noFill/>
        </p:spPr>
        <p:txBody>
          <a:bodyPr wrap="square" lIns="0" rIns="0" tIns="0" bIns="0" anchor="t">
            <a:spAutoFit/>
          </a:bodyPr>
          <a:lstStyle/>
          <a:p>
            <a:pPr algn="l">
              <a:lnSpc>
                <a:spcPct val="135000"/>
              </a:lnSpc>
            </a:pPr>
            <a:r>
              <a:rPr sz="1100" b="0" i="1">
                <a:solidFill>
                  <a:srgbClr val="FFFFFF"/>
                </a:solidFill>
                <a:latin typeface="Calibri"/>
              </a:rPr>
              <a:t>A traffic-light system that switches signals based on programmed rules, with no data or learning, is still AI.</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AI</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1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A  SHORT  HISTORY  OF  AI</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Seven decades, three winters, one revolution</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475569"/>
                </a:solidFill>
                <a:latin typeface="Calibri"/>
              </a:rPr>
              <a:t>Each era built the foundation the next era stood on. The names changed; the ambition did not.</a:t>
            </a:r>
          </a:p>
        </p:txBody>
      </p:sp>
      <p:sp>
        <p:nvSpPr>
          <p:cNvPr id="8" name="Rectangle 7"/>
          <p:cNvSpPr/>
          <p:nvPr/>
        </p:nvSpPr>
        <p:spPr>
          <a:xfrm>
            <a:off x="548640" y="3200400"/>
            <a:ext cx="2081174" cy="50292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200400"/>
            <a:ext cx="2081174" cy="502920"/>
          </a:xfrm>
          <a:prstGeom prst="rect">
            <a:avLst/>
          </a:prstGeom>
          <a:noFill/>
        </p:spPr>
        <p:txBody>
          <a:bodyPr wrap="square" lIns="0" rIns="0" tIns="0" bIns="0" anchor="ctr">
            <a:spAutoFit/>
          </a:bodyPr>
          <a:lstStyle/>
          <a:p>
            <a:pPr algn="ctr"/>
            <a:r>
              <a:rPr sz="1000" b="1" i="0" spc="400">
                <a:solidFill>
                  <a:srgbClr val="C5E063"/>
                </a:solidFill>
                <a:latin typeface="Calibri"/>
              </a:rPr>
              <a:t>STEP 1</a:t>
            </a:r>
          </a:p>
        </p:txBody>
      </p:sp>
      <p:sp>
        <p:nvSpPr>
          <p:cNvPr id="10" name="Rectangle 9"/>
          <p:cNvSpPr/>
          <p:nvPr/>
        </p:nvSpPr>
        <p:spPr>
          <a:xfrm>
            <a:off x="548640" y="3703320"/>
            <a:ext cx="2081174" cy="24688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3840480"/>
            <a:ext cx="1751990" cy="502920"/>
          </a:xfrm>
          <a:prstGeom prst="rect">
            <a:avLst/>
          </a:prstGeom>
          <a:noFill/>
        </p:spPr>
        <p:txBody>
          <a:bodyPr wrap="square" lIns="0" rIns="0" tIns="0" bIns="0" anchor="t">
            <a:spAutoFit/>
          </a:bodyPr>
          <a:lstStyle/>
          <a:p>
            <a:pPr algn="l">
              <a:lnSpc>
                <a:spcPct val="115000"/>
              </a:lnSpc>
            </a:pPr>
            <a:r>
              <a:rPr sz="1400" b="1" i="0">
                <a:solidFill>
                  <a:srgbClr val="0F1F1A"/>
                </a:solidFill>
                <a:latin typeface="Georgia"/>
              </a:rPr>
              <a:t>1950s</a:t>
            </a:r>
          </a:p>
        </p:txBody>
      </p:sp>
      <p:sp>
        <p:nvSpPr>
          <p:cNvPr id="12" name="TextBox 11"/>
          <p:cNvSpPr txBox="1"/>
          <p:nvPr/>
        </p:nvSpPr>
        <p:spPr>
          <a:xfrm>
            <a:off x="713232" y="4389120"/>
            <a:ext cx="1751990" cy="1691640"/>
          </a:xfrm>
          <a:prstGeom prst="rect">
            <a:avLst/>
          </a:prstGeom>
          <a:noFill/>
        </p:spPr>
        <p:txBody>
          <a:bodyPr wrap="square" lIns="0" rIns="0" tIns="0" bIns="0" anchor="t">
            <a:spAutoFit/>
          </a:bodyPr>
          <a:lstStyle/>
          <a:p>
            <a:pPr algn="l">
              <a:lnSpc>
                <a:spcPct val="135000"/>
              </a:lnSpc>
            </a:pPr>
            <a:r>
              <a:rPr sz="1000" b="0" i="0">
                <a:solidFill>
                  <a:srgbClr val="475569"/>
                </a:solidFill>
                <a:latin typeface="Calibri"/>
              </a:rPr>
              <a:t>The dream begins — Dartmouth conference, Turing's question, the term 'AI' is coined.</a:t>
            </a:r>
          </a:p>
        </p:txBody>
      </p:sp>
      <p:sp>
        <p:nvSpPr>
          <p:cNvPr id="13" name="TextBox 12"/>
          <p:cNvSpPr txBox="1"/>
          <p:nvPr/>
        </p:nvSpPr>
        <p:spPr>
          <a:xfrm>
            <a:off x="2492654" y="4389120"/>
            <a:ext cx="274320" cy="365760"/>
          </a:xfrm>
          <a:prstGeom prst="rect">
            <a:avLst/>
          </a:prstGeom>
          <a:noFill/>
        </p:spPr>
        <p:txBody>
          <a:bodyPr wrap="square" lIns="0" rIns="0" tIns="0" bIns="0" anchor="ctr">
            <a:spAutoFit/>
          </a:bodyPr>
          <a:lstStyle/>
          <a:p>
            <a:pPr algn="ctr"/>
            <a:r>
              <a:rPr sz="1800" b="1" i="0">
                <a:solidFill>
                  <a:srgbClr val="0F766E"/>
                </a:solidFill>
                <a:latin typeface="Georgia"/>
              </a:rPr>
              <a:t>→</a:t>
            </a:r>
          </a:p>
        </p:txBody>
      </p:sp>
      <p:sp>
        <p:nvSpPr>
          <p:cNvPr id="14" name="Rectangle 13"/>
          <p:cNvSpPr/>
          <p:nvPr/>
        </p:nvSpPr>
        <p:spPr>
          <a:xfrm>
            <a:off x="2794406" y="3200400"/>
            <a:ext cx="2081174" cy="50292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94406" y="3200400"/>
            <a:ext cx="2081174" cy="502920"/>
          </a:xfrm>
          <a:prstGeom prst="rect">
            <a:avLst/>
          </a:prstGeom>
          <a:noFill/>
        </p:spPr>
        <p:txBody>
          <a:bodyPr wrap="square" lIns="0" rIns="0" tIns="0" bIns="0" anchor="ctr">
            <a:spAutoFit/>
          </a:bodyPr>
          <a:lstStyle/>
          <a:p>
            <a:pPr algn="ctr"/>
            <a:r>
              <a:rPr sz="1000" b="1" i="0" spc="400">
                <a:solidFill>
                  <a:srgbClr val="C5E063"/>
                </a:solidFill>
                <a:latin typeface="Calibri"/>
              </a:rPr>
              <a:t>STEP 2</a:t>
            </a:r>
          </a:p>
        </p:txBody>
      </p:sp>
      <p:sp>
        <p:nvSpPr>
          <p:cNvPr id="16" name="Rectangle 15"/>
          <p:cNvSpPr/>
          <p:nvPr/>
        </p:nvSpPr>
        <p:spPr>
          <a:xfrm>
            <a:off x="2794406" y="3703320"/>
            <a:ext cx="2081174" cy="24688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58998" y="3840480"/>
            <a:ext cx="1751990" cy="502920"/>
          </a:xfrm>
          <a:prstGeom prst="rect">
            <a:avLst/>
          </a:prstGeom>
          <a:noFill/>
        </p:spPr>
        <p:txBody>
          <a:bodyPr wrap="square" lIns="0" rIns="0" tIns="0" bIns="0" anchor="t">
            <a:spAutoFit/>
          </a:bodyPr>
          <a:lstStyle/>
          <a:p>
            <a:pPr algn="l">
              <a:lnSpc>
                <a:spcPct val="115000"/>
              </a:lnSpc>
            </a:pPr>
            <a:r>
              <a:rPr sz="1400" b="1" i="0">
                <a:solidFill>
                  <a:srgbClr val="0F1F1A"/>
                </a:solidFill>
                <a:latin typeface="Georgia"/>
              </a:rPr>
              <a:t>1970s</a:t>
            </a:r>
          </a:p>
        </p:txBody>
      </p:sp>
      <p:sp>
        <p:nvSpPr>
          <p:cNvPr id="18" name="TextBox 17"/>
          <p:cNvSpPr txBox="1"/>
          <p:nvPr/>
        </p:nvSpPr>
        <p:spPr>
          <a:xfrm>
            <a:off x="2958998" y="4389120"/>
            <a:ext cx="1751990" cy="1691640"/>
          </a:xfrm>
          <a:prstGeom prst="rect">
            <a:avLst/>
          </a:prstGeom>
          <a:noFill/>
        </p:spPr>
        <p:txBody>
          <a:bodyPr wrap="square" lIns="0" rIns="0" tIns="0" bIns="0" anchor="t">
            <a:spAutoFit/>
          </a:bodyPr>
          <a:lstStyle/>
          <a:p>
            <a:pPr algn="l">
              <a:lnSpc>
                <a:spcPct val="135000"/>
              </a:lnSpc>
            </a:pPr>
            <a:r>
              <a:rPr sz="1000" b="0" i="0">
                <a:solidFill>
                  <a:srgbClr val="475569"/>
                </a:solidFill>
                <a:latin typeface="Calibri"/>
              </a:rPr>
              <a:t>First AI winter — funding cools, expectations crash, expert systems start to appear.</a:t>
            </a:r>
          </a:p>
        </p:txBody>
      </p:sp>
      <p:sp>
        <p:nvSpPr>
          <p:cNvPr id="19" name="TextBox 18"/>
          <p:cNvSpPr txBox="1"/>
          <p:nvPr/>
        </p:nvSpPr>
        <p:spPr>
          <a:xfrm>
            <a:off x="4738420" y="4389120"/>
            <a:ext cx="274320" cy="365760"/>
          </a:xfrm>
          <a:prstGeom prst="rect">
            <a:avLst/>
          </a:prstGeom>
          <a:noFill/>
        </p:spPr>
        <p:txBody>
          <a:bodyPr wrap="square" lIns="0" rIns="0" tIns="0" bIns="0" anchor="ctr">
            <a:spAutoFit/>
          </a:bodyPr>
          <a:lstStyle/>
          <a:p>
            <a:pPr algn="ctr"/>
            <a:r>
              <a:rPr sz="1800" b="1" i="0">
                <a:solidFill>
                  <a:srgbClr val="0F766E"/>
                </a:solidFill>
                <a:latin typeface="Georgia"/>
              </a:rPr>
              <a:t>→</a:t>
            </a:r>
          </a:p>
        </p:txBody>
      </p:sp>
      <p:sp>
        <p:nvSpPr>
          <p:cNvPr id="20" name="Rectangle 19"/>
          <p:cNvSpPr/>
          <p:nvPr/>
        </p:nvSpPr>
        <p:spPr>
          <a:xfrm>
            <a:off x="5040172" y="3200400"/>
            <a:ext cx="2081174" cy="50292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40172" y="3200400"/>
            <a:ext cx="2081174" cy="502920"/>
          </a:xfrm>
          <a:prstGeom prst="rect">
            <a:avLst/>
          </a:prstGeom>
          <a:noFill/>
        </p:spPr>
        <p:txBody>
          <a:bodyPr wrap="square" lIns="0" rIns="0" tIns="0" bIns="0" anchor="ctr">
            <a:spAutoFit/>
          </a:bodyPr>
          <a:lstStyle/>
          <a:p>
            <a:pPr algn="ctr"/>
            <a:r>
              <a:rPr sz="1000" b="1" i="0" spc="400">
                <a:solidFill>
                  <a:srgbClr val="C5E063"/>
                </a:solidFill>
                <a:latin typeface="Calibri"/>
              </a:rPr>
              <a:t>STEP 3</a:t>
            </a:r>
          </a:p>
        </p:txBody>
      </p:sp>
      <p:sp>
        <p:nvSpPr>
          <p:cNvPr id="22" name="Rectangle 21"/>
          <p:cNvSpPr/>
          <p:nvPr/>
        </p:nvSpPr>
        <p:spPr>
          <a:xfrm>
            <a:off x="5040172" y="3703320"/>
            <a:ext cx="2081174" cy="24688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04764" y="3840480"/>
            <a:ext cx="1751990" cy="502920"/>
          </a:xfrm>
          <a:prstGeom prst="rect">
            <a:avLst/>
          </a:prstGeom>
          <a:noFill/>
        </p:spPr>
        <p:txBody>
          <a:bodyPr wrap="square" lIns="0" rIns="0" tIns="0" bIns="0" anchor="t">
            <a:spAutoFit/>
          </a:bodyPr>
          <a:lstStyle/>
          <a:p>
            <a:pPr algn="l">
              <a:lnSpc>
                <a:spcPct val="115000"/>
              </a:lnSpc>
            </a:pPr>
            <a:r>
              <a:rPr sz="1400" b="1" i="0">
                <a:solidFill>
                  <a:srgbClr val="0F1F1A"/>
                </a:solidFill>
                <a:latin typeface="Georgia"/>
              </a:rPr>
              <a:t>1990s</a:t>
            </a:r>
          </a:p>
        </p:txBody>
      </p:sp>
      <p:sp>
        <p:nvSpPr>
          <p:cNvPr id="24" name="TextBox 23"/>
          <p:cNvSpPr txBox="1"/>
          <p:nvPr/>
        </p:nvSpPr>
        <p:spPr>
          <a:xfrm>
            <a:off x="5204764" y="4389120"/>
            <a:ext cx="1751990" cy="1691640"/>
          </a:xfrm>
          <a:prstGeom prst="rect">
            <a:avLst/>
          </a:prstGeom>
          <a:noFill/>
        </p:spPr>
        <p:txBody>
          <a:bodyPr wrap="square" lIns="0" rIns="0" tIns="0" bIns="0" anchor="t">
            <a:spAutoFit/>
          </a:bodyPr>
          <a:lstStyle/>
          <a:p>
            <a:pPr algn="l">
              <a:lnSpc>
                <a:spcPct val="135000"/>
              </a:lnSpc>
            </a:pPr>
            <a:r>
              <a:rPr sz="1000" b="0" i="0">
                <a:solidFill>
                  <a:srgbClr val="475569"/>
                </a:solidFill>
                <a:latin typeface="Calibri"/>
              </a:rPr>
              <a:t>Statistical machine learning takes over — IBM's Deep Blue beats Kasparov in 1997.</a:t>
            </a:r>
          </a:p>
        </p:txBody>
      </p:sp>
      <p:sp>
        <p:nvSpPr>
          <p:cNvPr id="25" name="TextBox 24"/>
          <p:cNvSpPr txBox="1"/>
          <p:nvPr/>
        </p:nvSpPr>
        <p:spPr>
          <a:xfrm>
            <a:off x="6984187" y="4389120"/>
            <a:ext cx="274320" cy="365760"/>
          </a:xfrm>
          <a:prstGeom prst="rect">
            <a:avLst/>
          </a:prstGeom>
          <a:noFill/>
        </p:spPr>
        <p:txBody>
          <a:bodyPr wrap="square" lIns="0" rIns="0" tIns="0" bIns="0" anchor="ctr">
            <a:spAutoFit/>
          </a:bodyPr>
          <a:lstStyle/>
          <a:p>
            <a:pPr algn="ctr"/>
            <a:r>
              <a:rPr sz="1800" b="1" i="0">
                <a:solidFill>
                  <a:srgbClr val="0F766E"/>
                </a:solidFill>
                <a:latin typeface="Georgia"/>
              </a:rPr>
              <a:t>→</a:t>
            </a:r>
          </a:p>
        </p:txBody>
      </p:sp>
      <p:sp>
        <p:nvSpPr>
          <p:cNvPr id="26" name="Rectangle 25"/>
          <p:cNvSpPr/>
          <p:nvPr/>
        </p:nvSpPr>
        <p:spPr>
          <a:xfrm>
            <a:off x="7285939" y="3200400"/>
            <a:ext cx="2081174" cy="50292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85939" y="3200400"/>
            <a:ext cx="2081174" cy="502920"/>
          </a:xfrm>
          <a:prstGeom prst="rect">
            <a:avLst/>
          </a:prstGeom>
          <a:noFill/>
        </p:spPr>
        <p:txBody>
          <a:bodyPr wrap="square" lIns="0" rIns="0" tIns="0" bIns="0" anchor="ctr">
            <a:spAutoFit/>
          </a:bodyPr>
          <a:lstStyle/>
          <a:p>
            <a:pPr algn="ctr"/>
            <a:r>
              <a:rPr sz="1000" b="1" i="0" spc="400">
                <a:solidFill>
                  <a:srgbClr val="C5E063"/>
                </a:solidFill>
                <a:latin typeface="Calibri"/>
              </a:rPr>
              <a:t>STEP 4</a:t>
            </a:r>
          </a:p>
        </p:txBody>
      </p:sp>
      <p:sp>
        <p:nvSpPr>
          <p:cNvPr id="28" name="Rectangle 27"/>
          <p:cNvSpPr/>
          <p:nvPr/>
        </p:nvSpPr>
        <p:spPr>
          <a:xfrm>
            <a:off x="7285939" y="3703320"/>
            <a:ext cx="2081174" cy="24688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50531" y="3840480"/>
            <a:ext cx="1751990" cy="502920"/>
          </a:xfrm>
          <a:prstGeom prst="rect">
            <a:avLst/>
          </a:prstGeom>
          <a:noFill/>
        </p:spPr>
        <p:txBody>
          <a:bodyPr wrap="square" lIns="0" rIns="0" tIns="0" bIns="0" anchor="t">
            <a:spAutoFit/>
          </a:bodyPr>
          <a:lstStyle/>
          <a:p>
            <a:pPr algn="l">
              <a:lnSpc>
                <a:spcPct val="115000"/>
              </a:lnSpc>
            </a:pPr>
            <a:r>
              <a:rPr sz="1400" b="1" i="0">
                <a:solidFill>
                  <a:srgbClr val="0F1F1A"/>
                </a:solidFill>
                <a:latin typeface="Georgia"/>
              </a:rPr>
              <a:t>2010s</a:t>
            </a:r>
          </a:p>
        </p:txBody>
      </p:sp>
      <p:sp>
        <p:nvSpPr>
          <p:cNvPr id="30" name="TextBox 29"/>
          <p:cNvSpPr txBox="1"/>
          <p:nvPr/>
        </p:nvSpPr>
        <p:spPr>
          <a:xfrm>
            <a:off x="7450531" y="4389120"/>
            <a:ext cx="1751990" cy="1691640"/>
          </a:xfrm>
          <a:prstGeom prst="rect">
            <a:avLst/>
          </a:prstGeom>
          <a:noFill/>
        </p:spPr>
        <p:txBody>
          <a:bodyPr wrap="square" lIns="0" rIns="0" tIns="0" bIns="0" anchor="t">
            <a:spAutoFit/>
          </a:bodyPr>
          <a:lstStyle/>
          <a:p>
            <a:pPr algn="l">
              <a:lnSpc>
                <a:spcPct val="135000"/>
              </a:lnSpc>
            </a:pPr>
            <a:r>
              <a:rPr sz="1000" b="0" i="0">
                <a:solidFill>
                  <a:srgbClr val="475569"/>
                </a:solidFill>
                <a:latin typeface="Calibri"/>
              </a:rPr>
              <a:t>Deep Learning breakthroughs — ImageNet, GPUs, the rise of neural networks at scale.</a:t>
            </a:r>
          </a:p>
        </p:txBody>
      </p:sp>
      <p:sp>
        <p:nvSpPr>
          <p:cNvPr id="31" name="TextBox 30"/>
          <p:cNvSpPr txBox="1"/>
          <p:nvPr/>
        </p:nvSpPr>
        <p:spPr>
          <a:xfrm>
            <a:off x="9229953" y="4389120"/>
            <a:ext cx="274320" cy="365760"/>
          </a:xfrm>
          <a:prstGeom prst="rect">
            <a:avLst/>
          </a:prstGeom>
          <a:noFill/>
        </p:spPr>
        <p:txBody>
          <a:bodyPr wrap="square" lIns="0" rIns="0" tIns="0" bIns="0" anchor="ctr">
            <a:spAutoFit/>
          </a:bodyPr>
          <a:lstStyle/>
          <a:p>
            <a:pPr algn="ctr"/>
            <a:r>
              <a:rPr sz="1800" b="1" i="0">
                <a:solidFill>
                  <a:srgbClr val="0F766E"/>
                </a:solidFill>
                <a:latin typeface="Georgia"/>
              </a:rPr>
              <a:t>→</a:t>
            </a:r>
          </a:p>
        </p:txBody>
      </p:sp>
      <p:sp>
        <p:nvSpPr>
          <p:cNvPr id="32" name="Rectangle 31"/>
          <p:cNvSpPr/>
          <p:nvPr/>
        </p:nvSpPr>
        <p:spPr>
          <a:xfrm>
            <a:off x="9531705" y="3200400"/>
            <a:ext cx="2081174" cy="50292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31705" y="3200400"/>
            <a:ext cx="2081174" cy="502920"/>
          </a:xfrm>
          <a:prstGeom prst="rect">
            <a:avLst/>
          </a:prstGeom>
          <a:noFill/>
        </p:spPr>
        <p:txBody>
          <a:bodyPr wrap="square" lIns="0" rIns="0" tIns="0" bIns="0" anchor="ctr">
            <a:spAutoFit/>
          </a:bodyPr>
          <a:lstStyle/>
          <a:p>
            <a:pPr algn="ctr"/>
            <a:r>
              <a:rPr sz="1000" b="1" i="0" spc="400">
                <a:solidFill>
                  <a:srgbClr val="C5E063"/>
                </a:solidFill>
                <a:latin typeface="Calibri"/>
              </a:rPr>
              <a:t>STEP 5</a:t>
            </a:r>
          </a:p>
        </p:txBody>
      </p:sp>
      <p:sp>
        <p:nvSpPr>
          <p:cNvPr id="34" name="Rectangle 33"/>
          <p:cNvSpPr/>
          <p:nvPr/>
        </p:nvSpPr>
        <p:spPr>
          <a:xfrm>
            <a:off x="9531705" y="3703320"/>
            <a:ext cx="2081174" cy="24688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96297" y="3840480"/>
            <a:ext cx="1751990" cy="502920"/>
          </a:xfrm>
          <a:prstGeom prst="rect">
            <a:avLst/>
          </a:prstGeom>
          <a:noFill/>
        </p:spPr>
        <p:txBody>
          <a:bodyPr wrap="square" lIns="0" rIns="0" tIns="0" bIns="0" anchor="t">
            <a:spAutoFit/>
          </a:bodyPr>
          <a:lstStyle/>
          <a:p>
            <a:pPr algn="l">
              <a:lnSpc>
                <a:spcPct val="115000"/>
              </a:lnSpc>
            </a:pPr>
            <a:r>
              <a:rPr sz="1400" b="1" i="0">
                <a:solidFill>
                  <a:srgbClr val="0F1F1A"/>
                </a:solidFill>
                <a:latin typeface="Georgia"/>
              </a:rPr>
              <a:t>2020s</a:t>
            </a:r>
          </a:p>
        </p:txBody>
      </p:sp>
      <p:sp>
        <p:nvSpPr>
          <p:cNvPr id="36" name="TextBox 35"/>
          <p:cNvSpPr txBox="1"/>
          <p:nvPr/>
        </p:nvSpPr>
        <p:spPr>
          <a:xfrm>
            <a:off x="9696297" y="4389120"/>
            <a:ext cx="1751990" cy="1691640"/>
          </a:xfrm>
          <a:prstGeom prst="rect">
            <a:avLst/>
          </a:prstGeom>
          <a:noFill/>
        </p:spPr>
        <p:txBody>
          <a:bodyPr wrap="square" lIns="0" rIns="0" tIns="0" bIns="0" anchor="t">
            <a:spAutoFit/>
          </a:bodyPr>
          <a:lstStyle/>
          <a:p>
            <a:pPr algn="l">
              <a:lnSpc>
                <a:spcPct val="135000"/>
              </a:lnSpc>
            </a:pPr>
            <a:r>
              <a:rPr sz="1000" b="0" i="0">
                <a:solidFill>
                  <a:srgbClr val="475569"/>
                </a:solidFill>
                <a:latin typeface="Calibri"/>
              </a:rPr>
              <a:t>Foundation models reshape every field — language, vision, speech in one architecture.</a:t>
            </a:r>
          </a:p>
        </p:txBody>
      </p:sp>
      <p:sp>
        <p:nvSpPr>
          <p:cNvPr id="37" name="TextBox 36"/>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1 OF 7</a:t>
            </a:r>
          </a:p>
        </p:txBody>
      </p:sp>
      <p:sp>
        <p:nvSpPr>
          <p:cNvPr id="38" name="TextBox 37"/>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PROCESS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par>
                    <p:cTn id="133" fill="hold">
                      <p:stCondLst>
                        <p:cond delay="indefinite"/>
                        <p:cond evt="onBegin" delay="0">
                          <p:tn val="2"/>
                        </p:cond>
                      </p:stCondLst>
                      <p:childTnLst>
                        <p:par>
                          <p:cTn id="134" fill="hold">
                            <p:stCondLst>
                              <p:cond delay="0"/>
                            </p:stCondLst>
                            <p:childTnLst>
                              <p:par>
                                <p:cTn id="135" presetID="10" presetClass="entr" presetSubtype="0" fill="hold" grpId="0" nodeType="afterEffect">
                                  <p:stCondLst>
                                    <p:cond delay="18"/>
                                  </p:stCondLst>
                                  <p:childTnLst>
                                    <p:set>
                                      <p:cBhvr>
                                        <p:cTn id="136" dur="1" fill="hold">
                                          <p:stCondLst>
                                            <p:cond delay="0"/>
                                          </p:stCondLst>
                                        </p:cTn>
                                        <p:tgtEl>
                                          <p:spTgt spid="28"/>
                                        </p:tgtEl>
                                        <p:attrNameLst>
                                          <p:attrName>style.visibility</p:attrName>
                                        </p:attrNameLst>
                                      </p:cBhvr>
                                      <p:to>
                                        <p:strVal val="visible"/>
                                      </p:to>
                                    </p:set>
                                    <p:anim calcmode="lin" valueType="num">
                                      <p:cBhvr additive="base">
                                        <p:cTn id="137" dur="150" fill="hold"/>
                                        <p:tgtEl>
                                          <p:spTgt spid="28"/>
                                        </p:tgtEl>
                                        <p:attrNameLst>
                                          <p:attrName>style.opacity</p:attrName>
                                        </p:attrNameLst>
                                      </p:cBhvr>
                                      <p:tavLst>
                                        <p:tav tm="0">
                                          <p:val>
                                            <p:fltVal val="0"/>
                                          </p:val>
                                        </p:tav>
                                        <p:tav tm="100000">
                                          <p:val>
                                            <p:fltVal val="1"/>
                                          </p:val>
                                        </p:tav>
                                      </p:tavLst>
                                    </p:anim>
                                  </p:childTnLst>
                                </p:cTn>
                              </p:par>
                            </p:childTnLst>
                          </p:cTn>
                        </p:par>
                      </p:childTnLst>
                    </p:cTn>
                  </p:par>
                  <p:par>
                    <p:cTn id="138" fill="hold">
                      <p:stCondLst>
                        <p:cond delay="indefinite"/>
                        <p:cond evt="onBegin" delay="0">
                          <p:tn val="2"/>
                        </p:cond>
                      </p:stCondLst>
                      <p:childTnLst>
                        <p:par>
                          <p:cTn id="139" fill="hold">
                            <p:stCondLst>
                              <p:cond delay="0"/>
                            </p:stCondLst>
                            <p:childTnLst>
                              <p:par>
                                <p:cTn id="140" presetID="10" presetClass="entr" presetSubtype="0" fill="hold" grpId="0" nodeType="afterEffect">
                                  <p:stCondLst>
                                    <p:cond delay="18"/>
                                  </p:stCondLst>
                                  <p:childTnLst>
                                    <p:set>
                                      <p:cBhvr>
                                        <p:cTn id="141" dur="1" fill="hold">
                                          <p:stCondLst>
                                            <p:cond delay="0"/>
                                          </p:stCondLst>
                                        </p:cTn>
                                        <p:tgtEl>
                                          <p:spTgt spid="29"/>
                                        </p:tgtEl>
                                        <p:attrNameLst>
                                          <p:attrName>style.visibility</p:attrName>
                                        </p:attrNameLst>
                                      </p:cBhvr>
                                      <p:to>
                                        <p:strVal val="visible"/>
                                      </p:to>
                                    </p:set>
                                    <p:anim calcmode="lin" valueType="num">
                                      <p:cBhvr additive="base">
                                        <p:cTn id="142" dur="150" fill="hold"/>
                                        <p:tgtEl>
                                          <p:spTgt spid="29"/>
                                        </p:tgtEl>
                                        <p:attrNameLst>
                                          <p:attrName>style.opacity</p:attrName>
                                        </p:attrNameLst>
                                      </p:cBhvr>
                                      <p:tavLst>
                                        <p:tav tm="0">
                                          <p:val>
                                            <p:fltVal val="0"/>
                                          </p:val>
                                        </p:tav>
                                        <p:tav tm="100000">
                                          <p:val>
                                            <p:fltVal val="1"/>
                                          </p:val>
                                        </p:tav>
                                      </p:tavLst>
                                    </p:anim>
                                  </p:childTnLst>
                                </p:cTn>
                              </p:par>
                            </p:childTnLst>
                          </p:cTn>
                        </p:par>
                      </p:childTnLst>
                    </p:cTn>
                  </p:par>
                  <p:par>
                    <p:cTn id="143" fill="hold">
                      <p:stCondLst>
                        <p:cond delay="indefinite"/>
                        <p:cond evt="onBegin" delay="0">
                          <p:tn val="2"/>
                        </p:cond>
                      </p:stCondLst>
                      <p:childTnLst>
                        <p:par>
                          <p:cTn id="144" fill="hold">
                            <p:stCondLst>
                              <p:cond delay="0"/>
                            </p:stCondLst>
                            <p:childTnLst>
                              <p:par>
                                <p:cTn id="145" presetID="10" presetClass="entr" presetSubtype="0" fill="hold" grpId="0" nodeType="afterEffect">
                                  <p:stCondLst>
                                    <p:cond delay="18"/>
                                  </p:stCondLst>
                                  <p:childTnLst>
                                    <p:set>
                                      <p:cBhvr>
                                        <p:cTn id="146" dur="1" fill="hold">
                                          <p:stCondLst>
                                            <p:cond delay="0"/>
                                          </p:stCondLst>
                                        </p:cTn>
                                        <p:tgtEl>
                                          <p:spTgt spid="30"/>
                                        </p:tgtEl>
                                        <p:attrNameLst>
                                          <p:attrName>style.visibility</p:attrName>
                                        </p:attrNameLst>
                                      </p:cBhvr>
                                      <p:to>
                                        <p:strVal val="visible"/>
                                      </p:to>
                                    </p:set>
                                    <p:anim calcmode="lin" valueType="num">
                                      <p:cBhvr additive="base">
                                        <p:cTn id="147" dur="150" fill="hold"/>
                                        <p:tgtEl>
                                          <p:spTgt spid="30"/>
                                        </p:tgtEl>
                                        <p:attrNameLst>
                                          <p:attrName>style.opacity</p:attrName>
                                        </p:attrNameLst>
                                      </p:cBhvr>
                                      <p:tavLst>
                                        <p:tav tm="0">
                                          <p:val>
                                            <p:fltVal val="0"/>
                                          </p:val>
                                        </p:tav>
                                        <p:tav tm="100000">
                                          <p:val>
                                            <p:fltVal val="1"/>
                                          </p:val>
                                        </p:tav>
                                      </p:tavLst>
                                    </p:anim>
                                  </p:childTnLst>
                                </p:cTn>
                              </p:par>
                            </p:childTnLst>
                          </p:cTn>
                        </p:par>
                      </p:childTnLst>
                    </p:cTn>
                  </p:par>
                  <p:par>
                    <p:cTn id="148" fill="hold">
                      <p:stCondLst>
                        <p:cond delay="indefinite"/>
                        <p:cond evt="onBegin" delay="0">
                          <p:tn val="2"/>
                        </p:cond>
                      </p:stCondLst>
                      <p:childTnLst>
                        <p:par>
                          <p:cTn id="149" fill="hold">
                            <p:stCondLst>
                              <p:cond delay="0"/>
                            </p:stCondLst>
                            <p:childTnLst>
                              <p:par>
                                <p:cTn id="150" presetID="10" presetClass="entr" presetSubtype="0" fill="hold" grpId="0" nodeType="afterEffect">
                                  <p:stCondLst>
                                    <p:cond delay="18"/>
                                  </p:stCondLst>
                                  <p:childTnLst>
                                    <p:set>
                                      <p:cBhvr>
                                        <p:cTn id="151" dur="1" fill="hold">
                                          <p:stCondLst>
                                            <p:cond delay="0"/>
                                          </p:stCondLst>
                                        </p:cTn>
                                        <p:tgtEl>
                                          <p:spTgt spid="31"/>
                                        </p:tgtEl>
                                        <p:attrNameLst>
                                          <p:attrName>style.visibility</p:attrName>
                                        </p:attrNameLst>
                                      </p:cBhvr>
                                      <p:to>
                                        <p:strVal val="visible"/>
                                      </p:to>
                                    </p:set>
                                    <p:anim calcmode="lin" valueType="num">
                                      <p:cBhvr additive="base">
                                        <p:cTn id="152" dur="150" fill="hold"/>
                                        <p:tgtEl>
                                          <p:spTgt spid="31"/>
                                        </p:tgtEl>
                                        <p:attrNameLst>
                                          <p:attrName>style.opacity</p:attrName>
                                        </p:attrNameLst>
                                      </p:cBhvr>
                                      <p:tavLst>
                                        <p:tav tm="0">
                                          <p:val>
                                            <p:fltVal val="0"/>
                                          </p:val>
                                        </p:tav>
                                        <p:tav tm="100000">
                                          <p:val>
                                            <p:fltVal val="1"/>
                                          </p:val>
                                        </p:tav>
                                      </p:tavLst>
                                    </p:anim>
                                  </p:childTnLst>
                                </p:cTn>
                              </p:par>
                            </p:childTnLst>
                          </p:cTn>
                        </p:par>
                      </p:childTnLst>
                    </p:cTn>
                  </p:par>
                  <p:par>
                    <p:cTn id="153" fill="hold">
                      <p:stCondLst>
                        <p:cond delay="indefinite"/>
                        <p:cond evt="onBegin" delay="0">
                          <p:tn val="2"/>
                        </p:cond>
                      </p:stCondLst>
                      <p:childTnLst>
                        <p:par>
                          <p:cTn id="154" fill="hold">
                            <p:stCondLst>
                              <p:cond delay="0"/>
                            </p:stCondLst>
                            <p:childTnLst>
                              <p:par>
                                <p:cTn id="155" presetID="10" presetClass="entr" presetSubtype="0" fill="hold" grpId="0" nodeType="afterEffect">
                                  <p:stCondLst>
                                    <p:cond delay="18"/>
                                  </p:stCondLst>
                                  <p:childTnLst>
                                    <p:set>
                                      <p:cBhvr>
                                        <p:cTn id="156" dur="1" fill="hold">
                                          <p:stCondLst>
                                            <p:cond delay="0"/>
                                          </p:stCondLst>
                                        </p:cTn>
                                        <p:tgtEl>
                                          <p:spTgt spid="32"/>
                                        </p:tgtEl>
                                        <p:attrNameLst>
                                          <p:attrName>style.visibility</p:attrName>
                                        </p:attrNameLst>
                                      </p:cBhvr>
                                      <p:to>
                                        <p:strVal val="visible"/>
                                      </p:to>
                                    </p:set>
                                    <p:anim calcmode="lin" valueType="num">
                                      <p:cBhvr additive="base">
                                        <p:cTn id="157" dur="150" fill="hold"/>
                                        <p:tgtEl>
                                          <p:spTgt spid="32"/>
                                        </p:tgtEl>
                                        <p:attrNameLst>
                                          <p:attrName>style.opacity</p:attrName>
                                        </p:attrNameLst>
                                      </p:cBhvr>
                                      <p:tavLst>
                                        <p:tav tm="0">
                                          <p:val>
                                            <p:fltVal val="0"/>
                                          </p:val>
                                        </p:tav>
                                        <p:tav tm="100000">
                                          <p:val>
                                            <p:fltVal val="1"/>
                                          </p:val>
                                        </p:tav>
                                      </p:tavLst>
                                    </p:anim>
                                  </p:childTnLst>
                                </p:cTn>
                              </p:par>
                            </p:childTnLst>
                          </p:cTn>
                        </p:par>
                      </p:childTnLst>
                    </p:cTn>
                  </p:par>
                  <p:par>
                    <p:cTn id="158" fill="hold">
                      <p:stCondLst>
                        <p:cond delay="indefinite"/>
                        <p:cond evt="onBegin" delay="0">
                          <p:tn val="2"/>
                        </p:cond>
                      </p:stCondLst>
                      <p:childTnLst>
                        <p:par>
                          <p:cTn id="159" fill="hold">
                            <p:stCondLst>
                              <p:cond delay="0"/>
                            </p:stCondLst>
                            <p:childTnLst>
                              <p:par>
                                <p:cTn id="160" presetID="10" presetClass="entr" presetSubtype="0" fill="hold" grpId="0" nodeType="afterEffect">
                                  <p:stCondLst>
                                    <p:cond delay="18"/>
                                  </p:stCondLst>
                                  <p:childTnLst>
                                    <p:set>
                                      <p:cBhvr>
                                        <p:cTn id="161" dur="1" fill="hold">
                                          <p:stCondLst>
                                            <p:cond delay="0"/>
                                          </p:stCondLst>
                                        </p:cTn>
                                        <p:tgtEl>
                                          <p:spTgt spid="33"/>
                                        </p:tgtEl>
                                        <p:attrNameLst>
                                          <p:attrName>style.visibility</p:attrName>
                                        </p:attrNameLst>
                                      </p:cBhvr>
                                      <p:to>
                                        <p:strVal val="visible"/>
                                      </p:to>
                                    </p:set>
                                    <p:anim calcmode="lin" valueType="num">
                                      <p:cBhvr additive="base">
                                        <p:cTn id="162" dur="150" fill="hold"/>
                                        <p:tgtEl>
                                          <p:spTgt spid="33"/>
                                        </p:tgtEl>
                                        <p:attrNameLst>
                                          <p:attrName>style.opacity</p:attrName>
                                        </p:attrNameLst>
                                      </p:cBhvr>
                                      <p:tavLst>
                                        <p:tav tm="0">
                                          <p:val>
                                            <p:fltVal val="0"/>
                                          </p:val>
                                        </p:tav>
                                        <p:tav tm="100000">
                                          <p:val>
                                            <p:fltVal val="1"/>
                                          </p:val>
                                        </p:tav>
                                      </p:tavLst>
                                    </p:anim>
                                  </p:childTnLst>
                                </p:cTn>
                              </p:par>
                            </p:childTnLst>
                          </p:cTn>
                        </p:par>
                      </p:childTnLst>
                    </p:cTn>
                  </p:par>
                  <p:par>
                    <p:cTn id="163" fill="hold">
                      <p:stCondLst>
                        <p:cond delay="indefinite"/>
                        <p:cond evt="onBegin" delay="0">
                          <p:tn val="2"/>
                        </p:cond>
                      </p:stCondLst>
                      <p:childTnLst>
                        <p:par>
                          <p:cTn id="164" fill="hold">
                            <p:stCondLst>
                              <p:cond delay="0"/>
                            </p:stCondLst>
                            <p:childTnLst>
                              <p:par>
                                <p:cTn id="165" presetID="10" presetClass="entr" presetSubtype="0" fill="hold" grpId="0" nodeType="afterEffect">
                                  <p:stCondLst>
                                    <p:cond delay="18"/>
                                  </p:stCondLst>
                                  <p:childTnLst>
                                    <p:set>
                                      <p:cBhvr>
                                        <p:cTn id="166" dur="1" fill="hold">
                                          <p:stCondLst>
                                            <p:cond delay="0"/>
                                          </p:stCondLst>
                                        </p:cTn>
                                        <p:tgtEl>
                                          <p:spTgt spid="34"/>
                                        </p:tgtEl>
                                        <p:attrNameLst>
                                          <p:attrName>style.visibility</p:attrName>
                                        </p:attrNameLst>
                                      </p:cBhvr>
                                      <p:to>
                                        <p:strVal val="visible"/>
                                      </p:to>
                                    </p:set>
                                    <p:anim calcmode="lin" valueType="num">
                                      <p:cBhvr additive="base">
                                        <p:cTn id="167" dur="150" fill="hold"/>
                                        <p:tgtEl>
                                          <p:spTgt spid="34"/>
                                        </p:tgtEl>
                                        <p:attrNameLst>
                                          <p:attrName>style.opacity</p:attrName>
                                        </p:attrNameLst>
                                      </p:cBhvr>
                                      <p:tavLst>
                                        <p:tav tm="0">
                                          <p:val>
                                            <p:fltVal val="0"/>
                                          </p:val>
                                        </p:tav>
                                        <p:tav tm="100000">
                                          <p:val>
                                            <p:fltVal val="1"/>
                                          </p:val>
                                        </p:tav>
                                      </p:tavLst>
                                    </p:anim>
                                  </p:childTnLst>
                                </p:cTn>
                              </p:par>
                            </p:childTnLst>
                          </p:cTn>
                        </p:par>
                      </p:childTnLst>
                    </p:cTn>
                  </p:par>
                  <p:par>
                    <p:cTn id="168" fill="hold">
                      <p:stCondLst>
                        <p:cond delay="indefinite"/>
                        <p:cond evt="onBegin" delay="0">
                          <p:tn val="2"/>
                        </p:cond>
                      </p:stCondLst>
                      <p:childTnLst>
                        <p:par>
                          <p:cTn id="169" fill="hold">
                            <p:stCondLst>
                              <p:cond delay="0"/>
                            </p:stCondLst>
                            <p:childTnLst>
                              <p:par>
                                <p:cTn id="170" presetID="10" presetClass="entr" presetSubtype="0" fill="hold" grpId="0" nodeType="afterEffect">
                                  <p:stCondLst>
                                    <p:cond delay="18"/>
                                  </p:stCondLst>
                                  <p:childTnLst>
                                    <p:set>
                                      <p:cBhvr>
                                        <p:cTn id="171" dur="1" fill="hold">
                                          <p:stCondLst>
                                            <p:cond delay="0"/>
                                          </p:stCondLst>
                                        </p:cTn>
                                        <p:tgtEl>
                                          <p:spTgt spid="35"/>
                                        </p:tgtEl>
                                        <p:attrNameLst>
                                          <p:attrName>style.visibility</p:attrName>
                                        </p:attrNameLst>
                                      </p:cBhvr>
                                      <p:to>
                                        <p:strVal val="visible"/>
                                      </p:to>
                                    </p:set>
                                    <p:anim calcmode="lin" valueType="num">
                                      <p:cBhvr additive="base">
                                        <p:cTn id="172" dur="150" fill="hold"/>
                                        <p:tgtEl>
                                          <p:spTgt spid="35"/>
                                        </p:tgtEl>
                                        <p:attrNameLst>
                                          <p:attrName>style.opacity</p:attrName>
                                        </p:attrNameLst>
                                      </p:cBhvr>
                                      <p:tavLst>
                                        <p:tav tm="0">
                                          <p:val>
                                            <p:fltVal val="0"/>
                                          </p:val>
                                        </p:tav>
                                        <p:tav tm="100000">
                                          <p:val>
                                            <p:fltVal val="1"/>
                                          </p:val>
                                        </p:tav>
                                      </p:tavLst>
                                    </p:anim>
                                  </p:childTnLst>
                                </p:cTn>
                              </p:par>
                            </p:childTnLst>
                          </p:cTn>
                        </p:par>
                      </p:childTnLst>
                    </p:cTn>
                  </p:par>
                  <p:par>
                    <p:cTn id="173" fill="hold">
                      <p:stCondLst>
                        <p:cond delay="indefinite"/>
                        <p:cond evt="onBegin" delay="0">
                          <p:tn val="2"/>
                        </p:cond>
                      </p:stCondLst>
                      <p:childTnLst>
                        <p:par>
                          <p:cTn id="174" fill="hold">
                            <p:stCondLst>
                              <p:cond delay="0"/>
                            </p:stCondLst>
                            <p:childTnLst>
                              <p:par>
                                <p:cTn id="175" presetID="10" presetClass="entr" presetSubtype="0" fill="hold" grpId="0" nodeType="afterEffect">
                                  <p:stCondLst>
                                    <p:cond delay="18"/>
                                  </p:stCondLst>
                                  <p:childTnLst>
                                    <p:set>
                                      <p:cBhvr>
                                        <p:cTn id="176" dur="1" fill="hold">
                                          <p:stCondLst>
                                            <p:cond delay="0"/>
                                          </p:stCondLst>
                                        </p:cTn>
                                        <p:tgtEl>
                                          <p:spTgt spid="36"/>
                                        </p:tgtEl>
                                        <p:attrNameLst>
                                          <p:attrName>style.visibility</p:attrName>
                                        </p:attrNameLst>
                                      </p:cBhvr>
                                      <p:to>
                                        <p:strVal val="visible"/>
                                      </p:to>
                                    </p:set>
                                    <p:anim calcmode="lin" valueType="num">
                                      <p:cBhvr additive="base">
                                        <p:cTn id="177" dur="150" fill="hold"/>
                                        <p:tgtEl>
                                          <p:spTgt spid="36"/>
                                        </p:tgtEl>
                                        <p:attrNameLst>
                                          <p:attrName>style.opacity</p:attrName>
                                        </p:attrNameLst>
                                      </p:cBhvr>
                                      <p:tavLst>
                                        <p:tav tm="0">
                                          <p:val>
                                            <p:fltVal val="0"/>
                                          </p:val>
                                        </p:tav>
                                        <p:tav tm="100000">
                                          <p:val>
                                            <p:fltVal val="1"/>
                                          </p:val>
                                        </p:tav>
                                      </p:tavLst>
                                    </p:anim>
                                  </p:childTnLst>
                                </p:cTn>
                              </p:par>
                            </p:childTnLst>
                          </p:cTn>
                        </p:par>
                      </p:childTnLst>
                    </p:cTn>
                  </p:par>
                  <p:par>
                    <p:cTn id="178" fill="hold">
                      <p:stCondLst>
                        <p:cond delay="indefinite"/>
                        <p:cond evt="onBegin" delay="0">
                          <p:tn val="2"/>
                        </p:cond>
                      </p:stCondLst>
                      <p:childTnLst>
                        <p:par>
                          <p:cTn id="179" fill="hold">
                            <p:stCondLst>
                              <p:cond delay="0"/>
                            </p:stCondLst>
                            <p:childTnLst>
                              <p:par>
                                <p:cTn id="180" presetID="10" presetClass="entr" presetSubtype="0" fill="hold" grpId="0" nodeType="afterEffect">
                                  <p:stCondLst>
                                    <p:cond delay="18"/>
                                  </p:stCondLst>
                                  <p:childTnLst>
                                    <p:set>
                                      <p:cBhvr>
                                        <p:cTn id="181" dur="1" fill="hold">
                                          <p:stCondLst>
                                            <p:cond delay="0"/>
                                          </p:stCondLst>
                                        </p:cTn>
                                        <p:tgtEl>
                                          <p:spTgt spid="37"/>
                                        </p:tgtEl>
                                        <p:attrNameLst>
                                          <p:attrName>style.visibility</p:attrName>
                                        </p:attrNameLst>
                                      </p:cBhvr>
                                      <p:to>
                                        <p:strVal val="visible"/>
                                      </p:to>
                                    </p:set>
                                    <p:anim calcmode="lin" valueType="num">
                                      <p:cBhvr additive="base">
                                        <p:cTn id="182" dur="150" fill="hold"/>
                                        <p:tgtEl>
                                          <p:spTgt spid="37"/>
                                        </p:tgtEl>
                                        <p:attrNameLst>
                                          <p:attrName>style.opacity</p:attrName>
                                        </p:attrNameLst>
                                      </p:cBhvr>
                                      <p:tavLst>
                                        <p:tav tm="0">
                                          <p:val>
                                            <p:fltVal val="0"/>
                                          </p:val>
                                        </p:tav>
                                        <p:tav tm="100000">
                                          <p:val>
                                            <p:fltVal val="1"/>
                                          </p:val>
                                        </p:tav>
                                      </p:tavLst>
                                    </p:anim>
                                  </p:childTnLst>
                                </p:cTn>
                              </p:par>
                            </p:childTnLst>
                          </p:cTn>
                        </p:par>
                      </p:childTnLst>
                    </p:cTn>
                  </p:par>
                  <p:par>
                    <p:cTn id="183" fill="hold">
                      <p:stCondLst>
                        <p:cond delay="indefinite"/>
                        <p:cond evt="onBegin" delay="0">
                          <p:tn val="2"/>
                        </p:cond>
                      </p:stCondLst>
                      <p:childTnLst>
                        <p:par>
                          <p:cTn id="184" fill="hold">
                            <p:stCondLst>
                              <p:cond delay="0"/>
                            </p:stCondLst>
                            <p:childTnLst>
                              <p:par>
                                <p:cTn id="185" presetID="10" presetClass="entr" presetSubtype="0" fill="hold" grpId="0" nodeType="afterEffect">
                                  <p:stCondLst>
                                    <p:cond delay="18"/>
                                  </p:stCondLst>
                                  <p:childTnLst>
                                    <p:set>
                                      <p:cBhvr>
                                        <p:cTn id="186" dur="1" fill="hold">
                                          <p:stCondLst>
                                            <p:cond delay="0"/>
                                          </p:stCondLst>
                                        </p:cTn>
                                        <p:tgtEl>
                                          <p:spTgt spid="38"/>
                                        </p:tgtEl>
                                        <p:attrNameLst>
                                          <p:attrName>style.visibility</p:attrName>
                                        </p:attrNameLst>
                                      </p:cBhvr>
                                      <p:to>
                                        <p:strVal val="visible"/>
                                      </p:to>
                                    </p:set>
                                    <p:anim calcmode="lin" valueType="num">
                                      <p:cBhvr additive="base">
                                        <p:cTn id="187" dur="150" fill="hold"/>
                                        <p:tgtEl>
                                          <p:spTgt spid="38"/>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FIELD 2 OF 4   ·   MACHINE LEARNING</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ML lives inside AI — and is the workhorse you'll meet most</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Machine Learning is one method inside AI. Instead of being told the rules, the system finds the rules from examples.
Most AI in industry today is Machine Learning — fraud detection, recommendation, demand forecasting, churn prediction. If a project feeds a model labelled examples, it is ML.</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DEFINITION</a:t>
            </a:r>
          </a:p>
        </p:txBody>
      </p:sp>
      <p:sp>
        <p:nvSpPr>
          <p:cNvPr id="10" name="TextBox 9"/>
          <p:cNvSpPr txBox="1"/>
          <p:nvPr/>
        </p:nvSpPr>
        <p:spPr>
          <a:xfrm>
            <a:off x="7589520" y="2057400"/>
            <a:ext cx="3749040" cy="1188720"/>
          </a:xfrm>
          <a:prstGeom prst="rect">
            <a:avLst/>
          </a:prstGeom>
          <a:noFill/>
        </p:spPr>
        <p:txBody>
          <a:bodyPr wrap="square" lIns="0" rIns="0" tIns="0" bIns="0" anchor="t">
            <a:spAutoFit/>
          </a:bodyPr>
          <a:lstStyle/>
          <a:p>
            <a:pPr algn="l"/>
            <a:r>
              <a:rPr sz="2400" b="1" i="0">
                <a:solidFill>
                  <a:srgbClr val="FFFFFF"/>
                </a:solidFill>
                <a:latin typeface="Georgia"/>
              </a:rPr>
              <a:t>Machine Learning</a:t>
            </a:r>
          </a:p>
        </p:txBody>
      </p:sp>
      <p:sp>
        <p:nvSpPr>
          <p:cNvPr id="11" name="TextBox 10"/>
          <p:cNvSpPr txBox="1"/>
          <p:nvPr/>
        </p:nvSpPr>
        <p:spPr>
          <a:xfrm>
            <a:off x="7589520" y="3246120"/>
            <a:ext cx="3749040" cy="13716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Computers that learn patterns from many examples, instead of following written rules.</a:t>
            </a:r>
          </a:p>
        </p:txBody>
      </p:sp>
      <p:sp>
        <p:nvSpPr>
          <p:cNvPr id="12" name="Rectangle 11"/>
          <p:cNvSpPr/>
          <p:nvPr/>
        </p:nvSpPr>
        <p:spPr>
          <a:xfrm>
            <a:off x="7589520" y="4892040"/>
            <a:ext cx="365760" cy="36576"/>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5029200"/>
            <a:ext cx="3749040" cy="274320"/>
          </a:xfrm>
          <a:prstGeom prst="rect">
            <a:avLst/>
          </a:prstGeom>
          <a:noFill/>
        </p:spPr>
        <p:txBody>
          <a:bodyPr wrap="square" lIns="0" rIns="0" tIns="0" bIns="0" anchor="t">
            <a:spAutoFit/>
          </a:bodyPr>
          <a:lstStyle/>
          <a:p>
            <a:pPr algn="l"/>
            <a:r>
              <a:rPr sz="900" b="1" i="0" spc="500">
                <a:solidFill>
                  <a:srgbClr val="C5E063"/>
                </a:solidFill>
                <a:latin typeface="Calibri"/>
              </a:rPr>
              <a:t>EXAMPLE</a:t>
            </a:r>
          </a:p>
        </p:txBody>
      </p:sp>
      <p:sp>
        <p:nvSpPr>
          <p:cNvPr id="14" name="TextBox 13"/>
          <p:cNvSpPr txBox="1"/>
          <p:nvPr/>
        </p:nvSpPr>
        <p:spPr>
          <a:xfrm>
            <a:off x="7589520" y="5303520"/>
            <a:ext cx="3749040" cy="548640"/>
          </a:xfrm>
          <a:prstGeom prst="rect">
            <a:avLst/>
          </a:prstGeom>
          <a:noFill/>
        </p:spPr>
        <p:txBody>
          <a:bodyPr wrap="square" lIns="0" rIns="0" tIns="0" bIns="0" anchor="t">
            <a:spAutoFit/>
          </a:bodyPr>
          <a:lstStyle/>
          <a:p>
            <a:pPr algn="l">
              <a:lnSpc>
                <a:spcPct val="135000"/>
              </a:lnSpc>
            </a:pPr>
            <a:r>
              <a:rPr sz="1100" b="0" i="1">
                <a:solidFill>
                  <a:srgbClr val="FFFFFF"/>
                </a:solidFill>
                <a:latin typeface="Calibri"/>
              </a:rPr>
              <a:t>A credit-card fraud model trained on 500 million past transactions to flag suspicious new ones in real time.</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ML</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FIELD 3 OF 4   ·   DEEP LEARNING</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DL lives inside ML — the technology behind today's breakthroughs</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Deep Learning is one method *inside* Machine Learning. It uses many-layered neural networks to learn from very large amounts of raw data — pixels, audio, text — without hand-crafted features.
DL is what makes face unlock, voice assistants, and modern translation possible. It is part of ML, not a replacement for it.</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DEFINITION</a:t>
            </a:r>
          </a:p>
        </p:txBody>
      </p:sp>
      <p:sp>
        <p:nvSpPr>
          <p:cNvPr id="10" name="TextBox 9"/>
          <p:cNvSpPr txBox="1"/>
          <p:nvPr/>
        </p:nvSpPr>
        <p:spPr>
          <a:xfrm>
            <a:off x="7589520" y="2057400"/>
            <a:ext cx="3749040" cy="1188720"/>
          </a:xfrm>
          <a:prstGeom prst="rect">
            <a:avLst/>
          </a:prstGeom>
          <a:noFill/>
        </p:spPr>
        <p:txBody>
          <a:bodyPr wrap="square" lIns="0" rIns="0" tIns="0" bIns="0" anchor="t">
            <a:spAutoFit/>
          </a:bodyPr>
          <a:lstStyle/>
          <a:p>
            <a:pPr algn="l"/>
            <a:r>
              <a:rPr sz="2400" b="1" i="0">
                <a:solidFill>
                  <a:srgbClr val="FFFFFF"/>
                </a:solidFill>
                <a:latin typeface="Georgia"/>
              </a:rPr>
              <a:t>Deep Learning</a:t>
            </a:r>
          </a:p>
        </p:txBody>
      </p:sp>
      <p:sp>
        <p:nvSpPr>
          <p:cNvPr id="11" name="TextBox 10"/>
          <p:cNvSpPr txBox="1"/>
          <p:nvPr/>
        </p:nvSpPr>
        <p:spPr>
          <a:xfrm>
            <a:off x="7589520" y="3246120"/>
            <a:ext cx="3749040" cy="13716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A type of Machine Learning that uses deep neural networks. Works best on large, complex data like images and text.</a:t>
            </a:r>
          </a:p>
        </p:txBody>
      </p:sp>
      <p:sp>
        <p:nvSpPr>
          <p:cNvPr id="12" name="Rectangle 11"/>
          <p:cNvSpPr/>
          <p:nvPr/>
        </p:nvSpPr>
        <p:spPr>
          <a:xfrm>
            <a:off x="7589520" y="4892040"/>
            <a:ext cx="365760" cy="36576"/>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5029200"/>
            <a:ext cx="3749040" cy="274320"/>
          </a:xfrm>
          <a:prstGeom prst="rect">
            <a:avLst/>
          </a:prstGeom>
          <a:noFill/>
        </p:spPr>
        <p:txBody>
          <a:bodyPr wrap="square" lIns="0" rIns="0" tIns="0" bIns="0" anchor="t">
            <a:spAutoFit/>
          </a:bodyPr>
          <a:lstStyle/>
          <a:p>
            <a:pPr algn="l"/>
            <a:r>
              <a:rPr sz="900" b="1" i="0" spc="500">
                <a:solidFill>
                  <a:srgbClr val="C5E063"/>
                </a:solidFill>
                <a:latin typeface="Calibri"/>
              </a:rPr>
              <a:t>EXAMPLE</a:t>
            </a:r>
          </a:p>
        </p:txBody>
      </p:sp>
      <p:sp>
        <p:nvSpPr>
          <p:cNvPr id="14" name="TextBox 13"/>
          <p:cNvSpPr txBox="1"/>
          <p:nvPr/>
        </p:nvSpPr>
        <p:spPr>
          <a:xfrm>
            <a:off x="7589520" y="5303520"/>
            <a:ext cx="3749040" cy="548640"/>
          </a:xfrm>
          <a:prstGeom prst="rect">
            <a:avLst/>
          </a:prstGeom>
          <a:noFill/>
        </p:spPr>
        <p:txBody>
          <a:bodyPr wrap="square" lIns="0" rIns="0" tIns="0" bIns="0" anchor="t">
            <a:spAutoFit/>
          </a:bodyPr>
          <a:lstStyle/>
          <a:p>
            <a:pPr algn="l">
              <a:lnSpc>
                <a:spcPct val="135000"/>
              </a:lnSpc>
            </a:pPr>
            <a:r>
              <a:rPr sz="1100" b="0" i="1">
                <a:solidFill>
                  <a:srgbClr val="FFFFFF"/>
                </a:solidFill>
                <a:latin typeface="Calibri"/>
              </a:rPr>
              <a:t>Aadhaar face-match unlocking your phone, or Google Translate converting Marathi audio to English text.</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DL</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FIELD 4 OF 4   ·   DATA SCIENCE</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Data Science is a sister field — overlapping, but separate</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Data Science is about turning raw data into business decisions. It uses statistics, dashboards, SQL, sometimes ML — but its purpose is decision support, not building autonomous systems.
A monthly sales dashboard with no model training is Data Science. A churn-prediction model that scores every customer is ML. The two fields overlap, but the outputs are different.</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DEFINITION</a:t>
            </a:r>
          </a:p>
        </p:txBody>
      </p:sp>
      <p:sp>
        <p:nvSpPr>
          <p:cNvPr id="10" name="TextBox 9"/>
          <p:cNvSpPr txBox="1"/>
          <p:nvPr/>
        </p:nvSpPr>
        <p:spPr>
          <a:xfrm>
            <a:off x="7589520" y="2057400"/>
            <a:ext cx="3749040" cy="1188720"/>
          </a:xfrm>
          <a:prstGeom prst="rect">
            <a:avLst/>
          </a:prstGeom>
          <a:noFill/>
        </p:spPr>
        <p:txBody>
          <a:bodyPr wrap="square" lIns="0" rIns="0" tIns="0" bIns="0" anchor="t">
            <a:spAutoFit/>
          </a:bodyPr>
          <a:lstStyle/>
          <a:p>
            <a:pPr algn="l"/>
            <a:r>
              <a:rPr sz="2400" b="1" i="0">
                <a:solidFill>
                  <a:srgbClr val="FFFFFF"/>
                </a:solidFill>
                <a:latin typeface="Georgia"/>
              </a:rPr>
              <a:t>Data Science</a:t>
            </a:r>
          </a:p>
        </p:txBody>
      </p:sp>
      <p:sp>
        <p:nvSpPr>
          <p:cNvPr id="11" name="TextBox 10"/>
          <p:cNvSpPr txBox="1"/>
          <p:nvPr/>
        </p:nvSpPr>
        <p:spPr>
          <a:xfrm>
            <a:off x="7589520" y="3246120"/>
            <a:ext cx="3749040" cy="13716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Turning data into decisions using statistics, dashboards, and queries.</a:t>
            </a:r>
          </a:p>
        </p:txBody>
      </p:sp>
      <p:sp>
        <p:nvSpPr>
          <p:cNvPr id="12" name="Rectangle 11"/>
          <p:cNvSpPr/>
          <p:nvPr/>
        </p:nvSpPr>
        <p:spPr>
          <a:xfrm>
            <a:off x="7589520" y="4892040"/>
            <a:ext cx="365760" cy="36576"/>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5029200"/>
            <a:ext cx="3749040" cy="274320"/>
          </a:xfrm>
          <a:prstGeom prst="rect">
            <a:avLst/>
          </a:prstGeom>
          <a:noFill/>
        </p:spPr>
        <p:txBody>
          <a:bodyPr wrap="square" lIns="0" rIns="0" tIns="0" bIns="0" anchor="t">
            <a:spAutoFit/>
          </a:bodyPr>
          <a:lstStyle/>
          <a:p>
            <a:pPr algn="l"/>
            <a:r>
              <a:rPr sz="900" b="1" i="0" spc="500">
                <a:solidFill>
                  <a:srgbClr val="C5E063"/>
                </a:solidFill>
                <a:latin typeface="Calibri"/>
              </a:rPr>
              <a:t>EXAMPLE</a:t>
            </a:r>
          </a:p>
        </p:txBody>
      </p:sp>
      <p:sp>
        <p:nvSpPr>
          <p:cNvPr id="14" name="TextBox 13"/>
          <p:cNvSpPr txBox="1"/>
          <p:nvPr/>
        </p:nvSpPr>
        <p:spPr>
          <a:xfrm>
            <a:off x="7589520" y="5303520"/>
            <a:ext cx="3749040" cy="548640"/>
          </a:xfrm>
          <a:prstGeom prst="rect">
            <a:avLst/>
          </a:prstGeom>
          <a:noFill/>
        </p:spPr>
        <p:txBody>
          <a:bodyPr wrap="square" lIns="0" rIns="0" tIns="0" bIns="0" anchor="t">
            <a:spAutoFit/>
          </a:bodyPr>
          <a:lstStyle/>
          <a:p>
            <a:pPr algn="l">
              <a:lnSpc>
                <a:spcPct val="135000"/>
              </a:lnSpc>
            </a:pPr>
            <a:r>
              <a:rPr sz="1100" b="0" i="1">
                <a:solidFill>
                  <a:srgbClr val="FFFFFF"/>
                </a:solidFill>
                <a:latin typeface="Calibri"/>
              </a:rPr>
              <a:t>A Power BI dashboard tracking last quarter's sales, built with SQL and statistics — no model training, no neural net.</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DS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02</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2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How the four fields fit together</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One nested diagram, one worked example, one cheat-sheet table — and the boundaries get crystal clear.</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THE  NESTING</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Deep Learning ⊂ Machine Learning ⊂ AI   ·   Data Science overlaps all three</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AI is the outer ring — every method in this lesson lives somewhere inside it.
Inside AI sits Machine Learning. Inside ML sits Deep Learning.
Data Science is a separate circle that overlaps with all three — it shares tools and people, but it is its own profession with its own deliverables.</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FIVE  RULES  OF  THUMB</a:t>
            </a:r>
          </a:p>
        </p:txBody>
      </p:sp>
      <p:sp>
        <p:nvSpPr>
          <p:cNvPr id="10" name="Oval 9"/>
          <p:cNvSpPr/>
          <p:nvPr/>
        </p:nvSpPr>
        <p:spPr>
          <a:xfrm>
            <a:off x="7635240" y="2359152"/>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194560"/>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If it learns from data → it's at least ML.</a:t>
            </a:r>
          </a:p>
        </p:txBody>
      </p:sp>
      <p:sp>
        <p:nvSpPr>
          <p:cNvPr id="12" name="Oval 11"/>
          <p:cNvSpPr/>
          <p:nvPr/>
        </p:nvSpPr>
        <p:spPr>
          <a:xfrm>
            <a:off x="7635240" y="3072384"/>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907792"/>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If it learns from raw data via deep nets → it's DL.</a:t>
            </a:r>
          </a:p>
        </p:txBody>
      </p:sp>
      <p:sp>
        <p:nvSpPr>
          <p:cNvPr id="14" name="Oval 13"/>
          <p:cNvSpPr/>
          <p:nvPr/>
        </p:nvSpPr>
        <p:spPr>
          <a:xfrm>
            <a:off x="7635240" y="3785616"/>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621024"/>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If it produces decisions, not predictions → it's Data Science.</a:t>
            </a:r>
          </a:p>
        </p:txBody>
      </p:sp>
      <p:sp>
        <p:nvSpPr>
          <p:cNvPr id="16" name="Oval 15"/>
          <p:cNvSpPr/>
          <p:nvPr/>
        </p:nvSpPr>
        <p:spPr>
          <a:xfrm>
            <a:off x="7635240" y="4498848"/>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4334256"/>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If it's rule-based with no data → it's AI but not ML.</a:t>
            </a:r>
          </a:p>
        </p:txBody>
      </p:sp>
      <p:sp>
        <p:nvSpPr>
          <p:cNvPr id="18" name="Oval 17"/>
          <p:cNvSpPr/>
          <p:nvPr/>
        </p:nvSpPr>
        <p:spPr>
          <a:xfrm>
            <a:off x="7635240" y="5212080"/>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5047488"/>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Two of the four can describe one project — name the dominant one.</a:t>
            </a:r>
          </a:p>
        </p:txBody>
      </p:sp>
      <p:sp>
        <p:nvSpPr>
          <p:cNvPr id="20" name="TextBox 1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 OF 7</a:t>
            </a:r>
          </a:p>
        </p:txBody>
      </p:sp>
      <p:sp>
        <p:nvSpPr>
          <p:cNvPr id="21" name="TextBox 2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NESTING</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1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WORKED  EXAMPLE</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One real Indian system — and where each of the four fields shows up</a:t>
            </a:r>
          </a:p>
        </p:txBody>
      </p:sp>
      <p:sp>
        <p:nvSpPr>
          <p:cNvPr id="7" name="Rectangle 6"/>
          <p:cNvSpPr/>
          <p:nvPr/>
        </p:nvSpPr>
        <p:spPr>
          <a:xfrm>
            <a:off x="548640" y="2468880"/>
            <a:ext cx="6858000" cy="21945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06040"/>
            <a:ext cx="6400800" cy="274320"/>
          </a:xfrm>
          <a:prstGeom prst="rect">
            <a:avLst/>
          </a:prstGeom>
          <a:noFill/>
        </p:spPr>
        <p:txBody>
          <a:bodyPr wrap="square" lIns="0" rIns="0" tIns="0" bIns="0" anchor="t">
            <a:spAutoFit/>
          </a:bodyPr>
          <a:lstStyle/>
          <a:p>
            <a:pPr algn="l"/>
            <a:r>
              <a:rPr sz="1000" b="1" i="0" spc="500">
                <a:solidFill>
                  <a:srgbClr val="0F766E"/>
                </a:solidFill>
                <a:latin typeface="Calibri"/>
              </a:rPr>
              <a:t>THE  SCENARIO</a:t>
            </a:r>
          </a:p>
        </p:txBody>
      </p:sp>
      <p:sp>
        <p:nvSpPr>
          <p:cNvPr id="9" name="TextBox 8"/>
          <p:cNvSpPr txBox="1"/>
          <p:nvPr/>
        </p:nvSpPr>
        <p:spPr>
          <a:xfrm>
            <a:off x="777240" y="2926080"/>
            <a:ext cx="6400800" cy="1691640"/>
          </a:xfrm>
          <a:prstGeom prst="rect">
            <a:avLst/>
          </a:prstGeom>
          <a:noFill/>
        </p:spPr>
        <p:txBody>
          <a:bodyPr wrap="square" lIns="0" rIns="0" tIns="0" bIns="0" anchor="t">
            <a:spAutoFit/>
          </a:bodyPr>
          <a:lstStyle/>
          <a:p>
            <a:pPr algn="l">
              <a:lnSpc>
                <a:spcPct val="140000"/>
              </a:lnSpc>
            </a:pPr>
            <a:r>
              <a:rPr sz="1200" b="0" i="0">
                <a:solidFill>
                  <a:srgbClr val="0F1F1A"/>
                </a:solidFill>
                <a:latin typeface="Calibri"/>
              </a:rPr>
              <a:t>Aadhaar face-match. A citizen taps their thumb at a kirana store; their face is captured by a CCTV camera; the system verifies identity and approves a payment. All four fields are present in this single workflow — once you know what to look for.</a:t>
            </a:r>
          </a:p>
        </p:txBody>
      </p:sp>
      <p:sp>
        <p:nvSpPr>
          <p:cNvPr id="10" name="Rectangle 9"/>
          <p:cNvSpPr/>
          <p:nvPr/>
        </p:nvSpPr>
        <p:spPr>
          <a:xfrm>
            <a:off x="548640" y="4800600"/>
            <a:ext cx="6858000" cy="132588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93776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THE  TAKEAWAY</a:t>
            </a:r>
          </a:p>
        </p:txBody>
      </p:sp>
      <p:sp>
        <p:nvSpPr>
          <p:cNvPr id="12" name="TextBox 11"/>
          <p:cNvSpPr txBox="1"/>
          <p:nvPr/>
        </p:nvSpPr>
        <p:spPr>
          <a:xfrm>
            <a:off x="777240" y="5212080"/>
            <a:ext cx="6400800" cy="868680"/>
          </a:xfrm>
          <a:prstGeom prst="rect">
            <a:avLst/>
          </a:prstGeom>
          <a:noFill/>
        </p:spPr>
        <p:txBody>
          <a:bodyPr wrap="square" lIns="0" rIns="0" tIns="0" bIns="0" anchor="t">
            <a:spAutoFit/>
          </a:bodyPr>
          <a:lstStyle/>
          <a:p>
            <a:pPr algn="l">
              <a:lnSpc>
                <a:spcPct val="135000"/>
              </a:lnSpc>
            </a:pPr>
            <a:r>
              <a:rPr sz="1400" b="0" i="1">
                <a:solidFill>
                  <a:srgbClr val="FFFFFF"/>
                </a:solidFill>
                <a:latin typeface="Georgia"/>
              </a:rPr>
              <a:t>AI is the umbrella. ML is the model that learns identity from examples. DL is the deep neural net that processes the face image. Data Science is the dashboard that monitors success rates by district every morning.</a:t>
            </a:r>
          </a:p>
        </p:txBody>
      </p:sp>
      <p:sp>
        <p:nvSpPr>
          <p:cNvPr id="13" name="Rectangle 12"/>
          <p:cNvSpPr/>
          <p:nvPr/>
        </p:nvSpPr>
        <p:spPr>
          <a:xfrm>
            <a:off x="7635240" y="2468880"/>
            <a:ext cx="3977639" cy="3657600"/>
          </a:xfrm>
          <a:prstGeom prst="rect">
            <a:avLst/>
          </a:prstGeom>
          <a:solidFill>
            <a:srgbClr val="F1F4EC"/>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0" y="2606040"/>
            <a:ext cx="3520440" cy="274320"/>
          </a:xfrm>
          <a:prstGeom prst="rect">
            <a:avLst/>
          </a:prstGeom>
          <a:noFill/>
        </p:spPr>
        <p:txBody>
          <a:bodyPr wrap="square" lIns="0" rIns="0" tIns="0" bIns="0" anchor="t">
            <a:spAutoFit/>
          </a:bodyPr>
          <a:lstStyle/>
          <a:p>
            <a:pPr algn="l"/>
            <a:r>
              <a:rPr sz="1000" b="1" i="0" spc="500">
                <a:solidFill>
                  <a:srgbClr val="0F766E"/>
                </a:solidFill>
                <a:latin typeface="Calibri"/>
              </a:rPr>
              <a:t>WHAT  TO  NOTICE</a:t>
            </a:r>
          </a:p>
        </p:txBody>
      </p:sp>
      <p:sp>
        <p:nvSpPr>
          <p:cNvPr id="15" name="Oval 14"/>
          <p:cNvSpPr/>
          <p:nvPr/>
        </p:nvSpPr>
        <p:spPr>
          <a:xfrm>
            <a:off x="7863840" y="297180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0" y="2971800"/>
            <a:ext cx="411480" cy="411480"/>
          </a:xfrm>
          <a:prstGeom prst="rect">
            <a:avLst/>
          </a:prstGeom>
          <a:noFill/>
        </p:spPr>
        <p:txBody>
          <a:bodyPr wrap="square" lIns="0" rIns="0" tIns="0" bIns="0" anchor="ctr">
            <a:spAutoFit/>
          </a:bodyPr>
          <a:lstStyle/>
          <a:p>
            <a:pPr algn="ctr"/>
            <a:r>
              <a:rPr sz="1400" b="1" i="0">
                <a:solidFill>
                  <a:srgbClr val="C5E063"/>
                </a:solidFill>
                <a:latin typeface="Georgia"/>
              </a:rPr>
              <a:t>1</a:t>
            </a:r>
          </a:p>
        </p:txBody>
      </p:sp>
      <p:sp>
        <p:nvSpPr>
          <p:cNvPr id="17" name="TextBox 16"/>
          <p:cNvSpPr txBox="1"/>
          <p:nvPr/>
        </p:nvSpPr>
        <p:spPr>
          <a:xfrm>
            <a:off x="8366760" y="297180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AI — the umbrella under which all of this lives.</a:t>
            </a:r>
          </a:p>
        </p:txBody>
      </p:sp>
      <p:sp>
        <p:nvSpPr>
          <p:cNvPr id="18" name="Oval 17"/>
          <p:cNvSpPr/>
          <p:nvPr/>
        </p:nvSpPr>
        <p:spPr>
          <a:xfrm>
            <a:off x="7863840" y="3749039"/>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749039"/>
            <a:ext cx="411480" cy="411480"/>
          </a:xfrm>
          <a:prstGeom prst="rect">
            <a:avLst/>
          </a:prstGeom>
          <a:noFill/>
        </p:spPr>
        <p:txBody>
          <a:bodyPr wrap="square" lIns="0" rIns="0" tIns="0" bIns="0" anchor="ctr">
            <a:spAutoFit/>
          </a:bodyPr>
          <a:lstStyle/>
          <a:p>
            <a:pPr algn="ctr"/>
            <a:r>
              <a:rPr sz="1400" b="1" i="0">
                <a:solidFill>
                  <a:srgbClr val="C5E063"/>
                </a:solidFill>
                <a:latin typeface="Georgia"/>
              </a:rPr>
              <a:t>2</a:t>
            </a:r>
          </a:p>
        </p:txBody>
      </p:sp>
      <p:sp>
        <p:nvSpPr>
          <p:cNvPr id="20" name="TextBox 19"/>
          <p:cNvSpPr txBox="1"/>
          <p:nvPr/>
        </p:nvSpPr>
        <p:spPr>
          <a:xfrm>
            <a:off x="8366760" y="3749039"/>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ML — the model trained on millions of face pairs.</a:t>
            </a:r>
          </a:p>
        </p:txBody>
      </p:sp>
      <p:sp>
        <p:nvSpPr>
          <p:cNvPr id="21" name="Oval 20"/>
          <p:cNvSpPr/>
          <p:nvPr/>
        </p:nvSpPr>
        <p:spPr>
          <a:xfrm>
            <a:off x="7863840" y="452628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0" y="4526280"/>
            <a:ext cx="411480" cy="411480"/>
          </a:xfrm>
          <a:prstGeom prst="rect">
            <a:avLst/>
          </a:prstGeom>
          <a:noFill/>
        </p:spPr>
        <p:txBody>
          <a:bodyPr wrap="square" lIns="0" rIns="0" tIns="0" bIns="0" anchor="ctr">
            <a:spAutoFit/>
          </a:bodyPr>
          <a:lstStyle/>
          <a:p>
            <a:pPr algn="ctr"/>
            <a:r>
              <a:rPr sz="1400" b="1" i="0">
                <a:solidFill>
                  <a:srgbClr val="C5E063"/>
                </a:solidFill>
                <a:latin typeface="Georgia"/>
              </a:rPr>
              <a:t>3</a:t>
            </a:r>
          </a:p>
        </p:txBody>
      </p:sp>
      <p:sp>
        <p:nvSpPr>
          <p:cNvPr id="23" name="TextBox 22"/>
          <p:cNvSpPr txBox="1"/>
          <p:nvPr/>
        </p:nvSpPr>
        <p:spPr>
          <a:xfrm>
            <a:off x="8366760" y="452628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DL — the deep net that turns pixels into a face embedding.</a:t>
            </a:r>
          </a:p>
        </p:txBody>
      </p:sp>
      <p:sp>
        <p:nvSpPr>
          <p:cNvPr id="24" name="Oval 23"/>
          <p:cNvSpPr/>
          <p:nvPr/>
        </p:nvSpPr>
        <p:spPr>
          <a:xfrm>
            <a:off x="7863840" y="530352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0" y="5303520"/>
            <a:ext cx="411480" cy="411480"/>
          </a:xfrm>
          <a:prstGeom prst="rect">
            <a:avLst/>
          </a:prstGeom>
          <a:noFill/>
        </p:spPr>
        <p:txBody>
          <a:bodyPr wrap="square" lIns="0" rIns="0" tIns="0" bIns="0" anchor="ctr">
            <a:spAutoFit/>
          </a:bodyPr>
          <a:lstStyle/>
          <a:p>
            <a:pPr algn="ctr"/>
            <a:r>
              <a:rPr sz="1400" b="1" i="0">
                <a:solidFill>
                  <a:srgbClr val="C5E063"/>
                </a:solidFill>
                <a:latin typeface="Georgia"/>
              </a:rPr>
              <a:t>4</a:t>
            </a:r>
          </a:p>
        </p:txBody>
      </p:sp>
      <p:sp>
        <p:nvSpPr>
          <p:cNvPr id="26" name="TextBox 25"/>
          <p:cNvSpPr txBox="1"/>
          <p:nvPr/>
        </p:nvSpPr>
        <p:spPr>
          <a:xfrm>
            <a:off x="8366760" y="530352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Data Science — the dashboards tracking success by district.</a:t>
            </a:r>
          </a:p>
        </p:txBody>
      </p:sp>
      <p:sp>
        <p:nvSpPr>
          <p:cNvPr id="27" name="TextBox 26"/>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1 OF 7</a:t>
            </a:r>
          </a:p>
        </p:txBody>
      </p:sp>
      <p:sp>
        <p:nvSpPr>
          <p:cNvPr id="28" name="TextBox 27"/>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EXAMPLE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par>
                    <p:cTn id="133" fill="hold">
                      <p:stCondLst>
                        <p:cond delay="indefinite"/>
                        <p:cond evt="onBegin" delay="0">
                          <p:tn val="2"/>
                        </p:cond>
                      </p:stCondLst>
                      <p:childTnLst>
                        <p:par>
                          <p:cTn id="134" fill="hold">
                            <p:stCondLst>
                              <p:cond delay="0"/>
                            </p:stCondLst>
                            <p:childTnLst>
                              <p:par>
                                <p:cTn id="135" presetID="10" presetClass="entr" presetSubtype="0" fill="hold" grpId="0" nodeType="afterEffect">
                                  <p:stCondLst>
                                    <p:cond delay="18"/>
                                  </p:stCondLst>
                                  <p:childTnLst>
                                    <p:set>
                                      <p:cBhvr>
                                        <p:cTn id="136" dur="1" fill="hold">
                                          <p:stCondLst>
                                            <p:cond delay="0"/>
                                          </p:stCondLst>
                                        </p:cTn>
                                        <p:tgtEl>
                                          <p:spTgt spid="28"/>
                                        </p:tgtEl>
                                        <p:attrNameLst>
                                          <p:attrName>style.visibility</p:attrName>
                                        </p:attrNameLst>
                                      </p:cBhvr>
                                      <p:to>
                                        <p:strVal val="visible"/>
                                      </p:to>
                                    </p:set>
                                    <p:anim calcmode="lin" valueType="num">
                                      <p:cBhvr additive="base">
                                        <p:cTn id="137" dur="150" fill="hold"/>
                                        <p:tgtEl>
                                          <p:spTgt spid="28"/>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1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QUICK  REFERENCE</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AI vs. ML vs. DL — at a glance</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475569"/>
                </a:solidFill>
                <a:latin typeface="Calibri"/>
              </a:rPr>
              <a:t>Six attributes, three fields. Use this as a cheat sheet whenever you need to choose between approaches.</a:t>
            </a:r>
          </a:p>
        </p:txBody>
      </p:sp>
      <p:sp>
        <p:nvSpPr>
          <p:cNvPr id="8" name="Rectangle 7"/>
          <p:cNvSpPr/>
          <p:nvPr/>
        </p:nvSpPr>
        <p:spPr>
          <a:xfrm>
            <a:off x="548640" y="3154680"/>
            <a:ext cx="2351151" cy="45720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154680"/>
            <a:ext cx="2351151" cy="457200"/>
          </a:xfrm>
          <a:prstGeom prst="rect">
            <a:avLst/>
          </a:prstGeom>
          <a:noFill/>
        </p:spPr>
        <p:txBody>
          <a:bodyPr wrap="square" lIns="0" rIns="0" tIns="0" bIns="0" anchor="ctr">
            <a:spAutoFit/>
          </a:bodyPr>
          <a:lstStyle/>
          <a:p>
            <a:pPr algn="ctr"/>
            <a:r>
              <a:rPr sz="1100" b="1" i="0" spc="400">
                <a:solidFill>
                  <a:srgbClr val="C5E063"/>
                </a:solidFill>
                <a:latin typeface="Calibri"/>
              </a:rPr>
              <a:t>Attribute</a:t>
            </a:r>
          </a:p>
        </p:txBody>
      </p:sp>
      <p:sp>
        <p:nvSpPr>
          <p:cNvPr id="10" name="Rectangle 9"/>
          <p:cNvSpPr/>
          <p:nvPr/>
        </p:nvSpPr>
        <p:spPr>
          <a:xfrm>
            <a:off x="2899791" y="3154680"/>
            <a:ext cx="2904362" cy="45720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99791" y="3154680"/>
            <a:ext cx="2904362" cy="457200"/>
          </a:xfrm>
          <a:prstGeom prst="rect">
            <a:avLst/>
          </a:prstGeom>
          <a:noFill/>
        </p:spPr>
        <p:txBody>
          <a:bodyPr wrap="square" lIns="0" rIns="0" tIns="0" bIns="0" anchor="ctr">
            <a:spAutoFit/>
          </a:bodyPr>
          <a:lstStyle/>
          <a:p>
            <a:pPr algn="ctr"/>
            <a:r>
              <a:rPr sz="1100" b="1" i="0" spc="400">
                <a:solidFill>
                  <a:srgbClr val="C5E063"/>
                </a:solidFill>
                <a:latin typeface="Calibri"/>
              </a:rPr>
              <a:t>AI</a:t>
            </a:r>
          </a:p>
        </p:txBody>
      </p:sp>
      <p:sp>
        <p:nvSpPr>
          <p:cNvPr id="12" name="Rectangle 11"/>
          <p:cNvSpPr/>
          <p:nvPr/>
        </p:nvSpPr>
        <p:spPr>
          <a:xfrm>
            <a:off x="5804154" y="3154680"/>
            <a:ext cx="2904362" cy="45720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04154" y="3154680"/>
            <a:ext cx="2904362" cy="457200"/>
          </a:xfrm>
          <a:prstGeom prst="rect">
            <a:avLst/>
          </a:prstGeom>
          <a:noFill/>
        </p:spPr>
        <p:txBody>
          <a:bodyPr wrap="square" lIns="0" rIns="0" tIns="0" bIns="0" anchor="ctr">
            <a:spAutoFit/>
          </a:bodyPr>
          <a:lstStyle/>
          <a:p>
            <a:pPr algn="ctr"/>
            <a:r>
              <a:rPr sz="1100" b="1" i="0" spc="400">
                <a:solidFill>
                  <a:srgbClr val="C5E063"/>
                </a:solidFill>
                <a:latin typeface="Calibri"/>
              </a:rPr>
              <a:t>ML</a:t>
            </a:r>
          </a:p>
        </p:txBody>
      </p:sp>
      <p:sp>
        <p:nvSpPr>
          <p:cNvPr id="14" name="Rectangle 13"/>
          <p:cNvSpPr/>
          <p:nvPr/>
        </p:nvSpPr>
        <p:spPr>
          <a:xfrm>
            <a:off x="8708517" y="3154680"/>
            <a:ext cx="2904362" cy="45720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08517" y="3154680"/>
            <a:ext cx="2904362" cy="457200"/>
          </a:xfrm>
          <a:prstGeom prst="rect">
            <a:avLst/>
          </a:prstGeom>
          <a:noFill/>
        </p:spPr>
        <p:txBody>
          <a:bodyPr wrap="square" lIns="0" rIns="0" tIns="0" bIns="0" anchor="ctr">
            <a:spAutoFit/>
          </a:bodyPr>
          <a:lstStyle/>
          <a:p>
            <a:pPr algn="ctr"/>
            <a:r>
              <a:rPr sz="1100" b="1" i="0" spc="400">
                <a:solidFill>
                  <a:srgbClr val="C5E063"/>
                </a:solidFill>
                <a:latin typeface="Calibri"/>
              </a:rPr>
              <a:t>DL</a:t>
            </a:r>
          </a:p>
        </p:txBody>
      </p:sp>
      <p:sp>
        <p:nvSpPr>
          <p:cNvPr id="16" name="Rectangle 15"/>
          <p:cNvSpPr/>
          <p:nvPr/>
        </p:nvSpPr>
        <p:spPr>
          <a:xfrm>
            <a:off x="548640" y="3611880"/>
            <a:ext cx="2351151" cy="502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611880"/>
            <a:ext cx="2076831" cy="502920"/>
          </a:xfrm>
          <a:prstGeom prst="rect">
            <a:avLst/>
          </a:prstGeom>
          <a:noFill/>
        </p:spPr>
        <p:txBody>
          <a:bodyPr wrap="square" lIns="0" rIns="0" tIns="0" bIns="0" anchor="ctr">
            <a:spAutoFit/>
          </a:bodyPr>
          <a:lstStyle/>
          <a:p>
            <a:pPr algn="l"/>
            <a:r>
              <a:rPr sz="1100" b="1" i="0">
                <a:solidFill>
                  <a:srgbClr val="2C5244"/>
                </a:solidFill>
                <a:latin typeface="Calibri"/>
              </a:rPr>
              <a:t>Scope</a:t>
            </a:r>
          </a:p>
        </p:txBody>
      </p:sp>
      <p:sp>
        <p:nvSpPr>
          <p:cNvPr id="18" name="Rectangle 17"/>
          <p:cNvSpPr/>
          <p:nvPr/>
        </p:nvSpPr>
        <p:spPr>
          <a:xfrm>
            <a:off x="2899791" y="3611880"/>
            <a:ext cx="2904362" cy="502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91231" y="361188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Broadest</a:t>
            </a:r>
          </a:p>
        </p:txBody>
      </p:sp>
      <p:sp>
        <p:nvSpPr>
          <p:cNvPr id="20" name="Rectangle 19"/>
          <p:cNvSpPr/>
          <p:nvPr/>
        </p:nvSpPr>
        <p:spPr>
          <a:xfrm>
            <a:off x="5804154" y="3611880"/>
            <a:ext cx="2904362" cy="502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95594" y="361188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Subset of AI</a:t>
            </a:r>
          </a:p>
        </p:txBody>
      </p:sp>
      <p:sp>
        <p:nvSpPr>
          <p:cNvPr id="22" name="Rectangle 21"/>
          <p:cNvSpPr/>
          <p:nvPr/>
        </p:nvSpPr>
        <p:spPr>
          <a:xfrm>
            <a:off x="8708517" y="3611880"/>
            <a:ext cx="2904362" cy="502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99957" y="361188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Subset of ML</a:t>
            </a:r>
          </a:p>
        </p:txBody>
      </p:sp>
      <p:sp>
        <p:nvSpPr>
          <p:cNvPr id="24" name="Rectangle 23"/>
          <p:cNvSpPr/>
          <p:nvPr/>
        </p:nvSpPr>
        <p:spPr>
          <a:xfrm>
            <a:off x="548640" y="4114800"/>
            <a:ext cx="2351151" cy="502920"/>
          </a:xfrm>
          <a:prstGeom prst="rect">
            <a:avLst/>
          </a:prstGeom>
          <a:solidFill>
            <a:srgbClr val="F1F4EC"/>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4114800"/>
            <a:ext cx="2076831" cy="502920"/>
          </a:xfrm>
          <a:prstGeom prst="rect">
            <a:avLst/>
          </a:prstGeom>
          <a:noFill/>
        </p:spPr>
        <p:txBody>
          <a:bodyPr wrap="square" lIns="0" rIns="0" tIns="0" bIns="0" anchor="ctr">
            <a:spAutoFit/>
          </a:bodyPr>
          <a:lstStyle/>
          <a:p>
            <a:pPr algn="l"/>
            <a:r>
              <a:rPr sz="1100" b="1" i="0">
                <a:solidFill>
                  <a:srgbClr val="2C5244"/>
                </a:solidFill>
                <a:latin typeface="Calibri"/>
              </a:rPr>
              <a:t>Data hunger</a:t>
            </a:r>
          </a:p>
        </p:txBody>
      </p:sp>
      <p:sp>
        <p:nvSpPr>
          <p:cNvPr id="26" name="Rectangle 25"/>
          <p:cNvSpPr/>
          <p:nvPr/>
        </p:nvSpPr>
        <p:spPr>
          <a:xfrm>
            <a:off x="2899791" y="4114800"/>
            <a:ext cx="2904362" cy="502920"/>
          </a:xfrm>
          <a:prstGeom prst="rect">
            <a:avLst/>
          </a:prstGeom>
          <a:solidFill>
            <a:srgbClr val="F1F4EC"/>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91231" y="411480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Optional</a:t>
            </a:r>
          </a:p>
        </p:txBody>
      </p:sp>
      <p:sp>
        <p:nvSpPr>
          <p:cNvPr id="28" name="Rectangle 27"/>
          <p:cNvSpPr/>
          <p:nvPr/>
        </p:nvSpPr>
        <p:spPr>
          <a:xfrm>
            <a:off x="5804154" y="4114800"/>
            <a:ext cx="2904362" cy="502920"/>
          </a:xfrm>
          <a:prstGeom prst="rect">
            <a:avLst/>
          </a:prstGeom>
          <a:solidFill>
            <a:srgbClr val="F1F4EC"/>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95594" y="411480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Moderate</a:t>
            </a:r>
          </a:p>
        </p:txBody>
      </p:sp>
      <p:sp>
        <p:nvSpPr>
          <p:cNvPr id="30" name="Rectangle 29"/>
          <p:cNvSpPr/>
          <p:nvPr/>
        </p:nvSpPr>
        <p:spPr>
          <a:xfrm>
            <a:off x="8708517" y="4114800"/>
            <a:ext cx="2904362" cy="502920"/>
          </a:xfrm>
          <a:prstGeom prst="rect">
            <a:avLst/>
          </a:prstGeom>
          <a:solidFill>
            <a:srgbClr val="F1F4EC"/>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99957" y="411480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Very high</a:t>
            </a:r>
          </a:p>
        </p:txBody>
      </p:sp>
      <p:sp>
        <p:nvSpPr>
          <p:cNvPr id="32" name="Rectangle 31"/>
          <p:cNvSpPr/>
          <p:nvPr/>
        </p:nvSpPr>
        <p:spPr>
          <a:xfrm>
            <a:off x="548640" y="4617720"/>
            <a:ext cx="2351151" cy="502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4617720"/>
            <a:ext cx="2076831" cy="502920"/>
          </a:xfrm>
          <a:prstGeom prst="rect">
            <a:avLst/>
          </a:prstGeom>
          <a:noFill/>
        </p:spPr>
        <p:txBody>
          <a:bodyPr wrap="square" lIns="0" rIns="0" tIns="0" bIns="0" anchor="ctr">
            <a:spAutoFit/>
          </a:bodyPr>
          <a:lstStyle/>
          <a:p>
            <a:pPr algn="l"/>
            <a:r>
              <a:rPr sz="1100" b="1" i="0">
                <a:solidFill>
                  <a:srgbClr val="2C5244"/>
                </a:solidFill>
                <a:latin typeface="Calibri"/>
              </a:rPr>
              <a:t>Compute</a:t>
            </a:r>
          </a:p>
        </p:txBody>
      </p:sp>
      <p:sp>
        <p:nvSpPr>
          <p:cNvPr id="34" name="Rectangle 33"/>
          <p:cNvSpPr/>
          <p:nvPr/>
        </p:nvSpPr>
        <p:spPr>
          <a:xfrm>
            <a:off x="2899791" y="4617720"/>
            <a:ext cx="2904362" cy="502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991231" y="461772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Low to moderate</a:t>
            </a:r>
          </a:p>
        </p:txBody>
      </p:sp>
      <p:sp>
        <p:nvSpPr>
          <p:cNvPr id="36" name="Rectangle 35"/>
          <p:cNvSpPr/>
          <p:nvPr/>
        </p:nvSpPr>
        <p:spPr>
          <a:xfrm>
            <a:off x="5804154" y="4617720"/>
            <a:ext cx="2904362" cy="502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95594" y="461772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Moderate</a:t>
            </a:r>
          </a:p>
        </p:txBody>
      </p:sp>
      <p:sp>
        <p:nvSpPr>
          <p:cNvPr id="38" name="Rectangle 37"/>
          <p:cNvSpPr/>
          <p:nvPr/>
        </p:nvSpPr>
        <p:spPr>
          <a:xfrm>
            <a:off x="8708517" y="4617720"/>
            <a:ext cx="2904362" cy="502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99957" y="461772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GPU / TPU</a:t>
            </a:r>
          </a:p>
        </p:txBody>
      </p:sp>
      <p:sp>
        <p:nvSpPr>
          <p:cNvPr id="40" name="Rectangle 39"/>
          <p:cNvSpPr/>
          <p:nvPr/>
        </p:nvSpPr>
        <p:spPr>
          <a:xfrm>
            <a:off x="548640" y="5120640"/>
            <a:ext cx="2351151" cy="502920"/>
          </a:xfrm>
          <a:prstGeom prst="rect">
            <a:avLst/>
          </a:prstGeom>
          <a:solidFill>
            <a:srgbClr val="F1F4EC"/>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 y="5120640"/>
            <a:ext cx="2076831" cy="502920"/>
          </a:xfrm>
          <a:prstGeom prst="rect">
            <a:avLst/>
          </a:prstGeom>
          <a:noFill/>
        </p:spPr>
        <p:txBody>
          <a:bodyPr wrap="square" lIns="0" rIns="0" tIns="0" bIns="0" anchor="ctr">
            <a:spAutoFit/>
          </a:bodyPr>
          <a:lstStyle/>
          <a:p>
            <a:pPr algn="l"/>
            <a:r>
              <a:rPr sz="1100" b="1" i="0">
                <a:solidFill>
                  <a:srgbClr val="2C5244"/>
                </a:solidFill>
                <a:latin typeface="Calibri"/>
              </a:rPr>
              <a:t>Tasks</a:t>
            </a:r>
          </a:p>
        </p:txBody>
      </p:sp>
      <p:sp>
        <p:nvSpPr>
          <p:cNvPr id="42" name="Rectangle 41"/>
          <p:cNvSpPr/>
          <p:nvPr/>
        </p:nvSpPr>
        <p:spPr>
          <a:xfrm>
            <a:off x="2899791" y="5120640"/>
            <a:ext cx="2904362" cy="502920"/>
          </a:xfrm>
          <a:prstGeom prst="rect">
            <a:avLst/>
          </a:prstGeom>
          <a:solidFill>
            <a:srgbClr val="F1F4EC"/>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91231" y="512064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Rules, decisions</a:t>
            </a:r>
          </a:p>
        </p:txBody>
      </p:sp>
      <p:sp>
        <p:nvSpPr>
          <p:cNvPr id="44" name="Rectangle 43"/>
          <p:cNvSpPr/>
          <p:nvPr/>
        </p:nvSpPr>
        <p:spPr>
          <a:xfrm>
            <a:off x="5804154" y="5120640"/>
            <a:ext cx="2904362" cy="502920"/>
          </a:xfrm>
          <a:prstGeom prst="rect">
            <a:avLst/>
          </a:prstGeom>
          <a:solidFill>
            <a:srgbClr val="F1F4EC"/>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895594" y="512064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Predict, classify</a:t>
            </a:r>
          </a:p>
        </p:txBody>
      </p:sp>
      <p:sp>
        <p:nvSpPr>
          <p:cNvPr id="46" name="Rectangle 45"/>
          <p:cNvSpPr/>
          <p:nvPr/>
        </p:nvSpPr>
        <p:spPr>
          <a:xfrm>
            <a:off x="8708517" y="5120640"/>
            <a:ext cx="2904362" cy="502920"/>
          </a:xfrm>
          <a:prstGeom prst="rect">
            <a:avLst/>
          </a:prstGeom>
          <a:solidFill>
            <a:srgbClr val="F1F4EC"/>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799957" y="512064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Vision, speech, language</a:t>
            </a:r>
          </a:p>
        </p:txBody>
      </p:sp>
      <p:sp>
        <p:nvSpPr>
          <p:cNvPr id="48" name="Rectangle 47"/>
          <p:cNvSpPr/>
          <p:nvPr/>
        </p:nvSpPr>
        <p:spPr>
          <a:xfrm>
            <a:off x="548640" y="5623560"/>
            <a:ext cx="2351151" cy="502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85800" y="5623560"/>
            <a:ext cx="2076831" cy="502920"/>
          </a:xfrm>
          <a:prstGeom prst="rect">
            <a:avLst/>
          </a:prstGeom>
          <a:noFill/>
        </p:spPr>
        <p:txBody>
          <a:bodyPr wrap="square" lIns="0" rIns="0" tIns="0" bIns="0" anchor="ctr">
            <a:spAutoFit/>
          </a:bodyPr>
          <a:lstStyle/>
          <a:p>
            <a:pPr algn="l"/>
            <a:r>
              <a:rPr sz="1100" b="1" i="0">
                <a:solidFill>
                  <a:srgbClr val="2C5244"/>
                </a:solidFill>
                <a:latin typeface="Calibri"/>
              </a:rPr>
              <a:t>Output</a:t>
            </a:r>
          </a:p>
        </p:txBody>
      </p:sp>
      <p:sp>
        <p:nvSpPr>
          <p:cNvPr id="50" name="Rectangle 49"/>
          <p:cNvSpPr/>
          <p:nvPr/>
        </p:nvSpPr>
        <p:spPr>
          <a:xfrm>
            <a:off x="2899791" y="5623560"/>
            <a:ext cx="2904362" cy="502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991231" y="562356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A decision</a:t>
            </a:r>
          </a:p>
        </p:txBody>
      </p:sp>
      <p:sp>
        <p:nvSpPr>
          <p:cNvPr id="52" name="Rectangle 51"/>
          <p:cNvSpPr/>
          <p:nvPr/>
        </p:nvSpPr>
        <p:spPr>
          <a:xfrm>
            <a:off x="5804154" y="5623560"/>
            <a:ext cx="2904362" cy="502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895594" y="562356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A prediction</a:t>
            </a:r>
          </a:p>
        </p:txBody>
      </p:sp>
      <p:sp>
        <p:nvSpPr>
          <p:cNvPr id="54" name="Rectangle 53"/>
          <p:cNvSpPr/>
          <p:nvPr/>
        </p:nvSpPr>
        <p:spPr>
          <a:xfrm>
            <a:off x="8708517" y="5623560"/>
            <a:ext cx="2904362" cy="502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799957" y="562356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Embeddings + predictions</a:t>
            </a:r>
          </a:p>
        </p:txBody>
      </p:sp>
      <p:sp>
        <p:nvSpPr>
          <p:cNvPr id="56" name="TextBox 5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1 OF 7</a:t>
            </a:r>
          </a:p>
        </p:txBody>
      </p:sp>
      <p:sp>
        <p:nvSpPr>
          <p:cNvPr id="57" name="TextBox 5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AT A GLANCE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par>
                    <p:cTn id="133" fill="hold">
                      <p:stCondLst>
                        <p:cond delay="indefinite"/>
                        <p:cond evt="onBegin" delay="0">
                          <p:tn val="2"/>
                        </p:cond>
                      </p:stCondLst>
                      <p:childTnLst>
                        <p:par>
                          <p:cTn id="134" fill="hold">
                            <p:stCondLst>
                              <p:cond delay="0"/>
                            </p:stCondLst>
                            <p:childTnLst>
                              <p:par>
                                <p:cTn id="135" presetID="10" presetClass="entr" presetSubtype="0" fill="hold" grpId="0" nodeType="afterEffect">
                                  <p:stCondLst>
                                    <p:cond delay="18"/>
                                  </p:stCondLst>
                                  <p:childTnLst>
                                    <p:set>
                                      <p:cBhvr>
                                        <p:cTn id="136" dur="1" fill="hold">
                                          <p:stCondLst>
                                            <p:cond delay="0"/>
                                          </p:stCondLst>
                                        </p:cTn>
                                        <p:tgtEl>
                                          <p:spTgt spid="28"/>
                                        </p:tgtEl>
                                        <p:attrNameLst>
                                          <p:attrName>style.visibility</p:attrName>
                                        </p:attrNameLst>
                                      </p:cBhvr>
                                      <p:to>
                                        <p:strVal val="visible"/>
                                      </p:to>
                                    </p:set>
                                    <p:anim calcmode="lin" valueType="num">
                                      <p:cBhvr additive="base">
                                        <p:cTn id="137" dur="150" fill="hold"/>
                                        <p:tgtEl>
                                          <p:spTgt spid="28"/>
                                        </p:tgtEl>
                                        <p:attrNameLst>
                                          <p:attrName>style.opacity</p:attrName>
                                        </p:attrNameLst>
                                      </p:cBhvr>
                                      <p:tavLst>
                                        <p:tav tm="0">
                                          <p:val>
                                            <p:fltVal val="0"/>
                                          </p:val>
                                        </p:tav>
                                        <p:tav tm="100000">
                                          <p:val>
                                            <p:fltVal val="1"/>
                                          </p:val>
                                        </p:tav>
                                      </p:tavLst>
                                    </p:anim>
                                  </p:childTnLst>
                                </p:cTn>
                              </p:par>
                            </p:childTnLst>
                          </p:cTn>
                        </p:par>
                      </p:childTnLst>
                    </p:cTn>
                  </p:par>
                  <p:par>
                    <p:cTn id="138" fill="hold">
                      <p:stCondLst>
                        <p:cond delay="indefinite"/>
                        <p:cond evt="onBegin" delay="0">
                          <p:tn val="2"/>
                        </p:cond>
                      </p:stCondLst>
                      <p:childTnLst>
                        <p:par>
                          <p:cTn id="139" fill="hold">
                            <p:stCondLst>
                              <p:cond delay="0"/>
                            </p:stCondLst>
                            <p:childTnLst>
                              <p:par>
                                <p:cTn id="140" presetID="10" presetClass="entr" presetSubtype="0" fill="hold" grpId="0" nodeType="afterEffect">
                                  <p:stCondLst>
                                    <p:cond delay="18"/>
                                  </p:stCondLst>
                                  <p:childTnLst>
                                    <p:set>
                                      <p:cBhvr>
                                        <p:cTn id="141" dur="1" fill="hold">
                                          <p:stCondLst>
                                            <p:cond delay="0"/>
                                          </p:stCondLst>
                                        </p:cTn>
                                        <p:tgtEl>
                                          <p:spTgt spid="29"/>
                                        </p:tgtEl>
                                        <p:attrNameLst>
                                          <p:attrName>style.visibility</p:attrName>
                                        </p:attrNameLst>
                                      </p:cBhvr>
                                      <p:to>
                                        <p:strVal val="visible"/>
                                      </p:to>
                                    </p:set>
                                    <p:anim calcmode="lin" valueType="num">
                                      <p:cBhvr additive="base">
                                        <p:cTn id="142" dur="150" fill="hold"/>
                                        <p:tgtEl>
                                          <p:spTgt spid="29"/>
                                        </p:tgtEl>
                                        <p:attrNameLst>
                                          <p:attrName>style.opacity</p:attrName>
                                        </p:attrNameLst>
                                      </p:cBhvr>
                                      <p:tavLst>
                                        <p:tav tm="0">
                                          <p:val>
                                            <p:fltVal val="0"/>
                                          </p:val>
                                        </p:tav>
                                        <p:tav tm="100000">
                                          <p:val>
                                            <p:fltVal val="1"/>
                                          </p:val>
                                        </p:tav>
                                      </p:tavLst>
                                    </p:anim>
                                  </p:childTnLst>
                                </p:cTn>
                              </p:par>
                            </p:childTnLst>
                          </p:cTn>
                        </p:par>
                      </p:childTnLst>
                    </p:cTn>
                  </p:par>
                  <p:par>
                    <p:cTn id="143" fill="hold">
                      <p:stCondLst>
                        <p:cond delay="indefinite"/>
                        <p:cond evt="onBegin" delay="0">
                          <p:tn val="2"/>
                        </p:cond>
                      </p:stCondLst>
                      <p:childTnLst>
                        <p:par>
                          <p:cTn id="144" fill="hold">
                            <p:stCondLst>
                              <p:cond delay="0"/>
                            </p:stCondLst>
                            <p:childTnLst>
                              <p:par>
                                <p:cTn id="145" presetID="10" presetClass="entr" presetSubtype="0" fill="hold" grpId="0" nodeType="afterEffect">
                                  <p:stCondLst>
                                    <p:cond delay="18"/>
                                  </p:stCondLst>
                                  <p:childTnLst>
                                    <p:set>
                                      <p:cBhvr>
                                        <p:cTn id="146" dur="1" fill="hold">
                                          <p:stCondLst>
                                            <p:cond delay="0"/>
                                          </p:stCondLst>
                                        </p:cTn>
                                        <p:tgtEl>
                                          <p:spTgt spid="30"/>
                                        </p:tgtEl>
                                        <p:attrNameLst>
                                          <p:attrName>style.visibility</p:attrName>
                                        </p:attrNameLst>
                                      </p:cBhvr>
                                      <p:to>
                                        <p:strVal val="visible"/>
                                      </p:to>
                                    </p:set>
                                    <p:anim calcmode="lin" valueType="num">
                                      <p:cBhvr additive="base">
                                        <p:cTn id="147" dur="150" fill="hold"/>
                                        <p:tgtEl>
                                          <p:spTgt spid="30"/>
                                        </p:tgtEl>
                                        <p:attrNameLst>
                                          <p:attrName>style.opacity</p:attrName>
                                        </p:attrNameLst>
                                      </p:cBhvr>
                                      <p:tavLst>
                                        <p:tav tm="0">
                                          <p:val>
                                            <p:fltVal val="0"/>
                                          </p:val>
                                        </p:tav>
                                        <p:tav tm="100000">
                                          <p:val>
                                            <p:fltVal val="1"/>
                                          </p:val>
                                        </p:tav>
                                      </p:tavLst>
                                    </p:anim>
                                  </p:childTnLst>
                                </p:cTn>
                              </p:par>
                            </p:childTnLst>
                          </p:cTn>
                        </p:par>
                      </p:childTnLst>
                    </p:cTn>
                  </p:par>
                  <p:par>
                    <p:cTn id="148" fill="hold">
                      <p:stCondLst>
                        <p:cond delay="indefinite"/>
                        <p:cond evt="onBegin" delay="0">
                          <p:tn val="2"/>
                        </p:cond>
                      </p:stCondLst>
                      <p:childTnLst>
                        <p:par>
                          <p:cTn id="149" fill="hold">
                            <p:stCondLst>
                              <p:cond delay="0"/>
                            </p:stCondLst>
                            <p:childTnLst>
                              <p:par>
                                <p:cTn id="150" presetID="10" presetClass="entr" presetSubtype="0" fill="hold" grpId="0" nodeType="afterEffect">
                                  <p:stCondLst>
                                    <p:cond delay="18"/>
                                  </p:stCondLst>
                                  <p:childTnLst>
                                    <p:set>
                                      <p:cBhvr>
                                        <p:cTn id="151" dur="1" fill="hold">
                                          <p:stCondLst>
                                            <p:cond delay="0"/>
                                          </p:stCondLst>
                                        </p:cTn>
                                        <p:tgtEl>
                                          <p:spTgt spid="31"/>
                                        </p:tgtEl>
                                        <p:attrNameLst>
                                          <p:attrName>style.visibility</p:attrName>
                                        </p:attrNameLst>
                                      </p:cBhvr>
                                      <p:to>
                                        <p:strVal val="visible"/>
                                      </p:to>
                                    </p:set>
                                    <p:anim calcmode="lin" valueType="num">
                                      <p:cBhvr additive="base">
                                        <p:cTn id="152" dur="150" fill="hold"/>
                                        <p:tgtEl>
                                          <p:spTgt spid="31"/>
                                        </p:tgtEl>
                                        <p:attrNameLst>
                                          <p:attrName>style.opacity</p:attrName>
                                        </p:attrNameLst>
                                      </p:cBhvr>
                                      <p:tavLst>
                                        <p:tav tm="0">
                                          <p:val>
                                            <p:fltVal val="0"/>
                                          </p:val>
                                        </p:tav>
                                        <p:tav tm="100000">
                                          <p:val>
                                            <p:fltVal val="1"/>
                                          </p:val>
                                        </p:tav>
                                      </p:tavLst>
                                    </p:anim>
                                  </p:childTnLst>
                                </p:cTn>
                              </p:par>
                            </p:childTnLst>
                          </p:cTn>
                        </p:par>
                      </p:childTnLst>
                    </p:cTn>
                  </p:par>
                  <p:par>
                    <p:cTn id="153" fill="hold">
                      <p:stCondLst>
                        <p:cond delay="indefinite"/>
                        <p:cond evt="onBegin" delay="0">
                          <p:tn val="2"/>
                        </p:cond>
                      </p:stCondLst>
                      <p:childTnLst>
                        <p:par>
                          <p:cTn id="154" fill="hold">
                            <p:stCondLst>
                              <p:cond delay="0"/>
                            </p:stCondLst>
                            <p:childTnLst>
                              <p:par>
                                <p:cTn id="155" presetID="10" presetClass="entr" presetSubtype="0" fill="hold" grpId="0" nodeType="afterEffect">
                                  <p:stCondLst>
                                    <p:cond delay="18"/>
                                  </p:stCondLst>
                                  <p:childTnLst>
                                    <p:set>
                                      <p:cBhvr>
                                        <p:cTn id="156" dur="1" fill="hold">
                                          <p:stCondLst>
                                            <p:cond delay="0"/>
                                          </p:stCondLst>
                                        </p:cTn>
                                        <p:tgtEl>
                                          <p:spTgt spid="32"/>
                                        </p:tgtEl>
                                        <p:attrNameLst>
                                          <p:attrName>style.visibility</p:attrName>
                                        </p:attrNameLst>
                                      </p:cBhvr>
                                      <p:to>
                                        <p:strVal val="visible"/>
                                      </p:to>
                                    </p:set>
                                    <p:anim calcmode="lin" valueType="num">
                                      <p:cBhvr additive="base">
                                        <p:cTn id="157" dur="150" fill="hold"/>
                                        <p:tgtEl>
                                          <p:spTgt spid="32"/>
                                        </p:tgtEl>
                                        <p:attrNameLst>
                                          <p:attrName>style.opacity</p:attrName>
                                        </p:attrNameLst>
                                      </p:cBhvr>
                                      <p:tavLst>
                                        <p:tav tm="0">
                                          <p:val>
                                            <p:fltVal val="0"/>
                                          </p:val>
                                        </p:tav>
                                        <p:tav tm="100000">
                                          <p:val>
                                            <p:fltVal val="1"/>
                                          </p:val>
                                        </p:tav>
                                      </p:tavLst>
                                    </p:anim>
                                  </p:childTnLst>
                                </p:cTn>
                              </p:par>
                            </p:childTnLst>
                          </p:cTn>
                        </p:par>
                      </p:childTnLst>
                    </p:cTn>
                  </p:par>
                  <p:par>
                    <p:cTn id="158" fill="hold">
                      <p:stCondLst>
                        <p:cond delay="indefinite"/>
                        <p:cond evt="onBegin" delay="0">
                          <p:tn val="2"/>
                        </p:cond>
                      </p:stCondLst>
                      <p:childTnLst>
                        <p:par>
                          <p:cTn id="159" fill="hold">
                            <p:stCondLst>
                              <p:cond delay="0"/>
                            </p:stCondLst>
                            <p:childTnLst>
                              <p:par>
                                <p:cTn id="160" presetID="10" presetClass="entr" presetSubtype="0" fill="hold" grpId="0" nodeType="afterEffect">
                                  <p:stCondLst>
                                    <p:cond delay="18"/>
                                  </p:stCondLst>
                                  <p:childTnLst>
                                    <p:set>
                                      <p:cBhvr>
                                        <p:cTn id="161" dur="1" fill="hold">
                                          <p:stCondLst>
                                            <p:cond delay="0"/>
                                          </p:stCondLst>
                                        </p:cTn>
                                        <p:tgtEl>
                                          <p:spTgt spid="33"/>
                                        </p:tgtEl>
                                        <p:attrNameLst>
                                          <p:attrName>style.visibility</p:attrName>
                                        </p:attrNameLst>
                                      </p:cBhvr>
                                      <p:to>
                                        <p:strVal val="visible"/>
                                      </p:to>
                                    </p:set>
                                    <p:anim calcmode="lin" valueType="num">
                                      <p:cBhvr additive="base">
                                        <p:cTn id="162" dur="150" fill="hold"/>
                                        <p:tgtEl>
                                          <p:spTgt spid="33"/>
                                        </p:tgtEl>
                                        <p:attrNameLst>
                                          <p:attrName>style.opacity</p:attrName>
                                        </p:attrNameLst>
                                      </p:cBhvr>
                                      <p:tavLst>
                                        <p:tav tm="0">
                                          <p:val>
                                            <p:fltVal val="0"/>
                                          </p:val>
                                        </p:tav>
                                        <p:tav tm="100000">
                                          <p:val>
                                            <p:fltVal val="1"/>
                                          </p:val>
                                        </p:tav>
                                      </p:tavLst>
                                    </p:anim>
                                  </p:childTnLst>
                                </p:cTn>
                              </p:par>
                            </p:childTnLst>
                          </p:cTn>
                        </p:par>
                      </p:childTnLst>
                    </p:cTn>
                  </p:par>
                  <p:par>
                    <p:cTn id="163" fill="hold">
                      <p:stCondLst>
                        <p:cond delay="indefinite"/>
                        <p:cond evt="onBegin" delay="0">
                          <p:tn val="2"/>
                        </p:cond>
                      </p:stCondLst>
                      <p:childTnLst>
                        <p:par>
                          <p:cTn id="164" fill="hold">
                            <p:stCondLst>
                              <p:cond delay="0"/>
                            </p:stCondLst>
                            <p:childTnLst>
                              <p:par>
                                <p:cTn id="165" presetID="10" presetClass="entr" presetSubtype="0" fill="hold" grpId="0" nodeType="afterEffect">
                                  <p:stCondLst>
                                    <p:cond delay="18"/>
                                  </p:stCondLst>
                                  <p:childTnLst>
                                    <p:set>
                                      <p:cBhvr>
                                        <p:cTn id="166" dur="1" fill="hold">
                                          <p:stCondLst>
                                            <p:cond delay="0"/>
                                          </p:stCondLst>
                                        </p:cTn>
                                        <p:tgtEl>
                                          <p:spTgt spid="34"/>
                                        </p:tgtEl>
                                        <p:attrNameLst>
                                          <p:attrName>style.visibility</p:attrName>
                                        </p:attrNameLst>
                                      </p:cBhvr>
                                      <p:to>
                                        <p:strVal val="visible"/>
                                      </p:to>
                                    </p:set>
                                    <p:anim calcmode="lin" valueType="num">
                                      <p:cBhvr additive="base">
                                        <p:cTn id="167" dur="150" fill="hold"/>
                                        <p:tgtEl>
                                          <p:spTgt spid="34"/>
                                        </p:tgtEl>
                                        <p:attrNameLst>
                                          <p:attrName>style.opacity</p:attrName>
                                        </p:attrNameLst>
                                      </p:cBhvr>
                                      <p:tavLst>
                                        <p:tav tm="0">
                                          <p:val>
                                            <p:fltVal val="0"/>
                                          </p:val>
                                        </p:tav>
                                        <p:tav tm="100000">
                                          <p:val>
                                            <p:fltVal val="1"/>
                                          </p:val>
                                        </p:tav>
                                      </p:tavLst>
                                    </p:anim>
                                  </p:childTnLst>
                                </p:cTn>
                              </p:par>
                            </p:childTnLst>
                          </p:cTn>
                        </p:par>
                      </p:childTnLst>
                    </p:cTn>
                  </p:par>
                  <p:par>
                    <p:cTn id="168" fill="hold">
                      <p:stCondLst>
                        <p:cond delay="indefinite"/>
                        <p:cond evt="onBegin" delay="0">
                          <p:tn val="2"/>
                        </p:cond>
                      </p:stCondLst>
                      <p:childTnLst>
                        <p:par>
                          <p:cTn id="169" fill="hold">
                            <p:stCondLst>
                              <p:cond delay="0"/>
                            </p:stCondLst>
                            <p:childTnLst>
                              <p:par>
                                <p:cTn id="170" presetID="10" presetClass="entr" presetSubtype="0" fill="hold" grpId="0" nodeType="afterEffect">
                                  <p:stCondLst>
                                    <p:cond delay="18"/>
                                  </p:stCondLst>
                                  <p:childTnLst>
                                    <p:set>
                                      <p:cBhvr>
                                        <p:cTn id="171" dur="1" fill="hold">
                                          <p:stCondLst>
                                            <p:cond delay="0"/>
                                          </p:stCondLst>
                                        </p:cTn>
                                        <p:tgtEl>
                                          <p:spTgt spid="35"/>
                                        </p:tgtEl>
                                        <p:attrNameLst>
                                          <p:attrName>style.visibility</p:attrName>
                                        </p:attrNameLst>
                                      </p:cBhvr>
                                      <p:to>
                                        <p:strVal val="visible"/>
                                      </p:to>
                                    </p:set>
                                    <p:anim calcmode="lin" valueType="num">
                                      <p:cBhvr additive="base">
                                        <p:cTn id="172" dur="150" fill="hold"/>
                                        <p:tgtEl>
                                          <p:spTgt spid="35"/>
                                        </p:tgtEl>
                                        <p:attrNameLst>
                                          <p:attrName>style.opacity</p:attrName>
                                        </p:attrNameLst>
                                      </p:cBhvr>
                                      <p:tavLst>
                                        <p:tav tm="0">
                                          <p:val>
                                            <p:fltVal val="0"/>
                                          </p:val>
                                        </p:tav>
                                        <p:tav tm="100000">
                                          <p:val>
                                            <p:fltVal val="1"/>
                                          </p:val>
                                        </p:tav>
                                      </p:tavLst>
                                    </p:anim>
                                  </p:childTnLst>
                                </p:cTn>
                              </p:par>
                            </p:childTnLst>
                          </p:cTn>
                        </p:par>
                      </p:childTnLst>
                    </p:cTn>
                  </p:par>
                  <p:par>
                    <p:cTn id="173" fill="hold">
                      <p:stCondLst>
                        <p:cond delay="indefinite"/>
                        <p:cond evt="onBegin" delay="0">
                          <p:tn val="2"/>
                        </p:cond>
                      </p:stCondLst>
                      <p:childTnLst>
                        <p:par>
                          <p:cTn id="174" fill="hold">
                            <p:stCondLst>
                              <p:cond delay="0"/>
                            </p:stCondLst>
                            <p:childTnLst>
                              <p:par>
                                <p:cTn id="175" presetID="10" presetClass="entr" presetSubtype="0" fill="hold" grpId="0" nodeType="afterEffect">
                                  <p:stCondLst>
                                    <p:cond delay="18"/>
                                  </p:stCondLst>
                                  <p:childTnLst>
                                    <p:set>
                                      <p:cBhvr>
                                        <p:cTn id="176" dur="1" fill="hold">
                                          <p:stCondLst>
                                            <p:cond delay="0"/>
                                          </p:stCondLst>
                                        </p:cTn>
                                        <p:tgtEl>
                                          <p:spTgt spid="36"/>
                                        </p:tgtEl>
                                        <p:attrNameLst>
                                          <p:attrName>style.visibility</p:attrName>
                                        </p:attrNameLst>
                                      </p:cBhvr>
                                      <p:to>
                                        <p:strVal val="visible"/>
                                      </p:to>
                                    </p:set>
                                    <p:anim calcmode="lin" valueType="num">
                                      <p:cBhvr additive="base">
                                        <p:cTn id="177" dur="150" fill="hold"/>
                                        <p:tgtEl>
                                          <p:spTgt spid="36"/>
                                        </p:tgtEl>
                                        <p:attrNameLst>
                                          <p:attrName>style.opacity</p:attrName>
                                        </p:attrNameLst>
                                      </p:cBhvr>
                                      <p:tavLst>
                                        <p:tav tm="0">
                                          <p:val>
                                            <p:fltVal val="0"/>
                                          </p:val>
                                        </p:tav>
                                        <p:tav tm="100000">
                                          <p:val>
                                            <p:fltVal val="1"/>
                                          </p:val>
                                        </p:tav>
                                      </p:tavLst>
                                    </p:anim>
                                  </p:childTnLst>
                                </p:cTn>
                              </p:par>
                            </p:childTnLst>
                          </p:cTn>
                        </p:par>
                      </p:childTnLst>
                    </p:cTn>
                  </p:par>
                  <p:par>
                    <p:cTn id="178" fill="hold">
                      <p:stCondLst>
                        <p:cond delay="indefinite"/>
                        <p:cond evt="onBegin" delay="0">
                          <p:tn val="2"/>
                        </p:cond>
                      </p:stCondLst>
                      <p:childTnLst>
                        <p:par>
                          <p:cTn id="179" fill="hold">
                            <p:stCondLst>
                              <p:cond delay="0"/>
                            </p:stCondLst>
                            <p:childTnLst>
                              <p:par>
                                <p:cTn id="180" presetID="10" presetClass="entr" presetSubtype="0" fill="hold" grpId="0" nodeType="afterEffect">
                                  <p:stCondLst>
                                    <p:cond delay="18"/>
                                  </p:stCondLst>
                                  <p:childTnLst>
                                    <p:set>
                                      <p:cBhvr>
                                        <p:cTn id="181" dur="1" fill="hold">
                                          <p:stCondLst>
                                            <p:cond delay="0"/>
                                          </p:stCondLst>
                                        </p:cTn>
                                        <p:tgtEl>
                                          <p:spTgt spid="37"/>
                                        </p:tgtEl>
                                        <p:attrNameLst>
                                          <p:attrName>style.visibility</p:attrName>
                                        </p:attrNameLst>
                                      </p:cBhvr>
                                      <p:to>
                                        <p:strVal val="visible"/>
                                      </p:to>
                                    </p:set>
                                    <p:anim calcmode="lin" valueType="num">
                                      <p:cBhvr additive="base">
                                        <p:cTn id="182" dur="150" fill="hold"/>
                                        <p:tgtEl>
                                          <p:spTgt spid="37"/>
                                        </p:tgtEl>
                                        <p:attrNameLst>
                                          <p:attrName>style.opacity</p:attrName>
                                        </p:attrNameLst>
                                      </p:cBhvr>
                                      <p:tavLst>
                                        <p:tav tm="0">
                                          <p:val>
                                            <p:fltVal val="0"/>
                                          </p:val>
                                        </p:tav>
                                        <p:tav tm="100000">
                                          <p:val>
                                            <p:fltVal val="1"/>
                                          </p:val>
                                        </p:tav>
                                      </p:tavLst>
                                    </p:anim>
                                  </p:childTnLst>
                                </p:cTn>
                              </p:par>
                            </p:childTnLst>
                          </p:cTn>
                        </p:par>
                      </p:childTnLst>
                    </p:cTn>
                  </p:par>
                  <p:par>
                    <p:cTn id="183" fill="hold">
                      <p:stCondLst>
                        <p:cond delay="indefinite"/>
                        <p:cond evt="onBegin" delay="0">
                          <p:tn val="2"/>
                        </p:cond>
                      </p:stCondLst>
                      <p:childTnLst>
                        <p:par>
                          <p:cTn id="184" fill="hold">
                            <p:stCondLst>
                              <p:cond delay="0"/>
                            </p:stCondLst>
                            <p:childTnLst>
                              <p:par>
                                <p:cTn id="185" presetID="10" presetClass="entr" presetSubtype="0" fill="hold" grpId="0" nodeType="afterEffect">
                                  <p:stCondLst>
                                    <p:cond delay="18"/>
                                  </p:stCondLst>
                                  <p:childTnLst>
                                    <p:set>
                                      <p:cBhvr>
                                        <p:cTn id="186" dur="1" fill="hold">
                                          <p:stCondLst>
                                            <p:cond delay="0"/>
                                          </p:stCondLst>
                                        </p:cTn>
                                        <p:tgtEl>
                                          <p:spTgt spid="38"/>
                                        </p:tgtEl>
                                        <p:attrNameLst>
                                          <p:attrName>style.visibility</p:attrName>
                                        </p:attrNameLst>
                                      </p:cBhvr>
                                      <p:to>
                                        <p:strVal val="visible"/>
                                      </p:to>
                                    </p:set>
                                    <p:anim calcmode="lin" valueType="num">
                                      <p:cBhvr additive="base">
                                        <p:cTn id="187" dur="150" fill="hold"/>
                                        <p:tgtEl>
                                          <p:spTgt spid="38"/>
                                        </p:tgtEl>
                                        <p:attrNameLst>
                                          <p:attrName>style.opacity</p:attrName>
                                        </p:attrNameLst>
                                      </p:cBhvr>
                                      <p:tavLst>
                                        <p:tav tm="0">
                                          <p:val>
                                            <p:fltVal val="0"/>
                                          </p:val>
                                        </p:tav>
                                        <p:tav tm="100000">
                                          <p:val>
                                            <p:fltVal val="1"/>
                                          </p:val>
                                        </p:tav>
                                      </p:tavLst>
                                    </p:anim>
                                  </p:childTnLst>
                                </p:cTn>
                              </p:par>
                            </p:childTnLst>
                          </p:cTn>
                        </p:par>
                      </p:childTnLst>
                    </p:cTn>
                  </p:par>
                  <p:par>
                    <p:cTn id="188" fill="hold">
                      <p:stCondLst>
                        <p:cond delay="indefinite"/>
                        <p:cond evt="onBegin" delay="0">
                          <p:tn val="2"/>
                        </p:cond>
                      </p:stCondLst>
                      <p:childTnLst>
                        <p:par>
                          <p:cTn id="189" fill="hold">
                            <p:stCondLst>
                              <p:cond delay="0"/>
                            </p:stCondLst>
                            <p:childTnLst>
                              <p:par>
                                <p:cTn id="190" presetID="10" presetClass="entr" presetSubtype="0" fill="hold" grpId="0" nodeType="afterEffect">
                                  <p:stCondLst>
                                    <p:cond delay="18"/>
                                  </p:stCondLst>
                                  <p:childTnLst>
                                    <p:set>
                                      <p:cBhvr>
                                        <p:cTn id="191" dur="1" fill="hold">
                                          <p:stCondLst>
                                            <p:cond delay="0"/>
                                          </p:stCondLst>
                                        </p:cTn>
                                        <p:tgtEl>
                                          <p:spTgt spid="39"/>
                                        </p:tgtEl>
                                        <p:attrNameLst>
                                          <p:attrName>style.visibility</p:attrName>
                                        </p:attrNameLst>
                                      </p:cBhvr>
                                      <p:to>
                                        <p:strVal val="visible"/>
                                      </p:to>
                                    </p:set>
                                    <p:anim calcmode="lin" valueType="num">
                                      <p:cBhvr additive="base">
                                        <p:cTn id="192" dur="150" fill="hold"/>
                                        <p:tgtEl>
                                          <p:spTgt spid="39"/>
                                        </p:tgtEl>
                                        <p:attrNameLst>
                                          <p:attrName>style.opacity</p:attrName>
                                        </p:attrNameLst>
                                      </p:cBhvr>
                                      <p:tavLst>
                                        <p:tav tm="0">
                                          <p:val>
                                            <p:fltVal val="0"/>
                                          </p:val>
                                        </p:tav>
                                        <p:tav tm="100000">
                                          <p:val>
                                            <p:fltVal val="1"/>
                                          </p:val>
                                        </p:tav>
                                      </p:tavLst>
                                    </p:anim>
                                  </p:childTnLst>
                                </p:cTn>
                              </p:par>
                            </p:childTnLst>
                          </p:cTn>
                        </p:par>
                      </p:childTnLst>
                    </p:cTn>
                  </p:par>
                  <p:par>
                    <p:cTn id="193" fill="hold">
                      <p:stCondLst>
                        <p:cond delay="indefinite"/>
                        <p:cond evt="onBegin" delay="0">
                          <p:tn val="2"/>
                        </p:cond>
                      </p:stCondLst>
                      <p:childTnLst>
                        <p:par>
                          <p:cTn id="194" fill="hold">
                            <p:stCondLst>
                              <p:cond delay="0"/>
                            </p:stCondLst>
                            <p:childTnLst>
                              <p:par>
                                <p:cTn id="195" presetID="10" presetClass="entr" presetSubtype="0" fill="hold" grpId="0" nodeType="afterEffect">
                                  <p:stCondLst>
                                    <p:cond delay="18"/>
                                  </p:stCondLst>
                                  <p:childTnLst>
                                    <p:set>
                                      <p:cBhvr>
                                        <p:cTn id="196" dur="1" fill="hold">
                                          <p:stCondLst>
                                            <p:cond delay="0"/>
                                          </p:stCondLst>
                                        </p:cTn>
                                        <p:tgtEl>
                                          <p:spTgt spid="40"/>
                                        </p:tgtEl>
                                        <p:attrNameLst>
                                          <p:attrName>style.visibility</p:attrName>
                                        </p:attrNameLst>
                                      </p:cBhvr>
                                      <p:to>
                                        <p:strVal val="visible"/>
                                      </p:to>
                                    </p:set>
                                    <p:anim calcmode="lin" valueType="num">
                                      <p:cBhvr additive="base">
                                        <p:cTn id="197" dur="150" fill="hold"/>
                                        <p:tgtEl>
                                          <p:spTgt spid="40"/>
                                        </p:tgtEl>
                                        <p:attrNameLst>
                                          <p:attrName>style.opacity</p:attrName>
                                        </p:attrNameLst>
                                      </p:cBhvr>
                                      <p:tavLst>
                                        <p:tav tm="0">
                                          <p:val>
                                            <p:fltVal val="0"/>
                                          </p:val>
                                        </p:tav>
                                        <p:tav tm="100000">
                                          <p:val>
                                            <p:fltVal val="1"/>
                                          </p:val>
                                        </p:tav>
                                      </p:tavLst>
                                    </p:anim>
                                  </p:childTnLst>
                                </p:cTn>
                              </p:par>
                            </p:childTnLst>
                          </p:cTn>
                        </p:par>
                      </p:childTnLst>
                    </p:cTn>
                  </p:par>
                  <p:par>
                    <p:cTn id="198" fill="hold">
                      <p:stCondLst>
                        <p:cond delay="indefinite"/>
                        <p:cond evt="onBegin" delay="0">
                          <p:tn val="2"/>
                        </p:cond>
                      </p:stCondLst>
                      <p:childTnLst>
                        <p:par>
                          <p:cTn id="199" fill="hold">
                            <p:stCondLst>
                              <p:cond delay="0"/>
                            </p:stCondLst>
                            <p:childTnLst>
                              <p:par>
                                <p:cTn id="200" presetID="10" presetClass="entr" presetSubtype="0" fill="hold" grpId="0" nodeType="afterEffect">
                                  <p:stCondLst>
                                    <p:cond delay="18"/>
                                  </p:stCondLst>
                                  <p:childTnLst>
                                    <p:set>
                                      <p:cBhvr>
                                        <p:cTn id="201" dur="1" fill="hold">
                                          <p:stCondLst>
                                            <p:cond delay="0"/>
                                          </p:stCondLst>
                                        </p:cTn>
                                        <p:tgtEl>
                                          <p:spTgt spid="41"/>
                                        </p:tgtEl>
                                        <p:attrNameLst>
                                          <p:attrName>style.visibility</p:attrName>
                                        </p:attrNameLst>
                                      </p:cBhvr>
                                      <p:to>
                                        <p:strVal val="visible"/>
                                      </p:to>
                                    </p:set>
                                    <p:anim calcmode="lin" valueType="num">
                                      <p:cBhvr additive="base">
                                        <p:cTn id="202" dur="150" fill="hold"/>
                                        <p:tgtEl>
                                          <p:spTgt spid="41"/>
                                        </p:tgtEl>
                                        <p:attrNameLst>
                                          <p:attrName>style.opacity</p:attrName>
                                        </p:attrNameLst>
                                      </p:cBhvr>
                                      <p:tavLst>
                                        <p:tav tm="0">
                                          <p:val>
                                            <p:fltVal val="0"/>
                                          </p:val>
                                        </p:tav>
                                        <p:tav tm="100000">
                                          <p:val>
                                            <p:fltVal val="1"/>
                                          </p:val>
                                        </p:tav>
                                      </p:tavLst>
                                    </p:anim>
                                  </p:childTnLst>
                                </p:cTn>
                              </p:par>
                            </p:childTnLst>
                          </p:cTn>
                        </p:par>
                      </p:childTnLst>
                    </p:cTn>
                  </p:par>
                  <p:par>
                    <p:cTn id="203" fill="hold">
                      <p:stCondLst>
                        <p:cond delay="indefinite"/>
                        <p:cond evt="onBegin" delay="0">
                          <p:tn val="2"/>
                        </p:cond>
                      </p:stCondLst>
                      <p:childTnLst>
                        <p:par>
                          <p:cTn id="204" fill="hold">
                            <p:stCondLst>
                              <p:cond delay="0"/>
                            </p:stCondLst>
                            <p:childTnLst>
                              <p:par>
                                <p:cTn id="205" presetID="10" presetClass="entr" presetSubtype="0" fill="hold" grpId="0" nodeType="afterEffect">
                                  <p:stCondLst>
                                    <p:cond delay="18"/>
                                  </p:stCondLst>
                                  <p:childTnLst>
                                    <p:set>
                                      <p:cBhvr>
                                        <p:cTn id="206" dur="1" fill="hold">
                                          <p:stCondLst>
                                            <p:cond delay="0"/>
                                          </p:stCondLst>
                                        </p:cTn>
                                        <p:tgtEl>
                                          <p:spTgt spid="42"/>
                                        </p:tgtEl>
                                        <p:attrNameLst>
                                          <p:attrName>style.visibility</p:attrName>
                                        </p:attrNameLst>
                                      </p:cBhvr>
                                      <p:to>
                                        <p:strVal val="visible"/>
                                      </p:to>
                                    </p:set>
                                    <p:anim calcmode="lin" valueType="num">
                                      <p:cBhvr additive="base">
                                        <p:cTn id="207" dur="150" fill="hold"/>
                                        <p:tgtEl>
                                          <p:spTgt spid="42"/>
                                        </p:tgtEl>
                                        <p:attrNameLst>
                                          <p:attrName>style.opacity</p:attrName>
                                        </p:attrNameLst>
                                      </p:cBhvr>
                                      <p:tavLst>
                                        <p:tav tm="0">
                                          <p:val>
                                            <p:fltVal val="0"/>
                                          </p:val>
                                        </p:tav>
                                        <p:tav tm="100000">
                                          <p:val>
                                            <p:fltVal val="1"/>
                                          </p:val>
                                        </p:tav>
                                      </p:tavLst>
                                    </p:anim>
                                  </p:childTnLst>
                                </p:cTn>
                              </p:par>
                            </p:childTnLst>
                          </p:cTn>
                        </p:par>
                      </p:childTnLst>
                    </p:cTn>
                  </p:par>
                  <p:par>
                    <p:cTn id="208" fill="hold">
                      <p:stCondLst>
                        <p:cond delay="indefinite"/>
                        <p:cond evt="onBegin" delay="0">
                          <p:tn val="2"/>
                        </p:cond>
                      </p:stCondLst>
                      <p:childTnLst>
                        <p:par>
                          <p:cTn id="209" fill="hold">
                            <p:stCondLst>
                              <p:cond delay="0"/>
                            </p:stCondLst>
                            <p:childTnLst>
                              <p:par>
                                <p:cTn id="210" presetID="10" presetClass="entr" presetSubtype="0" fill="hold" grpId="0" nodeType="afterEffect">
                                  <p:stCondLst>
                                    <p:cond delay="18"/>
                                  </p:stCondLst>
                                  <p:childTnLst>
                                    <p:set>
                                      <p:cBhvr>
                                        <p:cTn id="211" dur="1" fill="hold">
                                          <p:stCondLst>
                                            <p:cond delay="0"/>
                                          </p:stCondLst>
                                        </p:cTn>
                                        <p:tgtEl>
                                          <p:spTgt spid="43"/>
                                        </p:tgtEl>
                                        <p:attrNameLst>
                                          <p:attrName>style.visibility</p:attrName>
                                        </p:attrNameLst>
                                      </p:cBhvr>
                                      <p:to>
                                        <p:strVal val="visible"/>
                                      </p:to>
                                    </p:set>
                                    <p:anim calcmode="lin" valueType="num">
                                      <p:cBhvr additive="base">
                                        <p:cTn id="212" dur="150" fill="hold"/>
                                        <p:tgtEl>
                                          <p:spTgt spid="43"/>
                                        </p:tgtEl>
                                        <p:attrNameLst>
                                          <p:attrName>style.opacity</p:attrName>
                                        </p:attrNameLst>
                                      </p:cBhvr>
                                      <p:tavLst>
                                        <p:tav tm="0">
                                          <p:val>
                                            <p:fltVal val="0"/>
                                          </p:val>
                                        </p:tav>
                                        <p:tav tm="100000">
                                          <p:val>
                                            <p:fltVal val="1"/>
                                          </p:val>
                                        </p:tav>
                                      </p:tavLst>
                                    </p:anim>
                                  </p:childTnLst>
                                </p:cTn>
                              </p:par>
                            </p:childTnLst>
                          </p:cTn>
                        </p:par>
                      </p:childTnLst>
                    </p:cTn>
                  </p:par>
                  <p:par>
                    <p:cTn id="213" fill="hold">
                      <p:stCondLst>
                        <p:cond delay="indefinite"/>
                        <p:cond evt="onBegin" delay="0">
                          <p:tn val="2"/>
                        </p:cond>
                      </p:stCondLst>
                      <p:childTnLst>
                        <p:par>
                          <p:cTn id="214" fill="hold">
                            <p:stCondLst>
                              <p:cond delay="0"/>
                            </p:stCondLst>
                            <p:childTnLst>
                              <p:par>
                                <p:cTn id="215" presetID="10" presetClass="entr" presetSubtype="0" fill="hold" grpId="0" nodeType="afterEffect">
                                  <p:stCondLst>
                                    <p:cond delay="18"/>
                                  </p:stCondLst>
                                  <p:childTnLst>
                                    <p:set>
                                      <p:cBhvr>
                                        <p:cTn id="216" dur="1" fill="hold">
                                          <p:stCondLst>
                                            <p:cond delay="0"/>
                                          </p:stCondLst>
                                        </p:cTn>
                                        <p:tgtEl>
                                          <p:spTgt spid="44"/>
                                        </p:tgtEl>
                                        <p:attrNameLst>
                                          <p:attrName>style.visibility</p:attrName>
                                        </p:attrNameLst>
                                      </p:cBhvr>
                                      <p:to>
                                        <p:strVal val="visible"/>
                                      </p:to>
                                    </p:set>
                                    <p:anim calcmode="lin" valueType="num">
                                      <p:cBhvr additive="base">
                                        <p:cTn id="217" dur="150" fill="hold"/>
                                        <p:tgtEl>
                                          <p:spTgt spid="44"/>
                                        </p:tgtEl>
                                        <p:attrNameLst>
                                          <p:attrName>style.opacity</p:attrName>
                                        </p:attrNameLst>
                                      </p:cBhvr>
                                      <p:tavLst>
                                        <p:tav tm="0">
                                          <p:val>
                                            <p:fltVal val="0"/>
                                          </p:val>
                                        </p:tav>
                                        <p:tav tm="100000">
                                          <p:val>
                                            <p:fltVal val="1"/>
                                          </p:val>
                                        </p:tav>
                                      </p:tavLst>
                                    </p:anim>
                                  </p:childTnLst>
                                </p:cTn>
                              </p:par>
                            </p:childTnLst>
                          </p:cTn>
                        </p:par>
                      </p:childTnLst>
                    </p:cTn>
                  </p:par>
                  <p:par>
                    <p:cTn id="218" fill="hold">
                      <p:stCondLst>
                        <p:cond delay="indefinite"/>
                        <p:cond evt="onBegin" delay="0">
                          <p:tn val="2"/>
                        </p:cond>
                      </p:stCondLst>
                      <p:childTnLst>
                        <p:par>
                          <p:cTn id="219" fill="hold">
                            <p:stCondLst>
                              <p:cond delay="0"/>
                            </p:stCondLst>
                            <p:childTnLst>
                              <p:par>
                                <p:cTn id="220" presetID="10" presetClass="entr" presetSubtype="0" fill="hold" grpId="0" nodeType="afterEffect">
                                  <p:stCondLst>
                                    <p:cond delay="18"/>
                                  </p:stCondLst>
                                  <p:childTnLst>
                                    <p:set>
                                      <p:cBhvr>
                                        <p:cTn id="221" dur="1" fill="hold">
                                          <p:stCondLst>
                                            <p:cond delay="0"/>
                                          </p:stCondLst>
                                        </p:cTn>
                                        <p:tgtEl>
                                          <p:spTgt spid="45"/>
                                        </p:tgtEl>
                                        <p:attrNameLst>
                                          <p:attrName>style.visibility</p:attrName>
                                        </p:attrNameLst>
                                      </p:cBhvr>
                                      <p:to>
                                        <p:strVal val="visible"/>
                                      </p:to>
                                    </p:set>
                                    <p:anim calcmode="lin" valueType="num">
                                      <p:cBhvr additive="base">
                                        <p:cTn id="222" dur="150" fill="hold"/>
                                        <p:tgtEl>
                                          <p:spTgt spid="45"/>
                                        </p:tgtEl>
                                        <p:attrNameLst>
                                          <p:attrName>style.opacity</p:attrName>
                                        </p:attrNameLst>
                                      </p:cBhvr>
                                      <p:tavLst>
                                        <p:tav tm="0">
                                          <p:val>
                                            <p:fltVal val="0"/>
                                          </p:val>
                                        </p:tav>
                                        <p:tav tm="100000">
                                          <p:val>
                                            <p:fltVal val="1"/>
                                          </p:val>
                                        </p:tav>
                                      </p:tavLst>
                                    </p:anim>
                                  </p:childTnLst>
                                </p:cTn>
                              </p:par>
                            </p:childTnLst>
                          </p:cTn>
                        </p:par>
                      </p:childTnLst>
                    </p:cTn>
                  </p:par>
                  <p:par>
                    <p:cTn id="223" fill="hold">
                      <p:stCondLst>
                        <p:cond delay="indefinite"/>
                        <p:cond evt="onBegin" delay="0">
                          <p:tn val="2"/>
                        </p:cond>
                      </p:stCondLst>
                      <p:childTnLst>
                        <p:par>
                          <p:cTn id="224" fill="hold">
                            <p:stCondLst>
                              <p:cond delay="0"/>
                            </p:stCondLst>
                            <p:childTnLst>
                              <p:par>
                                <p:cTn id="225" presetID="10" presetClass="entr" presetSubtype="0" fill="hold" grpId="0" nodeType="afterEffect">
                                  <p:stCondLst>
                                    <p:cond delay="18"/>
                                  </p:stCondLst>
                                  <p:childTnLst>
                                    <p:set>
                                      <p:cBhvr>
                                        <p:cTn id="226" dur="1" fill="hold">
                                          <p:stCondLst>
                                            <p:cond delay="0"/>
                                          </p:stCondLst>
                                        </p:cTn>
                                        <p:tgtEl>
                                          <p:spTgt spid="46"/>
                                        </p:tgtEl>
                                        <p:attrNameLst>
                                          <p:attrName>style.visibility</p:attrName>
                                        </p:attrNameLst>
                                      </p:cBhvr>
                                      <p:to>
                                        <p:strVal val="visible"/>
                                      </p:to>
                                    </p:set>
                                    <p:anim calcmode="lin" valueType="num">
                                      <p:cBhvr additive="base">
                                        <p:cTn id="227" dur="150" fill="hold"/>
                                        <p:tgtEl>
                                          <p:spTgt spid="46"/>
                                        </p:tgtEl>
                                        <p:attrNameLst>
                                          <p:attrName>style.opacity</p:attrName>
                                        </p:attrNameLst>
                                      </p:cBhvr>
                                      <p:tavLst>
                                        <p:tav tm="0">
                                          <p:val>
                                            <p:fltVal val="0"/>
                                          </p:val>
                                        </p:tav>
                                        <p:tav tm="100000">
                                          <p:val>
                                            <p:fltVal val="1"/>
                                          </p:val>
                                        </p:tav>
                                      </p:tavLst>
                                    </p:anim>
                                  </p:childTnLst>
                                </p:cTn>
                              </p:par>
                            </p:childTnLst>
                          </p:cTn>
                        </p:par>
                      </p:childTnLst>
                    </p:cTn>
                  </p:par>
                  <p:par>
                    <p:cTn id="228" fill="hold">
                      <p:stCondLst>
                        <p:cond delay="indefinite"/>
                        <p:cond evt="onBegin" delay="0">
                          <p:tn val="2"/>
                        </p:cond>
                      </p:stCondLst>
                      <p:childTnLst>
                        <p:par>
                          <p:cTn id="229" fill="hold">
                            <p:stCondLst>
                              <p:cond delay="0"/>
                            </p:stCondLst>
                            <p:childTnLst>
                              <p:par>
                                <p:cTn id="230" presetID="10" presetClass="entr" presetSubtype="0" fill="hold" grpId="0" nodeType="afterEffect">
                                  <p:stCondLst>
                                    <p:cond delay="18"/>
                                  </p:stCondLst>
                                  <p:childTnLst>
                                    <p:set>
                                      <p:cBhvr>
                                        <p:cTn id="231" dur="1" fill="hold">
                                          <p:stCondLst>
                                            <p:cond delay="0"/>
                                          </p:stCondLst>
                                        </p:cTn>
                                        <p:tgtEl>
                                          <p:spTgt spid="47"/>
                                        </p:tgtEl>
                                        <p:attrNameLst>
                                          <p:attrName>style.visibility</p:attrName>
                                        </p:attrNameLst>
                                      </p:cBhvr>
                                      <p:to>
                                        <p:strVal val="visible"/>
                                      </p:to>
                                    </p:set>
                                    <p:anim calcmode="lin" valueType="num">
                                      <p:cBhvr additive="base">
                                        <p:cTn id="232" dur="150" fill="hold"/>
                                        <p:tgtEl>
                                          <p:spTgt spid="47"/>
                                        </p:tgtEl>
                                        <p:attrNameLst>
                                          <p:attrName>style.opacity</p:attrName>
                                        </p:attrNameLst>
                                      </p:cBhvr>
                                      <p:tavLst>
                                        <p:tav tm="0">
                                          <p:val>
                                            <p:fltVal val="0"/>
                                          </p:val>
                                        </p:tav>
                                        <p:tav tm="100000">
                                          <p:val>
                                            <p:fltVal val="1"/>
                                          </p:val>
                                        </p:tav>
                                      </p:tavLst>
                                    </p:anim>
                                  </p:childTnLst>
                                </p:cTn>
                              </p:par>
                            </p:childTnLst>
                          </p:cTn>
                        </p:par>
                      </p:childTnLst>
                    </p:cTn>
                  </p:par>
                  <p:par>
                    <p:cTn id="233" fill="hold">
                      <p:stCondLst>
                        <p:cond delay="indefinite"/>
                        <p:cond evt="onBegin" delay="0">
                          <p:tn val="2"/>
                        </p:cond>
                      </p:stCondLst>
                      <p:childTnLst>
                        <p:par>
                          <p:cTn id="234" fill="hold">
                            <p:stCondLst>
                              <p:cond delay="0"/>
                            </p:stCondLst>
                            <p:childTnLst>
                              <p:par>
                                <p:cTn id="235" presetID="10" presetClass="entr" presetSubtype="0" fill="hold" grpId="0" nodeType="afterEffect">
                                  <p:stCondLst>
                                    <p:cond delay="18"/>
                                  </p:stCondLst>
                                  <p:childTnLst>
                                    <p:set>
                                      <p:cBhvr>
                                        <p:cTn id="236" dur="1" fill="hold">
                                          <p:stCondLst>
                                            <p:cond delay="0"/>
                                          </p:stCondLst>
                                        </p:cTn>
                                        <p:tgtEl>
                                          <p:spTgt spid="48"/>
                                        </p:tgtEl>
                                        <p:attrNameLst>
                                          <p:attrName>style.visibility</p:attrName>
                                        </p:attrNameLst>
                                      </p:cBhvr>
                                      <p:to>
                                        <p:strVal val="visible"/>
                                      </p:to>
                                    </p:set>
                                    <p:anim calcmode="lin" valueType="num">
                                      <p:cBhvr additive="base">
                                        <p:cTn id="237" dur="150" fill="hold"/>
                                        <p:tgtEl>
                                          <p:spTgt spid="48"/>
                                        </p:tgtEl>
                                        <p:attrNameLst>
                                          <p:attrName>style.opacity</p:attrName>
                                        </p:attrNameLst>
                                      </p:cBhvr>
                                      <p:tavLst>
                                        <p:tav tm="0">
                                          <p:val>
                                            <p:fltVal val="0"/>
                                          </p:val>
                                        </p:tav>
                                        <p:tav tm="100000">
                                          <p:val>
                                            <p:fltVal val="1"/>
                                          </p:val>
                                        </p:tav>
                                      </p:tavLst>
                                    </p:anim>
                                  </p:childTnLst>
                                </p:cTn>
                              </p:par>
                            </p:childTnLst>
                          </p:cTn>
                        </p:par>
                      </p:childTnLst>
                    </p:cTn>
                  </p:par>
                  <p:par>
                    <p:cTn id="238" fill="hold">
                      <p:stCondLst>
                        <p:cond delay="indefinite"/>
                        <p:cond evt="onBegin" delay="0">
                          <p:tn val="2"/>
                        </p:cond>
                      </p:stCondLst>
                      <p:childTnLst>
                        <p:par>
                          <p:cTn id="239" fill="hold">
                            <p:stCondLst>
                              <p:cond delay="0"/>
                            </p:stCondLst>
                            <p:childTnLst>
                              <p:par>
                                <p:cTn id="240" presetID="10" presetClass="entr" presetSubtype="0" fill="hold" grpId="0" nodeType="afterEffect">
                                  <p:stCondLst>
                                    <p:cond delay="18"/>
                                  </p:stCondLst>
                                  <p:childTnLst>
                                    <p:set>
                                      <p:cBhvr>
                                        <p:cTn id="241" dur="1" fill="hold">
                                          <p:stCondLst>
                                            <p:cond delay="0"/>
                                          </p:stCondLst>
                                        </p:cTn>
                                        <p:tgtEl>
                                          <p:spTgt spid="49"/>
                                        </p:tgtEl>
                                        <p:attrNameLst>
                                          <p:attrName>style.visibility</p:attrName>
                                        </p:attrNameLst>
                                      </p:cBhvr>
                                      <p:to>
                                        <p:strVal val="visible"/>
                                      </p:to>
                                    </p:set>
                                    <p:anim calcmode="lin" valueType="num">
                                      <p:cBhvr additive="base">
                                        <p:cTn id="242" dur="150" fill="hold"/>
                                        <p:tgtEl>
                                          <p:spTgt spid="49"/>
                                        </p:tgtEl>
                                        <p:attrNameLst>
                                          <p:attrName>style.opacity</p:attrName>
                                        </p:attrNameLst>
                                      </p:cBhvr>
                                      <p:tavLst>
                                        <p:tav tm="0">
                                          <p:val>
                                            <p:fltVal val="0"/>
                                          </p:val>
                                        </p:tav>
                                        <p:tav tm="100000">
                                          <p:val>
                                            <p:fltVal val="1"/>
                                          </p:val>
                                        </p:tav>
                                      </p:tavLst>
                                    </p:anim>
                                  </p:childTnLst>
                                </p:cTn>
                              </p:par>
                            </p:childTnLst>
                          </p:cTn>
                        </p:par>
                      </p:childTnLst>
                    </p:cTn>
                  </p:par>
                  <p:par>
                    <p:cTn id="243" fill="hold">
                      <p:stCondLst>
                        <p:cond delay="indefinite"/>
                        <p:cond evt="onBegin" delay="0">
                          <p:tn val="2"/>
                        </p:cond>
                      </p:stCondLst>
                      <p:childTnLst>
                        <p:par>
                          <p:cTn id="244" fill="hold">
                            <p:stCondLst>
                              <p:cond delay="0"/>
                            </p:stCondLst>
                            <p:childTnLst>
                              <p:par>
                                <p:cTn id="245" presetID="10" presetClass="entr" presetSubtype="0" fill="hold" grpId="0" nodeType="afterEffect">
                                  <p:stCondLst>
                                    <p:cond delay="18"/>
                                  </p:stCondLst>
                                  <p:childTnLst>
                                    <p:set>
                                      <p:cBhvr>
                                        <p:cTn id="246" dur="1" fill="hold">
                                          <p:stCondLst>
                                            <p:cond delay="0"/>
                                          </p:stCondLst>
                                        </p:cTn>
                                        <p:tgtEl>
                                          <p:spTgt spid="50"/>
                                        </p:tgtEl>
                                        <p:attrNameLst>
                                          <p:attrName>style.visibility</p:attrName>
                                        </p:attrNameLst>
                                      </p:cBhvr>
                                      <p:to>
                                        <p:strVal val="visible"/>
                                      </p:to>
                                    </p:set>
                                    <p:anim calcmode="lin" valueType="num">
                                      <p:cBhvr additive="base">
                                        <p:cTn id="247" dur="150" fill="hold"/>
                                        <p:tgtEl>
                                          <p:spTgt spid="50"/>
                                        </p:tgtEl>
                                        <p:attrNameLst>
                                          <p:attrName>style.opacity</p:attrName>
                                        </p:attrNameLst>
                                      </p:cBhvr>
                                      <p:tavLst>
                                        <p:tav tm="0">
                                          <p:val>
                                            <p:fltVal val="0"/>
                                          </p:val>
                                        </p:tav>
                                        <p:tav tm="100000">
                                          <p:val>
                                            <p:fltVal val="1"/>
                                          </p:val>
                                        </p:tav>
                                      </p:tavLst>
                                    </p:anim>
                                  </p:childTnLst>
                                </p:cTn>
                              </p:par>
                            </p:childTnLst>
                          </p:cTn>
                        </p:par>
                      </p:childTnLst>
                    </p:cTn>
                  </p:par>
                  <p:par>
                    <p:cTn id="248" fill="hold">
                      <p:stCondLst>
                        <p:cond delay="indefinite"/>
                        <p:cond evt="onBegin" delay="0">
                          <p:tn val="2"/>
                        </p:cond>
                      </p:stCondLst>
                      <p:childTnLst>
                        <p:par>
                          <p:cTn id="249" fill="hold">
                            <p:stCondLst>
                              <p:cond delay="0"/>
                            </p:stCondLst>
                            <p:childTnLst>
                              <p:par>
                                <p:cTn id="250" presetID="10" presetClass="entr" presetSubtype="0" fill="hold" grpId="0" nodeType="afterEffect">
                                  <p:stCondLst>
                                    <p:cond delay="18"/>
                                  </p:stCondLst>
                                  <p:childTnLst>
                                    <p:set>
                                      <p:cBhvr>
                                        <p:cTn id="251" dur="1" fill="hold">
                                          <p:stCondLst>
                                            <p:cond delay="0"/>
                                          </p:stCondLst>
                                        </p:cTn>
                                        <p:tgtEl>
                                          <p:spTgt spid="51"/>
                                        </p:tgtEl>
                                        <p:attrNameLst>
                                          <p:attrName>style.visibility</p:attrName>
                                        </p:attrNameLst>
                                      </p:cBhvr>
                                      <p:to>
                                        <p:strVal val="visible"/>
                                      </p:to>
                                    </p:set>
                                    <p:anim calcmode="lin" valueType="num">
                                      <p:cBhvr additive="base">
                                        <p:cTn id="252" dur="150" fill="hold"/>
                                        <p:tgtEl>
                                          <p:spTgt spid="51"/>
                                        </p:tgtEl>
                                        <p:attrNameLst>
                                          <p:attrName>style.opacity</p:attrName>
                                        </p:attrNameLst>
                                      </p:cBhvr>
                                      <p:tavLst>
                                        <p:tav tm="0">
                                          <p:val>
                                            <p:fltVal val="0"/>
                                          </p:val>
                                        </p:tav>
                                        <p:tav tm="100000">
                                          <p:val>
                                            <p:fltVal val="1"/>
                                          </p:val>
                                        </p:tav>
                                      </p:tavLst>
                                    </p:anim>
                                  </p:childTnLst>
                                </p:cTn>
                              </p:par>
                            </p:childTnLst>
                          </p:cTn>
                        </p:par>
                      </p:childTnLst>
                    </p:cTn>
                  </p:par>
                  <p:par>
                    <p:cTn id="253" fill="hold">
                      <p:stCondLst>
                        <p:cond delay="indefinite"/>
                        <p:cond evt="onBegin" delay="0">
                          <p:tn val="2"/>
                        </p:cond>
                      </p:stCondLst>
                      <p:childTnLst>
                        <p:par>
                          <p:cTn id="254" fill="hold">
                            <p:stCondLst>
                              <p:cond delay="0"/>
                            </p:stCondLst>
                            <p:childTnLst>
                              <p:par>
                                <p:cTn id="255" presetID="10" presetClass="entr" presetSubtype="0" fill="hold" grpId="0" nodeType="afterEffect">
                                  <p:stCondLst>
                                    <p:cond delay="18"/>
                                  </p:stCondLst>
                                  <p:childTnLst>
                                    <p:set>
                                      <p:cBhvr>
                                        <p:cTn id="256" dur="1" fill="hold">
                                          <p:stCondLst>
                                            <p:cond delay="0"/>
                                          </p:stCondLst>
                                        </p:cTn>
                                        <p:tgtEl>
                                          <p:spTgt spid="52"/>
                                        </p:tgtEl>
                                        <p:attrNameLst>
                                          <p:attrName>style.visibility</p:attrName>
                                        </p:attrNameLst>
                                      </p:cBhvr>
                                      <p:to>
                                        <p:strVal val="visible"/>
                                      </p:to>
                                    </p:set>
                                    <p:anim calcmode="lin" valueType="num">
                                      <p:cBhvr additive="base">
                                        <p:cTn id="257" dur="150" fill="hold"/>
                                        <p:tgtEl>
                                          <p:spTgt spid="52"/>
                                        </p:tgtEl>
                                        <p:attrNameLst>
                                          <p:attrName>style.opacity</p:attrName>
                                        </p:attrNameLst>
                                      </p:cBhvr>
                                      <p:tavLst>
                                        <p:tav tm="0">
                                          <p:val>
                                            <p:fltVal val="0"/>
                                          </p:val>
                                        </p:tav>
                                        <p:tav tm="100000">
                                          <p:val>
                                            <p:fltVal val="1"/>
                                          </p:val>
                                        </p:tav>
                                      </p:tavLst>
                                    </p:anim>
                                  </p:childTnLst>
                                </p:cTn>
                              </p:par>
                            </p:childTnLst>
                          </p:cTn>
                        </p:par>
                      </p:childTnLst>
                    </p:cTn>
                  </p:par>
                  <p:par>
                    <p:cTn id="258" fill="hold">
                      <p:stCondLst>
                        <p:cond delay="indefinite"/>
                        <p:cond evt="onBegin" delay="0">
                          <p:tn val="2"/>
                        </p:cond>
                      </p:stCondLst>
                      <p:childTnLst>
                        <p:par>
                          <p:cTn id="259" fill="hold">
                            <p:stCondLst>
                              <p:cond delay="0"/>
                            </p:stCondLst>
                            <p:childTnLst>
                              <p:par>
                                <p:cTn id="260" presetID="10" presetClass="entr" presetSubtype="0" fill="hold" grpId="0" nodeType="afterEffect">
                                  <p:stCondLst>
                                    <p:cond delay="18"/>
                                  </p:stCondLst>
                                  <p:childTnLst>
                                    <p:set>
                                      <p:cBhvr>
                                        <p:cTn id="261" dur="1" fill="hold">
                                          <p:stCondLst>
                                            <p:cond delay="0"/>
                                          </p:stCondLst>
                                        </p:cTn>
                                        <p:tgtEl>
                                          <p:spTgt spid="53"/>
                                        </p:tgtEl>
                                        <p:attrNameLst>
                                          <p:attrName>style.visibility</p:attrName>
                                        </p:attrNameLst>
                                      </p:cBhvr>
                                      <p:to>
                                        <p:strVal val="visible"/>
                                      </p:to>
                                    </p:set>
                                    <p:anim calcmode="lin" valueType="num">
                                      <p:cBhvr additive="base">
                                        <p:cTn id="262" dur="150" fill="hold"/>
                                        <p:tgtEl>
                                          <p:spTgt spid="53"/>
                                        </p:tgtEl>
                                        <p:attrNameLst>
                                          <p:attrName>style.opacity</p:attrName>
                                        </p:attrNameLst>
                                      </p:cBhvr>
                                      <p:tavLst>
                                        <p:tav tm="0">
                                          <p:val>
                                            <p:fltVal val="0"/>
                                          </p:val>
                                        </p:tav>
                                        <p:tav tm="100000">
                                          <p:val>
                                            <p:fltVal val="1"/>
                                          </p:val>
                                        </p:tav>
                                      </p:tavLst>
                                    </p:anim>
                                  </p:childTnLst>
                                </p:cTn>
                              </p:par>
                            </p:childTnLst>
                          </p:cTn>
                        </p:par>
                      </p:childTnLst>
                    </p:cTn>
                  </p:par>
                  <p:par>
                    <p:cTn id="263" fill="hold">
                      <p:stCondLst>
                        <p:cond delay="indefinite"/>
                        <p:cond evt="onBegin" delay="0">
                          <p:tn val="2"/>
                        </p:cond>
                      </p:stCondLst>
                      <p:childTnLst>
                        <p:par>
                          <p:cTn id="264" fill="hold">
                            <p:stCondLst>
                              <p:cond delay="0"/>
                            </p:stCondLst>
                            <p:childTnLst>
                              <p:par>
                                <p:cTn id="265" presetID="10" presetClass="entr" presetSubtype="0" fill="hold" grpId="0" nodeType="afterEffect">
                                  <p:stCondLst>
                                    <p:cond delay="18"/>
                                  </p:stCondLst>
                                  <p:childTnLst>
                                    <p:set>
                                      <p:cBhvr>
                                        <p:cTn id="266" dur="1" fill="hold">
                                          <p:stCondLst>
                                            <p:cond delay="0"/>
                                          </p:stCondLst>
                                        </p:cTn>
                                        <p:tgtEl>
                                          <p:spTgt spid="54"/>
                                        </p:tgtEl>
                                        <p:attrNameLst>
                                          <p:attrName>style.visibility</p:attrName>
                                        </p:attrNameLst>
                                      </p:cBhvr>
                                      <p:to>
                                        <p:strVal val="visible"/>
                                      </p:to>
                                    </p:set>
                                    <p:anim calcmode="lin" valueType="num">
                                      <p:cBhvr additive="base">
                                        <p:cTn id="267" dur="150" fill="hold"/>
                                        <p:tgtEl>
                                          <p:spTgt spid="54"/>
                                        </p:tgtEl>
                                        <p:attrNameLst>
                                          <p:attrName>style.opacity</p:attrName>
                                        </p:attrNameLst>
                                      </p:cBhvr>
                                      <p:tavLst>
                                        <p:tav tm="0">
                                          <p:val>
                                            <p:fltVal val="0"/>
                                          </p:val>
                                        </p:tav>
                                        <p:tav tm="100000">
                                          <p:val>
                                            <p:fltVal val="1"/>
                                          </p:val>
                                        </p:tav>
                                      </p:tavLst>
                                    </p:anim>
                                  </p:childTnLst>
                                </p:cTn>
                              </p:par>
                            </p:childTnLst>
                          </p:cTn>
                        </p:par>
                      </p:childTnLst>
                    </p:cTn>
                  </p:par>
                  <p:par>
                    <p:cTn id="268" fill="hold">
                      <p:stCondLst>
                        <p:cond delay="indefinite"/>
                        <p:cond evt="onBegin" delay="0">
                          <p:tn val="2"/>
                        </p:cond>
                      </p:stCondLst>
                      <p:childTnLst>
                        <p:par>
                          <p:cTn id="269" fill="hold">
                            <p:stCondLst>
                              <p:cond delay="0"/>
                            </p:stCondLst>
                            <p:childTnLst>
                              <p:par>
                                <p:cTn id="270" presetID="10" presetClass="entr" presetSubtype="0" fill="hold" grpId="0" nodeType="afterEffect">
                                  <p:stCondLst>
                                    <p:cond delay="18"/>
                                  </p:stCondLst>
                                  <p:childTnLst>
                                    <p:set>
                                      <p:cBhvr>
                                        <p:cTn id="271" dur="1" fill="hold">
                                          <p:stCondLst>
                                            <p:cond delay="0"/>
                                          </p:stCondLst>
                                        </p:cTn>
                                        <p:tgtEl>
                                          <p:spTgt spid="55"/>
                                        </p:tgtEl>
                                        <p:attrNameLst>
                                          <p:attrName>style.visibility</p:attrName>
                                        </p:attrNameLst>
                                      </p:cBhvr>
                                      <p:to>
                                        <p:strVal val="visible"/>
                                      </p:to>
                                    </p:set>
                                    <p:anim calcmode="lin" valueType="num">
                                      <p:cBhvr additive="base">
                                        <p:cTn id="272" dur="150" fill="hold"/>
                                        <p:tgtEl>
                                          <p:spTgt spid="55"/>
                                        </p:tgtEl>
                                        <p:attrNameLst>
                                          <p:attrName>style.opacity</p:attrName>
                                        </p:attrNameLst>
                                      </p:cBhvr>
                                      <p:tavLst>
                                        <p:tav tm="0">
                                          <p:val>
                                            <p:fltVal val="0"/>
                                          </p:val>
                                        </p:tav>
                                        <p:tav tm="100000">
                                          <p:val>
                                            <p:fltVal val="1"/>
                                          </p:val>
                                        </p:tav>
                                      </p:tavLst>
                                    </p:anim>
                                  </p:childTnLst>
                                </p:cTn>
                              </p:par>
                            </p:childTnLst>
                          </p:cTn>
                        </p:par>
                      </p:childTnLst>
                    </p:cTn>
                  </p:par>
                  <p:par>
                    <p:cTn id="273" fill="hold">
                      <p:stCondLst>
                        <p:cond delay="indefinite"/>
                        <p:cond evt="onBegin" delay="0">
                          <p:tn val="2"/>
                        </p:cond>
                      </p:stCondLst>
                      <p:childTnLst>
                        <p:par>
                          <p:cTn id="274" fill="hold">
                            <p:stCondLst>
                              <p:cond delay="0"/>
                            </p:stCondLst>
                            <p:childTnLst>
                              <p:par>
                                <p:cTn id="275" presetID="10" presetClass="entr" presetSubtype="0" fill="hold" grpId="0" nodeType="afterEffect">
                                  <p:stCondLst>
                                    <p:cond delay="18"/>
                                  </p:stCondLst>
                                  <p:childTnLst>
                                    <p:set>
                                      <p:cBhvr>
                                        <p:cTn id="276" dur="1" fill="hold">
                                          <p:stCondLst>
                                            <p:cond delay="0"/>
                                          </p:stCondLst>
                                        </p:cTn>
                                        <p:tgtEl>
                                          <p:spTgt spid="56"/>
                                        </p:tgtEl>
                                        <p:attrNameLst>
                                          <p:attrName>style.visibility</p:attrName>
                                        </p:attrNameLst>
                                      </p:cBhvr>
                                      <p:to>
                                        <p:strVal val="visible"/>
                                      </p:to>
                                    </p:set>
                                    <p:anim calcmode="lin" valueType="num">
                                      <p:cBhvr additive="base">
                                        <p:cTn id="277" dur="150" fill="hold"/>
                                        <p:tgtEl>
                                          <p:spTgt spid="56"/>
                                        </p:tgtEl>
                                        <p:attrNameLst>
                                          <p:attrName>style.opacity</p:attrName>
                                        </p:attrNameLst>
                                      </p:cBhvr>
                                      <p:tavLst>
                                        <p:tav tm="0">
                                          <p:val>
                                            <p:fltVal val="0"/>
                                          </p:val>
                                        </p:tav>
                                        <p:tav tm="100000">
                                          <p:val>
                                            <p:fltVal val="1"/>
                                          </p:val>
                                        </p:tav>
                                      </p:tavLst>
                                    </p:anim>
                                  </p:childTnLst>
                                </p:cTn>
                              </p:par>
                            </p:childTnLst>
                          </p:cTn>
                        </p:par>
                      </p:childTnLst>
                    </p:cTn>
                  </p:par>
                  <p:par>
                    <p:cTn id="278" fill="hold">
                      <p:stCondLst>
                        <p:cond delay="indefinite"/>
                        <p:cond evt="onBegin" delay="0">
                          <p:tn val="2"/>
                        </p:cond>
                      </p:stCondLst>
                      <p:childTnLst>
                        <p:par>
                          <p:cTn id="279" fill="hold">
                            <p:stCondLst>
                              <p:cond delay="0"/>
                            </p:stCondLst>
                            <p:childTnLst>
                              <p:par>
                                <p:cTn id="280" presetID="10" presetClass="entr" presetSubtype="0" fill="hold" grpId="0" nodeType="afterEffect">
                                  <p:stCondLst>
                                    <p:cond delay="18"/>
                                  </p:stCondLst>
                                  <p:childTnLst>
                                    <p:set>
                                      <p:cBhvr>
                                        <p:cTn id="281" dur="1" fill="hold">
                                          <p:stCondLst>
                                            <p:cond delay="0"/>
                                          </p:stCondLst>
                                        </p:cTn>
                                        <p:tgtEl>
                                          <p:spTgt spid="57"/>
                                        </p:tgtEl>
                                        <p:attrNameLst>
                                          <p:attrName>style.visibility</p:attrName>
                                        </p:attrNameLst>
                                      </p:cBhvr>
                                      <p:to>
                                        <p:strVal val="visible"/>
                                      </p:to>
                                    </p:set>
                                    <p:anim calcmode="lin" valueType="num">
                                      <p:cBhvr additive="base">
                                        <p:cTn id="282" dur="150" fill="hold"/>
                                        <p:tgtEl>
                                          <p:spTgt spid="5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03</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3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Recipes vs. learning by example</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The single analogy that separates traditional code from Machine Learning.</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THE  ANALOGY</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Traditional code is a recipe. Machine Learning is learning to cook.</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Traditional code is like a recipe: you write the steps, the computer follows them, every time, exactly the same.
Machine Learning is the opposite: you give the computer many examples — 'these are good cakes, these are bad' — and let it figure out the steps for itself. The recipe is *learned*, not written. That is the entire shift in one sentence.</a:t>
            </a:r>
          </a:p>
        </p:txBody>
      </p:sp>
      <p:sp>
        <p:nvSpPr>
          <p:cNvPr id="8" name="Rectangle 7"/>
          <p:cNvSpPr/>
          <p:nvPr/>
        </p:nvSpPr>
        <p:spPr>
          <a:xfrm>
            <a:off x="7315200" y="1417320"/>
            <a:ext cx="4297680" cy="2194560"/>
          </a:xfrm>
          <a:prstGeom prst="rect">
            <a:avLst/>
          </a:prstGeom>
          <a:solidFill>
            <a:srgbClr val="224036"/>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TRADITIONAL  CODE</a:t>
            </a:r>
          </a:p>
        </p:txBody>
      </p:sp>
      <p:sp>
        <p:nvSpPr>
          <p:cNvPr id="10" name="TextBox 9"/>
          <p:cNvSpPr txBox="1"/>
          <p:nvPr/>
        </p:nvSpPr>
        <p:spPr>
          <a:xfrm>
            <a:off x="7589520" y="2057400"/>
            <a:ext cx="3749040" cy="548640"/>
          </a:xfrm>
          <a:prstGeom prst="rect">
            <a:avLst/>
          </a:prstGeom>
          <a:noFill/>
        </p:spPr>
        <p:txBody>
          <a:bodyPr wrap="square" lIns="0" rIns="0" tIns="0" bIns="0" anchor="t">
            <a:spAutoFit/>
          </a:bodyPr>
          <a:lstStyle/>
          <a:p>
            <a:pPr algn="l"/>
            <a:r>
              <a:rPr sz="1800" b="1" i="0">
                <a:solidFill>
                  <a:srgbClr val="FFFFFF"/>
                </a:solidFill>
                <a:latin typeface="Georgia"/>
              </a:rPr>
              <a:t>Like writing a recipe</a:t>
            </a:r>
          </a:p>
        </p:txBody>
      </p:sp>
      <p:sp>
        <p:nvSpPr>
          <p:cNvPr id="11" name="TextBox 10"/>
          <p:cNvSpPr txBox="1"/>
          <p:nvPr/>
        </p:nvSpPr>
        <p:spPr>
          <a:xfrm>
            <a:off x="7589520" y="2651760"/>
            <a:ext cx="3749040" cy="868680"/>
          </a:xfrm>
          <a:prstGeom prst="rect">
            <a:avLst/>
          </a:prstGeom>
          <a:noFill/>
        </p:spPr>
        <p:txBody>
          <a:bodyPr wrap="square" lIns="0" rIns="0" tIns="0" bIns="0" anchor="t">
            <a:spAutoFit/>
          </a:bodyPr>
          <a:lstStyle/>
          <a:p>
            <a:pPr algn="l">
              <a:lnSpc>
                <a:spcPct val="135000"/>
              </a:lnSpc>
            </a:pPr>
            <a:r>
              <a:rPr sz="1100" b="0" i="0">
                <a:solidFill>
                  <a:srgbClr val="E5E7EB"/>
                </a:solidFill>
                <a:latin typeface="Calibri"/>
              </a:rPr>
              <a:t>Programmer writes the rules. Computer follows them. Same input → same output, every single time.</a:t>
            </a:r>
          </a:p>
        </p:txBody>
      </p:sp>
      <p:sp>
        <p:nvSpPr>
          <p:cNvPr id="12" name="Rectangle 11"/>
          <p:cNvSpPr/>
          <p:nvPr/>
        </p:nvSpPr>
        <p:spPr>
          <a:xfrm>
            <a:off x="7315200" y="3794760"/>
            <a:ext cx="4297680" cy="2194560"/>
          </a:xfrm>
          <a:prstGeom prst="rect">
            <a:avLst/>
          </a:prstGeom>
          <a:solidFill>
            <a:srgbClr val="1A352B"/>
          </a:solidFill>
          <a:ln w="6350">
            <a:solidFill>
              <a:srgbClr val="DCEC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406908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MACHINE  LEARNING</a:t>
            </a:r>
          </a:p>
        </p:txBody>
      </p:sp>
      <p:sp>
        <p:nvSpPr>
          <p:cNvPr id="14" name="TextBox 13"/>
          <p:cNvSpPr txBox="1"/>
          <p:nvPr/>
        </p:nvSpPr>
        <p:spPr>
          <a:xfrm>
            <a:off x="7589520" y="4434840"/>
            <a:ext cx="3749040" cy="548640"/>
          </a:xfrm>
          <a:prstGeom prst="rect">
            <a:avLst/>
          </a:prstGeom>
          <a:noFill/>
        </p:spPr>
        <p:txBody>
          <a:bodyPr wrap="square" lIns="0" rIns="0" tIns="0" bIns="0" anchor="t">
            <a:spAutoFit/>
          </a:bodyPr>
          <a:lstStyle/>
          <a:p>
            <a:pPr algn="l"/>
            <a:r>
              <a:rPr sz="1800" b="1" i="0">
                <a:solidFill>
                  <a:srgbClr val="FFFFFF"/>
                </a:solidFill>
                <a:latin typeface="Georgia"/>
              </a:rPr>
              <a:t>Like learning by example</a:t>
            </a:r>
          </a:p>
        </p:txBody>
      </p:sp>
      <p:sp>
        <p:nvSpPr>
          <p:cNvPr id="15" name="TextBox 14"/>
          <p:cNvSpPr txBox="1"/>
          <p:nvPr/>
        </p:nvSpPr>
        <p:spPr>
          <a:xfrm>
            <a:off x="7589520" y="5029200"/>
            <a:ext cx="3749040" cy="868680"/>
          </a:xfrm>
          <a:prstGeom prst="rect">
            <a:avLst/>
          </a:prstGeom>
          <a:noFill/>
        </p:spPr>
        <p:txBody>
          <a:bodyPr wrap="square" lIns="0" rIns="0" tIns="0" bIns="0" anchor="t">
            <a:spAutoFit/>
          </a:bodyPr>
          <a:lstStyle/>
          <a:p>
            <a:pPr algn="l">
              <a:lnSpc>
                <a:spcPct val="135000"/>
              </a:lnSpc>
            </a:pPr>
            <a:r>
              <a:rPr sz="1100" b="0" i="0">
                <a:solidFill>
                  <a:srgbClr val="E5E7EB"/>
                </a:solidFill>
                <a:latin typeface="Calibri"/>
              </a:rPr>
              <a:t>Programmer shows examples. Computer learns the rules from data. Patterns emerge that no human wrote.</a:t>
            </a:r>
          </a:p>
        </p:txBody>
      </p:sp>
      <p:sp>
        <p:nvSpPr>
          <p:cNvPr id="16" name="TextBox 1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 OF 7</a:t>
            </a:r>
          </a:p>
        </p:txBody>
      </p:sp>
      <p:sp>
        <p:nvSpPr>
          <p:cNvPr id="17" name="TextBox 1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ANALOGY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1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REAL  INDIAN  SYSTEMS</a:t>
            </a:r>
          </a:p>
        </p:txBody>
      </p:sp>
      <p:sp>
        <p:nvSpPr>
          <p:cNvPr id="6" name="TextBox 5"/>
          <p:cNvSpPr txBox="1"/>
          <p:nvPr/>
        </p:nvSpPr>
        <p:spPr>
          <a:xfrm>
            <a:off x="548640" y="1463040"/>
            <a:ext cx="10515600" cy="1097280"/>
          </a:xfrm>
          <a:prstGeom prst="rect">
            <a:avLst/>
          </a:prstGeom>
          <a:noFill/>
        </p:spPr>
        <p:txBody>
          <a:bodyPr wrap="square" lIns="0" rIns="0" tIns="0" bIns="0" anchor="t">
            <a:spAutoFit/>
          </a:bodyPr>
          <a:lstStyle/>
          <a:p>
            <a:pPr algn="l"/>
            <a:r>
              <a:rPr sz="2800" b="0" i="0">
                <a:solidFill>
                  <a:srgbClr val="0F1F1A"/>
                </a:solidFill>
                <a:latin typeface="Georgia"/>
              </a:rPr>
              <a:t>Five systems you use — and the field driving each</a:t>
            </a:r>
          </a:p>
        </p:txBody>
      </p:sp>
      <p:sp>
        <p:nvSpPr>
          <p:cNvPr id="7" name="TextBox 6"/>
          <p:cNvSpPr txBox="1"/>
          <p:nvPr/>
        </p:nvSpPr>
        <p:spPr>
          <a:xfrm>
            <a:off x="548640" y="2286000"/>
            <a:ext cx="10515600" cy="914400"/>
          </a:xfrm>
          <a:prstGeom prst="rect">
            <a:avLst/>
          </a:prstGeom>
          <a:noFill/>
        </p:spPr>
        <p:txBody>
          <a:bodyPr wrap="square" lIns="0" rIns="0" tIns="0" bIns="0" anchor="t">
            <a:spAutoFit/>
          </a:bodyPr>
          <a:lstStyle/>
          <a:p>
            <a:pPr algn="l">
              <a:lnSpc>
                <a:spcPct val="125000"/>
              </a:lnSpc>
            </a:pPr>
            <a:r>
              <a:rPr sz="1400" b="0" i="0">
                <a:solidFill>
                  <a:srgbClr val="475569"/>
                </a:solidFill>
                <a:latin typeface="Calibri"/>
              </a:rPr>
              <a:t>Several use more than one field. The question is always: which one drives the user-visible result?</a:t>
            </a:r>
          </a:p>
        </p:txBody>
      </p:sp>
      <p:sp>
        <p:nvSpPr>
          <p:cNvPr id="8" name="Rectangle 7"/>
          <p:cNvSpPr/>
          <p:nvPr/>
        </p:nvSpPr>
        <p:spPr>
          <a:xfrm>
            <a:off x="548640" y="2971800"/>
            <a:ext cx="3566160" cy="15544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 y="3246120"/>
            <a:ext cx="457200" cy="457200"/>
          </a:xfrm>
          <a:prstGeom prst="ellipse">
            <a:avLst/>
          </a:prstGeom>
          <a:solidFill>
            <a:srgbClr val="EAF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246120"/>
            <a:ext cx="457200" cy="457200"/>
          </a:xfrm>
          <a:prstGeom prst="rect">
            <a:avLst/>
          </a:prstGeom>
          <a:noFill/>
        </p:spPr>
        <p:txBody>
          <a:bodyPr wrap="square" lIns="0" rIns="0" tIns="0" bIns="0" anchor="ctr">
            <a:spAutoFit/>
          </a:bodyPr>
          <a:lstStyle/>
          <a:p>
            <a:pPr algn="ctr"/>
            <a:r>
              <a:rPr sz="1800" b="1" i="0">
                <a:solidFill>
                  <a:srgbClr val="C5E063"/>
                </a:solidFill>
                <a:latin typeface="Calibri"/>
              </a:rPr>
              <a:t>U</a:t>
            </a:r>
          </a:p>
        </p:txBody>
      </p:sp>
      <p:sp>
        <p:nvSpPr>
          <p:cNvPr id="11" name="TextBox 10"/>
          <p:cNvSpPr txBox="1"/>
          <p:nvPr/>
        </p:nvSpPr>
        <p:spPr>
          <a:xfrm>
            <a:off x="1371600" y="326440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UPI</a:t>
            </a:r>
          </a:p>
        </p:txBody>
      </p:sp>
      <p:sp>
        <p:nvSpPr>
          <p:cNvPr id="12" name="TextBox 11"/>
          <p:cNvSpPr txBox="1"/>
          <p:nvPr/>
        </p:nvSpPr>
        <p:spPr>
          <a:xfrm>
            <a:off x="1371600" y="3493008"/>
            <a:ext cx="2651760" cy="365760"/>
          </a:xfrm>
          <a:prstGeom prst="rect">
            <a:avLst/>
          </a:prstGeom>
          <a:noFill/>
        </p:spPr>
        <p:txBody>
          <a:bodyPr wrap="square" lIns="0" rIns="0" tIns="0" bIns="0" anchor="t">
            <a:spAutoFit/>
          </a:bodyPr>
          <a:lstStyle/>
          <a:p>
            <a:pPr algn="l"/>
            <a:r>
              <a:rPr sz="1500" b="1" i="0">
                <a:solidFill>
                  <a:srgbClr val="0F1F1A"/>
                </a:solidFill>
                <a:latin typeface="Georgia"/>
              </a:rPr>
              <a:t>UPI fraud blocking</a:t>
            </a:r>
          </a:p>
        </p:txBody>
      </p:sp>
      <p:sp>
        <p:nvSpPr>
          <p:cNvPr id="13" name="TextBox 12"/>
          <p:cNvSpPr txBox="1"/>
          <p:nvPr/>
        </p:nvSpPr>
        <p:spPr>
          <a:xfrm>
            <a:off x="822960" y="3886200"/>
            <a:ext cx="3017520" cy="502920"/>
          </a:xfrm>
          <a:prstGeom prst="rect">
            <a:avLst/>
          </a:prstGeom>
          <a:noFill/>
        </p:spPr>
        <p:txBody>
          <a:bodyPr wrap="square" lIns="0" rIns="0" tIns="0" bIns="0" anchor="t">
            <a:spAutoFit/>
          </a:bodyPr>
          <a:lstStyle/>
          <a:p>
            <a:pPr algn="l">
              <a:lnSpc>
                <a:spcPct val="130000"/>
              </a:lnSpc>
            </a:pPr>
            <a:r>
              <a:rPr sz="1050" b="0" i="0">
                <a:solidFill>
                  <a:srgbClr val="475569"/>
                </a:solidFill>
                <a:latin typeface="Calibri"/>
              </a:rPr>
              <a:t>ML — gradient-boosted trees decide in &lt;100 ms whether a transaction is fraud. AI is the umbrella.</a:t>
            </a:r>
          </a:p>
        </p:txBody>
      </p:sp>
      <p:sp>
        <p:nvSpPr>
          <p:cNvPr id="14" name="Rectangle 13"/>
          <p:cNvSpPr/>
          <p:nvPr/>
        </p:nvSpPr>
        <p:spPr>
          <a:xfrm>
            <a:off x="4297680" y="2971800"/>
            <a:ext cx="3566160" cy="15544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72000" y="3246120"/>
            <a:ext cx="457200" cy="457200"/>
          </a:xfrm>
          <a:prstGeom prst="ellipse">
            <a:avLst/>
          </a:prstGeom>
          <a:solidFill>
            <a:srgbClr val="EAF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3246120"/>
            <a:ext cx="457200" cy="457200"/>
          </a:xfrm>
          <a:prstGeom prst="rect">
            <a:avLst/>
          </a:prstGeom>
          <a:noFill/>
        </p:spPr>
        <p:txBody>
          <a:bodyPr wrap="square" lIns="0" rIns="0" tIns="0" bIns="0" anchor="ctr">
            <a:spAutoFit/>
          </a:bodyPr>
          <a:lstStyle/>
          <a:p>
            <a:pPr algn="ctr"/>
            <a:r>
              <a:rPr sz="1800" b="1" i="0">
                <a:solidFill>
                  <a:srgbClr val="C5E063"/>
                </a:solidFill>
                <a:latin typeface="Calibri"/>
              </a:rPr>
              <a:t>A</a:t>
            </a:r>
          </a:p>
        </p:txBody>
      </p:sp>
      <p:sp>
        <p:nvSpPr>
          <p:cNvPr id="17" name="TextBox 16"/>
          <p:cNvSpPr txBox="1"/>
          <p:nvPr/>
        </p:nvSpPr>
        <p:spPr>
          <a:xfrm>
            <a:off x="5120640" y="326440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AADHAAR</a:t>
            </a:r>
          </a:p>
        </p:txBody>
      </p:sp>
      <p:sp>
        <p:nvSpPr>
          <p:cNvPr id="18" name="TextBox 17"/>
          <p:cNvSpPr txBox="1"/>
          <p:nvPr/>
        </p:nvSpPr>
        <p:spPr>
          <a:xfrm>
            <a:off x="5120640" y="3493008"/>
            <a:ext cx="2651760" cy="365760"/>
          </a:xfrm>
          <a:prstGeom prst="rect">
            <a:avLst/>
          </a:prstGeom>
          <a:noFill/>
        </p:spPr>
        <p:txBody>
          <a:bodyPr wrap="square" lIns="0" rIns="0" tIns="0" bIns="0" anchor="t">
            <a:spAutoFit/>
          </a:bodyPr>
          <a:lstStyle/>
          <a:p>
            <a:pPr algn="l"/>
            <a:r>
              <a:rPr sz="1500" b="1" i="0">
                <a:solidFill>
                  <a:srgbClr val="0F1F1A"/>
                </a:solidFill>
                <a:latin typeface="Georgia"/>
              </a:rPr>
              <a:t>Face-match unlock</a:t>
            </a:r>
          </a:p>
        </p:txBody>
      </p:sp>
      <p:sp>
        <p:nvSpPr>
          <p:cNvPr id="19" name="TextBox 18"/>
          <p:cNvSpPr txBox="1"/>
          <p:nvPr/>
        </p:nvSpPr>
        <p:spPr>
          <a:xfrm>
            <a:off x="4572000" y="3886200"/>
            <a:ext cx="3017520" cy="502920"/>
          </a:xfrm>
          <a:prstGeom prst="rect">
            <a:avLst/>
          </a:prstGeom>
          <a:noFill/>
        </p:spPr>
        <p:txBody>
          <a:bodyPr wrap="square" lIns="0" rIns="0" tIns="0" bIns="0" anchor="t">
            <a:spAutoFit/>
          </a:bodyPr>
          <a:lstStyle/>
          <a:p>
            <a:pPr algn="l">
              <a:lnSpc>
                <a:spcPct val="130000"/>
              </a:lnSpc>
            </a:pPr>
            <a:r>
              <a:rPr sz="1050" b="0" i="0">
                <a:solidFill>
                  <a:srgbClr val="475569"/>
                </a:solidFill>
                <a:latin typeface="Calibri"/>
              </a:rPr>
              <a:t>DL — a deep neural net turns face pixels into an embedding and matches against record.</a:t>
            </a:r>
          </a:p>
        </p:txBody>
      </p:sp>
      <p:sp>
        <p:nvSpPr>
          <p:cNvPr id="20" name="Rectangle 19"/>
          <p:cNvSpPr/>
          <p:nvPr/>
        </p:nvSpPr>
        <p:spPr>
          <a:xfrm>
            <a:off x="8046720" y="2971800"/>
            <a:ext cx="3566160" cy="15544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321040" y="3246120"/>
            <a:ext cx="457200" cy="457200"/>
          </a:xfrm>
          <a:prstGeom prst="ellipse">
            <a:avLst/>
          </a:prstGeom>
          <a:solidFill>
            <a:srgbClr val="EAF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0" y="3246120"/>
            <a:ext cx="457200" cy="457200"/>
          </a:xfrm>
          <a:prstGeom prst="rect">
            <a:avLst/>
          </a:prstGeom>
          <a:noFill/>
        </p:spPr>
        <p:txBody>
          <a:bodyPr wrap="square" lIns="0" rIns="0" tIns="0" bIns="0" anchor="ctr">
            <a:spAutoFit/>
          </a:bodyPr>
          <a:lstStyle/>
          <a:p>
            <a:pPr algn="ctr"/>
            <a:r>
              <a:rPr sz="1800" b="1" i="0">
                <a:solidFill>
                  <a:srgbClr val="C5E063"/>
                </a:solidFill>
                <a:latin typeface="Calibri"/>
              </a:rPr>
              <a:t>F</a:t>
            </a:r>
          </a:p>
        </p:txBody>
      </p:sp>
      <p:sp>
        <p:nvSpPr>
          <p:cNvPr id="23" name="TextBox 22"/>
          <p:cNvSpPr txBox="1"/>
          <p:nvPr/>
        </p:nvSpPr>
        <p:spPr>
          <a:xfrm>
            <a:off x="8869680" y="326440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FLIPKART</a:t>
            </a:r>
          </a:p>
        </p:txBody>
      </p:sp>
      <p:sp>
        <p:nvSpPr>
          <p:cNvPr id="24" name="TextBox 23"/>
          <p:cNvSpPr txBox="1"/>
          <p:nvPr/>
        </p:nvSpPr>
        <p:spPr>
          <a:xfrm>
            <a:off x="8869680" y="3493008"/>
            <a:ext cx="2651760" cy="365760"/>
          </a:xfrm>
          <a:prstGeom prst="rect">
            <a:avLst/>
          </a:prstGeom>
          <a:noFill/>
        </p:spPr>
        <p:txBody>
          <a:bodyPr wrap="square" lIns="0" rIns="0" tIns="0" bIns="0" anchor="t">
            <a:spAutoFit/>
          </a:bodyPr>
          <a:lstStyle/>
          <a:p>
            <a:pPr algn="l"/>
            <a:r>
              <a:rPr sz="1500" b="1" i="0">
                <a:solidFill>
                  <a:srgbClr val="0F1F1A"/>
                </a:solidFill>
                <a:latin typeface="Georgia"/>
              </a:rPr>
              <a:t>BBD dynamic pricing</a:t>
            </a:r>
          </a:p>
        </p:txBody>
      </p:sp>
      <p:sp>
        <p:nvSpPr>
          <p:cNvPr id="25" name="TextBox 24"/>
          <p:cNvSpPr txBox="1"/>
          <p:nvPr/>
        </p:nvSpPr>
        <p:spPr>
          <a:xfrm>
            <a:off x="8321040" y="3886200"/>
            <a:ext cx="3017520" cy="502920"/>
          </a:xfrm>
          <a:prstGeom prst="rect">
            <a:avLst/>
          </a:prstGeom>
          <a:noFill/>
        </p:spPr>
        <p:txBody>
          <a:bodyPr wrap="square" lIns="0" rIns="0" tIns="0" bIns="0" anchor="t">
            <a:spAutoFit/>
          </a:bodyPr>
          <a:lstStyle/>
          <a:p>
            <a:pPr algn="l">
              <a:lnSpc>
                <a:spcPct val="130000"/>
              </a:lnSpc>
            </a:pPr>
            <a:r>
              <a:rPr sz="1050" b="0" i="0">
                <a:solidFill>
                  <a:srgbClr val="475569"/>
                </a:solidFill>
                <a:latin typeface="Calibri"/>
              </a:rPr>
              <a:t>ML — LightGBM retrained hourly across crores of SKUs. Data Science dashboards track lift.</a:t>
            </a:r>
          </a:p>
        </p:txBody>
      </p:sp>
      <p:sp>
        <p:nvSpPr>
          <p:cNvPr id="26" name="Rectangle 25"/>
          <p:cNvSpPr/>
          <p:nvPr/>
        </p:nvSpPr>
        <p:spPr>
          <a:xfrm>
            <a:off x="548640" y="4663440"/>
            <a:ext cx="3566160" cy="15544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4937760"/>
            <a:ext cx="457200" cy="457200"/>
          </a:xfrm>
          <a:prstGeom prst="ellipse">
            <a:avLst/>
          </a:prstGeom>
          <a:solidFill>
            <a:srgbClr val="EAF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937760"/>
            <a:ext cx="457200" cy="457200"/>
          </a:xfrm>
          <a:prstGeom prst="rect">
            <a:avLst/>
          </a:prstGeom>
          <a:noFill/>
        </p:spPr>
        <p:txBody>
          <a:bodyPr wrap="square" lIns="0" rIns="0" tIns="0" bIns="0" anchor="ctr">
            <a:spAutoFit/>
          </a:bodyPr>
          <a:lstStyle/>
          <a:p>
            <a:pPr algn="ctr"/>
            <a:r>
              <a:rPr sz="1800" b="1" i="0">
                <a:solidFill>
                  <a:srgbClr val="C5E063"/>
                </a:solidFill>
                <a:latin typeface="Calibri"/>
              </a:rPr>
              <a:t>R</a:t>
            </a:r>
          </a:p>
        </p:txBody>
      </p:sp>
      <p:sp>
        <p:nvSpPr>
          <p:cNvPr id="29" name="TextBox 28"/>
          <p:cNvSpPr txBox="1"/>
          <p:nvPr/>
        </p:nvSpPr>
        <p:spPr>
          <a:xfrm>
            <a:off x="1371600" y="495604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OLA</a:t>
            </a:r>
          </a:p>
        </p:txBody>
      </p:sp>
      <p:sp>
        <p:nvSpPr>
          <p:cNvPr id="30" name="TextBox 29"/>
          <p:cNvSpPr txBox="1"/>
          <p:nvPr/>
        </p:nvSpPr>
        <p:spPr>
          <a:xfrm>
            <a:off x="1371600" y="5184648"/>
            <a:ext cx="2651760" cy="365760"/>
          </a:xfrm>
          <a:prstGeom prst="rect">
            <a:avLst/>
          </a:prstGeom>
          <a:noFill/>
        </p:spPr>
        <p:txBody>
          <a:bodyPr wrap="square" lIns="0" rIns="0" tIns="0" bIns="0" anchor="t">
            <a:spAutoFit/>
          </a:bodyPr>
          <a:lstStyle/>
          <a:p>
            <a:pPr algn="l"/>
            <a:r>
              <a:rPr sz="1500" b="1" i="0">
                <a:solidFill>
                  <a:srgbClr val="0F1F1A"/>
                </a:solidFill>
                <a:latin typeface="Georgia"/>
              </a:rPr>
              <a:t>Ride matching</a:t>
            </a:r>
          </a:p>
        </p:txBody>
      </p:sp>
      <p:sp>
        <p:nvSpPr>
          <p:cNvPr id="31" name="TextBox 30"/>
          <p:cNvSpPr txBox="1"/>
          <p:nvPr/>
        </p:nvSpPr>
        <p:spPr>
          <a:xfrm>
            <a:off x="822960" y="5577840"/>
            <a:ext cx="3017520" cy="502920"/>
          </a:xfrm>
          <a:prstGeom prst="rect">
            <a:avLst/>
          </a:prstGeom>
          <a:noFill/>
        </p:spPr>
        <p:txBody>
          <a:bodyPr wrap="square" lIns="0" rIns="0" tIns="0" bIns="0" anchor="t">
            <a:spAutoFit/>
          </a:bodyPr>
          <a:lstStyle/>
          <a:p>
            <a:pPr algn="l">
              <a:lnSpc>
                <a:spcPct val="130000"/>
              </a:lnSpc>
            </a:pPr>
            <a:r>
              <a:rPr sz="1050" b="0" i="0">
                <a:solidFill>
                  <a:srgbClr val="475569"/>
                </a:solidFill>
                <a:latin typeface="Calibri"/>
              </a:rPr>
              <a:t>AI + ML — optimisation finds the cheapest pairing; ML predicts ETAs and surge demand.</a:t>
            </a:r>
          </a:p>
        </p:txBody>
      </p:sp>
      <p:sp>
        <p:nvSpPr>
          <p:cNvPr id="32" name="Rectangle 31"/>
          <p:cNvSpPr/>
          <p:nvPr/>
        </p:nvSpPr>
        <p:spPr>
          <a:xfrm>
            <a:off x="4297680" y="4663440"/>
            <a:ext cx="3566160" cy="15544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572000" y="4937760"/>
            <a:ext cx="457200" cy="457200"/>
          </a:xfrm>
          <a:prstGeom prst="ellipse">
            <a:avLst/>
          </a:prstGeom>
          <a:solidFill>
            <a:srgbClr val="EAF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0" y="4937760"/>
            <a:ext cx="457200" cy="457200"/>
          </a:xfrm>
          <a:prstGeom prst="rect">
            <a:avLst/>
          </a:prstGeom>
          <a:noFill/>
        </p:spPr>
        <p:txBody>
          <a:bodyPr wrap="square" lIns="0" rIns="0" tIns="0" bIns="0" anchor="ctr">
            <a:spAutoFit/>
          </a:bodyPr>
          <a:lstStyle/>
          <a:p>
            <a:pPr algn="ctr"/>
            <a:r>
              <a:rPr sz="1800" b="1" i="0">
                <a:solidFill>
                  <a:srgbClr val="C5E063"/>
                </a:solidFill>
                <a:latin typeface="Calibri"/>
              </a:rPr>
              <a:t>D</a:t>
            </a:r>
          </a:p>
        </p:txBody>
      </p:sp>
      <p:sp>
        <p:nvSpPr>
          <p:cNvPr id="35" name="TextBox 34"/>
          <p:cNvSpPr txBox="1"/>
          <p:nvPr/>
        </p:nvSpPr>
        <p:spPr>
          <a:xfrm>
            <a:off x="5120640" y="495604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NSE</a:t>
            </a:r>
          </a:p>
        </p:txBody>
      </p:sp>
      <p:sp>
        <p:nvSpPr>
          <p:cNvPr id="36" name="TextBox 35"/>
          <p:cNvSpPr txBox="1"/>
          <p:nvPr/>
        </p:nvSpPr>
        <p:spPr>
          <a:xfrm>
            <a:off x="5120640" y="5184648"/>
            <a:ext cx="2651760" cy="365760"/>
          </a:xfrm>
          <a:prstGeom prst="rect">
            <a:avLst/>
          </a:prstGeom>
          <a:noFill/>
        </p:spPr>
        <p:txBody>
          <a:bodyPr wrap="square" lIns="0" rIns="0" tIns="0" bIns="0" anchor="t">
            <a:spAutoFit/>
          </a:bodyPr>
          <a:lstStyle/>
          <a:p>
            <a:pPr algn="l"/>
            <a:r>
              <a:rPr sz="1500" b="1" i="0">
                <a:solidFill>
                  <a:srgbClr val="0F1F1A"/>
                </a:solidFill>
                <a:latin typeface="Georgia"/>
              </a:rPr>
              <a:t>Risk dashboards</a:t>
            </a:r>
          </a:p>
        </p:txBody>
      </p:sp>
      <p:sp>
        <p:nvSpPr>
          <p:cNvPr id="37" name="TextBox 36"/>
          <p:cNvSpPr txBox="1"/>
          <p:nvPr/>
        </p:nvSpPr>
        <p:spPr>
          <a:xfrm>
            <a:off x="4572000" y="5577840"/>
            <a:ext cx="3017520" cy="502920"/>
          </a:xfrm>
          <a:prstGeom prst="rect">
            <a:avLst/>
          </a:prstGeom>
          <a:noFill/>
        </p:spPr>
        <p:txBody>
          <a:bodyPr wrap="square" lIns="0" rIns="0" tIns="0" bIns="0" anchor="t">
            <a:spAutoFit/>
          </a:bodyPr>
          <a:lstStyle/>
          <a:p>
            <a:pPr algn="l">
              <a:lnSpc>
                <a:spcPct val="130000"/>
              </a:lnSpc>
            </a:pPr>
            <a:r>
              <a:rPr sz="1050" b="0" i="0">
                <a:solidFill>
                  <a:srgbClr val="475569"/>
                </a:solidFill>
                <a:latin typeface="Calibri"/>
              </a:rPr>
              <a:t>Data Science — SQL, statistics and Power BI. No model training; pure decision support.</a:t>
            </a:r>
          </a:p>
        </p:txBody>
      </p:sp>
      <p:sp>
        <p:nvSpPr>
          <p:cNvPr id="38" name="Rectangle 37"/>
          <p:cNvSpPr/>
          <p:nvPr/>
        </p:nvSpPr>
        <p:spPr>
          <a:xfrm>
            <a:off x="8046720" y="4663440"/>
            <a:ext cx="3566160" cy="15544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321040" y="4937760"/>
            <a:ext cx="457200" cy="457200"/>
          </a:xfrm>
          <a:prstGeom prst="ellipse">
            <a:avLst/>
          </a:prstGeom>
          <a:solidFill>
            <a:srgbClr val="EAF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21040" y="4937760"/>
            <a:ext cx="457200" cy="457200"/>
          </a:xfrm>
          <a:prstGeom prst="rect">
            <a:avLst/>
          </a:prstGeom>
          <a:noFill/>
        </p:spPr>
        <p:txBody>
          <a:bodyPr wrap="square" lIns="0" rIns="0" tIns="0" bIns="0" anchor="ctr">
            <a:spAutoFit/>
          </a:bodyPr>
          <a:lstStyle/>
          <a:p>
            <a:pPr algn="ctr"/>
            <a:r>
              <a:rPr sz="1800" b="1" i="0">
                <a:solidFill>
                  <a:srgbClr val="C5E063"/>
                </a:solidFill>
                <a:latin typeface="Calibri"/>
              </a:rPr>
              <a:t>S</a:t>
            </a:r>
          </a:p>
        </p:txBody>
      </p:sp>
      <p:sp>
        <p:nvSpPr>
          <p:cNvPr id="41" name="TextBox 40"/>
          <p:cNvSpPr txBox="1"/>
          <p:nvPr/>
        </p:nvSpPr>
        <p:spPr>
          <a:xfrm>
            <a:off x="8869680" y="495604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SWIGGY</a:t>
            </a:r>
          </a:p>
        </p:txBody>
      </p:sp>
      <p:sp>
        <p:nvSpPr>
          <p:cNvPr id="42" name="TextBox 41"/>
          <p:cNvSpPr txBox="1"/>
          <p:nvPr/>
        </p:nvSpPr>
        <p:spPr>
          <a:xfrm>
            <a:off x="8869680" y="5184648"/>
            <a:ext cx="2651760" cy="365760"/>
          </a:xfrm>
          <a:prstGeom prst="rect">
            <a:avLst/>
          </a:prstGeom>
          <a:noFill/>
        </p:spPr>
        <p:txBody>
          <a:bodyPr wrap="square" lIns="0" rIns="0" tIns="0" bIns="0" anchor="t">
            <a:spAutoFit/>
          </a:bodyPr>
          <a:lstStyle/>
          <a:p>
            <a:pPr algn="l"/>
            <a:r>
              <a:rPr sz="1500" b="1" i="0">
                <a:solidFill>
                  <a:srgbClr val="0F1F1A"/>
                </a:solidFill>
                <a:latin typeface="Georgia"/>
              </a:rPr>
              <a:t>Personalised home</a:t>
            </a:r>
          </a:p>
        </p:txBody>
      </p:sp>
      <p:sp>
        <p:nvSpPr>
          <p:cNvPr id="43" name="TextBox 42"/>
          <p:cNvSpPr txBox="1"/>
          <p:nvPr/>
        </p:nvSpPr>
        <p:spPr>
          <a:xfrm>
            <a:off x="8321040" y="5577840"/>
            <a:ext cx="3017520" cy="502920"/>
          </a:xfrm>
          <a:prstGeom prst="rect">
            <a:avLst/>
          </a:prstGeom>
          <a:noFill/>
        </p:spPr>
        <p:txBody>
          <a:bodyPr wrap="square" lIns="0" rIns="0" tIns="0" bIns="0" anchor="t">
            <a:spAutoFit/>
          </a:bodyPr>
          <a:lstStyle/>
          <a:p>
            <a:pPr algn="l">
              <a:lnSpc>
                <a:spcPct val="130000"/>
              </a:lnSpc>
            </a:pPr>
            <a:r>
              <a:rPr sz="1050" b="0" i="0">
                <a:solidFill>
                  <a:srgbClr val="475569"/>
                </a:solidFill>
                <a:latin typeface="Calibri"/>
              </a:rPr>
              <a:t>DL inside ML — embeddings rank dishes you'll order tonight. Sits inside the AI umbrella.</a:t>
            </a:r>
          </a:p>
        </p:txBody>
      </p:sp>
      <p:sp>
        <p:nvSpPr>
          <p:cNvPr id="44" name="TextBox 4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1 OF 7</a:t>
            </a:r>
          </a:p>
        </p:txBody>
      </p:sp>
      <p:sp>
        <p:nvSpPr>
          <p:cNvPr id="45" name="TextBox 4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SYSTEMS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par>
                    <p:cTn id="133" fill="hold">
                      <p:stCondLst>
                        <p:cond delay="indefinite"/>
                        <p:cond evt="onBegin" delay="0">
                          <p:tn val="2"/>
                        </p:cond>
                      </p:stCondLst>
                      <p:childTnLst>
                        <p:par>
                          <p:cTn id="134" fill="hold">
                            <p:stCondLst>
                              <p:cond delay="0"/>
                            </p:stCondLst>
                            <p:childTnLst>
                              <p:par>
                                <p:cTn id="135" presetID="10" presetClass="entr" presetSubtype="0" fill="hold" grpId="0" nodeType="afterEffect">
                                  <p:stCondLst>
                                    <p:cond delay="18"/>
                                  </p:stCondLst>
                                  <p:childTnLst>
                                    <p:set>
                                      <p:cBhvr>
                                        <p:cTn id="136" dur="1" fill="hold">
                                          <p:stCondLst>
                                            <p:cond delay="0"/>
                                          </p:stCondLst>
                                        </p:cTn>
                                        <p:tgtEl>
                                          <p:spTgt spid="28"/>
                                        </p:tgtEl>
                                        <p:attrNameLst>
                                          <p:attrName>style.visibility</p:attrName>
                                        </p:attrNameLst>
                                      </p:cBhvr>
                                      <p:to>
                                        <p:strVal val="visible"/>
                                      </p:to>
                                    </p:set>
                                    <p:anim calcmode="lin" valueType="num">
                                      <p:cBhvr additive="base">
                                        <p:cTn id="137" dur="150" fill="hold"/>
                                        <p:tgtEl>
                                          <p:spTgt spid="28"/>
                                        </p:tgtEl>
                                        <p:attrNameLst>
                                          <p:attrName>style.opacity</p:attrName>
                                        </p:attrNameLst>
                                      </p:cBhvr>
                                      <p:tavLst>
                                        <p:tav tm="0">
                                          <p:val>
                                            <p:fltVal val="0"/>
                                          </p:val>
                                        </p:tav>
                                        <p:tav tm="100000">
                                          <p:val>
                                            <p:fltVal val="1"/>
                                          </p:val>
                                        </p:tav>
                                      </p:tavLst>
                                    </p:anim>
                                  </p:childTnLst>
                                </p:cTn>
                              </p:par>
                            </p:childTnLst>
                          </p:cTn>
                        </p:par>
                      </p:childTnLst>
                    </p:cTn>
                  </p:par>
                  <p:par>
                    <p:cTn id="138" fill="hold">
                      <p:stCondLst>
                        <p:cond delay="indefinite"/>
                        <p:cond evt="onBegin" delay="0">
                          <p:tn val="2"/>
                        </p:cond>
                      </p:stCondLst>
                      <p:childTnLst>
                        <p:par>
                          <p:cTn id="139" fill="hold">
                            <p:stCondLst>
                              <p:cond delay="0"/>
                            </p:stCondLst>
                            <p:childTnLst>
                              <p:par>
                                <p:cTn id="140" presetID="10" presetClass="entr" presetSubtype="0" fill="hold" grpId="0" nodeType="afterEffect">
                                  <p:stCondLst>
                                    <p:cond delay="18"/>
                                  </p:stCondLst>
                                  <p:childTnLst>
                                    <p:set>
                                      <p:cBhvr>
                                        <p:cTn id="141" dur="1" fill="hold">
                                          <p:stCondLst>
                                            <p:cond delay="0"/>
                                          </p:stCondLst>
                                        </p:cTn>
                                        <p:tgtEl>
                                          <p:spTgt spid="29"/>
                                        </p:tgtEl>
                                        <p:attrNameLst>
                                          <p:attrName>style.visibility</p:attrName>
                                        </p:attrNameLst>
                                      </p:cBhvr>
                                      <p:to>
                                        <p:strVal val="visible"/>
                                      </p:to>
                                    </p:set>
                                    <p:anim calcmode="lin" valueType="num">
                                      <p:cBhvr additive="base">
                                        <p:cTn id="142" dur="150" fill="hold"/>
                                        <p:tgtEl>
                                          <p:spTgt spid="29"/>
                                        </p:tgtEl>
                                        <p:attrNameLst>
                                          <p:attrName>style.opacity</p:attrName>
                                        </p:attrNameLst>
                                      </p:cBhvr>
                                      <p:tavLst>
                                        <p:tav tm="0">
                                          <p:val>
                                            <p:fltVal val="0"/>
                                          </p:val>
                                        </p:tav>
                                        <p:tav tm="100000">
                                          <p:val>
                                            <p:fltVal val="1"/>
                                          </p:val>
                                        </p:tav>
                                      </p:tavLst>
                                    </p:anim>
                                  </p:childTnLst>
                                </p:cTn>
                              </p:par>
                            </p:childTnLst>
                          </p:cTn>
                        </p:par>
                      </p:childTnLst>
                    </p:cTn>
                  </p:par>
                  <p:par>
                    <p:cTn id="143" fill="hold">
                      <p:stCondLst>
                        <p:cond delay="indefinite"/>
                        <p:cond evt="onBegin" delay="0">
                          <p:tn val="2"/>
                        </p:cond>
                      </p:stCondLst>
                      <p:childTnLst>
                        <p:par>
                          <p:cTn id="144" fill="hold">
                            <p:stCondLst>
                              <p:cond delay="0"/>
                            </p:stCondLst>
                            <p:childTnLst>
                              <p:par>
                                <p:cTn id="145" presetID="10" presetClass="entr" presetSubtype="0" fill="hold" grpId="0" nodeType="afterEffect">
                                  <p:stCondLst>
                                    <p:cond delay="18"/>
                                  </p:stCondLst>
                                  <p:childTnLst>
                                    <p:set>
                                      <p:cBhvr>
                                        <p:cTn id="146" dur="1" fill="hold">
                                          <p:stCondLst>
                                            <p:cond delay="0"/>
                                          </p:stCondLst>
                                        </p:cTn>
                                        <p:tgtEl>
                                          <p:spTgt spid="30"/>
                                        </p:tgtEl>
                                        <p:attrNameLst>
                                          <p:attrName>style.visibility</p:attrName>
                                        </p:attrNameLst>
                                      </p:cBhvr>
                                      <p:to>
                                        <p:strVal val="visible"/>
                                      </p:to>
                                    </p:set>
                                    <p:anim calcmode="lin" valueType="num">
                                      <p:cBhvr additive="base">
                                        <p:cTn id="147" dur="150" fill="hold"/>
                                        <p:tgtEl>
                                          <p:spTgt spid="30"/>
                                        </p:tgtEl>
                                        <p:attrNameLst>
                                          <p:attrName>style.opacity</p:attrName>
                                        </p:attrNameLst>
                                      </p:cBhvr>
                                      <p:tavLst>
                                        <p:tav tm="0">
                                          <p:val>
                                            <p:fltVal val="0"/>
                                          </p:val>
                                        </p:tav>
                                        <p:tav tm="100000">
                                          <p:val>
                                            <p:fltVal val="1"/>
                                          </p:val>
                                        </p:tav>
                                      </p:tavLst>
                                    </p:anim>
                                  </p:childTnLst>
                                </p:cTn>
                              </p:par>
                            </p:childTnLst>
                          </p:cTn>
                        </p:par>
                      </p:childTnLst>
                    </p:cTn>
                  </p:par>
                  <p:par>
                    <p:cTn id="148" fill="hold">
                      <p:stCondLst>
                        <p:cond delay="indefinite"/>
                        <p:cond evt="onBegin" delay="0">
                          <p:tn val="2"/>
                        </p:cond>
                      </p:stCondLst>
                      <p:childTnLst>
                        <p:par>
                          <p:cTn id="149" fill="hold">
                            <p:stCondLst>
                              <p:cond delay="0"/>
                            </p:stCondLst>
                            <p:childTnLst>
                              <p:par>
                                <p:cTn id="150" presetID="10" presetClass="entr" presetSubtype="0" fill="hold" grpId="0" nodeType="afterEffect">
                                  <p:stCondLst>
                                    <p:cond delay="18"/>
                                  </p:stCondLst>
                                  <p:childTnLst>
                                    <p:set>
                                      <p:cBhvr>
                                        <p:cTn id="151" dur="1" fill="hold">
                                          <p:stCondLst>
                                            <p:cond delay="0"/>
                                          </p:stCondLst>
                                        </p:cTn>
                                        <p:tgtEl>
                                          <p:spTgt spid="31"/>
                                        </p:tgtEl>
                                        <p:attrNameLst>
                                          <p:attrName>style.visibility</p:attrName>
                                        </p:attrNameLst>
                                      </p:cBhvr>
                                      <p:to>
                                        <p:strVal val="visible"/>
                                      </p:to>
                                    </p:set>
                                    <p:anim calcmode="lin" valueType="num">
                                      <p:cBhvr additive="base">
                                        <p:cTn id="152" dur="150" fill="hold"/>
                                        <p:tgtEl>
                                          <p:spTgt spid="31"/>
                                        </p:tgtEl>
                                        <p:attrNameLst>
                                          <p:attrName>style.opacity</p:attrName>
                                        </p:attrNameLst>
                                      </p:cBhvr>
                                      <p:tavLst>
                                        <p:tav tm="0">
                                          <p:val>
                                            <p:fltVal val="0"/>
                                          </p:val>
                                        </p:tav>
                                        <p:tav tm="100000">
                                          <p:val>
                                            <p:fltVal val="1"/>
                                          </p:val>
                                        </p:tav>
                                      </p:tavLst>
                                    </p:anim>
                                  </p:childTnLst>
                                </p:cTn>
                              </p:par>
                            </p:childTnLst>
                          </p:cTn>
                        </p:par>
                      </p:childTnLst>
                    </p:cTn>
                  </p:par>
                  <p:par>
                    <p:cTn id="153" fill="hold">
                      <p:stCondLst>
                        <p:cond delay="indefinite"/>
                        <p:cond evt="onBegin" delay="0">
                          <p:tn val="2"/>
                        </p:cond>
                      </p:stCondLst>
                      <p:childTnLst>
                        <p:par>
                          <p:cTn id="154" fill="hold">
                            <p:stCondLst>
                              <p:cond delay="0"/>
                            </p:stCondLst>
                            <p:childTnLst>
                              <p:par>
                                <p:cTn id="155" presetID="10" presetClass="entr" presetSubtype="0" fill="hold" grpId="0" nodeType="afterEffect">
                                  <p:stCondLst>
                                    <p:cond delay="18"/>
                                  </p:stCondLst>
                                  <p:childTnLst>
                                    <p:set>
                                      <p:cBhvr>
                                        <p:cTn id="156" dur="1" fill="hold">
                                          <p:stCondLst>
                                            <p:cond delay="0"/>
                                          </p:stCondLst>
                                        </p:cTn>
                                        <p:tgtEl>
                                          <p:spTgt spid="32"/>
                                        </p:tgtEl>
                                        <p:attrNameLst>
                                          <p:attrName>style.visibility</p:attrName>
                                        </p:attrNameLst>
                                      </p:cBhvr>
                                      <p:to>
                                        <p:strVal val="visible"/>
                                      </p:to>
                                    </p:set>
                                    <p:anim calcmode="lin" valueType="num">
                                      <p:cBhvr additive="base">
                                        <p:cTn id="157" dur="150" fill="hold"/>
                                        <p:tgtEl>
                                          <p:spTgt spid="32"/>
                                        </p:tgtEl>
                                        <p:attrNameLst>
                                          <p:attrName>style.opacity</p:attrName>
                                        </p:attrNameLst>
                                      </p:cBhvr>
                                      <p:tavLst>
                                        <p:tav tm="0">
                                          <p:val>
                                            <p:fltVal val="0"/>
                                          </p:val>
                                        </p:tav>
                                        <p:tav tm="100000">
                                          <p:val>
                                            <p:fltVal val="1"/>
                                          </p:val>
                                        </p:tav>
                                      </p:tavLst>
                                    </p:anim>
                                  </p:childTnLst>
                                </p:cTn>
                              </p:par>
                            </p:childTnLst>
                          </p:cTn>
                        </p:par>
                      </p:childTnLst>
                    </p:cTn>
                  </p:par>
                  <p:par>
                    <p:cTn id="158" fill="hold">
                      <p:stCondLst>
                        <p:cond delay="indefinite"/>
                        <p:cond evt="onBegin" delay="0">
                          <p:tn val="2"/>
                        </p:cond>
                      </p:stCondLst>
                      <p:childTnLst>
                        <p:par>
                          <p:cTn id="159" fill="hold">
                            <p:stCondLst>
                              <p:cond delay="0"/>
                            </p:stCondLst>
                            <p:childTnLst>
                              <p:par>
                                <p:cTn id="160" presetID="10" presetClass="entr" presetSubtype="0" fill="hold" grpId="0" nodeType="afterEffect">
                                  <p:stCondLst>
                                    <p:cond delay="18"/>
                                  </p:stCondLst>
                                  <p:childTnLst>
                                    <p:set>
                                      <p:cBhvr>
                                        <p:cTn id="161" dur="1" fill="hold">
                                          <p:stCondLst>
                                            <p:cond delay="0"/>
                                          </p:stCondLst>
                                        </p:cTn>
                                        <p:tgtEl>
                                          <p:spTgt spid="33"/>
                                        </p:tgtEl>
                                        <p:attrNameLst>
                                          <p:attrName>style.visibility</p:attrName>
                                        </p:attrNameLst>
                                      </p:cBhvr>
                                      <p:to>
                                        <p:strVal val="visible"/>
                                      </p:to>
                                    </p:set>
                                    <p:anim calcmode="lin" valueType="num">
                                      <p:cBhvr additive="base">
                                        <p:cTn id="162" dur="150" fill="hold"/>
                                        <p:tgtEl>
                                          <p:spTgt spid="33"/>
                                        </p:tgtEl>
                                        <p:attrNameLst>
                                          <p:attrName>style.opacity</p:attrName>
                                        </p:attrNameLst>
                                      </p:cBhvr>
                                      <p:tavLst>
                                        <p:tav tm="0">
                                          <p:val>
                                            <p:fltVal val="0"/>
                                          </p:val>
                                        </p:tav>
                                        <p:tav tm="100000">
                                          <p:val>
                                            <p:fltVal val="1"/>
                                          </p:val>
                                        </p:tav>
                                      </p:tavLst>
                                    </p:anim>
                                  </p:childTnLst>
                                </p:cTn>
                              </p:par>
                            </p:childTnLst>
                          </p:cTn>
                        </p:par>
                      </p:childTnLst>
                    </p:cTn>
                  </p:par>
                  <p:par>
                    <p:cTn id="163" fill="hold">
                      <p:stCondLst>
                        <p:cond delay="indefinite"/>
                        <p:cond evt="onBegin" delay="0">
                          <p:tn val="2"/>
                        </p:cond>
                      </p:stCondLst>
                      <p:childTnLst>
                        <p:par>
                          <p:cTn id="164" fill="hold">
                            <p:stCondLst>
                              <p:cond delay="0"/>
                            </p:stCondLst>
                            <p:childTnLst>
                              <p:par>
                                <p:cTn id="165" presetID="10" presetClass="entr" presetSubtype="0" fill="hold" grpId="0" nodeType="afterEffect">
                                  <p:stCondLst>
                                    <p:cond delay="18"/>
                                  </p:stCondLst>
                                  <p:childTnLst>
                                    <p:set>
                                      <p:cBhvr>
                                        <p:cTn id="166" dur="1" fill="hold">
                                          <p:stCondLst>
                                            <p:cond delay="0"/>
                                          </p:stCondLst>
                                        </p:cTn>
                                        <p:tgtEl>
                                          <p:spTgt spid="34"/>
                                        </p:tgtEl>
                                        <p:attrNameLst>
                                          <p:attrName>style.visibility</p:attrName>
                                        </p:attrNameLst>
                                      </p:cBhvr>
                                      <p:to>
                                        <p:strVal val="visible"/>
                                      </p:to>
                                    </p:set>
                                    <p:anim calcmode="lin" valueType="num">
                                      <p:cBhvr additive="base">
                                        <p:cTn id="167" dur="150" fill="hold"/>
                                        <p:tgtEl>
                                          <p:spTgt spid="34"/>
                                        </p:tgtEl>
                                        <p:attrNameLst>
                                          <p:attrName>style.opacity</p:attrName>
                                        </p:attrNameLst>
                                      </p:cBhvr>
                                      <p:tavLst>
                                        <p:tav tm="0">
                                          <p:val>
                                            <p:fltVal val="0"/>
                                          </p:val>
                                        </p:tav>
                                        <p:tav tm="100000">
                                          <p:val>
                                            <p:fltVal val="1"/>
                                          </p:val>
                                        </p:tav>
                                      </p:tavLst>
                                    </p:anim>
                                  </p:childTnLst>
                                </p:cTn>
                              </p:par>
                            </p:childTnLst>
                          </p:cTn>
                        </p:par>
                      </p:childTnLst>
                    </p:cTn>
                  </p:par>
                  <p:par>
                    <p:cTn id="168" fill="hold">
                      <p:stCondLst>
                        <p:cond delay="indefinite"/>
                        <p:cond evt="onBegin" delay="0">
                          <p:tn val="2"/>
                        </p:cond>
                      </p:stCondLst>
                      <p:childTnLst>
                        <p:par>
                          <p:cTn id="169" fill="hold">
                            <p:stCondLst>
                              <p:cond delay="0"/>
                            </p:stCondLst>
                            <p:childTnLst>
                              <p:par>
                                <p:cTn id="170" presetID="10" presetClass="entr" presetSubtype="0" fill="hold" grpId="0" nodeType="afterEffect">
                                  <p:stCondLst>
                                    <p:cond delay="18"/>
                                  </p:stCondLst>
                                  <p:childTnLst>
                                    <p:set>
                                      <p:cBhvr>
                                        <p:cTn id="171" dur="1" fill="hold">
                                          <p:stCondLst>
                                            <p:cond delay="0"/>
                                          </p:stCondLst>
                                        </p:cTn>
                                        <p:tgtEl>
                                          <p:spTgt spid="35"/>
                                        </p:tgtEl>
                                        <p:attrNameLst>
                                          <p:attrName>style.visibility</p:attrName>
                                        </p:attrNameLst>
                                      </p:cBhvr>
                                      <p:to>
                                        <p:strVal val="visible"/>
                                      </p:to>
                                    </p:set>
                                    <p:anim calcmode="lin" valueType="num">
                                      <p:cBhvr additive="base">
                                        <p:cTn id="172" dur="150" fill="hold"/>
                                        <p:tgtEl>
                                          <p:spTgt spid="35"/>
                                        </p:tgtEl>
                                        <p:attrNameLst>
                                          <p:attrName>style.opacity</p:attrName>
                                        </p:attrNameLst>
                                      </p:cBhvr>
                                      <p:tavLst>
                                        <p:tav tm="0">
                                          <p:val>
                                            <p:fltVal val="0"/>
                                          </p:val>
                                        </p:tav>
                                        <p:tav tm="100000">
                                          <p:val>
                                            <p:fltVal val="1"/>
                                          </p:val>
                                        </p:tav>
                                      </p:tavLst>
                                    </p:anim>
                                  </p:childTnLst>
                                </p:cTn>
                              </p:par>
                            </p:childTnLst>
                          </p:cTn>
                        </p:par>
                      </p:childTnLst>
                    </p:cTn>
                  </p:par>
                  <p:par>
                    <p:cTn id="173" fill="hold">
                      <p:stCondLst>
                        <p:cond delay="indefinite"/>
                        <p:cond evt="onBegin" delay="0">
                          <p:tn val="2"/>
                        </p:cond>
                      </p:stCondLst>
                      <p:childTnLst>
                        <p:par>
                          <p:cTn id="174" fill="hold">
                            <p:stCondLst>
                              <p:cond delay="0"/>
                            </p:stCondLst>
                            <p:childTnLst>
                              <p:par>
                                <p:cTn id="175" presetID="10" presetClass="entr" presetSubtype="0" fill="hold" grpId="0" nodeType="afterEffect">
                                  <p:stCondLst>
                                    <p:cond delay="18"/>
                                  </p:stCondLst>
                                  <p:childTnLst>
                                    <p:set>
                                      <p:cBhvr>
                                        <p:cTn id="176" dur="1" fill="hold">
                                          <p:stCondLst>
                                            <p:cond delay="0"/>
                                          </p:stCondLst>
                                        </p:cTn>
                                        <p:tgtEl>
                                          <p:spTgt spid="36"/>
                                        </p:tgtEl>
                                        <p:attrNameLst>
                                          <p:attrName>style.visibility</p:attrName>
                                        </p:attrNameLst>
                                      </p:cBhvr>
                                      <p:to>
                                        <p:strVal val="visible"/>
                                      </p:to>
                                    </p:set>
                                    <p:anim calcmode="lin" valueType="num">
                                      <p:cBhvr additive="base">
                                        <p:cTn id="177" dur="150" fill="hold"/>
                                        <p:tgtEl>
                                          <p:spTgt spid="36"/>
                                        </p:tgtEl>
                                        <p:attrNameLst>
                                          <p:attrName>style.opacity</p:attrName>
                                        </p:attrNameLst>
                                      </p:cBhvr>
                                      <p:tavLst>
                                        <p:tav tm="0">
                                          <p:val>
                                            <p:fltVal val="0"/>
                                          </p:val>
                                        </p:tav>
                                        <p:tav tm="100000">
                                          <p:val>
                                            <p:fltVal val="1"/>
                                          </p:val>
                                        </p:tav>
                                      </p:tavLst>
                                    </p:anim>
                                  </p:childTnLst>
                                </p:cTn>
                              </p:par>
                            </p:childTnLst>
                          </p:cTn>
                        </p:par>
                      </p:childTnLst>
                    </p:cTn>
                  </p:par>
                  <p:par>
                    <p:cTn id="178" fill="hold">
                      <p:stCondLst>
                        <p:cond delay="indefinite"/>
                        <p:cond evt="onBegin" delay="0">
                          <p:tn val="2"/>
                        </p:cond>
                      </p:stCondLst>
                      <p:childTnLst>
                        <p:par>
                          <p:cTn id="179" fill="hold">
                            <p:stCondLst>
                              <p:cond delay="0"/>
                            </p:stCondLst>
                            <p:childTnLst>
                              <p:par>
                                <p:cTn id="180" presetID="10" presetClass="entr" presetSubtype="0" fill="hold" grpId="0" nodeType="afterEffect">
                                  <p:stCondLst>
                                    <p:cond delay="18"/>
                                  </p:stCondLst>
                                  <p:childTnLst>
                                    <p:set>
                                      <p:cBhvr>
                                        <p:cTn id="181" dur="1" fill="hold">
                                          <p:stCondLst>
                                            <p:cond delay="0"/>
                                          </p:stCondLst>
                                        </p:cTn>
                                        <p:tgtEl>
                                          <p:spTgt spid="37"/>
                                        </p:tgtEl>
                                        <p:attrNameLst>
                                          <p:attrName>style.visibility</p:attrName>
                                        </p:attrNameLst>
                                      </p:cBhvr>
                                      <p:to>
                                        <p:strVal val="visible"/>
                                      </p:to>
                                    </p:set>
                                    <p:anim calcmode="lin" valueType="num">
                                      <p:cBhvr additive="base">
                                        <p:cTn id="182" dur="150" fill="hold"/>
                                        <p:tgtEl>
                                          <p:spTgt spid="37"/>
                                        </p:tgtEl>
                                        <p:attrNameLst>
                                          <p:attrName>style.opacity</p:attrName>
                                        </p:attrNameLst>
                                      </p:cBhvr>
                                      <p:tavLst>
                                        <p:tav tm="0">
                                          <p:val>
                                            <p:fltVal val="0"/>
                                          </p:val>
                                        </p:tav>
                                        <p:tav tm="100000">
                                          <p:val>
                                            <p:fltVal val="1"/>
                                          </p:val>
                                        </p:tav>
                                      </p:tavLst>
                                    </p:anim>
                                  </p:childTnLst>
                                </p:cTn>
                              </p:par>
                            </p:childTnLst>
                          </p:cTn>
                        </p:par>
                      </p:childTnLst>
                    </p:cTn>
                  </p:par>
                  <p:par>
                    <p:cTn id="183" fill="hold">
                      <p:stCondLst>
                        <p:cond delay="indefinite"/>
                        <p:cond evt="onBegin" delay="0">
                          <p:tn val="2"/>
                        </p:cond>
                      </p:stCondLst>
                      <p:childTnLst>
                        <p:par>
                          <p:cTn id="184" fill="hold">
                            <p:stCondLst>
                              <p:cond delay="0"/>
                            </p:stCondLst>
                            <p:childTnLst>
                              <p:par>
                                <p:cTn id="185" presetID="10" presetClass="entr" presetSubtype="0" fill="hold" grpId="0" nodeType="afterEffect">
                                  <p:stCondLst>
                                    <p:cond delay="18"/>
                                  </p:stCondLst>
                                  <p:childTnLst>
                                    <p:set>
                                      <p:cBhvr>
                                        <p:cTn id="186" dur="1" fill="hold">
                                          <p:stCondLst>
                                            <p:cond delay="0"/>
                                          </p:stCondLst>
                                        </p:cTn>
                                        <p:tgtEl>
                                          <p:spTgt spid="38"/>
                                        </p:tgtEl>
                                        <p:attrNameLst>
                                          <p:attrName>style.visibility</p:attrName>
                                        </p:attrNameLst>
                                      </p:cBhvr>
                                      <p:to>
                                        <p:strVal val="visible"/>
                                      </p:to>
                                    </p:set>
                                    <p:anim calcmode="lin" valueType="num">
                                      <p:cBhvr additive="base">
                                        <p:cTn id="187" dur="150" fill="hold"/>
                                        <p:tgtEl>
                                          <p:spTgt spid="38"/>
                                        </p:tgtEl>
                                        <p:attrNameLst>
                                          <p:attrName>style.opacity</p:attrName>
                                        </p:attrNameLst>
                                      </p:cBhvr>
                                      <p:tavLst>
                                        <p:tav tm="0">
                                          <p:val>
                                            <p:fltVal val="0"/>
                                          </p:val>
                                        </p:tav>
                                        <p:tav tm="100000">
                                          <p:val>
                                            <p:fltVal val="1"/>
                                          </p:val>
                                        </p:tav>
                                      </p:tavLst>
                                    </p:anim>
                                  </p:childTnLst>
                                </p:cTn>
                              </p:par>
                            </p:childTnLst>
                          </p:cTn>
                        </p:par>
                      </p:childTnLst>
                    </p:cTn>
                  </p:par>
                  <p:par>
                    <p:cTn id="188" fill="hold">
                      <p:stCondLst>
                        <p:cond delay="indefinite"/>
                        <p:cond evt="onBegin" delay="0">
                          <p:tn val="2"/>
                        </p:cond>
                      </p:stCondLst>
                      <p:childTnLst>
                        <p:par>
                          <p:cTn id="189" fill="hold">
                            <p:stCondLst>
                              <p:cond delay="0"/>
                            </p:stCondLst>
                            <p:childTnLst>
                              <p:par>
                                <p:cTn id="190" presetID="10" presetClass="entr" presetSubtype="0" fill="hold" grpId="0" nodeType="afterEffect">
                                  <p:stCondLst>
                                    <p:cond delay="18"/>
                                  </p:stCondLst>
                                  <p:childTnLst>
                                    <p:set>
                                      <p:cBhvr>
                                        <p:cTn id="191" dur="1" fill="hold">
                                          <p:stCondLst>
                                            <p:cond delay="0"/>
                                          </p:stCondLst>
                                        </p:cTn>
                                        <p:tgtEl>
                                          <p:spTgt spid="39"/>
                                        </p:tgtEl>
                                        <p:attrNameLst>
                                          <p:attrName>style.visibility</p:attrName>
                                        </p:attrNameLst>
                                      </p:cBhvr>
                                      <p:to>
                                        <p:strVal val="visible"/>
                                      </p:to>
                                    </p:set>
                                    <p:anim calcmode="lin" valueType="num">
                                      <p:cBhvr additive="base">
                                        <p:cTn id="192" dur="150" fill="hold"/>
                                        <p:tgtEl>
                                          <p:spTgt spid="39"/>
                                        </p:tgtEl>
                                        <p:attrNameLst>
                                          <p:attrName>style.opacity</p:attrName>
                                        </p:attrNameLst>
                                      </p:cBhvr>
                                      <p:tavLst>
                                        <p:tav tm="0">
                                          <p:val>
                                            <p:fltVal val="0"/>
                                          </p:val>
                                        </p:tav>
                                        <p:tav tm="100000">
                                          <p:val>
                                            <p:fltVal val="1"/>
                                          </p:val>
                                        </p:tav>
                                      </p:tavLst>
                                    </p:anim>
                                  </p:childTnLst>
                                </p:cTn>
                              </p:par>
                            </p:childTnLst>
                          </p:cTn>
                        </p:par>
                      </p:childTnLst>
                    </p:cTn>
                  </p:par>
                  <p:par>
                    <p:cTn id="193" fill="hold">
                      <p:stCondLst>
                        <p:cond delay="indefinite"/>
                        <p:cond evt="onBegin" delay="0">
                          <p:tn val="2"/>
                        </p:cond>
                      </p:stCondLst>
                      <p:childTnLst>
                        <p:par>
                          <p:cTn id="194" fill="hold">
                            <p:stCondLst>
                              <p:cond delay="0"/>
                            </p:stCondLst>
                            <p:childTnLst>
                              <p:par>
                                <p:cTn id="195" presetID="10" presetClass="entr" presetSubtype="0" fill="hold" grpId="0" nodeType="afterEffect">
                                  <p:stCondLst>
                                    <p:cond delay="18"/>
                                  </p:stCondLst>
                                  <p:childTnLst>
                                    <p:set>
                                      <p:cBhvr>
                                        <p:cTn id="196" dur="1" fill="hold">
                                          <p:stCondLst>
                                            <p:cond delay="0"/>
                                          </p:stCondLst>
                                        </p:cTn>
                                        <p:tgtEl>
                                          <p:spTgt spid="40"/>
                                        </p:tgtEl>
                                        <p:attrNameLst>
                                          <p:attrName>style.visibility</p:attrName>
                                        </p:attrNameLst>
                                      </p:cBhvr>
                                      <p:to>
                                        <p:strVal val="visible"/>
                                      </p:to>
                                    </p:set>
                                    <p:anim calcmode="lin" valueType="num">
                                      <p:cBhvr additive="base">
                                        <p:cTn id="197" dur="150" fill="hold"/>
                                        <p:tgtEl>
                                          <p:spTgt spid="40"/>
                                        </p:tgtEl>
                                        <p:attrNameLst>
                                          <p:attrName>style.opacity</p:attrName>
                                        </p:attrNameLst>
                                      </p:cBhvr>
                                      <p:tavLst>
                                        <p:tav tm="0">
                                          <p:val>
                                            <p:fltVal val="0"/>
                                          </p:val>
                                        </p:tav>
                                        <p:tav tm="100000">
                                          <p:val>
                                            <p:fltVal val="1"/>
                                          </p:val>
                                        </p:tav>
                                      </p:tavLst>
                                    </p:anim>
                                  </p:childTnLst>
                                </p:cTn>
                              </p:par>
                            </p:childTnLst>
                          </p:cTn>
                        </p:par>
                      </p:childTnLst>
                    </p:cTn>
                  </p:par>
                  <p:par>
                    <p:cTn id="198" fill="hold">
                      <p:stCondLst>
                        <p:cond delay="indefinite"/>
                        <p:cond evt="onBegin" delay="0">
                          <p:tn val="2"/>
                        </p:cond>
                      </p:stCondLst>
                      <p:childTnLst>
                        <p:par>
                          <p:cTn id="199" fill="hold">
                            <p:stCondLst>
                              <p:cond delay="0"/>
                            </p:stCondLst>
                            <p:childTnLst>
                              <p:par>
                                <p:cTn id="200" presetID="10" presetClass="entr" presetSubtype="0" fill="hold" grpId="0" nodeType="afterEffect">
                                  <p:stCondLst>
                                    <p:cond delay="18"/>
                                  </p:stCondLst>
                                  <p:childTnLst>
                                    <p:set>
                                      <p:cBhvr>
                                        <p:cTn id="201" dur="1" fill="hold">
                                          <p:stCondLst>
                                            <p:cond delay="0"/>
                                          </p:stCondLst>
                                        </p:cTn>
                                        <p:tgtEl>
                                          <p:spTgt spid="41"/>
                                        </p:tgtEl>
                                        <p:attrNameLst>
                                          <p:attrName>style.visibility</p:attrName>
                                        </p:attrNameLst>
                                      </p:cBhvr>
                                      <p:to>
                                        <p:strVal val="visible"/>
                                      </p:to>
                                    </p:set>
                                    <p:anim calcmode="lin" valueType="num">
                                      <p:cBhvr additive="base">
                                        <p:cTn id="202" dur="150" fill="hold"/>
                                        <p:tgtEl>
                                          <p:spTgt spid="41"/>
                                        </p:tgtEl>
                                        <p:attrNameLst>
                                          <p:attrName>style.opacity</p:attrName>
                                        </p:attrNameLst>
                                      </p:cBhvr>
                                      <p:tavLst>
                                        <p:tav tm="0">
                                          <p:val>
                                            <p:fltVal val="0"/>
                                          </p:val>
                                        </p:tav>
                                        <p:tav tm="100000">
                                          <p:val>
                                            <p:fltVal val="1"/>
                                          </p:val>
                                        </p:tav>
                                      </p:tavLst>
                                    </p:anim>
                                  </p:childTnLst>
                                </p:cTn>
                              </p:par>
                            </p:childTnLst>
                          </p:cTn>
                        </p:par>
                      </p:childTnLst>
                    </p:cTn>
                  </p:par>
                  <p:par>
                    <p:cTn id="203" fill="hold">
                      <p:stCondLst>
                        <p:cond delay="indefinite"/>
                        <p:cond evt="onBegin" delay="0">
                          <p:tn val="2"/>
                        </p:cond>
                      </p:stCondLst>
                      <p:childTnLst>
                        <p:par>
                          <p:cTn id="204" fill="hold">
                            <p:stCondLst>
                              <p:cond delay="0"/>
                            </p:stCondLst>
                            <p:childTnLst>
                              <p:par>
                                <p:cTn id="205" presetID="10" presetClass="entr" presetSubtype="0" fill="hold" grpId="0" nodeType="afterEffect">
                                  <p:stCondLst>
                                    <p:cond delay="18"/>
                                  </p:stCondLst>
                                  <p:childTnLst>
                                    <p:set>
                                      <p:cBhvr>
                                        <p:cTn id="206" dur="1" fill="hold">
                                          <p:stCondLst>
                                            <p:cond delay="0"/>
                                          </p:stCondLst>
                                        </p:cTn>
                                        <p:tgtEl>
                                          <p:spTgt spid="42"/>
                                        </p:tgtEl>
                                        <p:attrNameLst>
                                          <p:attrName>style.visibility</p:attrName>
                                        </p:attrNameLst>
                                      </p:cBhvr>
                                      <p:to>
                                        <p:strVal val="visible"/>
                                      </p:to>
                                    </p:set>
                                    <p:anim calcmode="lin" valueType="num">
                                      <p:cBhvr additive="base">
                                        <p:cTn id="207" dur="150" fill="hold"/>
                                        <p:tgtEl>
                                          <p:spTgt spid="42"/>
                                        </p:tgtEl>
                                        <p:attrNameLst>
                                          <p:attrName>style.opacity</p:attrName>
                                        </p:attrNameLst>
                                      </p:cBhvr>
                                      <p:tavLst>
                                        <p:tav tm="0">
                                          <p:val>
                                            <p:fltVal val="0"/>
                                          </p:val>
                                        </p:tav>
                                        <p:tav tm="100000">
                                          <p:val>
                                            <p:fltVal val="1"/>
                                          </p:val>
                                        </p:tav>
                                      </p:tavLst>
                                    </p:anim>
                                  </p:childTnLst>
                                </p:cTn>
                              </p:par>
                            </p:childTnLst>
                          </p:cTn>
                        </p:par>
                      </p:childTnLst>
                    </p:cTn>
                  </p:par>
                  <p:par>
                    <p:cTn id="208" fill="hold">
                      <p:stCondLst>
                        <p:cond delay="indefinite"/>
                        <p:cond evt="onBegin" delay="0">
                          <p:tn val="2"/>
                        </p:cond>
                      </p:stCondLst>
                      <p:childTnLst>
                        <p:par>
                          <p:cTn id="209" fill="hold">
                            <p:stCondLst>
                              <p:cond delay="0"/>
                            </p:stCondLst>
                            <p:childTnLst>
                              <p:par>
                                <p:cTn id="210" presetID="10" presetClass="entr" presetSubtype="0" fill="hold" grpId="0" nodeType="afterEffect">
                                  <p:stCondLst>
                                    <p:cond delay="18"/>
                                  </p:stCondLst>
                                  <p:childTnLst>
                                    <p:set>
                                      <p:cBhvr>
                                        <p:cTn id="211" dur="1" fill="hold">
                                          <p:stCondLst>
                                            <p:cond delay="0"/>
                                          </p:stCondLst>
                                        </p:cTn>
                                        <p:tgtEl>
                                          <p:spTgt spid="43"/>
                                        </p:tgtEl>
                                        <p:attrNameLst>
                                          <p:attrName>style.visibility</p:attrName>
                                        </p:attrNameLst>
                                      </p:cBhvr>
                                      <p:to>
                                        <p:strVal val="visible"/>
                                      </p:to>
                                    </p:set>
                                    <p:anim calcmode="lin" valueType="num">
                                      <p:cBhvr additive="base">
                                        <p:cTn id="212" dur="150" fill="hold"/>
                                        <p:tgtEl>
                                          <p:spTgt spid="43"/>
                                        </p:tgtEl>
                                        <p:attrNameLst>
                                          <p:attrName>style.opacity</p:attrName>
                                        </p:attrNameLst>
                                      </p:cBhvr>
                                      <p:tavLst>
                                        <p:tav tm="0">
                                          <p:val>
                                            <p:fltVal val="0"/>
                                          </p:val>
                                        </p:tav>
                                        <p:tav tm="100000">
                                          <p:val>
                                            <p:fltVal val="1"/>
                                          </p:val>
                                        </p:tav>
                                      </p:tavLst>
                                    </p:anim>
                                  </p:childTnLst>
                                </p:cTn>
                              </p:par>
                            </p:childTnLst>
                          </p:cTn>
                        </p:par>
                      </p:childTnLst>
                    </p:cTn>
                  </p:par>
                  <p:par>
                    <p:cTn id="213" fill="hold">
                      <p:stCondLst>
                        <p:cond delay="indefinite"/>
                        <p:cond evt="onBegin" delay="0">
                          <p:tn val="2"/>
                        </p:cond>
                      </p:stCondLst>
                      <p:childTnLst>
                        <p:par>
                          <p:cTn id="214" fill="hold">
                            <p:stCondLst>
                              <p:cond delay="0"/>
                            </p:stCondLst>
                            <p:childTnLst>
                              <p:par>
                                <p:cTn id="215" presetID="10" presetClass="entr" presetSubtype="0" fill="hold" grpId="0" nodeType="afterEffect">
                                  <p:stCondLst>
                                    <p:cond delay="18"/>
                                  </p:stCondLst>
                                  <p:childTnLst>
                                    <p:set>
                                      <p:cBhvr>
                                        <p:cTn id="216" dur="1" fill="hold">
                                          <p:stCondLst>
                                            <p:cond delay="0"/>
                                          </p:stCondLst>
                                        </p:cTn>
                                        <p:tgtEl>
                                          <p:spTgt spid="44"/>
                                        </p:tgtEl>
                                        <p:attrNameLst>
                                          <p:attrName>style.visibility</p:attrName>
                                        </p:attrNameLst>
                                      </p:cBhvr>
                                      <p:to>
                                        <p:strVal val="visible"/>
                                      </p:to>
                                    </p:set>
                                    <p:anim calcmode="lin" valueType="num">
                                      <p:cBhvr additive="base">
                                        <p:cTn id="217" dur="150" fill="hold"/>
                                        <p:tgtEl>
                                          <p:spTgt spid="44"/>
                                        </p:tgtEl>
                                        <p:attrNameLst>
                                          <p:attrName>style.opacity</p:attrName>
                                        </p:attrNameLst>
                                      </p:cBhvr>
                                      <p:tavLst>
                                        <p:tav tm="0">
                                          <p:val>
                                            <p:fltVal val="0"/>
                                          </p:val>
                                        </p:tav>
                                        <p:tav tm="100000">
                                          <p:val>
                                            <p:fltVal val="1"/>
                                          </p:val>
                                        </p:tav>
                                      </p:tavLst>
                                    </p:anim>
                                  </p:childTnLst>
                                </p:cTn>
                              </p:par>
                            </p:childTnLst>
                          </p:cTn>
                        </p:par>
                      </p:childTnLst>
                    </p:cTn>
                  </p:par>
                  <p:par>
                    <p:cTn id="218" fill="hold">
                      <p:stCondLst>
                        <p:cond delay="indefinite"/>
                        <p:cond evt="onBegin" delay="0">
                          <p:tn val="2"/>
                        </p:cond>
                      </p:stCondLst>
                      <p:childTnLst>
                        <p:par>
                          <p:cTn id="219" fill="hold">
                            <p:stCondLst>
                              <p:cond delay="0"/>
                            </p:stCondLst>
                            <p:childTnLst>
                              <p:par>
                                <p:cTn id="220" presetID="10" presetClass="entr" presetSubtype="0" fill="hold" grpId="0" nodeType="afterEffect">
                                  <p:stCondLst>
                                    <p:cond delay="18"/>
                                  </p:stCondLst>
                                  <p:childTnLst>
                                    <p:set>
                                      <p:cBhvr>
                                        <p:cTn id="221" dur="1" fill="hold">
                                          <p:stCondLst>
                                            <p:cond delay="0"/>
                                          </p:stCondLst>
                                        </p:cTn>
                                        <p:tgtEl>
                                          <p:spTgt spid="45"/>
                                        </p:tgtEl>
                                        <p:attrNameLst>
                                          <p:attrName>style.visibility</p:attrName>
                                        </p:attrNameLst>
                                      </p:cBhvr>
                                      <p:to>
                                        <p:strVal val="visible"/>
                                      </p:to>
                                    </p:set>
                                    <p:anim calcmode="lin" valueType="num">
                                      <p:cBhvr additive="base">
                                        <p:cTn id="222" dur="150" fill="hold"/>
                                        <p:tgtEl>
                                          <p:spTgt spid="4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04</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4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Where this leads — careers and tools</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Each field has its own typical tools, job roles and applications. This is what you'd see on a resume.</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CAREERS  &amp;  TOOLS</a:t>
            </a:r>
          </a:p>
        </p:txBody>
      </p:sp>
      <p:sp>
        <p:nvSpPr>
          <p:cNvPr id="6" name="TextBox 5"/>
          <p:cNvSpPr txBox="1"/>
          <p:nvPr/>
        </p:nvSpPr>
        <p:spPr>
          <a:xfrm>
            <a:off x="548640" y="1463040"/>
            <a:ext cx="10515600" cy="1097280"/>
          </a:xfrm>
          <a:prstGeom prst="rect">
            <a:avLst/>
          </a:prstGeom>
          <a:noFill/>
        </p:spPr>
        <p:txBody>
          <a:bodyPr wrap="square" lIns="0" rIns="0" tIns="0" bIns="0" anchor="t">
            <a:spAutoFit/>
          </a:bodyPr>
          <a:lstStyle/>
          <a:p>
            <a:pPr algn="l"/>
            <a:r>
              <a:rPr sz="2800" b="0" i="0">
                <a:solidFill>
                  <a:srgbClr val="FFFFFF"/>
                </a:solidFill>
                <a:latin typeface="Georgia"/>
              </a:rPr>
              <a:t>Four fields, four career tracks — and the tools each one lives on</a:t>
            </a:r>
          </a:p>
        </p:txBody>
      </p:sp>
      <p:sp>
        <p:nvSpPr>
          <p:cNvPr id="7" name="TextBox 6"/>
          <p:cNvSpPr txBox="1"/>
          <p:nvPr/>
        </p:nvSpPr>
        <p:spPr>
          <a:xfrm>
            <a:off x="548640" y="2286000"/>
            <a:ext cx="105156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Most professionals start broad, find what they like, and specialise over two to three years.</a:t>
            </a:r>
          </a:p>
        </p:txBody>
      </p:sp>
      <p:sp>
        <p:nvSpPr>
          <p:cNvPr id="8" name="Rectangle 7"/>
          <p:cNvSpPr/>
          <p:nvPr/>
        </p:nvSpPr>
        <p:spPr>
          <a:xfrm>
            <a:off x="548640" y="3154680"/>
            <a:ext cx="2628900" cy="219456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 y="3429000"/>
            <a:ext cx="457200" cy="45720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429000"/>
            <a:ext cx="457200" cy="457200"/>
          </a:xfrm>
          <a:prstGeom prst="rect">
            <a:avLst/>
          </a:prstGeom>
          <a:noFill/>
        </p:spPr>
        <p:txBody>
          <a:bodyPr wrap="square" lIns="0" rIns="0" tIns="0" bIns="0" anchor="ctr">
            <a:spAutoFit/>
          </a:bodyPr>
          <a:lstStyle/>
          <a:p>
            <a:pPr algn="ctr"/>
            <a:r>
              <a:rPr sz="1800" b="1" i="0">
                <a:solidFill>
                  <a:srgbClr val="C5E063"/>
                </a:solidFill>
                <a:latin typeface="Calibri"/>
              </a:rPr>
              <a:t>AI</a:t>
            </a:r>
          </a:p>
        </p:txBody>
      </p:sp>
      <p:sp>
        <p:nvSpPr>
          <p:cNvPr id="11" name="TextBox 10"/>
          <p:cNvSpPr txBox="1"/>
          <p:nvPr/>
        </p:nvSpPr>
        <p:spPr>
          <a:xfrm>
            <a:off x="1371600" y="3447288"/>
            <a:ext cx="1714500" cy="228600"/>
          </a:xfrm>
          <a:prstGeom prst="rect">
            <a:avLst/>
          </a:prstGeom>
          <a:noFill/>
        </p:spPr>
        <p:txBody>
          <a:bodyPr wrap="square" lIns="0" rIns="0" tIns="0" bIns="0" anchor="t">
            <a:spAutoFit/>
          </a:bodyPr>
          <a:lstStyle/>
          <a:p>
            <a:pPr algn="l"/>
            <a:r>
              <a:rPr sz="900" b="1" i="0" spc="500">
                <a:solidFill>
                  <a:srgbClr val="C5E063"/>
                </a:solidFill>
                <a:latin typeface="Calibri"/>
              </a:rPr>
              <a:t>AI  ENGINEER</a:t>
            </a:r>
          </a:p>
        </p:txBody>
      </p:sp>
      <p:sp>
        <p:nvSpPr>
          <p:cNvPr id="12" name="TextBox 11"/>
          <p:cNvSpPr txBox="1"/>
          <p:nvPr/>
        </p:nvSpPr>
        <p:spPr>
          <a:xfrm>
            <a:off x="1371600" y="3675888"/>
            <a:ext cx="1714500" cy="365760"/>
          </a:xfrm>
          <a:prstGeom prst="rect">
            <a:avLst/>
          </a:prstGeom>
          <a:noFill/>
        </p:spPr>
        <p:txBody>
          <a:bodyPr wrap="square" lIns="0" rIns="0" tIns="0" bIns="0" anchor="t">
            <a:spAutoFit/>
          </a:bodyPr>
          <a:lstStyle/>
          <a:p>
            <a:pPr algn="l"/>
            <a:r>
              <a:rPr sz="1600" b="1" i="0">
                <a:solidFill>
                  <a:srgbClr val="FFFFFF"/>
                </a:solidFill>
                <a:latin typeface="Georgia"/>
              </a:rPr>
              <a:t>Tools you'll see</a:t>
            </a:r>
          </a:p>
        </p:txBody>
      </p:sp>
      <p:sp>
        <p:nvSpPr>
          <p:cNvPr id="13" name="TextBox 12"/>
          <p:cNvSpPr txBox="1"/>
          <p:nvPr/>
        </p:nvSpPr>
        <p:spPr>
          <a:xfrm>
            <a:off x="822960" y="4069080"/>
            <a:ext cx="2080260" cy="114300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Python, rule engines, optimisation libraries, LLM toolchains. Job titles: AI Engineer, Solutions Architect.</a:t>
            </a:r>
          </a:p>
        </p:txBody>
      </p:sp>
      <p:sp>
        <p:nvSpPr>
          <p:cNvPr id="14" name="Rectangle 13"/>
          <p:cNvSpPr/>
          <p:nvPr/>
        </p:nvSpPr>
        <p:spPr>
          <a:xfrm>
            <a:off x="3360420" y="3154680"/>
            <a:ext cx="2628900" cy="219456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34740" y="3429000"/>
            <a:ext cx="457200" cy="45720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34740" y="3429000"/>
            <a:ext cx="457200" cy="457200"/>
          </a:xfrm>
          <a:prstGeom prst="rect">
            <a:avLst/>
          </a:prstGeom>
          <a:noFill/>
        </p:spPr>
        <p:txBody>
          <a:bodyPr wrap="square" lIns="0" rIns="0" tIns="0" bIns="0" anchor="ctr">
            <a:spAutoFit/>
          </a:bodyPr>
          <a:lstStyle/>
          <a:p>
            <a:pPr algn="ctr"/>
            <a:r>
              <a:rPr sz="1800" b="1" i="0">
                <a:solidFill>
                  <a:srgbClr val="C5E063"/>
                </a:solidFill>
                <a:latin typeface="Calibri"/>
              </a:rPr>
              <a:t>ML</a:t>
            </a:r>
          </a:p>
        </p:txBody>
      </p:sp>
      <p:sp>
        <p:nvSpPr>
          <p:cNvPr id="17" name="TextBox 16"/>
          <p:cNvSpPr txBox="1"/>
          <p:nvPr/>
        </p:nvSpPr>
        <p:spPr>
          <a:xfrm>
            <a:off x="4183380" y="3447288"/>
            <a:ext cx="1714500" cy="228600"/>
          </a:xfrm>
          <a:prstGeom prst="rect">
            <a:avLst/>
          </a:prstGeom>
          <a:noFill/>
        </p:spPr>
        <p:txBody>
          <a:bodyPr wrap="square" lIns="0" rIns="0" tIns="0" bIns="0" anchor="t">
            <a:spAutoFit/>
          </a:bodyPr>
          <a:lstStyle/>
          <a:p>
            <a:pPr algn="l"/>
            <a:r>
              <a:rPr sz="900" b="1" i="0" spc="500">
                <a:solidFill>
                  <a:srgbClr val="C5E063"/>
                </a:solidFill>
                <a:latin typeface="Calibri"/>
              </a:rPr>
              <a:t>ML  ENGINEER</a:t>
            </a:r>
          </a:p>
        </p:txBody>
      </p:sp>
      <p:sp>
        <p:nvSpPr>
          <p:cNvPr id="18" name="TextBox 17"/>
          <p:cNvSpPr txBox="1"/>
          <p:nvPr/>
        </p:nvSpPr>
        <p:spPr>
          <a:xfrm>
            <a:off x="4183380" y="3675888"/>
            <a:ext cx="1714500" cy="365760"/>
          </a:xfrm>
          <a:prstGeom prst="rect">
            <a:avLst/>
          </a:prstGeom>
          <a:noFill/>
        </p:spPr>
        <p:txBody>
          <a:bodyPr wrap="square" lIns="0" rIns="0" tIns="0" bIns="0" anchor="t">
            <a:spAutoFit/>
          </a:bodyPr>
          <a:lstStyle/>
          <a:p>
            <a:pPr algn="l"/>
            <a:r>
              <a:rPr sz="1600" b="1" i="0">
                <a:solidFill>
                  <a:srgbClr val="FFFFFF"/>
                </a:solidFill>
                <a:latin typeface="Georgia"/>
              </a:rPr>
              <a:t>Tools you'll see</a:t>
            </a:r>
          </a:p>
        </p:txBody>
      </p:sp>
      <p:sp>
        <p:nvSpPr>
          <p:cNvPr id="19" name="TextBox 18"/>
          <p:cNvSpPr txBox="1"/>
          <p:nvPr/>
        </p:nvSpPr>
        <p:spPr>
          <a:xfrm>
            <a:off x="3634740" y="4069080"/>
            <a:ext cx="2080260" cy="114300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scikit-learn, XGBoost, LightGBM, MLflow, AWS SageMaker. Job titles: ML Engineer, Applied Scientist.</a:t>
            </a:r>
          </a:p>
        </p:txBody>
      </p:sp>
      <p:sp>
        <p:nvSpPr>
          <p:cNvPr id="20" name="Rectangle 19"/>
          <p:cNvSpPr/>
          <p:nvPr/>
        </p:nvSpPr>
        <p:spPr>
          <a:xfrm>
            <a:off x="6172200" y="3154680"/>
            <a:ext cx="2628900" cy="219456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3429000"/>
            <a:ext cx="457200" cy="45720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3429000"/>
            <a:ext cx="457200" cy="457200"/>
          </a:xfrm>
          <a:prstGeom prst="rect">
            <a:avLst/>
          </a:prstGeom>
          <a:noFill/>
        </p:spPr>
        <p:txBody>
          <a:bodyPr wrap="square" lIns="0" rIns="0" tIns="0" bIns="0" anchor="ctr">
            <a:spAutoFit/>
          </a:bodyPr>
          <a:lstStyle/>
          <a:p>
            <a:pPr algn="ctr"/>
            <a:r>
              <a:rPr sz="1800" b="1" i="0">
                <a:solidFill>
                  <a:srgbClr val="C5E063"/>
                </a:solidFill>
                <a:latin typeface="Calibri"/>
              </a:rPr>
              <a:t>DL</a:t>
            </a:r>
          </a:p>
        </p:txBody>
      </p:sp>
      <p:sp>
        <p:nvSpPr>
          <p:cNvPr id="23" name="TextBox 22"/>
          <p:cNvSpPr txBox="1"/>
          <p:nvPr/>
        </p:nvSpPr>
        <p:spPr>
          <a:xfrm>
            <a:off x="6995160" y="3447288"/>
            <a:ext cx="1714500" cy="228600"/>
          </a:xfrm>
          <a:prstGeom prst="rect">
            <a:avLst/>
          </a:prstGeom>
          <a:noFill/>
        </p:spPr>
        <p:txBody>
          <a:bodyPr wrap="square" lIns="0" rIns="0" tIns="0" bIns="0" anchor="t">
            <a:spAutoFit/>
          </a:bodyPr>
          <a:lstStyle/>
          <a:p>
            <a:pPr algn="l"/>
            <a:r>
              <a:rPr sz="900" b="1" i="0" spc="500">
                <a:solidFill>
                  <a:srgbClr val="C5E063"/>
                </a:solidFill>
                <a:latin typeface="Calibri"/>
              </a:rPr>
              <a:t>DL  ENGINEER</a:t>
            </a:r>
          </a:p>
        </p:txBody>
      </p:sp>
      <p:sp>
        <p:nvSpPr>
          <p:cNvPr id="24" name="TextBox 23"/>
          <p:cNvSpPr txBox="1"/>
          <p:nvPr/>
        </p:nvSpPr>
        <p:spPr>
          <a:xfrm>
            <a:off x="6995160" y="3675888"/>
            <a:ext cx="1714500" cy="365760"/>
          </a:xfrm>
          <a:prstGeom prst="rect">
            <a:avLst/>
          </a:prstGeom>
          <a:noFill/>
        </p:spPr>
        <p:txBody>
          <a:bodyPr wrap="square" lIns="0" rIns="0" tIns="0" bIns="0" anchor="t">
            <a:spAutoFit/>
          </a:bodyPr>
          <a:lstStyle/>
          <a:p>
            <a:pPr algn="l"/>
            <a:r>
              <a:rPr sz="1600" b="1" i="0">
                <a:solidFill>
                  <a:srgbClr val="FFFFFF"/>
                </a:solidFill>
                <a:latin typeface="Georgia"/>
              </a:rPr>
              <a:t>Tools you'll see</a:t>
            </a:r>
          </a:p>
        </p:txBody>
      </p:sp>
      <p:sp>
        <p:nvSpPr>
          <p:cNvPr id="25" name="TextBox 24"/>
          <p:cNvSpPr txBox="1"/>
          <p:nvPr/>
        </p:nvSpPr>
        <p:spPr>
          <a:xfrm>
            <a:off x="6446520" y="4069080"/>
            <a:ext cx="2080260" cy="114300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PyTorch, TensorFlow, GPUs, HuggingFace. Job titles: Research Scientist, Computer Vision Engineer.</a:t>
            </a:r>
          </a:p>
        </p:txBody>
      </p:sp>
      <p:sp>
        <p:nvSpPr>
          <p:cNvPr id="26" name="Rectangle 25"/>
          <p:cNvSpPr/>
          <p:nvPr/>
        </p:nvSpPr>
        <p:spPr>
          <a:xfrm>
            <a:off x="8983980" y="3154680"/>
            <a:ext cx="2628900" cy="219456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258300" y="3429000"/>
            <a:ext cx="457200" cy="45720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58300" y="3429000"/>
            <a:ext cx="457200" cy="457200"/>
          </a:xfrm>
          <a:prstGeom prst="rect">
            <a:avLst/>
          </a:prstGeom>
          <a:noFill/>
        </p:spPr>
        <p:txBody>
          <a:bodyPr wrap="square" lIns="0" rIns="0" tIns="0" bIns="0" anchor="ctr">
            <a:spAutoFit/>
          </a:bodyPr>
          <a:lstStyle/>
          <a:p>
            <a:pPr algn="ctr"/>
            <a:r>
              <a:rPr sz="1800" b="1" i="0">
                <a:solidFill>
                  <a:srgbClr val="C5E063"/>
                </a:solidFill>
                <a:latin typeface="Calibri"/>
              </a:rPr>
              <a:t>DS</a:t>
            </a:r>
          </a:p>
        </p:txBody>
      </p:sp>
      <p:sp>
        <p:nvSpPr>
          <p:cNvPr id="29" name="TextBox 28"/>
          <p:cNvSpPr txBox="1"/>
          <p:nvPr/>
        </p:nvSpPr>
        <p:spPr>
          <a:xfrm>
            <a:off x="9806940" y="3447288"/>
            <a:ext cx="1714500" cy="228600"/>
          </a:xfrm>
          <a:prstGeom prst="rect">
            <a:avLst/>
          </a:prstGeom>
          <a:noFill/>
        </p:spPr>
        <p:txBody>
          <a:bodyPr wrap="square" lIns="0" rIns="0" tIns="0" bIns="0" anchor="t">
            <a:spAutoFit/>
          </a:bodyPr>
          <a:lstStyle/>
          <a:p>
            <a:pPr algn="l"/>
            <a:r>
              <a:rPr sz="900" b="1" i="0" spc="500">
                <a:solidFill>
                  <a:srgbClr val="C5E063"/>
                </a:solidFill>
                <a:latin typeface="Calibri"/>
              </a:rPr>
              <a:t>DATA  SCIENTIST</a:t>
            </a:r>
          </a:p>
        </p:txBody>
      </p:sp>
      <p:sp>
        <p:nvSpPr>
          <p:cNvPr id="30" name="TextBox 29"/>
          <p:cNvSpPr txBox="1"/>
          <p:nvPr/>
        </p:nvSpPr>
        <p:spPr>
          <a:xfrm>
            <a:off x="9806940" y="3675888"/>
            <a:ext cx="1714500" cy="365760"/>
          </a:xfrm>
          <a:prstGeom prst="rect">
            <a:avLst/>
          </a:prstGeom>
          <a:noFill/>
        </p:spPr>
        <p:txBody>
          <a:bodyPr wrap="square" lIns="0" rIns="0" tIns="0" bIns="0" anchor="t">
            <a:spAutoFit/>
          </a:bodyPr>
          <a:lstStyle/>
          <a:p>
            <a:pPr algn="l"/>
            <a:r>
              <a:rPr sz="1600" b="1" i="0">
                <a:solidFill>
                  <a:srgbClr val="FFFFFF"/>
                </a:solidFill>
                <a:latin typeface="Georgia"/>
              </a:rPr>
              <a:t>Tools you'll see</a:t>
            </a:r>
          </a:p>
        </p:txBody>
      </p:sp>
      <p:sp>
        <p:nvSpPr>
          <p:cNvPr id="31" name="TextBox 30"/>
          <p:cNvSpPr txBox="1"/>
          <p:nvPr/>
        </p:nvSpPr>
        <p:spPr>
          <a:xfrm>
            <a:off x="9258300" y="4069080"/>
            <a:ext cx="2080260" cy="114300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SQL, pandas, Power BI / Tableau, statistics. Job titles: Data Scientist, Analytics Manager.</a:t>
            </a:r>
          </a:p>
        </p:txBody>
      </p:sp>
      <p:sp>
        <p:nvSpPr>
          <p:cNvPr id="32" name="TextBox 3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 OF 7</a:t>
            </a:r>
          </a:p>
        </p:txBody>
      </p:sp>
      <p:sp>
        <p:nvSpPr>
          <p:cNvPr id="33" name="TextBox 3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CAREERS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par>
                    <p:cTn id="133" fill="hold">
                      <p:stCondLst>
                        <p:cond delay="indefinite"/>
                        <p:cond evt="onBegin" delay="0">
                          <p:tn val="2"/>
                        </p:cond>
                      </p:stCondLst>
                      <p:childTnLst>
                        <p:par>
                          <p:cTn id="134" fill="hold">
                            <p:stCondLst>
                              <p:cond delay="0"/>
                            </p:stCondLst>
                            <p:childTnLst>
                              <p:par>
                                <p:cTn id="135" presetID="10" presetClass="entr" presetSubtype="0" fill="hold" grpId="0" nodeType="afterEffect">
                                  <p:stCondLst>
                                    <p:cond delay="18"/>
                                  </p:stCondLst>
                                  <p:childTnLst>
                                    <p:set>
                                      <p:cBhvr>
                                        <p:cTn id="136" dur="1" fill="hold">
                                          <p:stCondLst>
                                            <p:cond delay="0"/>
                                          </p:stCondLst>
                                        </p:cTn>
                                        <p:tgtEl>
                                          <p:spTgt spid="28"/>
                                        </p:tgtEl>
                                        <p:attrNameLst>
                                          <p:attrName>style.visibility</p:attrName>
                                        </p:attrNameLst>
                                      </p:cBhvr>
                                      <p:to>
                                        <p:strVal val="visible"/>
                                      </p:to>
                                    </p:set>
                                    <p:anim calcmode="lin" valueType="num">
                                      <p:cBhvr additive="base">
                                        <p:cTn id="137" dur="150" fill="hold"/>
                                        <p:tgtEl>
                                          <p:spTgt spid="28"/>
                                        </p:tgtEl>
                                        <p:attrNameLst>
                                          <p:attrName>style.opacity</p:attrName>
                                        </p:attrNameLst>
                                      </p:cBhvr>
                                      <p:tavLst>
                                        <p:tav tm="0">
                                          <p:val>
                                            <p:fltVal val="0"/>
                                          </p:val>
                                        </p:tav>
                                        <p:tav tm="100000">
                                          <p:val>
                                            <p:fltVal val="1"/>
                                          </p:val>
                                        </p:tav>
                                      </p:tavLst>
                                    </p:anim>
                                  </p:childTnLst>
                                </p:cTn>
                              </p:par>
                            </p:childTnLst>
                          </p:cTn>
                        </p:par>
                      </p:childTnLst>
                    </p:cTn>
                  </p:par>
                  <p:par>
                    <p:cTn id="138" fill="hold">
                      <p:stCondLst>
                        <p:cond delay="indefinite"/>
                        <p:cond evt="onBegin" delay="0">
                          <p:tn val="2"/>
                        </p:cond>
                      </p:stCondLst>
                      <p:childTnLst>
                        <p:par>
                          <p:cTn id="139" fill="hold">
                            <p:stCondLst>
                              <p:cond delay="0"/>
                            </p:stCondLst>
                            <p:childTnLst>
                              <p:par>
                                <p:cTn id="140" presetID="10" presetClass="entr" presetSubtype="0" fill="hold" grpId="0" nodeType="afterEffect">
                                  <p:stCondLst>
                                    <p:cond delay="18"/>
                                  </p:stCondLst>
                                  <p:childTnLst>
                                    <p:set>
                                      <p:cBhvr>
                                        <p:cTn id="141" dur="1" fill="hold">
                                          <p:stCondLst>
                                            <p:cond delay="0"/>
                                          </p:stCondLst>
                                        </p:cTn>
                                        <p:tgtEl>
                                          <p:spTgt spid="29"/>
                                        </p:tgtEl>
                                        <p:attrNameLst>
                                          <p:attrName>style.visibility</p:attrName>
                                        </p:attrNameLst>
                                      </p:cBhvr>
                                      <p:to>
                                        <p:strVal val="visible"/>
                                      </p:to>
                                    </p:set>
                                    <p:anim calcmode="lin" valueType="num">
                                      <p:cBhvr additive="base">
                                        <p:cTn id="142" dur="150" fill="hold"/>
                                        <p:tgtEl>
                                          <p:spTgt spid="29"/>
                                        </p:tgtEl>
                                        <p:attrNameLst>
                                          <p:attrName>style.opacity</p:attrName>
                                        </p:attrNameLst>
                                      </p:cBhvr>
                                      <p:tavLst>
                                        <p:tav tm="0">
                                          <p:val>
                                            <p:fltVal val="0"/>
                                          </p:val>
                                        </p:tav>
                                        <p:tav tm="100000">
                                          <p:val>
                                            <p:fltVal val="1"/>
                                          </p:val>
                                        </p:tav>
                                      </p:tavLst>
                                    </p:anim>
                                  </p:childTnLst>
                                </p:cTn>
                              </p:par>
                            </p:childTnLst>
                          </p:cTn>
                        </p:par>
                      </p:childTnLst>
                    </p:cTn>
                  </p:par>
                  <p:par>
                    <p:cTn id="143" fill="hold">
                      <p:stCondLst>
                        <p:cond delay="indefinite"/>
                        <p:cond evt="onBegin" delay="0">
                          <p:tn val="2"/>
                        </p:cond>
                      </p:stCondLst>
                      <p:childTnLst>
                        <p:par>
                          <p:cTn id="144" fill="hold">
                            <p:stCondLst>
                              <p:cond delay="0"/>
                            </p:stCondLst>
                            <p:childTnLst>
                              <p:par>
                                <p:cTn id="145" presetID="10" presetClass="entr" presetSubtype="0" fill="hold" grpId="0" nodeType="afterEffect">
                                  <p:stCondLst>
                                    <p:cond delay="18"/>
                                  </p:stCondLst>
                                  <p:childTnLst>
                                    <p:set>
                                      <p:cBhvr>
                                        <p:cTn id="146" dur="1" fill="hold">
                                          <p:stCondLst>
                                            <p:cond delay="0"/>
                                          </p:stCondLst>
                                        </p:cTn>
                                        <p:tgtEl>
                                          <p:spTgt spid="30"/>
                                        </p:tgtEl>
                                        <p:attrNameLst>
                                          <p:attrName>style.visibility</p:attrName>
                                        </p:attrNameLst>
                                      </p:cBhvr>
                                      <p:to>
                                        <p:strVal val="visible"/>
                                      </p:to>
                                    </p:set>
                                    <p:anim calcmode="lin" valueType="num">
                                      <p:cBhvr additive="base">
                                        <p:cTn id="147" dur="150" fill="hold"/>
                                        <p:tgtEl>
                                          <p:spTgt spid="30"/>
                                        </p:tgtEl>
                                        <p:attrNameLst>
                                          <p:attrName>style.opacity</p:attrName>
                                        </p:attrNameLst>
                                      </p:cBhvr>
                                      <p:tavLst>
                                        <p:tav tm="0">
                                          <p:val>
                                            <p:fltVal val="0"/>
                                          </p:val>
                                        </p:tav>
                                        <p:tav tm="100000">
                                          <p:val>
                                            <p:fltVal val="1"/>
                                          </p:val>
                                        </p:tav>
                                      </p:tavLst>
                                    </p:anim>
                                  </p:childTnLst>
                                </p:cTn>
                              </p:par>
                            </p:childTnLst>
                          </p:cTn>
                        </p:par>
                      </p:childTnLst>
                    </p:cTn>
                  </p:par>
                  <p:par>
                    <p:cTn id="148" fill="hold">
                      <p:stCondLst>
                        <p:cond delay="indefinite"/>
                        <p:cond evt="onBegin" delay="0">
                          <p:tn val="2"/>
                        </p:cond>
                      </p:stCondLst>
                      <p:childTnLst>
                        <p:par>
                          <p:cTn id="149" fill="hold">
                            <p:stCondLst>
                              <p:cond delay="0"/>
                            </p:stCondLst>
                            <p:childTnLst>
                              <p:par>
                                <p:cTn id="150" presetID="10" presetClass="entr" presetSubtype="0" fill="hold" grpId="0" nodeType="afterEffect">
                                  <p:stCondLst>
                                    <p:cond delay="18"/>
                                  </p:stCondLst>
                                  <p:childTnLst>
                                    <p:set>
                                      <p:cBhvr>
                                        <p:cTn id="151" dur="1" fill="hold">
                                          <p:stCondLst>
                                            <p:cond delay="0"/>
                                          </p:stCondLst>
                                        </p:cTn>
                                        <p:tgtEl>
                                          <p:spTgt spid="31"/>
                                        </p:tgtEl>
                                        <p:attrNameLst>
                                          <p:attrName>style.visibility</p:attrName>
                                        </p:attrNameLst>
                                      </p:cBhvr>
                                      <p:to>
                                        <p:strVal val="visible"/>
                                      </p:to>
                                    </p:set>
                                    <p:anim calcmode="lin" valueType="num">
                                      <p:cBhvr additive="base">
                                        <p:cTn id="152" dur="150" fill="hold"/>
                                        <p:tgtEl>
                                          <p:spTgt spid="31"/>
                                        </p:tgtEl>
                                        <p:attrNameLst>
                                          <p:attrName>style.opacity</p:attrName>
                                        </p:attrNameLst>
                                      </p:cBhvr>
                                      <p:tavLst>
                                        <p:tav tm="0">
                                          <p:val>
                                            <p:fltVal val="0"/>
                                          </p:val>
                                        </p:tav>
                                        <p:tav tm="100000">
                                          <p:val>
                                            <p:fltVal val="1"/>
                                          </p:val>
                                        </p:tav>
                                      </p:tavLst>
                                    </p:anim>
                                  </p:childTnLst>
                                </p:cTn>
                              </p:par>
                            </p:childTnLst>
                          </p:cTn>
                        </p:par>
                      </p:childTnLst>
                    </p:cTn>
                  </p:par>
                  <p:par>
                    <p:cTn id="153" fill="hold">
                      <p:stCondLst>
                        <p:cond delay="indefinite"/>
                        <p:cond evt="onBegin" delay="0">
                          <p:tn val="2"/>
                        </p:cond>
                      </p:stCondLst>
                      <p:childTnLst>
                        <p:par>
                          <p:cTn id="154" fill="hold">
                            <p:stCondLst>
                              <p:cond delay="0"/>
                            </p:stCondLst>
                            <p:childTnLst>
                              <p:par>
                                <p:cTn id="155" presetID="10" presetClass="entr" presetSubtype="0" fill="hold" grpId="0" nodeType="afterEffect">
                                  <p:stCondLst>
                                    <p:cond delay="18"/>
                                  </p:stCondLst>
                                  <p:childTnLst>
                                    <p:set>
                                      <p:cBhvr>
                                        <p:cTn id="156" dur="1" fill="hold">
                                          <p:stCondLst>
                                            <p:cond delay="0"/>
                                          </p:stCondLst>
                                        </p:cTn>
                                        <p:tgtEl>
                                          <p:spTgt spid="32"/>
                                        </p:tgtEl>
                                        <p:attrNameLst>
                                          <p:attrName>style.visibility</p:attrName>
                                        </p:attrNameLst>
                                      </p:cBhvr>
                                      <p:to>
                                        <p:strVal val="visible"/>
                                      </p:to>
                                    </p:set>
                                    <p:anim calcmode="lin" valueType="num">
                                      <p:cBhvr additive="base">
                                        <p:cTn id="157" dur="150" fill="hold"/>
                                        <p:tgtEl>
                                          <p:spTgt spid="32"/>
                                        </p:tgtEl>
                                        <p:attrNameLst>
                                          <p:attrName>style.opacity</p:attrName>
                                        </p:attrNameLst>
                                      </p:cBhvr>
                                      <p:tavLst>
                                        <p:tav tm="0">
                                          <p:val>
                                            <p:fltVal val="0"/>
                                          </p:val>
                                        </p:tav>
                                        <p:tav tm="100000">
                                          <p:val>
                                            <p:fltVal val="1"/>
                                          </p:val>
                                        </p:tav>
                                      </p:tavLst>
                                    </p:anim>
                                  </p:childTnLst>
                                </p:cTn>
                              </p:par>
                            </p:childTnLst>
                          </p:cTn>
                        </p:par>
                      </p:childTnLst>
                    </p:cTn>
                  </p:par>
                  <p:par>
                    <p:cTn id="158" fill="hold">
                      <p:stCondLst>
                        <p:cond delay="indefinite"/>
                        <p:cond evt="onBegin" delay="0">
                          <p:tn val="2"/>
                        </p:cond>
                      </p:stCondLst>
                      <p:childTnLst>
                        <p:par>
                          <p:cTn id="159" fill="hold">
                            <p:stCondLst>
                              <p:cond delay="0"/>
                            </p:stCondLst>
                            <p:childTnLst>
                              <p:par>
                                <p:cTn id="160" presetID="10" presetClass="entr" presetSubtype="0" fill="hold" grpId="0" nodeType="afterEffect">
                                  <p:stCondLst>
                                    <p:cond delay="18"/>
                                  </p:stCondLst>
                                  <p:childTnLst>
                                    <p:set>
                                      <p:cBhvr>
                                        <p:cTn id="161" dur="1" fill="hold">
                                          <p:stCondLst>
                                            <p:cond delay="0"/>
                                          </p:stCondLst>
                                        </p:cTn>
                                        <p:tgtEl>
                                          <p:spTgt spid="33"/>
                                        </p:tgtEl>
                                        <p:attrNameLst>
                                          <p:attrName>style.visibility</p:attrName>
                                        </p:attrNameLst>
                                      </p:cBhvr>
                                      <p:to>
                                        <p:strVal val="visible"/>
                                      </p:to>
                                    </p:set>
                                    <p:anim calcmode="lin" valueType="num">
                                      <p:cBhvr additive="base">
                                        <p:cTn id="162" dur="150" fill="hold"/>
                                        <p:tgtEl>
                                          <p:spTgt spid="3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   /   3 min</a:t>
            </a:r>
          </a:p>
        </p:txBody>
      </p:sp>
      <p:sp>
        <p:nvSpPr>
          <p:cNvPr id="5" name="Rounded Rectangle 4"/>
          <p:cNvSpPr/>
          <p:nvPr/>
        </p:nvSpPr>
        <p:spPr>
          <a:xfrm>
            <a:off x="548640" y="1143000"/>
            <a:ext cx="2377440" cy="365760"/>
          </a:xfrm>
          <a:prstGeom prst="round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43000"/>
            <a:ext cx="2377440" cy="365760"/>
          </a:xfrm>
          <a:prstGeom prst="rect">
            <a:avLst/>
          </a:prstGeom>
          <a:noFill/>
        </p:spPr>
        <p:txBody>
          <a:bodyPr wrap="square" lIns="0" rIns="0" tIns="0" bIns="0" anchor="ctr">
            <a:spAutoFit/>
          </a:bodyPr>
          <a:lstStyle/>
          <a:p>
            <a:pPr algn="ctr"/>
            <a:r>
              <a:rPr sz="1000" b="1" i="0" spc="500">
                <a:solidFill>
                  <a:srgbClr val="2C5244"/>
                </a:solidFill>
                <a:latin typeface="Calibri"/>
              </a:rPr>
              <a:t>✦  THINK · PAIR · SHARE</a:t>
            </a:r>
          </a:p>
        </p:txBody>
      </p:sp>
      <p:sp>
        <p:nvSpPr>
          <p:cNvPr id="7" name="TextBox 6"/>
          <p:cNvSpPr txBox="1"/>
          <p:nvPr/>
        </p:nvSpPr>
        <p:spPr>
          <a:xfrm>
            <a:off x="3063240" y="1207008"/>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ACTIVITY</a:t>
            </a:r>
          </a:p>
        </p:txBody>
      </p:sp>
      <p:sp>
        <p:nvSpPr>
          <p:cNvPr id="8" name="TextBox 7"/>
          <p:cNvSpPr txBox="1"/>
          <p:nvPr/>
        </p:nvSpPr>
        <p:spPr>
          <a:xfrm>
            <a:off x="548640" y="1691640"/>
            <a:ext cx="10972800" cy="1097280"/>
          </a:xfrm>
          <a:prstGeom prst="rect">
            <a:avLst/>
          </a:prstGeom>
          <a:noFill/>
        </p:spPr>
        <p:txBody>
          <a:bodyPr wrap="square" lIns="0" rIns="0" tIns="0" bIns="0" anchor="t">
            <a:spAutoFit/>
          </a:bodyPr>
          <a:lstStyle/>
          <a:p>
            <a:pPr algn="l"/>
            <a:r>
              <a:rPr sz="2600" b="0" i="0">
                <a:solidFill>
                  <a:srgbClr val="FFFFFF"/>
                </a:solidFill>
                <a:latin typeface="Georgia"/>
              </a:rPr>
              <a:t>Sort five everyday systems into the right field</a:t>
            </a:r>
          </a:p>
        </p:txBody>
      </p:sp>
      <p:sp>
        <p:nvSpPr>
          <p:cNvPr id="9" name="Rectangle 8"/>
          <p:cNvSpPr/>
          <p:nvPr/>
        </p:nvSpPr>
        <p:spPr>
          <a:xfrm>
            <a:off x="548640" y="2743200"/>
            <a:ext cx="7040880" cy="33832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926080"/>
            <a:ext cx="6492240" cy="274320"/>
          </a:xfrm>
          <a:prstGeom prst="rect">
            <a:avLst/>
          </a:prstGeom>
          <a:noFill/>
        </p:spPr>
        <p:txBody>
          <a:bodyPr wrap="square" lIns="0" rIns="0" tIns="0" bIns="0" anchor="t">
            <a:spAutoFit/>
          </a:bodyPr>
          <a:lstStyle/>
          <a:p>
            <a:pPr algn="l"/>
            <a:r>
              <a:rPr sz="1000" b="1" i="0" spc="500">
                <a:solidFill>
                  <a:srgbClr val="C5E063"/>
                </a:solidFill>
                <a:latin typeface="Calibri"/>
              </a:rPr>
              <a:t>PROMPT</a:t>
            </a:r>
          </a:p>
        </p:txBody>
      </p:sp>
      <p:sp>
        <p:nvSpPr>
          <p:cNvPr id="11" name="TextBox 10"/>
          <p:cNvSpPr txBox="1"/>
          <p:nvPr/>
        </p:nvSpPr>
        <p:spPr>
          <a:xfrm>
            <a:off x="822960" y="3246120"/>
            <a:ext cx="6492240" cy="2743200"/>
          </a:xfrm>
          <a:prstGeom prst="rect">
            <a:avLst/>
          </a:prstGeom>
          <a:noFill/>
        </p:spPr>
        <p:txBody>
          <a:bodyPr wrap="square" lIns="0" rIns="0" tIns="0" bIns="0" anchor="t">
            <a:spAutoFit/>
          </a:bodyPr>
          <a:lstStyle/>
          <a:p>
            <a:pPr algn="l">
              <a:lnSpc>
                <a:spcPct val="145000"/>
              </a:lnSpc>
            </a:pPr>
            <a:r>
              <a:rPr sz="1400" b="0" i="1">
                <a:solidFill>
                  <a:srgbClr val="FFFFFF"/>
                </a:solidFill>
                <a:latin typeface="Calibri"/>
              </a:rPr>
              <a:t>For each of these, decide which field actually does the work the user sees — AI, ML, DL or Data Science. One word each. Justify in one line.
1.  Spotify recommending you a new song
2.  A traffic light that switches every 60 seconds, no sensors
3.  Your phone unlocking with face recognition
4.  A monthly sales report built in Excel and SQL
5.  A Hindi-to-English translation app on your phone</a:t>
            </a:r>
          </a:p>
        </p:txBody>
      </p:sp>
      <p:sp>
        <p:nvSpPr>
          <p:cNvPr id="12" name="Rectangle 11"/>
          <p:cNvSpPr/>
          <p:nvPr/>
        </p:nvSpPr>
        <p:spPr>
          <a:xfrm>
            <a:off x="7818120" y="2743200"/>
            <a:ext cx="3794760" cy="3383280"/>
          </a:xfrm>
          <a:prstGeom prst="rect">
            <a:avLst/>
          </a:prstGeom>
          <a:solidFill>
            <a:srgbClr val="224036"/>
          </a:solidFill>
          <a:ln w="6350">
            <a:solidFill>
              <a:srgbClr val="DCEC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2926080"/>
            <a:ext cx="3291840" cy="274320"/>
          </a:xfrm>
          <a:prstGeom prst="rect">
            <a:avLst/>
          </a:prstGeom>
          <a:noFill/>
        </p:spPr>
        <p:txBody>
          <a:bodyPr wrap="square" lIns="0" rIns="0" tIns="0" bIns="0" anchor="t">
            <a:spAutoFit/>
          </a:bodyPr>
          <a:lstStyle/>
          <a:p>
            <a:pPr algn="l"/>
            <a:r>
              <a:rPr sz="1000" b="1" i="0" spc="500">
                <a:solidFill>
                  <a:srgbClr val="C5E063"/>
                </a:solidFill>
                <a:latin typeface="Calibri"/>
              </a:rPr>
              <a:t>HOW TO RUN IT</a:t>
            </a:r>
          </a:p>
        </p:txBody>
      </p:sp>
      <p:sp>
        <p:nvSpPr>
          <p:cNvPr id="14" name="Oval 13"/>
          <p:cNvSpPr/>
          <p:nvPr/>
        </p:nvSpPr>
        <p:spPr>
          <a:xfrm>
            <a:off x="8092440" y="324612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3246120"/>
            <a:ext cx="292608" cy="292608"/>
          </a:xfrm>
          <a:prstGeom prst="rect">
            <a:avLst/>
          </a:prstGeom>
          <a:noFill/>
        </p:spPr>
        <p:txBody>
          <a:bodyPr wrap="square" lIns="0" rIns="0" tIns="0" bIns="0" anchor="ctr">
            <a:spAutoFit/>
          </a:bodyPr>
          <a:lstStyle/>
          <a:p>
            <a:pPr algn="ctr"/>
            <a:r>
              <a:rPr sz="1100" b="1" i="0">
                <a:solidFill>
                  <a:srgbClr val="2C5244"/>
                </a:solidFill>
                <a:latin typeface="Georgia"/>
              </a:rPr>
              <a:t>1</a:t>
            </a:r>
          </a:p>
        </p:txBody>
      </p:sp>
      <p:sp>
        <p:nvSpPr>
          <p:cNvPr id="16" name="TextBox 15"/>
          <p:cNvSpPr txBox="1"/>
          <p:nvPr/>
        </p:nvSpPr>
        <p:spPr>
          <a:xfrm>
            <a:off x="8503920" y="324612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60s solo — sort each system in your notebook.</a:t>
            </a:r>
          </a:p>
        </p:txBody>
      </p:sp>
      <p:sp>
        <p:nvSpPr>
          <p:cNvPr id="17" name="Oval 16"/>
          <p:cNvSpPr/>
          <p:nvPr/>
        </p:nvSpPr>
        <p:spPr>
          <a:xfrm>
            <a:off x="8092440" y="388620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3886200"/>
            <a:ext cx="292608" cy="292608"/>
          </a:xfrm>
          <a:prstGeom prst="rect">
            <a:avLst/>
          </a:prstGeom>
          <a:noFill/>
        </p:spPr>
        <p:txBody>
          <a:bodyPr wrap="square" lIns="0" rIns="0" tIns="0" bIns="0" anchor="ctr">
            <a:spAutoFit/>
          </a:bodyPr>
          <a:lstStyle/>
          <a:p>
            <a:pPr algn="ctr"/>
            <a:r>
              <a:rPr sz="1100" b="1" i="0">
                <a:solidFill>
                  <a:srgbClr val="2C5244"/>
                </a:solidFill>
                <a:latin typeface="Georgia"/>
              </a:rPr>
              <a:t>2</a:t>
            </a:r>
          </a:p>
        </p:txBody>
      </p:sp>
      <p:sp>
        <p:nvSpPr>
          <p:cNvPr id="19" name="TextBox 18"/>
          <p:cNvSpPr txBox="1"/>
          <p:nvPr/>
        </p:nvSpPr>
        <p:spPr>
          <a:xfrm>
            <a:off x="8503920" y="388620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60s with a partner — defend any borderline calls.</a:t>
            </a:r>
          </a:p>
        </p:txBody>
      </p:sp>
      <p:sp>
        <p:nvSpPr>
          <p:cNvPr id="20" name="Oval 19"/>
          <p:cNvSpPr/>
          <p:nvPr/>
        </p:nvSpPr>
        <p:spPr>
          <a:xfrm>
            <a:off x="8092440" y="452627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2440" y="4526279"/>
            <a:ext cx="292608" cy="292608"/>
          </a:xfrm>
          <a:prstGeom prst="rect">
            <a:avLst/>
          </a:prstGeom>
          <a:noFill/>
        </p:spPr>
        <p:txBody>
          <a:bodyPr wrap="square" lIns="0" rIns="0" tIns="0" bIns="0" anchor="ctr">
            <a:spAutoFit/>
          </a:bodyPr>
          <a:lstStyle/>
          <a:p>
            <a:pPr algn="ctr"/>
            <a:r>
              <a:rPr sz="1100" b="1" i="0">
                <a:solidFill>
                  <a:srgbClr val="2C5244"/>
                </a:solidFill>
                <a:latin typeface="Georgia"/>
              </a:rPr>
              <a:t>3</a:t>
            </a:r>
          </a:p>
        </p:txBody>
      </p:sp>
      <p:sp>
        <p:nvSpPr>
          <p:cNvPr id="22" name="TextBox 21"/>
          <p:cNvSpPr txBox="1"/>
          <p:nvPr/>
        </p:nvSpPr>
        <p:spPr>
          <a:xfrm>
            <a:off x="8503920" y="452627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60s share-out — instructor calls on a team.</a:t>
            </a:r>
          </a:p>
        </p:txBody>
      </p:sp>
      <p:sp>
        <p:nvSpPr>
          <p:cNvPr id="23" name="Oval 22"/>
          <p:cNvSpPr/>
          <p:nvPr/>
        </p:nvSpPr>
        <p:spPr>
          <a:xfrm>
            <a:off x="8092440" y="516635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92440" y="5166359"/>
            <a:ext cx="292608" cy="292608"/>
          </a:xfrm>
          <a:prstGeom prst="rect">
            <a:avLst/>
          </a:prstGeom>
          <a:noFill/>
        </p:spPr>
        <p:txBody>
          <a:bodyPr wrap="square" lIns="0" rIns="0" tIns="0" bIns="0" anchor="ctr">
            <a:spAutoFit/>
          </a:bodyPr>
          <a:lstStyle/>
          <a:p>
            <a:pPr algn="ctr"/>
            <a:r>
              <a:rPr sz="1100" b="1" i="0">
                <a:solidFill>
                  <a:srgbClr val="2C5244"/>
                </a:solidFill>
                <a:latin typeface="Georgia"/>
              </a:rPr>
              <a:t>4</a:t>
            </a:r>
          </a:p>
        </p:txBody>
      </p:sp>
      <p:sp>
        <p:nvSpPr>
          <p:cNvPr id="25" name="TextBox 24"/>
          <p:cNvSpPr txBox="1"/>
          <p:nvPr/>
        </p:nvSpPr>
        <p:spPr>
          <a:xfrm>
            <a:off x="8503920" y="516635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30s reveal — instructor reveals the canonical sort.</a:t>
            </a:r>
          </a:p>
        </p:txBody>
      </p:sp>
      <p:sp>
        <p:nvSpPr>
          <p:cNvPr id="26" name="TextBox 2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 OF 7</a:t>
            </a:r>
          </a:p>
        </p:txBody>
      </p:sp>
      <p:sp>
        <p:nvSpPr>
          <p:cNvPr id="27" name="TextBox 2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ACTIVITY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1  OF  2</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A bank wants to flag suspicious credit-card transactions in real time, with every decision auditable. Which approach fits best?</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Rule-based AI with a hand-tuned threshold list</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Classical ML with gradient-boosted trees</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A large language model with chain-of-thought prompting</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Pure Data Science — a Power BI dashboard</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1  OF  2</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A bank wants to flag suspicious credit-card transactions in real time, with every decision auditable. Which approach fits best?</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Classical ML with gradient-boosted trees</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Latency under 100 ms and per-decision auditability are the two design constraints. GBM serves both — fast inference and feature importance per call. Rule-based AI can't keep up with novel fraud; LLMs fail latency and audit; a dashboard doesn't make per-transaction calls.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2  OF  2</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A monthly sales dashboard built with SQL queries and statistics — no model training, no neural net — is best classified as:</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Artificial Intelligence</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Machine Learning</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Deep Learning</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Data Science</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2  OF  2</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A monthly sales dashboard built with SQL queries and statistics — no model training, no neural net — is best classified as:</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D</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Data Science</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No model is being trained, so it's not ML or DL. It isn't a decision-making machine in the AI sense either. It is decision support built on data — the textbook definition of a Data Science deliverable.</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   /   1 min</a:t>
            </a:r>
          </a:p>
        </p:txBody>
      </p:sp>
      <p:sp>
        <p:nvSpPr>
          <p:cNvPr id="5" name="TextBox 4"/>
          <p:cNvSpPr txBox="1"/>
          <p:nvPr/>
        </p:nvSpPr>
        <p:spPr>
          <a:xfrm>
            <a:off x="548640" y="114300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END OF LESSON 1</a:t>
            </a:r>
          </a:p>
        </p:txBody>
      </p:sp>
      <p:sp>
        <p:nvSpPr>
          <p:cNvPr id="6" name="TextBox 5"/>
          <p:cNvSpPr txBox="1"/>
          <p:nvPr/>
        </p:nvSpPr>
        <p:spPr>
          <a:xfrm>
            <a:off x="548640" y="1417320"/>
            <a:ext cx="10515600" cy="1097280"/>
          </a:xfrm>
          <a:prstGeom prst="rect">
            <a:avLst/>
          </a:prstGeom>
          <a:noFill/>
        </p:spPr>
        <p:txBody>
          <a:bodyPr wrap="square" lIns="0" rIns="0" tIns="0" bIns="0" anchor="t">
            <a:spAutoFit/>
          </a:bodyPr>
          <a:lstStyle/>
          <a:p>
            <a:pPr algn="l"/>
            <a:r>
              <a:rPr sz="3400" b="0" i="0">
                <a:solidFill>
                  <a:srgbClr val="FFFFFF"/>
                </a:solidFill>
                <a:latin typeface="Georgia"/>
              </a:rPr>
              <a:t>What you can now do</a:t>
            </a:r>
          </a:p>
        </p:txBody>
      </p:sp>
      <p:sp>
        <p:nvSpPr>
          <p:cNvPr id="7" name="TextBox 6"/>
          <p:cNvSpPr txBox="1"/>
          <p:nvPr/>
        </p:nvSpPr>
        <p:spPr>
          <a:xfrm>
            <a:off x="548640" y="2240280"/>
            <a:ext cx="105156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Each one of these is now part of your working vocabulary.</a:t>
            </a:r>
          </a:p>
        </p:txBody>
      </p:sp>
      <p:sp>
        <p:nvSpPr>
          <p:cNvPr id="8" name="Oval 7"/>
          <p:cNvSpPr/>
          <p:nvPr/>
        </p:nvSpPr>
        <p:spPr>
          <a:xfrm>
            <a:off x="640080" y="301752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017520"/>
            <a:ext cx="365760" cy="36576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10" name="TextBox 9"/>
          <p:cNvSpPr txBox="1"/>
          <p:nvPr/>
        </p:nvSpPr>
        <p:spPr>
          <a:xfrm>
            <a:off x="1188720" y="301752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Define AI, ML, DL and Data Science in your own words.</a:t>
            </a:r>
          </a:p>
        </p:txBody>
      </p:sp>
      <p:sp>
        <p:nvSpPr>
          <p:cNvPr id="11" name="Oval 10"/>
          <p:cNvSpPr/>
          <p:nvPr/>
        </p:nvSpPr>
        <p:spPr>
          <a:xfrm>
            <a:off x="640080" y="352044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520440"/>
            <a:ext cx="365760" cy="36576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3" name="TextBox 12"/>
          <p:cNvSpPr txBox="1"/>
          <p:nvPr/>
        </p:nvSpPr>
        <p:spPr>
          <a:xfrm>
            <a:off x="1188720" y="352044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Draw the nested diagram and place Data Science correctly.</a:t>
            </a:r>
          </a:p>
        </p:txBody>
      </p:sp>
      <p:sp>
        <p:nvSpPr>
          <p:cNvPr id="14" name="Oval 13"/>
          <p:cNvSpPr/>
          <p:nvPr/>
        </p:nvSpPr>
        <p:spPr>
          <a:xfrm>
            <a:off x="640080" y="402336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023360"/>
            <a:ext cx="365760" cy="36576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6" name="TextBox 15"/>
          <p:cNvSpPr txBox="1"/>
          <p:nvPr/>
        </p:nvSpPr>
        <p:spPr>
          <a:xfrm>
            <a:off x="1188720" y="402336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Pick the right field for any everyday system in under 10 seconds.</a:t>
            </a:r>
          </a:p>
        </p:txBody>
      </p:sp>
      <p:sp>
        <p:nvSpPr>
          <p:cNvPr id="17" name="Oval 16"/>
          <p:cNvSpPr/>
          <p:nvPr/>
        </p:nvSpPr>
        <p:spPr>
          <a:xfrm>
            <a:off x="640080" y="452628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526280"/>
            <a:ext cx="365760" cy="36576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9" name="TextBox 18"/>
          <p:cNvSpPr txBox="1"/>
          <p:nvPr/>
        </p:nvSpPr>
        <p:spPr>
          <a:xfrm>
            <a:off x="1188720" y="452628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Spot three common mix-ups and correct them in conversation.</a:t>
            </a:r>
          </a:p>
        </p:txBody>
      </p:sp>
      <p:sp>
        <p:nvSpPr>
          <p:cNvPr id="20" name="Oval 19"/>
          <p:cNvSpPr/>
          <p:nvPr/>
        </p:nvSpPr>
        <p:spPr>
          <a:xfrm>
            <a:off x="640080" y="502920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029200"/>
            <a:ext cx="365760" cy="36576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2" name="TextBox 21"/>
          <p:cNvSpPr txBox="1"/>
          <p:nvPr/>
        </p:nvSpPr>
        <p:spPr>
          <a:xfrm>
            <a:off x="1188720" y="502920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Map a real Indian system to the field driving its user-visible result.</a:t>
            </a:r>
          </a:p>
        </p:txBody>
      </p:sp>
      <p:sp>
        <p:nvSpPr>
          <p:cNvPr id="23" name="Rounded Rectangle 22"/>
          <p:cNvSpPr/>
          <p:nvPr/>
        </p:nvSpPr>
        <p:spPr>
          <a:xfrm>
            <a:off x="548640" y="5669280"/>
            <a:ext cx="11064240" cy="502920"/>
          </a:xfrm>
          <a:prstGeom prst="roundRect">
            <a:avLst/>
          </a:prstGeom>
          <a:solidFill>
            <a:srgbClr val="224036"/>
          </a:solidFill>
          <a:ln w="9525">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669280"/>
            <a:ext cx="10607040" cy="502920"/>
          </a:xfrm>
          <a:prstGeom prst="rect">
            <a:avLst/>
          </a:prstGeom>
          <a:noFill/>
        </p:spPr>
        <p:txBody>
          <a:bodyPr wrap="square" lIns="0" rIns="0" tIns="0" bIns="0" anchor="ctr">
            <a:spAutoFit/>
          </a:bodyPr>
          <a:lstStyle/>
          <a:p>
            <a:pPr algn="l"/>
            <a:r>
              <a:rPr sz="1100" b="1" i="0" spc="400">
                <a:solidFill>
                  <a:srgbClr val="C5E063"/>
                </a:solidFill>
                <a:latin typeface="Calibri"/>
              </a:rPr>
              <a:t>NEXT  →   LESSON 2 — Industry Applications of AI</a:t>
            </a:r>
          </a:p>
        </p:txBody>
      </p:sp>
      <p:sp>
        <p:nvSpPr>
          <p:cNvPr id="25" name="TextBox 2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 OF 7</a:t>
            </a:r>
          </a:p>
        </p:txBody>
      </p:sp>
      <p:sp>
        <p:nvSpPr>
          <p:cNvPr id="26" name="TextBox 2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WRAP</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