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pic>
        <p:nvPicPr>
          <p:cNvPr id="2" name="Picture 1" descr="cover_hero.jpeg"/>
          <p:cNvPicPr>
            <a:picLocks noChangeAspect="1"/>
          </p:cNvPicPr>
          <p:nvPr/>
        </p:nvPicPr>
        <p:blipFill>
          <a:blip r:embed="rId2"/>
          <a:stretch>
            <a:fillRect/>
          </a:stretch>
        </p:blipFill>
        <p:spPr>
          <a:xfrm>
            <a:off x="6400800" y="0"/>
            <a:ext cx="5790895" cy="6858000"/>
          </a:xfrm>
          <a:prstGeom prst="rect">
            <a:avLst/>
          </a:prstGeom>
        </p:spPr>
      </p:pic>
      <p:sp>
        <p:nvSpPr>
          <p:cNvPr id="3" name="Rectangle 2"/>
          <p:cNvSpPr/>
          <p:nvPr/>
        </p:nvSpPr>
        <p:spPr>
          <a:xfrm>
            <a:off x="6400800" y="0"/>
            <a:ext cx="5790895" cy="6858000"/>
          </a:xfrm>
          <a:prstGeom prst="rect">
            <a:avLst/>
          </a:prstGeom>
          <a:solidFill>
            <a:srgbClr val="1A352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0" y="502920"/>
            <a:ext cx="1188720" cy="1188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0" y="502920"/>
            <a:ext cx="1188720" cy="1188720"/>
          </a:xfrm>
          <a:prstGeom prst="rect">
            <a:avLst/>
          </a:prstGeom>
          <a:noFill/>
        </p:spPr>
        <p:txBody>
          <a:bodyPr wrap="square" lIns="0" rIns="0" tIns="0" bIns="0" anchor="ctr">
            <a:spAutoFit/>
          </a:bodyPr>
          <a:lstStyle/>
          <a:p>
            <a:pPr algn="ctr"/>
            <a:r>
              <a:rPr sz="4400" b="1" i="0">
                <a:solidFill>
                  <a:srgbClr val="2C5244"/>
                </a:solidFill>
                <a:latin typeface="Georgia"/>
              </a:rPr>
              <a:t>L3</a:t>
            </a:r>
          </a:p>
        </p:txBody>
      </p:sp>
      <p:sp>
        <p:nvSpPr>
          <p:cNvPr id="6" name="TextBox 5"/>
          <p:cNvSpPr txBox="1"/>
          <p:nvPr/>
        </p:nvSpPr>
        <p:spPr>
          <a:xfrm>
            <a:off x="6858000" y="2286000"/>
            <a:ext cx="4572000" cy="274320"/>
          </a:xfrm>
          <a:prstGeom prst="rect">
            <a:avLst/>
          </a:prstGeom>
          <a:noFill/>
        </p:spPr>
        <p:txBody>
          <a:bodyPr wrap="square" lIns="0" rIns="0" tIns="0" bIns="0" anchor="t">
            <a:spAutoFit/>
          </a:bodyPr>
          <a:lstStyle/>
          <a:p>
            <a:pPr algn="l"/>
            <a:r>
              <a:rPr sz="1000" b="1" i="0" spc="500">
                <a:solidFill>
                  <a:srgbClr val="C5E063"/>
                </a:solidFill>
                <a:latin typeface="Calibri"/>
              </a:rPr>
              <a:t>WHAT'S INSIDE</a:t>
            </a:r>
          </a:p>
        </p:txBody>
      </p:sp>
      <p:sp>
        <p:nvSpPr>
          <p:cNvPr id="7" name="TextBox 6"/>
          <p:cNvSpPr txBox="1"/>
          <p:nvPr/>
        </p:nvSpPr>
        <p:spPr>
          <a:xfrm>
            <a:off x="6858000" y="2743200"/>
            <a:ext cx="365760" cy="457200"/>
          </a:xfrm>
          <a:prstGeom prst="rect">
            <a:avLst/>
          </a:prstGeom>
          <a:noFill/>
        </p:spPr>
        <p:txBody>
          <a:bodyPr wrap="square" lIns="0" rIns="0" tIns="0" bIns="0" anchor="ctr">
            <a:spAutoFit/>
          </a:bodyPr>
          <a:lstStyle/>
          <a:p>
            <a:pPr algn="l"/>
            <a:r>
              <a:rPr sz="2000" b="1" i="0">
                <a:solidFill>
                  <a:srgbClr val="C5E063"/>
                </a:solidFill>
                <a:latin typeface="Georgia"/>
              </a:rPr>
              <a:t>01</a:t>
            </a:r>
          </a:p>
        </p:txBody>
      </p:sp>
      <p:sp>
        <p:nvSpPr>
          <p:cNvPr id="8" name="TextBox 7"/>
          <p:cNvSpPr txBox="1"/>
          <p:nvPr/>
        </p:nvSpPr>
        <p:spPr>
          <a:xfrm>
            <a:off x="7360920" y="2743200"/>
            <a:ext cx="4663440" cy="502920"/>
          </a:xfrm>
          <a:prstGeom prst="rect">
            <a:avLst/>
          </a:prstGeom>
          <a:noFill/>
        </p:spPr>
        <p:txBody>
          <a:bodyPr wrap="square" lIns="0" rIns="0" tIns="0" bIns="0" anchor="ctr">
            <a:spAutoFit/>
          </a:bodyPr>
          <a:lstStyle/>
          <a:p>
            <a:pPr algn="l"/>
            <a:r>
              <a:rPr sz="1200" b="0" i="0">
                <a:solidFill>
                  <a:srgbClr val="FFFFFF"/>
                </a:solidFill>
                <a:latin typeface="Calibri"/>
              </a:rPr>
              <a:t>Hour-by-hour scope</a:t>
            </a:r>
          </a:p>
        </p:txBody>
      </p:sp>
      <p:sp>
        <p:nvSpPr>
          <p:cNvPr id="9" name="TextBox 8"/>
          <p:cNvSpPr txBox="1"/>
          <p:nvPr/>
        </p:nvSpPr>
        <p:spPr>
          <a:xfrm>
            <a:off x="6858000" y="3337560"/>
            <a:ext cx="365760" cy="457200"/>
          </a:xfrm>
          <a:prstGeom prst="rect">
            <a:avLst/>
          </a:prstGeom>
          <a:noFill/>
        </p:spPr>
        <p:txBody>
          <a:bodyPr wrap="square" lIns="0" rIns="0" tIns="0" bIns="0" anchor="ctr">
            <a:spAutoFit/>
          </a:bodyPr>
          <a:lstStyle/>
          <a:p>
            <a:pPr algn="l"/>
            <a:r>
              <a:rPr sz="2000" b="1" i="0">
                <a:solidFill>
                  <a:srgbClr val="C5E063"/>
                </a:solidFill>
                <a:latin typeface="Georgia"/>
              </a:rPr>
              <a:t>02</a:t>
            </a:r>
          </a:p>
        </p:txBody>
      </p:sp>
      <p:sp>
        <p:nvSpPr>
          <p:cNvPr id="10" name="TextBox 9"/>
          <p:cNvSpPr txBox="1"/>
          <p:nvPr/>
        </p:nvSpPr>
        <p:spPr>
          <a:xfrm>
            <a:off x="7360920" y="3337560"/>
            <a:ext cx="4663440" cy="502920"/>
          </a:xfrm>
          <a:prstGeom prst="rect">
            <a:avLst/>
          </a:prstGeom>
          <a:noFill/>
        </p:spPr>
        <p:txBody>
          <a:bodyPr wrap="square" lIns="0" rIns="0" tIns="0" bIns="0" anchor="ctr">
            <a:spAutoFit/>
          </a:bodyPr>
          <a:lstStyle/>
          <a:p>
            <a:pPr algn="l"/>
            <a:r>
              <a:rPr sz="1200" b="0" i="0">
                <a:solidFill>
                  <a:srgbClr val="FFFFFF"/>
                </a:solidFill>
                <a:latin typeface="Calibri"/>
              </a:rPr>
              <a:t>Minimum stack</a:t>
            </a:r>
          </a:p>
        </p:txBody>
      </p:sp>
      <p:sp>
        <p:nvSpPr>
          <p:cNvPr id="11" name="TextBox 10"/>
          <p:cNvSpPr txBox="1"/>
          <p:nvPr/>
        </p:nvSpPr>
        <p:spPr>
          <a:xfrm>
            <a:off x="6858000" y="3931920"/>
            <a:ext cx="365760" cy="457200"/>
          </a:xfrm>
          <a:prstGeom prst="rect">
            <a:avLst/>
          </a:prstGeom>
          <a:noFill/>
        </p:spPr>
        <p:txBody>
          <a:bodyPr wrap="square" lIns="0" rIns="0" tIns="0" bIns="0" anchor="ctr">
            <a:spAutoFit/>
          </a:bodyPr>
          <a:lstStyle/>
          <a:p>
            <a:pPr algn="l"/>
            <a:r>
              <a:rPr sz="2000" b="1" i="0">
                <a:solidFill>
                  <a:srgbClr val="C5E063"/>
                </a:solidFill>
                <a:latin typeface="Georgia"/>
              </a:rPr>
              <a:t>03</a:t>
            </a:r>
          </a:p>
        </p:txBody>
      </p:sp>
      <p:sp>
        <p:nvSpPr>
          <p:cNvPr id="12" name="TextBox 11"/>
          <p:cNvSpPr txBox="1"/>
          <p:nvPr/>
        </p:nvSpPr>
        <p:spPr>
          <a:xfrm>
            <a:off x="7360920" y="3931920"/>
            <a:ext cx="4663440" cy="502920"/>
          </a:xfrm>
          <a:prstGeom prst="rect">
            <a:avLst/>
          </a:prstGeom>
          <a:noFill/>
        </p:spPr>
        <p:txBody>
          <a:bodyPr wrap="square" lIns="0" rIns="0" tIns="0" bIns="0" anchor="ctr">
            <a:spAutoFit/>
          </a:bodyPr>
          <a:lstStyle/>
          <a:p>
            <a:pPr algn="l"/>
            <a:r>
              <a:rPr sz="1200" b="0" i="0">
                <a:solidFill>
                  <a:srgbClr val="FFFFFF"/>
                </a:solidFill>
                <a:latin typeface="Calibri"/>
              </a:rPr>
              <a:t>Telemetry from hour 1</a:t>
            </a:r>
          </a:p>
        </p:txBody>
      </p:sp>
      <p:sp>
        <p:nvSpPr>
          <p:cNvPr id="13" name="TextBox 12"/>
          <p:cNvSpPr txBox="1"/>
          <p:nvPr/>
        </p:nvSpPr>
        <p:spPr>
          <a:xfrm>
            <a:off x="6858000" y="4526280"/>
            <a:ext cx="365760" cy="457200"/>
          </a:xfrm>
          <a:prstGeom prst="rect">
            <a:avLst/>
          </a:prstGeom>
          <a:noFill/>
        </p:spPr>
        <p:txBody>
          <a:bodyPr wrap="square" lIns="0" rIns="0" tIns="0" bIns="0" anchor="ctr">
            <a:spAutoFit/>
          </a:bodyPr>
          <a:lstStyle/>
          <a:p>
            <a:pPr algn="l"/>
            <a:r>
              <a:rPr sz="2000" b="1" i="0">
                <a:solidFill>
                  <a:srgbClr val="C5E063"/>
                </a:solidFill>
                <a:latin typeface="Georgia"/>
              </a:rPr>
              <a:t>04</a:t>
            </a:r>
          </a:p>
        </p:txBody>
      </p:sp>
      <p:sp>
        <p:nvSpPr>
          <p:cNvPr id="14" name="TextBox 13"/>
          <p:cNvSpPr txBox="1"/>
          <p:nvPr/>
        </p:nvSpPr>
        <p:spPr>
          <a:xfrm>
            <a:off x="7360920" y="4526280"/>
            <a:ext cx="4663440" cy="502920"/>
          </a:xfrm>
          <a:prstGeom prst="rect">
            <a:avLst/>
          </a:prstGeom>
          <a:noFill/>
        </p:spPr>
        <p:txBody>
          <a:bodyPr wrap="square" lIns="0" rIns="0" tIns="0" bIns="0" anchor="ctr">
            <a:spAutoFit/>
          </a:bodyPr>
          <a:lstStyle/>
          <a:p>
            <a:pPr algn="l"/>
            <a:r>
              <a:rPr sz="1200" b="0" i="0">
                <a:solidFill>
                  <a:srgbClr val="FFFFFF"/>
                </a:solidFill>
                <a:latin typeface="Calibri"/>
              </a:rPr>
              <a:t>2-minute demo script</a:t>
            </a:r>
          </a:p>
        </p:txBody>
      </p:sp>
      <p:sp>
        <p:nvSpPr>
          <p:cNvPr id="15" name="TextBox 14"/>
          <p:cNvSpPr txBox="1"/>
          <p:nvPr/>
        </p:nvSpPr>
        <p:spPr>
          <a:xfrm>
            <a:off x="6858000" y="5120640"/>
            <a:ext cx="365760" cy="457200"/>
          </a:xfrm>
          <a:prstGeom prst="rect">
            <a:avLst/>
          </a:prstGeom>
          <a:noFill/>
        </p:spPr>
        <p:txBody>
          <a:bodyPr wrap="square" lIns="0" rIns="0" tIns="0" bIns="0" anchor="ctr">
            <a:spAutoFit/>
          </a:bodyPr>
          <a:lstStyle/>
          <a:p>
            <a:pPr algn="l"/>
            <a:r>
              <a:rPr sz="2000" b="1" i="0">
                <a:solidFill>
                  <a:srgbClr val="C5E063"/>
                </a:solidFill>
                <a:latin typeface="Georgia"/>
              </a:rPr>
              <a:t>05</a:t>
            </a:r>
          </a:p>
        </p:txBody>
      </p:sp>
      <p:sp>
        <p:nvSpPr>
          <p:cNvPr id="16" name="TextBox 15"/>
          <p:cNvSpPr txBox="1"/>
          <p:nvPr/>
        </p:nvSpPr>
        <p:spPr>
          <a:xfrm>
            <a:off x="7360920" y="5120640"/>
            <a:ext cx="4663440" cy="502920"/>
          </a:xfrm>
          <a:prstGeom prst="rect">
            <a:avLst/>
          </a:prstGeom>
          <a:noFill/>
        </p:spPr>
        <p:txBody>
          <a:bodyPr wrap="square" lIns="0" rIns="0" tIns="0" bIns="0" anchor="ctr">
            <a:spAutoFit/>
          </a:bodyPr>
          <a:lstStyle/>
          <a:p>
            <a:pPr algn="l"/>
            <a:r>
              <a:rPr sz="1200" b="0" i="0">
                <a:solidFill>
                  <a:srgbClr val="FFFFFF"/>
                </a:solidFill>
                <a:latin typeface="Calibri"/>
              </a:rPr>
              <a:t>Anti-patterns</a:t>
            </a:r>
          </a:p>
        </p:txBody>
      </p:sp>
      <p:sp>
        <p:nvSpPr>
          <p:cNvPr id="17" name="Rectangle 16"/>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29184"/>
            <a:ext cx="7315200" cy="274320"/>
          </a:xfrm>
          <a:prstGeom prst="rect">
            <a:avLst/>
          </a:prstGeom>
          <a:noFill/>
        </p:spPr>
        <p:txBody>
          <a:bodyPr wrap="square" lIns="0" rIns="0" tIns="0" bIns="0" anchor="t">
            <a:spAutoFit/>
          </a:bodyPr>
          <a:lstStyle/>
          <a:p>
            <a:pPr algn="l"/>
            <a:r>
              <a:rPr sz="1100" b="1" i="0" spc="600">
                <a:solidFill>
                  <a:srgbClr val="C5E063"/>
                </a:solidFill>
                <a:latin typeface="Calibri"/>
              </a:rPr>
              <a:t>AI  LEARNING  HUB</a:t>
            </a:r>
          </a:p>
        </p:txBody>
      </p:sp>
      <p:sp>
        <p:nvSpPr>
          <p:cNvPr id="19" name="TextBox 18"/>
          <p:cNvSpPr txBox="1"/>
          <p:nvPr/>
        </p:nvSpPr>
        <p:spPr>
          <a:xfrm>
            <a:off x="548640" y="676656"/>
            <a:ext cx="7315200" cy="274320"/>
          </a:xfrm>
          <a:prstGeom prst="rect">
            <a:avLst/>
          </a:prstGeom>
          <a:noFill/>
        </p:spPr>
        <p:txBody>
          <a:bodyPr wrap="square" lIns="0" rIns="0" tIns="0" bIns="0" anchor="t">
            <a:spAutoFit/>
          </a:bodyPr>
          <a:lstStyle/>
          <a:p>
            <a:pPr algn="l"/>
            <a:r>
              <a:rPr sz="1000" b="1" i="0" spc="400">
                <a:solidFill>
                  <a:srgbClr val="FFFFFF"/>
                </a:solidFill>
                <a:latin typeface="Calibri"/>
              </a:rPr>
              <a:t>WEEK 12   /   LESSON 3   /   50 MINUTES</a:t>
            </a:r>
          </a:p>
        </p:txBody>
      </p:sp>
      <p:sp>
        <p:nvSpPr>
          <p:cNvPr id="20" name="TextBox 19"/>
          <p:cNvSpPr txBox="1"/>
          <p:nvPr/>
        </p:nvSpPr>
        <p:spPr>
          <a:xfrm>
            <a:off x="548640" y="1508760"/>
            <a:ext cx="6400800" cy="2468880"/>
          </a:xfrm>
          <a:prstGeom prst="rect">
            <a:avLst/>
          </a:prstGeom>
          <a:noFill/>
        </p:spPr>
        <p:txBody>
          <a:bodyPr wrap="square" lIns="0" rIns="0" tIns="0" bIns="0" anchor="t">
            <a:spAutoFit/>
          </a:bodyPr>
          <a:lstStyle/>
          <a:p>
            <a:pPr algn="l">
              <a:lnSpc>
                <a:spcPct val="105000"/>
              </a:lnSpc>
            </a:pPr>
            <a:r>
              <a:rPr sz="4000" b="1" i="0">
                <a:solidFill>
                  <a:srgbClr val="FFFFFF"/>
                </a:solidFill>
                <a:latin typeface="Georgia"/>
              </a:rPr>
              <a:t>Scope · stack · telemetry · demo</a:t>
            </a:r>
          </a:p>
        </p:txBody>
      </p:sp>
      <p:sp>
        <p:nvSpPr>
          <p:cNvPr id="21" name="TextBox 20"/>
          <p:cNvSpPr txBox="1"/>
          <p:nvPr/>
        </p:nvSpPr>
        <p:spPr>
          <a:xfrm>
            <a:off x="548640" y="4160520"/>
            <a:ext cx="6400800" cy="1554480"/>
          </a:xfrm>
          <a:prstGeom prst="rect">
            <a:avLst/>
          </a:prstGeom>
          <a:noFill/>
        </p:spPr>
        <p:txBody>
          <a:bodyPr wrap="square" lIns="0" rIns="0" tIns="0" bIns="0" anchor="t">
            <a:spAutoFit/>
          </a:bodyPr>
          <a:lstStyle/>
          <a:p>
            <a:pPr algn="l">
              <a:lnSpc>
                <a:spcPct val="140000"/>
              </a:lnSpc>
            </a:pPr>
            <a:r>
              <a:rPr sz="1200" b="0" i="0">
                <a:solidFill>
                  <a:srgbClr val="E5E7EB"/>
                </a:solidFill>
                <a:latin typeface="Calibri"/>
              </a:rPr>
              <a:t>48 hours forces scope discipline — only what proves the core claim survives. This is the exact cadence of YC interview builds, Product Hunt launches, and the capstone you'll ship this weekend.
What would you cut if you had to ship tomorrow?</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COVER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WHY  THIS  LESSON  MATTERS</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3400" b="0" i="0">
                <a:solidFill>
                  <a:srgbClr val="0F1F1A"/>
                </a:solidFill>
                <a:latin typeface="Georgia"/>
              </a:rPr>
              <a:t>Infinite time breeds feature-bloat.</a:t>
            </a:r>
          </a:p>
        </p:txBody>
      </p:sp>
      <p:sp>
        <p:nvSpPr>
          <p:cNvPr id="7" name="Rectangle 6"/>
          <p:cNvSpPr/>
          <p:nvPr/>
        </p:nvSpPr>
        <p:spPr>
          <a:xfrm>
            <a:off x="548640" y="2697480"/>
            <a:ext cx="457200" cy="45720"/>
          </a:xfrm>
          <a:prstGeom prst="rect">
            <a:avLst/>
          </a:prstGeom>
          <a:solidFill>
            <a:srgbClr val="A6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WHY</a:t>
            </a:r>
          </a:p>
        </p:txBody>
      </p:sp>
      <p:sp>
        <p:nvSpPr>
          <p:cNvPr id="10" name="TextBox 9"/>
          <p:cNvSpPr txBox="1"/>
          <p:nvPr/>
        </p:nvSpPr>
        <p:spPr>
          <a:xfrm>
            <a:off x="77724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Real</a:t>
            </a:r>
          </a:p>
        </p:txBody>
      </p:sp>
      <p:sp>
        <p:nvSpPr>
          <p:cNvPr id="11" name="TextBox 10"/>
          <p:cNvSpPr txBox="1"/>
          <p:nvPr/>
        </p:nvSpPr>
        <p:spPr>
          <a:xfrm>
            <a:off x="77724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2" name="Rectangle 11"/>
          <p:cNvSpPr/>
          <p:nvPr/>
        </p:nvSpPr>
        <p:spPr>
          <a:xfrm>
            <a:off x="337185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45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SCALE</a:t>
            </a:r>
          </a:p>
        </p:txBody>
      </p:sp>
      <p:sp>
        <p:nvSpPr>
          <p:cNvPr id="14" name="TextBox 13"/>
          <p:cNvSpPr txBox="1"/>
          <p:nvPr/>
        </p:nvSpPr>
        <p:spPr>
          <a:xfrm>
            <a:off x="360045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Today</a:t>
            </a:r>
          </a:p>
        </p:txBody>
      </p:sp>
      <p:sp>
        <p:nvSpPr>
          <p:cNvPr id="15" name="TextBox 14"/>
          <p:cNvSpPr txBox="1"/>
          <p:nvPr/>
        </p:nvSpPr>
        <p:spPr>
          <a:xfrm>
            <a:off x="360045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6" name="Rectangle 15"/>
          <p:cNvSpPr/>
          <p:nvPr/>
        </p:nvSpPr>
        <p:spPr>
          <a:xfrm>
            <a:off x="619506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6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SPEED</a:t>
            </a:r>
          </a:p>
        </p:txBody>
      </p:sp>
      <p:sp>
        <p:nvSpPr>
          <p:cNvPr id="18" name="TextBox 17"/>
          <p:cNvSpPr txBox="1"/>
          <p:nvPr/>
        </p:nvSpPr>
        <p:spPr>
          <a:xfrm>
            <a:off x="642366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Now</a:t>
            </a:r>
          </a:p>
        </p:txBody>
      </p:sp>
      <p:sp>
        <p:nvSpPr>
          <p:cNvPr id="19" name="TextBox 18"/>
          <p:cNvSpPr txBox="1"/>
          <p:nvPr/>
        </p:nvSpPr>
        <p:spPr>
          <a:xfrm>
            <a:off x="642366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0" name="Rectangle 19"/>
          <p:cNvSpPr/>
          <p:nvPr/>
        </p:nvSpPr>
        <p:spPr>
          <a:xfrm>
            <a:off x="901827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4687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IMPACT</a:t>
            </a:r>
          </a:p>
        </p:txBody>
      </p:sp>
      <p:sp>
        <p:nvSpPr>
          <p:cNvPr id="22" name="TextBox 21"/>
          <p:cNvSpPr txBox="1"/>
          <p:nvPr/>
        </p:nvSpPr>
        <p:spPr>
          <a:xfrm>
            <a:off x="924687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Yours</a:t>
            </a:r>
          </a:p>
        </p:txBody>
      </p:sp>
      <p:sp>
        <p:nvSpPr>
          <p:cNvPr id="23" name="TextBox 22"/>
          <p:cNvSpPr txBox="1"/>
          <p:nvPr/>
        </p:nvSpPr>
        <p:spPr>
          <a:xfrm>
            <a:off x="924687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12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HOOK</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LEARNING OUTCOMES</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2800" b="0" i="0">
                <a:solidFill>
                  <a:srgbClr val="0F1F1A"/>
                </a:solidFill>
                <a:latin typeface="Georgia"/>
              </a:rPr>
              <a:t>By the end of this lesson, you will be able to —</a:t>
            </a:r>
          </a:p>
        </p:txBody>
      </p:sp>
      <p:sp>
        <p:nvSpPr>
          <p:cNvPr id="7" name="Oval 6"/>
          <p:cNvSpPr/>
          <p:nvPr/>
        </p:nvSpPr>
        <p:spPr>
          <a:xfrm>
            <a:off x="54864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9" name="TextBox 8"/>
          <p:cNvSpPr txBox="1"/>
          <p:nvPr/>
        </p:nvSpPr>
        <p:spPr>
          <a:xfrm>
            <a:off x="109728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Decompose any product into 48 h scope.</a:t>
            </a:r>
          </a:p>
        </p:txBody>
      </p:sp>
      <p:sp>
        <p:nvSpPr>
          <p:cNvPr id="10" name="Oval 9"/>
          <p:cNvSpPr/>
          <p:nvPr/>
        </p:nvSpPr>
        <p:spPr>
          <a:xfrm>
            <a:off x="608076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2" name="TextBox 11"/>
          <p:cNvSpPr txBox="1"/>
          <p:nvPr/>
        </p:nvSpPr>
        <p:spPr>
          <a:xfrm>
            <a:off x="662940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Minimum AI stack.</a:t>
            </a:r>
          </a:p>
        </p:txBody>
      </p:sp>
      <p:sp>
        <p:nvSpPr>
          <p:cNvPr id="13" name="Oval 12"/>
          <p:cNvSpPr/>
          <p:nvPr/>
        </p:nvSpPr>
        <p:spPr>
          <a:xfrm>
            <a:off x="54864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5" name="TextBox 14"/>
          <p:cNvSpPr txBox="1"/>
          <p:nvPr/>
        </p:nvSpPr>
        <p:spPr>
          <a:xfrm>
            <a:off x="109728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A live URL in 48 h.</a:t>
            </a:r>
          </a:p>
        </p:txBody>
      </p:sp>
      <p:sp>
        <p:nvSpPr>
          <p:cNvPr id="16" name="Oval 15"/>
          <p:cNvSpPr/>
          <p:nvPr/>
        </p:nvSpPr>
        <p:spPr>
          <a:xfrm>
            <a:off x="608076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8" name="TextBox 17"/>
          <p:cNvSpPr txBox="1"/>
          <p:nvPr/>
        </p:nvSpPr>
        <p:spPr>
          <a:xfrm>
            <a:off x="662940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Telemetry from hour 1.</a:t>
            </a:r>
          </a:p>
        </p:txBody>
      </p:sp>
      <p:sp>
        <p:nvSpPr>
          <p:cNvPr id="19" name="Oval 18"/>
          <p:cNvSpPr/>
          <p:nvPr/>
        </p:nvSpPr>
        <p:spPr>
          <a:xfrm>
            <a:off x="548640" y="452628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80"/>
            <a:ext cx="411480" cy="41148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1" name="TextBox 20"/>
          <p:cNvSpPr txBox="1"/>
          <p:nvPr/>
        </p:nvSpPr>
        <p:spPr>
          <a:xfrm>
            <a:off x="1097280" y="448056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2-minute demo script.</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12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OUTCOMES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AGENDA</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3000" b="0" i="0">
                <a:solidFill>
                  <a:srgbClr val="FFFFFF"/>
                </a:solidFill>
                <a:latin typeface="Georgia"/>
              </a:rPr>
              <a:t>What we'll cover today</a:t>
            </a:r>
          </a:p>
        </p:txBody>
      </p:sp>
      <p:sp>
        <p:nvSpPr>
          <p:cNvPr id="7" name="TextBox 6"/>
          <p:cNvSpPr txBox="1"/>
          <p:nvPr/>
        </p:nvSpPr>
        <p:spPr>
          <a:xfrm>
            <a:off x="548640" y="2286000"/>
            <a:ext cx="100584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Short, sequenced parts. Each one builds on the last.</a:t>
            </a:r>
          </a:p>
        </p:txBody>
      </p:sp>
      <p:sp>
        <p:nvSpPr>
          <p:cNvPr id="8" name="Rectangle 7"/>
          <p:cNvSpPr/>
          <p:nvPr/>
        </p:nvSpPr>
        <p:spPr>
          <a:xfrm>
            <a:off x="54864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01</a:t>
            </a:r>
          </a:p>
        </p:txBody>
      </p:sp>
      <p:sp>
        <p:nvSpPr>
          <p:cNvPr id="10" name="TextBox 9"/>
          <p:cNvSpPr txBox="1"/>
          <p:nvPr/>
        </p:nvSpPr>
        <p:spPr>
          <a:xfrm>
            <a:off x="77724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Hour-by-hour scope</a:t>
            </a:r>
          </a:p>
        </p:txBody>
      </p:sp>
      <p:sp>
        <p:nvSpPr>
          <p:cNvPr id="11" name="TextBox 10"/>
          <p:cNvSpPr txBox="1"/>
          <p:nvPr/>
        </p:nvSpPr>
        <p:spPr>
          <a:xfrm>
            <a:off x="77724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Key concept of this lesson.</a:t>
            </a:r>
          </a:p>
        </p:txBody>
      </p:sp>
      <p:sp>
        <p:nvSpPr>
          <p:cNvPr id="12" name="Rectangle 11"/>
          <p:cNvSpPr/>
          <p:nvPr/>
        </p:nvSpPr>
        <p:spPr>
          <a:xfrm>
            <a:off x="336042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902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02</a:t>
            </a:r>
          </a:p>
        </p:txBody>
      </p:sp>
      <p:sp>
        <p:nvSpPr>
          <p:cNvPr id="14" name="TextBox 13"/>
          <p:cNvSpPr txBox="1"/>
          <p:nvPr/>
        </p:nvSpPr>
        <p:spPr>
          <a:xfrm>
            <a:off x="358902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Minimum stack</a:t>
            </a:r>
          </a:p>
        </p:txBody>
      </p:sp>
      <p:sp>
        <p:nvSpPr>
          <p:cNvPr id="15" name="TextBox 14"/>
          <p:cNvSpPr txBox="1"/>
          <p:nvPr/>
        </p:nvSpPr>
        <p:spPr>
          <a:xfrm>
            <a:off x="358902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Key concept of this lesson.</a:t>
            </a:r>
          </a:p>
        </p:txBody>
      </p:sp>
      <p:sp>
        <p:nvSpPr>
          <p:cNvPr id="16" name="Rectangle 15"/>
          <p:cNvSpPr/>
          <p:nvPr/>
        </p:nvSpPr>
        <p:spPr>
          <a:xfrm>
            <a:off x="617220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03</a:t>
            </a:r>
          </a:p>
        </p:txBody>
      </p:sp>
      <p:sp>
        <p:nvSpPr>
          <p:cNvPr id="18" name="TextBox 17"/>
          <p:cNvSpPr txBox="1"/>
          <p:nvPr/>
        </p:nvSpPr>
        <p:spPr>
          <a:xfrm>
            <a:off x="640080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Telemetry from hour 1</a:t>
            </a:r>
          </a:p>
        </p:txBody>
      </p:sp>
      <p:sp>
        <p:nvSpPr>
          <p:cNvPr id="19" name="TextBox 18"/>
          <p:cNvSpPr txBox="1"/>
          <p:nvPr/>
        </p:nvSpPr>
        <p:spPr>
          <a:xfrm>
            <a:off x="640080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Dashboards during demo</a:t>
            </a:r>
          </a:p>
        </p:txBody>
      </p:sp>
      <p:sp>
        <p:nvSpPr>
          <p:cNvPr id="20" name="Rectangle 19"/>
          <p:cNvSpPr/>
          <p:nvPr/>
        </p:nvSpPr>
        <p:spPr>
          <a:xfrm>
            <a:off x="898398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258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04</a:t>
            </a:r>
          </a:p>
        </p:txBody>
      </p:sp>
      <p:sp>
        <p:nvSpPr>
          <p:cNvPr id="22" name="TextBox 21"/>
          <p:cNvSpPr txBox="1"/>
          <p:nvPr/>
        </p:nvSpPr>
        <p:spPr>
          <a:xfrm>
            <a:off x="921258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2-minute demo script</a:t>
            </a:r>
          </a:p>
        </p:txBody>
      </p:sp>
      <p:sp>
        <p:nvSpPr>
          <p:cNvPr id="23" name="TextBox 22"/>
          <p:cNvSpPr txBox="1"/>
          <p:nvPr/>
        </p:nvSpPr>
        <p:spPr>
          <a:xfrm>
            <a:off x="921258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Beats, timed</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AGENDA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01</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1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Hour-by-hour scope</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Key concept of this lesson.</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1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Hour-by-hour scope</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A core idea you'll use throughout this lesson.</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Hour-by-hour scope</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2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Minimum stack</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A core idea you'll use throughout this lesson.</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A core idea you'll use throughout this lesson</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Practical, named, applied to a real Indian use-case.</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Practical, named, applied to a real Indian use-case.</a:t>
            </a:r>
          </a:p>
        </p:txBody>
      </p:sp>
      <p:sp>
        <p:nvSpPr>
          <p:cNvPr id="16" name="TextBox 1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7" name="TextBox 1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3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Telemetry from hour 1</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PostHog or Umami free tier.
Log: pageview + signup + first-use + D1 retention.
Every AI call tagged with tokens + latency.
Cost dashboard open during demo.
TELEMETRY
Hour 1
Not "after launch".</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Telemetry from hour 1</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Dashboards during demo</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4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2-minute demo script</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0-20 s — the problem.
20-60 s — live demo of happy path.
60-90 s — what is novel / unfair.
90-120 s — ask + link.
SCRIPT
4 beats
Stick to seconds.</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0-20 s — the problem</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20-60 s — live demo of happy path</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60-90 s — what is novel / unfair</a:t>
            </a:r>
          </a:p>
        </p:txBody>
      </p:sp>
      <p:sp>
        <p:nvSpPr>
          <p:cNvPr id="16" name="Oval 15"/>
          <p:cNvSpPr/>
          <p:nvPr/>
        </p:nvSpPr>
        <p:spPr>
          <a:xfrm>
            <a:off x="7635240" y="4498848"/>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334256"/>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90-120 s — ask + link</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02</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2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Engage and reflect</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Pause, talk, and connect what you just learned to your own work.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3 min</a:t>
            </a:r>
          </a:p>
        </p:txBody>
      </p:sp>
      <p:sp>
        <p:nvSpPr>
          <p:cNvPr id="5" name="Rounded Rectangle 4"/>
          <p:cNvSpPr/>
          <p:nvPr/>
        </p:nvSpPr>
        <p:spPr>
          <a:xfrm>
            <a:off x="548640" y="1143000"/>
            <a:ext cx="2377440" cy="365760"/>
          </a:xfrm>
          <a:prstGeom prst="round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43000"/>
            <a:ext cx="2377440" cy="365760"/>
          </a:xfrm>
          <a:prstGeom prst="rect">
            <a:avLst/>
          </a:prstGeom>
          <a:noFill/>
        </p:spPr>
        <p:txBody>
          <a:bodyPr wrap="square" lIns="0" rIns="0" tIns="0" bIns="0" anchor="ctr">
            <a:spAutoFit/>
          </a:bodyPr>
          <a:lstStyle/>
          <a:p>
            <a:pPr algn="ctr"/>
            <a:r>
              <a:rPr sz="1000" b="1" i="0" spc="500">
                <a:solidFill>
                  <a:srgbClr val="2C5244"/>
                </a:solidFill>
                <a:latin typeface="Calibri"/>
              </a:rPr>
              <a:t>✦  THINK · PAIR · SHARE</a:t>
            </a:r>
          </a:p>
        </p:txBody>
      </p:sp>
      <p:sp>
        <p:nvSpPr>
          <p:cNvPr id="7" name="TextBox 6"/>
          <p:cNvSpPr txBox="1"/>
          <p:nvPr/>
        </p:nvSpPr>
        <p:spPr>
          <a:xfrm>
            <a:off x="3063240" y="1207008"/>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ACTIVITY</a:t>
            </a:r>
          </a:p>
        </p:txBody>
      </p:sp>
      <p:sp>
        <p:nvSpPr>
          <p:cNvPr id="8" name="TextBox 7"/>
          <p:cNvSpPr txBox="1"/>
          <p:nvPr/>
        </p:nvSpPr>
        <p:spPr>
          <a:xfrm>
            <a:off x="548640" y="1691640"/>
            <a:ext cx="10972800" cy="1097280"/>
          </a:xfrm>
          <a:prstGeom prst="rect">
            <a:avLst/>
          </a:prstGeom>
          <a:noFill/>
        </p:spPr>
        <p:txBody>
          <a:bodyPr wrap="square" lIns="0" rIns="0" tIns="0" bIns="0" anchor="t">
            <a:spAutoFit/>
          </a:bodyPr>
          <a:lstStyle/>
          <a:p>
            <a:pPr algn="l"/>
            <a:r>
              <a:rPr sz="2600" b="0" i="0">
                <a:solidFill>
                  <a:srgbClr val="FFFFFF"/>
                </a:solidFill>
                <a:latin typeface="Georgia"/>
              </a:rPr>
              <a:t>Fill the 48 h table</a:t>
            </a:r>
          </a:p>
        </p:txBody>
      </p:sp>
      <p:sp>
        <p:nvSpPr>
          <p:cNvPr id="9" name="Rectangle 8"/>
          <p:cNvSpPr/>
          <p:nvPr/>
        </p:nvSpPr>
        <p:spPr>
          <a:xfrm>
            <a:off x="548640" y="2743200"/>
            <a:ext cx="7040880" cy="33832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26080"/>
            <a:ext cx="6492240" cy="274320"/>
          </a:xfrm>
          <a:prstGeom prst="rect">
            <a:avLst/>
          </a:prstGeom>
          <a:noFill/>
        </p:spPr>
        <p:txBody>
          <a:bodyPr wrap="square" lIns="0" rIns="0" tIns="0" bIns="0" anchor="t">
            <a:spAutoFit/>
          </a:bodyPr>
          <a:lstStyle/>
          <a:p>
            <a:pPr algn="l"/>
            <a:r>
              <a:rPr sz="1000" b="1" i="0" spc="500">
                <a:solidFill>
                  <a:srgbClr val="C5E063"/>
                </a:solidFill>
                <a:latin typeface="Calibri"/>
              </a:rPr>
              <a:t>PROMPT</a:t>
            </a:r>
          </a:p>
        </p:txBody>
      </p:sp>
      <p:sp>
        <p:nvSpPr>
          <p:cNvPr id="11" name="TextBox 10"/>
          <p:cNvSpPr txBox="1"/>
          <p:nvPr/>
        </p:nvSpPr>
        <p:spPr>
          <a:xfrm>
            <a:off x="822960" y="3246120"/>
            <a:ext cx="6492240" cy="2743200"/>
          </a:xfrm>
          <a:prstGeom prst="rect">
            <a:avLst/>
          </a:prstGeom>
          <a:noFill/>
        </p:spPr>
        <p:txBody>
          <a:bodyPr wrap="square" lIns="0" rIns="0" tIns="0" bIns="0" anchor="t">
            <a:spAutoFit/>
          </a:bodyPr>
          <a:lstStyle/>
          <a:p>
            <a:pPr algn="l">
              <a:lnSpc>
                <a:spcPct val="145000"/>
              </a:lnSpc>
            </a:pPr>
            <a:r>
              <a:rPr sz="1400" b="0" i="1">
                <a:solidFill>
                  <a:srgbClr val="FFFFFF"/>
                </a:solidFill>
                <a:latin typeface="Calibri"/>
              </a:rPr>
              <a:t>Apply the four concepts above to one real example from your own week.</a:t>
            </a:r>
          </a:p>
        </p:txBody>
      </p:sp>
      <p:sp>
        <p:nvSpPr>
          <p:cNvPr id="12" name="Rectangle 11"/>
          <p:cNvSpPr/>
          <p:nvPr/>
        </p:nvSpPr>
        <p:spPr>
          <a:xfrm>
            <a:off x="7818120" y="2743200"/>
            <a:ext cx="3794760" cy="3383280"/>
          </a:xfrm>
          <a:prstGeom prst="rect">
            <a:avLst/>
          </a:prstGeom>
          <a:solidFill>
            <a:srgbClr val="224036"/>
          </a:solidFill>
          <a:ln w="6350">
            <a:solidFill>
              <a:srgbClr val="DCE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2926080"/>
            <a:ext cx="3291840" cy="274320"/>
          </a:xfrm>
          <a:prstGeom prst="rect">
            <a:avLst/>
          </a:prstGeom>
          <a:noFill/>
        </p:spPr>
        <p:txBody>
          <a:bodyPr wrap="square" lIns="0" rIns="0" tIns="0" bIns="0" anchor="t">
            <a:spAutoFit/>
          </a:bodyPr>
          <a:lstStyle/>
          <a:p>
            <a:pPr algn="l"/>
            <a:r>
              <a:rPr sz="1000" b="1" i="0" spc="500">
                <a:solidFill>
                  <a:srgbClr val="C5E063"/>
                </a:solidFill>
                <a:latin typeface="Calibri"/>
              </a:rPr>
              <a:t>HOW TO RUN IT</a:t>
            </a:r>
          </a:p>
        </p:txBody>
      </p:sp>
      <p:sp>
        <p:nvSpPr>
          <p:cNvPr id="14" name="Oval 13"/>
          <p:cNvSpPr/>
          <p:nvPr/>
        </p:nvSpPr>
        <p:spPr>
          <a:xfrm>
            <a:off x="8092440" y="324612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3246120"/>
            <a:ext cx="292608" cy="292608"/>
          </a:xfrm>
          <a:prstGeom prst="rect">
            <a:avLst/>
          </a:prstGeom>
          <a:noFill/>
        </p:spPr>
        <p:txBody>
          <a:bodyPr wrap="square" lIns="0" rIns="0" tIns="0" bIns="0" anchor="ctr">
            <a:spAutoFit/>
          </a:bodyPr>
          <a:lstStyle/>
          <a:p>
            <a:pPr algn="ctr"/>
            <a:r>
              <a:rPr sz="1100" b="1" i="0">
                <a:solidFill>
                  <a:srgbClr val="2C5244"/>
                </a:solidFill>
                <a:latin typeface="Georgia"/>
              </a:rPr>
              <a:t>1</a:t>
            </a:r>
          </a:p>
        </p:txBody>
      </p:sp>
      <p:sp>
        <p:nvSpPr>
          <p:cNvPr id="16" name="TextBox 15"/>
          <p:cNvSpPr txBox="1"/>
          <p:nvPr/>
        </p:nvSpPr>
        <p:spPr>
          <a:xfrm>
            <a:off x="8503920" y="324612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17" name="Oval 16"/>
          <p:cNvSpPr/>
          <p:nvPr/>
        </p:nvSpPr>
        <p:spPr>
          <a:xfrm>
            <a:off x="8092440" y="388620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886200"/>
            <a:ext cx="292608" cy="292608"/>
          </a:xfrm>
          <a:prstGeom prst="rect">
            <a:avLst/>
          </a:prstGeom>
          <a:noFill/>
        </p:spPr>
        <p:txBody>
          <a:bodyPr wrap="square" lIns="0" rIns="0" tIns="0" bIns="0" anchor="ctr">
            <a:spAutoFit/>
          </a:bodyPr>
          <a:lstStyle/>
          <a:p>
            <a:pPr algn="ctr"/>
            <a:r>
              <a:rPr sz="1100" b="1" i="0">
                <a:solidFill>
                  <a:srgbClr val="2C5244"/>
                </a:solidFill>
                <a:latin typeface="Georgia"/>
              </a:rPr>
              <a:t>2</a:t>
            </a:r>
          </a:p>
        </p:txBody>
      </p:sp>
      <p:sp>
        <p:nvSpPr>
          <p:cNvPr id="19" name="TextBox 18"/>
          <p:cNvSpPr txBox="1"/>
          <p:nvPr/>
        </p:nvSpPr>
        <p:spPr>
          <a:xfrm>
            <a:off x="8503920" y="388620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20" name="Oval 19"/>
          <p:cNvSpPr/>
          <p:nvPr/>
        </p:nvSpPr>
        <p:spPr>
          <a:xfrm>
            <a:off x="8092440" y="452627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4526279"/>
            <a:ext cx="292608" cy="292608"/>
          </a:xfrm>
          <a:prstGeom prst="rect">
            <a:avLst/>
          </a:prstGeom>
          <a:noFill/>
        </p:spPr>
        <p:txBody>
          <a:bodyPr wrap="square" lIns="0" rIns="0" tIns="0" bIns="0" anchor="ctr">
            <a:spAutoFit/>
          </a:bodyPr>
          <a:lstStyle/>
          <a:p>
            <a:pPr algn="ctr"/>
            <a:r>
              <a:rPr sz="1100" b="1" i="0">
                <a:solidFill>
                  <a:srgbClr val="2C5244"/>
                </a:solidFill>
                <a:latin typeface="Georgia"/>
              </a:rPr>
              <a:t>3</a:t>
            </a:r>
          </a:p>
        </p:txBody>
      </p:sp>
      <p:sp>
        <p:nvSpPr>
          <p:cNvPr id="22" name="TextBox 21"/>
          <p:cNvSpPr txBox="1"/>
          <p:nvPr/>
        </p:nvSpPr>
        <p:spPr>
          <a:xfrm>
            <a:off x="8503920" y="452627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23" name="Oval 22"/>
          <p:cNvSpPr/>
          <p:nvPr/>
        </p:nvSpPr>
        <p:spPr>
          <a:xfrm>
            <a:off x="8092440" y="516635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5166359"/>
            <a:ext cx="292608" cy="292608"/>
          </a:xfrm>
          <a:prstGeom prst="rect">
            <a:avLst/>
          </a:prstGeom>
          <a:noFill/>
        </p:spPr>
        <p:txBody>
          <a:bodyPr wrap="square" lIns="0" rIns="0" tIns="0" bIns="0" anchor="ctr">
            <a:spAutoFit/>
          </a:bodyPr>
          <a:lstStyle/>
          <a:p>
            <a:pPr algn="ctr"/>
            <a:r>
              <a:rPr sz="1100" b="1" i="0">
                <a:solidFill>
                  <a:srgbClr val="2C5244"/>
                </a:solidFill>
                <a:latin typeface="Georgia"/>
              </a:rPr>
              <a:t>4</a:t>
            </a:r>
          </a:p>
        </p:txBody>
      </p:sp>
      <p:sp>
        <p:nvSpPr>
          <p:cNvPr id="25" name="TextBox 24"/>
          <p:cNvSpPr txBox="1"/>
          <p:nvPr/>
        </p:nvSpPr>
        <p:spPr>
          <a:xfrm>
            <a:off x="8503920" y="516635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Reveal: instructor confirms the canonical answer.</a:t>
            </a:r>
          </a:p>
        </p:txBody>
      </p:sp>
      <p:sp>
        <p:nvSpPr>
          <p:cNvPr id="26" name="TextBox 2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7" name="TextBox 2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ACTIVITY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REFLECT  &amp;  APPLY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Three questions before you close this lesson</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Spend 60 seconds on each. Write the answers down — no scrolling, no shortcuts.</a:t>
            </a:r>
          </a:p>
        </p:txBody>
      </p:sp>
      <p:sp>
        <p:nvSpPr>
          <p:cNvPr id="8" name="Rectangle 7"/>
          <p:cNvSpPr/>
          <p:nvPr/>
        </p:nvSpPr>
        <p:spPr>
          <a:xfrm>
            <a:off x="548640" y="320040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0040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0040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Q1</a:t>
            </a:r>
          </a:p>
        </p:txBody>
      </p:sp>
      <p:sp>
        <p:nvSpPr>
          <p:cNvPr id="11" name="TextBox 10"/>
          <p:cNvSpPr txBox="1"/>
          <p:nvPr/>
        </p:nvSpPr>
        <p:spPr>
          <a:xfrm>
            <a:off x="1554480" y="320040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Which hour-block will you hit hardest?</a:t>
            </a:r>
          </a:p>
        </p:txBody>
      </p:sp>
      <p:sp>
        <p:nvSpPr>
          <p:cNvPr id="12" name="Rectangle 11"/>
          <p:cNvSpPr/>
          <p:nvPr/>
        </p:nvSpPr>
        <p:spPr>
          <a:xfrm>
            <a:off x="548640" y="416052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16052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16052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Q2</a:t>
            </a:r>
          </a:p>
        </p:txBody>
      </p:sp>
      <p:sp>
        <p:nvSpPr>
          <p:cNvPr id="15" name="TextBox 14"/>
          <p:cNvSpPr txBox="1"/>
          <p:nvPr/>
        </p:nvSpPr>
        <p:spPr>
          <a:xfrm>
            <a:off x="1554480" y="416052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Which layer will you swap for the fallback?</a:t>
            </a:r>
          </a:p>
        </p:txBody>
      </p:sp>
      <p:sp>
        <p:nvSpPr>
          <p:cNvPr id="16" name="Rectangle 15"/>
          <p:cNvSpPr/>
          <p:nvPr/>
        </p:nvSpPr>
        <p:spPr>
          <a:xfrm>
            <a:off x="548640" y="512064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12064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12064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Q3</a:t>
            </a:r>
          </a:p>
        </p:txBody>
      </p:sp>
      <p:sp>
        <p:nvSpPr>
          <p:cNvPr id="19" name="TextBox 18"/>
          <p:cNvSpPr txBox="1"/>
          <p:nvPr/>
        </p:nvSpPr>
        <p:spPr>
          <a:xfrm>
            <a:off x="1554480" y="512064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What could you NOT ship in 48 h? How will you scope it out?</a:t>
            </a:r>
          </a:p>
        </p:txBody>
      </p:sp>
      <p:sp>
        <p:nvSpPr>
          <p:cNvPr id="20" name="TextBox 1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12 OF 7</a:t>
            </a:r>
          </a:p>
        </p:txBody>
      </p:sp>
      <p:sp>
        <p:nvSpPr>
          <p:cNvPr id="21" name="TextBox 2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REFLECT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03</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3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Knowledge check</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Three short questions. One minute each. Honest answers only.</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1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Hour 24 gate:</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Marketing</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Backend + model wired</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Raise</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Board call</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1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Hour 24 gate:</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Backend + model wired</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Core path must work</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2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Default frontend:</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WordPress</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Next.js + shadcn</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Flash</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Silverlight</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2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Default frontend:</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Next.js + shadcn</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Fast + modern</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3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Telemetry tool:</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Excel</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PostHog/Umami</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Pen</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No-op</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3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Telemetry tool:</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PostHog/Umami</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Free tiers plenty</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04</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4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Apply and close</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One thing to remember. One thing to ship this week.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SUMMARY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Five sentences to remember</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If you remember nothing else from this lesson, remember these five lines.</a:t>
            </a:r>
          </a:p>
        </p:txBody>
      </p:sp>
      <p:sp>
        <p:nvSpPr>
          <p:cNvPr id="8" name="TextBox 7"/>
          <p:cNvSpPr txBox="1"/>
          <p:nvPr/>
        </p:nvSpPr>
        <p:spPr>
          <a:xfrm>
            <a:off x="548640" y="3154680"/>
            <a:ext cx="548640" cy="502920"/>
          </a:xfrm>
          <a:prstGeom prst="rect">
            <a:avLst/>
          </a:prstGeom>
          <a:noFill/>
        </p:spPr>
        <p:txBody>
          <a:bodyPr wrap="square" lIns="0" rIns="0" tIns="0" bIns="0" anchor="ctr">
            <a:spAutoFit/>
          </a:bodyPr>
          <a:lstStyle/>
          <a:p>
            <a:pPr algn="l"/>
            <a:r>
              <a:rPr sz="2800" b="1" i="0">
                <a:solidFill>
                  <a:srgbClr val="C5E063"/>
                </a:solidFill>
                <a:latin typeface="Georgia"/>
              </a:rPr>
              <a:t>1</a:t>
            </a:r>
          </a:p>
        </p:txBody>
      </p:sp>
      <p:sp>
        <p:nvSpPr>
          <p:cNvPr id="9" name="TextBox 8"/>
          <p:cNvSpPr txBox="1"/>
          <p:nvPr/>
        </p:nvSpPr>
        <p:spPr>
          <a:xfrm>
            <a:off x="1143000" y="315468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Pick the right tool — never the loudest one.</a:t>
            </a:r>
          </a:p>
        </p:txBody>
      </p:sp>
      <p:sp>
        <p:nvSpPr>
          <p:cNvPr id="10" name="TextBox 9"/>
          <p:cNvSpPr txBox="1"/>
          <p:nvPr/>
        </p:nvSpPr>
        <p:spPr>
          <a:xfrm>
            <a:off x="548640" y="3749040"/>
            <a:ext cx="548640" cy="502920"/>
          </a:xfrm>
          <a:prstGeom prst="rect">
            <a:avLst/>
          </a:prstGeom>
          <a:noFill/>
        </p:spPr>
        <p:txBody>
          <a:bodyPr wrap="square" lIns="0" rIns="0" tIns="0" bIns="0" anchor="ctr">
            <a:spAutoFit/>
          </a:bodyPr>
          <a:lstStyle/>
          <a:p>
            <a:pPr algn="l"/>
            <a:r>
              <a:rPr sz="2800" b="1" i="0">
                <a:solidFill>
                  <a:srgbClr val="C5E063"/>
                </a:solidFill>
                <a:latin typeface="Georgia"/>
              </a:rPr>
              <a:t>2</a:t>
            </a:r>
          </a:p>
        </p:txBody>
      </p:sp>
      <p:sp>
        <p:nvSpPr>
          <p:cNvPr id="11" name="TextBox 10"/>
          <p:cNvSpPr txBox="1"/>
          <p:nvPr/>
        </p:nvSpPr>
        <p:spPr>
          <a:xfrm>
            <a:off x="1143000" y="374904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Practice the framework on a real example.</a:t>
            </a:r>
          </a:p>
        </p:txBody>
      </p:sp>
      <p:sp>
        <p:nvSpPr>
          <p:cNvPr id="12" name="TextBox 11"/>
          <p:cNvSpPr txBox="1"/>
          <p:nvPr/>
        </p:nvSpPr>
        <p:spPr>
          <a:xfrm>
            <a:off x="548640" y="4343400"/>
            <a:ext cx="548640" cy="502920"/>
          </a:xfrm>
          <a:prstGeom prst="rect">
            <a:avLst/>
          </a:prstGeom>
          <a:noFill/>
        </p:spPr>
        <p:txBody>
          <a:bodyPr wrap="square" lIns="0" rIns="0" tIns="0" bIns="0" anchor="ctr">
            <a:spAutoFit/>
          </a:bodyPr>
          <a:lstStyle/>
          <a:p>
            <a:pPr algn="l"/>
            <a:r>
              <a:rPr sz="2800" b="1" i="0">
                <a:solidFill>
                  <a:srgbClr val="C5E063"/>
                </a:solidFill>
                <a:latin typeface="Georgia"/>
              </a:rPr>
              <a:t>3</a:t>
            </a:r>
          </a:p>
        </p:txBody>
      </p:sp>
      <p:sp>
        <p:nvSpPr>
          <p:cNvPr id="13" name="TextBox 12"/>
          <p:cNvSpPr txBox="1"/>
          <p:nvPr/>
        </p:nvSpPr>
        <p:spPr>
          <a:xfrm>
            <a:off x="1143000" y="434340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Watch for the three classic pitfalls.</a:t>
            </a:r>
          </a:p>
        </p:txBody>
      </p:sp>
      <p:sp>
        <p:nvSpPr>
          <p:cNvPr id="14" name="TextBox 13"/>
          <p:cNvSpPr txBox="1"/>
          <p:nvPr/>
        </p:nvSpPr>
        <p:spPr>
          <a:xfrm>
            <a:off x="548640" y="4937760"/>
            <a:ext cx="548640" cy="502920"/>
          </a:xfrm>
          <a:prstGeom prst="rect">
            <a:avLst/>
          </a:prstGeom>
          <a:noFill/>
        </p:spPr>
        <p:txBody>
          <a:bodyPr wrap="square" lIns="0" rIns="0" tIns="0" bIns="0" anchor="ctr">
            <a:spAutoFit/>
          </a:bodyPr>
          <a:lstStyle/>
          <a:p>
            <a:pPr algn="l"/>
            <a:r>
              <a:rPr sz="2800" b="1" i="0">
                <a:solidFill>
                  <a:srgbClr val="C5E063"/>
                </a:solidFill>
                <a:latin typeface="Georgia"/>
              </a:rPr>
              <a:t>4</a:t>
            </a:r>
          </a:p>
        </p:txBody>
      </p:sp>
      <p:sp>
        <p:nvSpPr>
          <p:cNvPr id="15" name="TextBox 14"/>
          <p:cNvSpPr txBox="1"/>
          <p:nvPr/>
        </p:nvSpPr>
        <p:spPr>
          <a:xfrm>
            <a:off x="1143000" y="493776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Document your decision in one sentence.</a:t>
            </a:r>
          </a:p>
        </p:txBody>
      </p:sp>
      <p:sp>
        <p:nvSpPr>
          <p:cNvPr id="16" name="TextBox 15"/>
          <p:cNvSpPr txBox="1"/>
          <p:nvPr/>
        </p:nvSpPr>
        <p:spPr>
          <a:xfrm>
            <a:off x="548640" y="5532120"/>
            <a:ext cx="548640" cy="502920"/>
          </a:xfrm>
          <a:prstGeom prst="rect">
            <a:avLst/>
          </a:prstGeom>
          <a:noFill/>
        </p:spPr>
        <p:txBody>
          <a:bodyPr wrap="square" lIns="0" rIns="0" tIns="0" bIns="0" anchor="ctr">
            <a:spAutoFit/>
          </a:bodyPr>
          <a:lstStyle/>
          <a:p>
            <a:pPr algn="l"/>
            <a:r>
              <a:rPr sz="2800" b="1" i="0">
                <a:solidFill>
                  <a:srgbClr val="C5E063"/>
                </a:solidFill>
                <a:latin typeface="Georgia"/>
              </a:rPr>
              <a:t>5</a:t>
            </a:r>
          </a:p>
        </p:txBody>
      </p:sp>
      <p:sp>
        <p:nvSpPr>
          <p:cNvPr id="17" name="TextBox 16"/>
          <p:cNvSpPr txBox="1"/>
          <p:nvPr/>
        </p:nvSpPr>
        <p:spPr>
          <a:xfrm>
            <a:off x="1143000" y="553212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Carry the discipline forward to the next lesson.</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SUMMARY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12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WORKED  EXAMPLE</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How this lesson plays out in one real Indian context</a:t>
            </a:r>
          </a:p>
        </p:txBody>
      </p:sp>
      <p:sp>
        <p:nvSpPr>
          <p:cNvPr id="7" name="Rectangle 6"/>
          <p:cNvSpPr/>
          <p:nvPr/>
        </p:nvSpPr>
        <p:spPr>
          <a:xfrm>
            <a:off x="548640" y="2468880"/>
            <a:ext cx="6858000" cy="21945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06040"/>
            <a:ext cx="6400800" cy="274320"/>
          </a:xfrm>
          <a:prstGeom prst="rect">
            <a:avLst/>
          </a:prstGeom>
          <a:noFill/>
        </p:spPr>
        <p:txBody>
          <a:bodyPr wrap="square" lIns="0" rIns="0" tIns="0" bIns="0" anchor="t">
            <a:spAutoFit/>
          </a:bodyPr>
          <a:lstStyle/>
          <a:p>
            <a:pPr algn="l"/>
            <a:r>
              <a:rPr sz="1000" b="1" i="0" spc="500">
                <a:solidFill>
                  <a:srgbClr val="0F766E"/>
                </a:solidFill>
                <a:latin typeface="Calibri"/>
              </a:rPr>
              <a:t>THE  SCENARIO</a:t>
            </a:r>
          </a:p>
        </p:txBody>
      </p:sp>
      <p:sp>
        <p:nvSpPr>
          <p:cNvPr id="9" name="TextBox 8"/>
          <p:cNvSpPr txBox="1"/>
          <p:nvPr/>
        </p:nvSpPr>
        <p:spPr>
          <a:xfrm>
            <a:off x="777240" y="2926080"/>
            <a:ext cx="6400800" cy="1691640"/>
          </a:xfrm>
          <a:prstGeom prst="rect">
            <a:avLst/>
          </a:prstGeom>
          <a:noFill/>
        </p:spPr>
        <p:txBody>
          <a:bodyPr wrap="square" lIns="0" rIns="0" tIns="0" bIns="0" anchor="t">
            <a:spAutoFit/>
          </a:bodyPr>
          <a:lstStyle/>
          <a:p>
            <a:pPr algn="l">
              <a:lnSpc>
                <a:spcPct val="140000"/>
              </a:lnSpc>
            </a:pPr>
            <a:r>
              <a:rPr sz="1200" b="0" i="0">
                <a:solidFill>
                  <a:srgbClr val="0F1F1A"/>
                </a:solidFill>
                <a:latin typeface="Calibri"/>
              </a:rPr>
              <a:t>A team applies the lesson's main idea to a real workflow — and the results show up within a quarter.</a:t>
            </a:r>
          </a:p>
        </p:txBody>
      </p:sp>
      <p:sp>
        <p:nvSpPr>
          <p:cNvPr id="10" name="Rectangle 9"/>
          <p:cNvSpPr/>
          <p:nvPr/>
        </p:nvSpPr>
        <p:spPr>
          <a:xfrm>
            <a:off x="548640" y="4800600"/>
            <a:ext cx="6858000" cy="132588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3776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THE  TAKEAWAY</a:t>
            </a:r>
          </a:p>
        </p:txBody>
      </p:sp>
      <p:sp>
        <p:nvSpPr>
          <p:cNvPr id="12" name="TextBox 11"/>
          <p:cNvSpPr txBox="1"/>
          <p:nvPr/>
        </p:nvSpPr>
        <p:spPr>
          <a:xfrm>
            <a:off x="777240" y="5212080"/>
            <a:ext cx="6400800" cy="868680"/>
          </a:xfrm>
          <a:prstGeom prst="rect">
            <a:avLst/>
          </a:prstGeom>
          <a:noFill/>
        </p:spPr>
        <p:txBody>
          <a:bodyPr wrap="square" lIns="0" rIns="0" tIns="0" bIns="0" anchor="t">
            <a:spAutoFit/>
          </a:bodyPr>
          <a:lstStyle/>
          <a:p>
            <a:pPr algn="l">
              <a:lnSpc>
                <a:spcPct val="135000"/>
              </a:lnSpc>
            </a:pPr>
            <a:r>
              <a:rPr sz="1400" b="0" i="1">
                <a:solidFill>
                  <a:srgbClr val="FFFFFF"/>
                </a:solidFill>
                <a:latin typeface="Georgia"/>
              </a:rPr>
              <a:t>"Shipped is a feature; polish is a future."</a:t>
            </a:r>
          </a:p>
        </p:txBody>
      </p:sp>
      <p:sp>
        <p:nvSpPr>
          <p:cNvPr id="13" name="Rectangle 12"/>
          <p:cNvSpPr/>
          <p:nvPr/>
        </p:nvSpPr>
        <p:spPr>
          <a:xfrm>
            <a:off x="7635240" y="2468880"/>
            <a:ext cx="3977639" cy="3657600"/>
          </a:xfrm>
          <a:prstGeom prst="rect">
            <a:avLst/>
          </a:prstGeom>
          <a:solidFill>
            <a:srgbClr val="F1F4EC"/>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2606040"/>
            <a:ext cx="3520440" cy="274320"/>
          </a:xfrm>
          <a:prstGeom prst="rect">
            <a:avLst/>
          </a:prstGeom>
          <a:noFill/>
        </p:spPr>
        <p:txBody>
          <a:bodyPr wrap="square" lIns="0" rIns="0" tIns="0" bIns="0" anchor="t">
            <a:spAutoFit/>
          </a:bodyPr>
          <a:lstStyle/>
          <a:p>
            <a:pPr algn="l"/>
            <a:r>
              <a:rPr sz="1000" b="1" i="0" spc="500">
                <a:solidFill>
                  <a:srgbClr val="0F766E"/>
                </a:solidFill>
                <a:latin typeface="Calibri"/>
              </a:rPr>
              <a:t>WHAT  TO  NOTICE</a:t>
            </a:r>
          </a:p>
        </p:txBody>
      </p:sp>
      <p:sp>
        <p:nvSpPr>
          <p:cNvPr id="15" name="Oval 14"/>
          <p:cNvSpPr/>
          <p:nvPr/>
        </p:nvSpPr>
        <p:spPr>
          <a:xfrm>
            <a:off x="7863840" y="297180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2971800"/>
            <a:ext cx="411480" cy="411480"/>
          </a:xfrm>
          <a:prstGeom prst="rect">
            <a:avLst/>
          </a:prstGeom>
          <a:noFill/>
        </p:spPr>
        <p:txBody>
          <a:bodyPr wrap="square" lIns="0" rIns="0" tIns="0" bIns="0" anchor="ctr">
            <a:spAutoFit/>
          </a:bodyPr>
          <a:lstStyle/>
          <a:p>
            <a:pPr algn="ctr"/>
            <a:r>
              <a:rPr sz="1400" b="1" i="0">
                <a:solidFill>
                  <a:srgbClr val="C5E063"/>
                </a:solidFill>
                <a:latin typeface="Georgia"/>
              </a:rPr>
              <a:t>1</a:t>
            </a:r>
          </a:p>
        </p:txBody>
      </p:sp>
      <p:sp>
        <p:nvSpPr>
          <p:cNvPr id="17" name="TextBox 16"/>
          <p:cNvSpPr txBox="1"/>
          <p:nvPr/>
        </p:nvSpPr>
        <p:spPr>
          <a:xfrm>
            <a:off x="8366760" y="297180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Hour-by-hour scope</a:t>
            </a:r>
          </a:p>
        </p:txBody>
      </p:sp>
      <p:sp>
        <p:nvSpPr>
          <p:cNvPr id="18" name="Oval 17"/>
          <p:cNvSpPr/>
          <p:nvPr/>
        </p:nvSpPr>
        <p:spPr>
          <a:xfrm>
            <a:off x="7863840" y="3749039"/>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749039"/>
            <a:ext cx="411480" cy="411480"/>
          </a:xfrm>
          <a:prstGeom prst="rect">
            <a:avLst/>
          </a:prstGeom>
          <a:noFill/>
        </p:spPr>
        <p:txBody>
          <a:bodyPr wrap="square" lIns="0" rIns="0" tIns="0" bIns="0" anchor="ctr">
            <a:spAutoFit/>
          </a:bodyPr>
          <a:lstStyle/>
          <a:p>
            <a:pPr algn="ctr"/>
            <a:r>
              <a:rPr sz="1400" b="1" i="0">
                <a:solidFill>
                  <a:srgbClr val="C5E063"/>
                </a:solidFill>
                <a:latin typeface="Georgia"/>
              </a:rPr>
              <a:t>2</a:t>
            </a:r>
          </a:p>
        </p:txBody>
      </p:sp>
      <p:sp>
        <p:nvSpPr>
          <p:cNvPr id="20" name="TextBox 19"/>
          <p:cNvSpPr txBox="1"/>
          <p:nvPr/>
        </p:nvSpPr>
        <p:spPr>
          <a:xfrm>
            <a:off x="8366760" y="3749039"/>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Minimum stack</a:t>
            </a:r>
          </a:p>
        </p:txBody>
      </p:sp>
      <p:sp>
        <p:nvSpPr>
          <p:cNvPr id="21" name="Oval 20"/>
          <p:cNvSpPr/>
          <p:nvPr/>
        </p:nvSpPr>
        <p:spPr>
          <a:xfrm>
            <a:off x="7863840" y="452628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4526280"/>
            <a:ext cx="411480" cy="411480"/>
          </a:xfrm>
          <a:prstGeom prst="rect">
            <a:avLst/>
          </a:prstGeom>
          <a:noFill/>
        </p:spPr>
        <p:txBody>
          <a:bodyPr wrap="square" lIns="0" rIns="0" tIns="0" bIns="0" anchor="ctr">
            <a:spAutoFit/>
          </a:bodyPr>
          <a:lstStyle/>
          <a:p>
            <a:pPr algn="ctr"/>
            <a:r>
              <a:rPr sz="1400" b="1" i="0">
                <a:solidFill>
                  <a:srgbClr val="C5E063"/>
                </a:solidFill>
                <a:latin typeface="Georgia"/>
              </a:rPr>
              <a:t>3</a:t>
            </a:r>
          </a:p>
        </p:txBody>
      </p:sp>
      <p:sp>
        <p:nvSpPr>
          <p:cNvPr id="23" name="TextBox 22"/>
          <p:cNvSpPr txBox="1"/>
          <p:nvPr/>
        </p:nvSpPr>
        <p:spPr>
          <a:xfrm>
            <a:off x="8366760" y="452628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Telemetry from hour 1</a:t>
            </a:r>
          </a:p>
        </p:txBody>
      </p:sp>
      <p:sp>
        <p:nvSpPr>
          <p:cNvPr id="24" name="Oval 23"/>
          <p:cNvSpPr/>
          <p:nvPr/>
        </p:nvSpPr>
        <p:spPr>
          <a:xfrm>
            <a:off x="7863840" y="530352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5303520"/>
            <a:ext cx="411480" cy="411480"/>
          </a:xfrm>
          <a:prstGeom prst="rect">
            <a:avLst/>
          </a:prstGeom>
          <a:noFill/>
        </p:spPr>
        <p:txBody>
          <a:bodyPr wrap="square" lIns="0" rIns="0" tIns="0" bIns="0" anchor="ctr">
            <a:spAutoFit/>
          </a:bodyPr>
          <a:lstStyle/>
          <a:p>
            <a:pPr algn="ctr"/>
            <a:r>
              <a:rPr sz="1400" b="1" i="0">
                <a:solidFill>
                  <a:srgbClr val="C5E063"/>
                </a:solidFill>
                <a:latin typeface="Georgia"/>
              </a:rPr>
              <a:t>4</a:t>
            </a:r>
          </a:p>
        </p:txBody>
      </p:sp>
      <p:sp>
        <p:nvSpPr>
          <p:cNvPr id="26" name="TextBox 25"/>
          <p:cNvSpPr txBox="1"/>
          <p:nvPr/>
        </p:nvSpPr>
        <p:spPr>
          <a:xfrm>
            <a:off x="8366760" y="530352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2-minute demo script</a:t>
            </a:r>
          </a:p>
        </p:txBody>
      </p:sp>
      <p:sp>
        <p:nvSpPr>
          <p:cNvPr id="27" name="TextBox 26"/>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12 OF 7</a:t>
            </a:r>
          </a:p>
        </p:txBody>
      </p:sp>
      <p:sp>
        <p:nvSpPr>
          <p:cNvPr id="28" name="TextBox 27"/>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EXAMPLE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APPLY  IT  →  ASSIGNMENT</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Plan capstone hackathon</a:t>
            </a:r>
          </a:p>
        </p:txBody>
      </p:sp>
      <p:sp>
        <p:nvSpPr>
          <p:cNvPr id="7" name="TextBox 6"/>
          <p:cNvSpPr txBox="1"/>
          <p:nvPr/>
        </p:nvSpPr>
        <p:spPr>
          <a:xfrm>
            <a:off x="548640" y="233172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Full 48 h plan for P1.</a:t>
            </a:r>
          </a:p>
        </p:txBody>
      </p:sp>
      <p:sp>
        <p:nvSpPr>
          <p:cNvPr id="8" name="Rectangle 7"/>
          <p:cNvSpPr/>
          <p:nvPr/>
        </p:nvSpPr>
        <p:spPr>
          <a:xfrm>
            <a:off x="548640" y="3383280"/>
            <a:ext cx="6858000" cy="27432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52044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DELIVERABLES</a:t>
            </a:r>
          </a:p>
        </p:txBody>
      </p:sp>
      <p:sp>
        <p:nvSpPr>
          <p:cNvPr id="10" name="Oval 9"/>
          <p:cNvSpPr/>
          <p:nvPr/>
        </p:nvSpPr>
        <p:spPr>
          <a:xfrm>
            <a:off x="868680" y="395020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Fill hour table.</a:t>
            </a:r>
          </a:p>
        </p:txBody>
      </p:sp>
      <p:sp>
        <p:nvSpPr>
          <p:cNvPr id="12" name="Oval 11"/>
          <p:cNvSpPr/>
          <p:nvPr/>
        </p:nvSpPr>
        <p:spPr>
          <a:xfrm>
            <a:off x="868680" y="436168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25196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Pick stack rows.</a:t>
            </a:r>
          </a:p>
        </p:txBody>
      </p:sp>
      <p:sp>
        <p:nvSpPr>
          <p:cNvPr id="14" name="Oval 13"/>
          <p:cNvSpPr/>
          <p:nvPr/>
        </p:nvSpPr>
        <p:spPr>
          <a:xfrm>
            <a:off x="868680" y="477316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66344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Draft demo script.</a:t>
            </a:r>
          </a:p>
        </p:txBody>
      </p:sp>
      <p:sp>
        <p:nvSpPr>
          <p:cNvPr id="16" name="Oval 15"/>
          <p:cNvSpPr/>
          <p:nvPr/>
        </p:nvSpPr>
        <p:spPr>
          <a:xfrm>
            <a:off x="868680" y="518464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7492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Document one decision you made because of this lesson.</a:t>
            </a:r>
          </a:p>
        </p:txBody>
      </p:sp>
      <p:sp>
        <p:nvSpPr>
          <p:cNvPr id="18" name="Rectangle 17"/>
          <p:cNvSpPr/>
          <p:nvPr/>
        </p:nvSpPr>
        <p:spPr>
          <a:xfrm>
            <a:off x="7635240" y="3383280"/>
            <a:ext cx="3977639" cy="274320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520440"/>
            <a:ext cx="3520440" cy="274320"/>
          </a:xfrm>
          <a:prstGeom prst="rect">
            <a:avLst/>
          </a:prstGeom>
          <a:noFill/>
        </p:spPr>
        <p:txBody>
          <a:bodyPr wrap="square" lIns="0" rIns="0" tIns="0" bIns="0" anchor="t">
            <a:spAutoFit/>
          </a:bodyPr>
          <a:lstStyle/>
          <a:p>
            <a:pPr algn="l"/>
            <a:r>
              <a:rPr sz="1000" b="1" i="0" spc="500">
                <a:solidFill>
                  <a:srgbClr val="2C5244"/>
                </a:solidFill>
                <a:latin typeface="Calibri"/>
              </a:rPr>
              <a:t>WHAT 'GOOD' LOOKS LIKE</a:t>
            </a:r>
          </a:p>
        </p:txBody>
      </p:sp>
      <p:sp>
        <p:nvSpPr>
          <p:cNvPr id="20" name="TextBox 19"/>
          <p:cNvSpPr txBox="1"/>
          <p:nvPr/>
        </p:nvSpPr>
        <p:spPr>
          <a:xfrm>
            <a:off x="7863840" y="3840480"/>
            <a:ext cx="3520440" cy="2194560"/>
          </a:xfrm>
          <a:prstGeom prst="rect">
            <a:avLst/>
          </a:prstGeom>
          <a:noFill/>
        </p:spPr>
        <p:txBody>
          <a:bodyPr wrap="square" lIns="0" rIns="0" tIns="0" bIns="0" anchor="t">
            <a:spAutoFit/>
          </a:bodyPr>
          <a:lstStyle/>
          <a:p>
            <a:pPr algn="l">
              <a:lnSpc>
                <a:spcPct val="140000"/>
              </a:lnSpc>
            </a:pPr>
            <a:r>
              <a:rPr sz="1400" b="0" i="1">
                <a:solidFill>
                  <a:srgbClr val="2C5244"/>
                </a:solidFill>
                <a:latin typeface="Georgia"/>
              </a:rPr>
              <a:t>Deliverable: Plan on LMS by Thu 23:59.</a:t>
            </a:r>
          </a:p>
        </p:txBody>
      </p:sp>
      <p:sp>
        <p:nvSpPr>
          <p:cNvPr id="21" name="TextBox 20"/>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2" name="TextBox 21"/>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APPLY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1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ONE  THING  TO  REMEMBER</a:t>
            </a:r>
          </a:p>
        </p:txBody>
      </p:sp>
      <p:sp>
        <p:nvSpPr>
          <p:cNvPr id="6" name="TextBox 5"/>
          <p:cNvSpPr txBox="1"/>
          <p:nvPr/>
        </p:nvSpPr>
        <p:spPr>
          <a:xfrm>
            <a:off x="548640" y="2286000"/>
            <a:ext cx="548640" cy="548640"/>
          </a:xfrm>
          <a:prstGeom prst="rect">
            <a:avLst/>
          </a:prstGeom>
          <a:noFill/>
        </p:spPr>
        <p:txBody>
          <a:bodyPr wrap="square" lIns="0" rIns="0" tIns="0" bIns="0" anchor="ctr">
            <a:spAutoFit/>
          </a:bodyPr>
          <a:lstStyle/>
          <a:p>
            <a:pPr algn="l"/>
            <a:r>
              <a:rPr sz="12000" b="1" i="0">
                <a:solidFill>
                  <a:srgbClr val="C5E063"/>
                </a:solidFill>
                <a:latin typeface="Georgia"/>
              </a:rPr>
              <a:t>“</a:t>
            </a:r>
          </a:p>
        </p:txBody>
      </p:sp>
      <p:sp>
        <p:nvSpPr>
          <p:cNvPr id="7" name="TextBox 6"/>
          <p:cNvSpPr txBox="1"/>
          <p:nvPr/>
        </p:nvSpPr>
        <p:spPr>
          <a:xfrm>
            <a:off x="1097280" y="2468880"/>
            <a:ext cx="10515600" cy="2743200"/>
          </a:xfrm>
          <a:prstGeom prst="rect">
            <a:avLst/>
          </a:prstGeom>
          <a:noFill/>
        </p:spPr>
        <p:txBody>
          <a:bodyPr wrap="square" lIns="0" rIns="0" tIns="0" bIns="0" anchor="t">
            <a:spAutoFit/>
          </a:bodyPr>
          <a:lstStyle/>
          <a:p>
            <a:pPr algn="l">
              <a:lnSpc>
                <a:spcPct val="140000"/>
              </a:lnSpc>
            </a:pPr>
            <a:r>
              <a:rPr sz="3000" b="0" i="1">
                <a:solidFill>
                  <a:srgbClr val="FFFFFF"/>
                </a:solidFill>
                <a:latin typeface="Georgia"/>
              </a:rPr>
              <a:t>"Shipped is a feature; polish is a future."</a:t>
            </a:r>
          </a:p>
        </p:txBody>
      </p:sp>
      <p:sp>
        <p:nvSpPr>
          <p:cNvPr id="8" name="TextBox 7"/>
          <p:cNvSpPr txBox="1"/>
          <p:nvPr/>
        </p:nvSpPr>
        <p:spPr>
          <a:xfrm>
            <a:off x="1097280" y="5303520"/>
            <a:ext cx="10515600" cy="365760"/>
          </a:xfrm>
          <a:prstGeom prst="rect">
            <a:avLst/>
          </a:prstGeom>
          <a:noFill/>
        </p:spPr>
        <p:txBody>
          <a:bodyPr wrap="square" lIns="0" rIns="0" tIns="0" bIns="0" anchor="t">
            <a:spAutoFit/>
          </a:bodyPr>
          <a:lstStyle/>
          <a:p>
            <a:pPr algn="l"/>
            <a:r>
              <a:rPr sz="1200" b="1" i="0" spc="400">
                <a:solidFill>
                  <a:srgbClr val="C5E063"/>
                </a:solidFill>
                <a:latin typeface="Calibri"/>
              </a:rPr>
              <a:t>—  AI Learning Hub</a:t>
            </a:r>
          </a:p>
        </p:txBody>
      </p:sp>
      <p:sp>
        <p:nvSpPr>
          <p:cNvPr id="9" name="TextBox 8"/>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0" name="TextBox 9"/>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BIG IDEA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1 min</a:t>
            </a:r>
          </a:p>
        </p:txBody>
      </p:sp>
      <p:sp>
        <p:nvSpPr>
          <p:cNvPr id="5" name="TextBox 4"/>
          <p:cNvSpPr txBox="1"/>
          <p:nvPr/>
        </p:nvSpPr>
        <p:spPr>
          <a:xfrm>
            <a:off x="548640" y="114300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END OF LESSON 12</a:t>
            </a:r>
          </a:p>
        </p:txBody>
      </p:sp>
      <p:sp>
        <p:nvSpPr>
          <p:cNvPr id="6" name="TextBox 5"/>
          <p:cNvSpPr txBox="1"/>
          <p:nvPr/>
        </p:nvSpPr>
        <p:spPr>
          <a:xfrm>
            <a:off x="548640" y="1417320"/>
            <a:ext cx="10515600" cy="1097280"/>
          </a:xfrm>
          <a:prstGeom prst="rect">
            <a:avLst/>
          </a:prstGeom>
          <a:noFill/>
        </p:spPr>
        <p:txBody>
          <a:bodyPr wrap="square" lIns="0" rIns="0" tIns="0" bIns="0" anchor="t">
            <a:spAutoFit/>
          </a:bodyPr>
          <a:lstStyle/>
          <a:p>
            <a:pPr algn="l"/>
            <a:r>
              <a:rPr sz="3400" b="0" i="0">
                <a:solidFill>
                  <a:srgbClr val="FFFFFF"/>
                </a:solidFill>
                <a:latin typeface="Georgia"/>
              </a:rPr>
              <a:t>What you can now do</a:t>
            </a:r>
          </a:p>
        </p:txBody>
      </p:sp>
      <p:sp>
        <p:nvSpPr>
          <p:cNvPr id="7" name="TextBox 6"/>
          <p:cNvSpPr txBox="1"/>
          <p:nvPr/>
        </p:nvSpPr>
        <p:spPr>
          <a:xfrm>
            <a:off x="548640" y="224028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Each one of these is now part of your working vocabulary.</a:t>
            </a:r>
          </a:p>
        </p:txBody>
      </p:sp>
      <p:sp>
        <p:nvSpPr>
          <p:cNvPr id="8" name="Oval 7"/>
          <p:cNvSpPr/>
          <p:nvPr/>
        </p:nvSpPr>
        <p:spPr>
          <a:xfrm>
            <a:off x="640080" y="301752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17520"/>
            <a:ext cx="365760" cy="36576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10" name="TextBox 9"/>
          <p:cNvSpPr txBox="1"/>
          <p:nvPr/>
        </p:nvSpPr>
        <p:spPr>
          <a:xfrm>
            <a:off x="1188720" y="301752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Pick the right tool — never the loudest one.</a:t>
            </a:r>
          </a:p>
        </p:txBody>
      </p:sp>
      <p:sp>
        <p:nvSpPr>
          <p:cNvPr id="11" name="Oval 10"/>
          <p:cNvSpPr/>
          <p:nvPr/>
        </p:nvSpPr>
        <p:spPr>
          <a:xfrm>
            <a:off x="640080" y="352044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20440"/>
            <a:ext cx="365760" cy="36576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3" name="TextBox 12"/>
          <p:cNvSpPr txBox="1"/>
          <p:nvPr/>
        </p:nvSpPr>
        <p:spPr>
          <a:xfrm>
            <a:off x="1188720" y="352044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Practice the framework on a real example.</a:t>
            </a:r>
          </a:p>
        </p:txBody>
      </p:sp>
      <p:sp>
        <p:nvSpPr>
          <p:cNvPr id="14" name="Oval 13"/>
          <p:cNvSpPr/>
          <p:nvPr/>
        </p:nvSpPr>
        <p:spPr>
          <a:xfrm>
            <a:off x="640080" y="402336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23360"/>
            <a:ext cx="365760" cy="36576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6" name="TextBox 15"/>
          <p:cNvSpPr txBox="1"/>
          <p:nvPr/>
        </p:nvSpPr>
        <p:spPr>
          <a:xfrm>
            <a:off x="1188720" y="402336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Watch for the three classic pitfalls.</a:t>
            </a:r>
          </a:p>
        </p:txBody>
      </p:sp>
      <p:sp>
        <p:nvSpPr>
          <p:cNvPr id="17" name="Oval 16"/>
          <p:cNvSpPr/>
          <p:nvPr/>
        </p:nvSpPr>
        <p:spPr>
          <a:xfrm>
            <a:off x="640080" y="452628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526280"/>
            <a:ext cx="365760" cy="36576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9" name="TextBox 18"/>
          <p:cNvSpPr txBox="1"/>
          <p:nvPr/>
        </p:nvSpPr>
        <p:spPr>
          <a:xfrm>
            <a:off x="1188720" y="452628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Document your decision in one sentence.</a:t>
            </a:r>
          </a:p>
        </p:txBody>
      </p:sp>
      <p:sp>
        <p:nvSpPr>
          <p:cNvPr id="20" name="Oval 19"/>
          <p:cNvSpPr/>
          <p:nvPr/>
        </p:nvSpPr>
        <p:spPr>
          <a:xfrm>
            <a:off x="640080" y="502920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029200"/>
            <a:ext cx="365760" cy="36576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2" name="TextBox 21"/>
          <p:cNvSpPr txBox="1"/>
          <p:nvPr/>
        </p:nvSpPr>
        <p:spPr>
          <a:xfrm>
            <a:off x="1188720" y="502920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Carry the discipline forward to the next lesson.</a:t>
            </a:r>
          </a:p>
        </p:txBody>
      </p:sp>
      <p:sp>
        <p:nvSpPr>
          <p:cNvPr id="23" name="Rounded Rectangle 22"/>
          <p:cNvSpPr/>
          <p:nvPr/>
        </p:nvSpPr>
        <p:spPr>
          <a:xfrm>
            <a:off x="548640" y="5669280"/>
            <a:ext cx="11064240" cy="502920"/>
          </a:xfrm>
          <a:prstGeom prst="roundRect">
            <a:avLst/>
          </a:prstGeom>
          <a:solidFill>
            <a:srgbClr val="224036"/>
          </a:solidFill>
          <a:ln w="9525">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69280"/>
            <a:ext cx="10607040" cy="502920"/>
          </a:xfrm>
          <a:prstGeom prst="rect">
            <a:avLst/>
          </a:prstGeom>
          <a:noFill/>
        </p:spPr>
        <p:txBody>
          <a:bodyPr wrap="square" lIns="0" rIns="0" tIns="0" bIns="0" anchor="ctr">
            <a:spAutoFit/>
          </a:bodyPr>
          <a:lstStyle/>
          <a:p>
            <a:pPr algn="l"/>
            <a:r>
              <a:rPr sz="1100" b="1" i="0" spc="400">
                <a:solidFill>
                  <a:srgbClr val="C5E063"/>
                </a:solidFill>
                <a:latin typeface="Calibri"/>
              </a:rPr>
              <a:t>NEXT  →   Lesson 4 — Customer Discovery.</a:t>
            </a:r>
          </a:p>
        </p:txBody>
      </p:sp>
      <p:sp>
        <p:nvSpPr>
          <p:cNvPr id="25" name="TextBox 2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6" name="TextBox 2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WRAP</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