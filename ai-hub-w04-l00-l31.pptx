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cover_hero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0"/>
            <a:ext cx="57908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6400800" y="0"/>
            <a:ext cx="5790895" cy="6858000"/>
          </a:xfrm>
          <a:prstGeom prst="rect">
            <a:avLst/>
          </a:prstGeom>
          <a:solidFill>
            <a:srgbClr val="1A352B">
              <a:alpha val="3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515600" y="502920"/>
            <a:ext cx="1188720" cy="1188720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0" y="502920"/>
            <a:ext cx="1188720" cy="11887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4400" b="1" i="0">
                <a:solidFill>
                  <a:srgbClr val="2C5244"/>
                </a:solidFill>
                <a:latin typeface="Georgia"/>
              </a:rPr>
              <a:t>L1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0" y="228600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WHAT'S INSIDE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0" y="2743200"/>
            <a:ext cx="3657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1" i="0">
                <a:solidFill>
                  <a:srgbClr val="C5E063"/>
                </a:solidFill>
                <a:latin typeface="Georgia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60920" y="2743200"/>
            <a:ext cx="46634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Concurrency vs parallelism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0" y="3337560"/>
            <a:ext cx="3657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1" i="0">
                <a:solidFill>
                  <a:srgbClr val="C5E063"/>
                </a:solidFill>
                <a:latin typeface="Georgia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60920" y="3337560"/>
            <a:ext cx="46634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async def + await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0" y="3931920"/>
            <a:ext cx="3657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1" i="0">
                <a:solidFill>
                  <a:srgbClr val="C5E063"/>
                </a:solidFill>
                <a:latin typeface="Georgia"/>
              </a:rPr>
              <a:t>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60920" y="3931920"/>
            <a:ext cx="46634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Pydantic — types at the boundary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0" y="4526280"/>
            <a:ext cx="3657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1" i="0">
                <a:solidFill>
                  <a:srgbClr val="C5E063"/>
                </a:solidFill>
                <a:latin typeface="Georgia"/>
              </a:rPr>
              <a:t>04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60920" y="4526280"/>
            <a:ext cx="46634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Error handling — at the boundary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0" y="5120640"/>
            <a:ext cx="3657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1" i="0">
                <a:solidFill>
                  <a:srgbClr val="C5E063"/>
                </a:solidFill>
                <a:latin typeface="Georgia"/>
              </a:rPr>
              <a:t>05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60920" y="5120640"/>
            <a:ext cx="46634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Fan-out demo — 40× speed-up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676656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400">
                <a:solidFill>
                  <a:srgbClr val="FFFFFF"/>
                </a:solidFill>
                <a:latin typeface="Calibri"/>
              </a:rPr>
              <a:t>WEEK 4   /   LESSON 1   /   50 MINUTES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1508760"/>
            <a:ext cx="6400800" cy="2468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FFFFFF"/>
                </a:solidFill>
                <a:latin typeface="Georgia"/>
              </a:rPr>
              <a:t>Advanced Python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4160520"/>
            <a:ext cx="6400800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E5E7EB"/>
                </a:solidFill>
                <a:latin typeface="Calibri"/>
              </a:rPr>
              <a:t>Any AI service that calls an API, reads a file, or hits a DB is IO-bound. asyncio turns a single thread into a scheduler for thousands of in-flight tasks — with zero extra infra.
What percentage of your Week-3 API calls are actually waiting on IO?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1 OF 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COVER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1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1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1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1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2C5244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0F1F1A"/>
                </a:solidFill>
                <a:latin typeface="Calibri"/>
              </a:rPr>
              <a:t>WEEK 1   /   LESSON 4   /   2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0F766E"/>
                </a:solidFill>
                <a:latin typeface="Calibri"/>
              </a:rPr>
              <a:t>WHY  THIS  LESSON  MATTERS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0" i="0">
                <a:solidFill>
                  <a:srgbClr val="0F1F1A"/>
                </a:solidFill>
                <a:latin typeface="Georgia"/>
              </a:rPr>
              <a:t>5 QPS vs 500 QPS — the gap is async.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697480"/>
            <a:ext cx="457200" cy="45720"/>
          </a:xfrm>
          <a:prstGeom prst="rect">
            <a:avLst/>
          </a:prstGeom>
          <a:solidFill>
            <a:srgbClr val="A6C2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3200400"/>
            <a:ext cx="2594610" cy="192024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3429000"/>
            <a:ext cx="213741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C5E063"/>
                </a:solidFill>
                <a:latin typeface="Calibri"/>
              </a:rPr>
              <a:t>WHY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749040"/>
            <a:ext cx="213741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Georgia"/>
              </a:rPr>
              <a:t>Real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526280"/>
            <a:ext cx="213741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E5E7EB"/>
                </a:solidFill>
                <a:latin typeface="Calibri"/>
              </a:rPr>
              <a:t>A real reason this matters in industry today.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371850" y="3200400"/>
            <a:ext cx="2594610" cy="192024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00450" y="3429000"/>
            <a:ext cx="213741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C5E063"/>
                </a:solidFill>
                <a:latin typeface="Calibri"/>
              </a:rPr>
              <a:t>SCALE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00450" y="3749040"/>
            <a:ext cx="213741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Georgia"/>
              </a:rPr>
              <a:t>Today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00450" y="4526280"/>
            <a:ext cx="213741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E5E7EB"/>
                </a:solidFill>
                <a:latin typeface="Calibri"/>
              </a:rPr>
              <a:t>A real reason this matters in industry today.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95060" y="3200400"/>
            <a:ext cx="2594610" cy="192024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23660" y="3429000"/>
            <a:ext cx="213741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C5E063"/>
                </a:solidFill>
                <a:latin typeface="Calibri"/>
              </a:rPr>
              <a:t>SPEED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23660" y="3749040"/>
            <a:ext cx="213741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Georgia"/>
              </a:rPr>
              <a:t>Now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23660" y="4526280"/>
            <a:ext cx="213741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E5E7EB"/>
                </a:solidFill>
                <a:latin typeface="Calibri"/>
              </a:rPr>
              <a:t>A real reason this matters in industry today.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018270" y="3200400"/>
            <a:ext cx="2594610" cy="192024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246870" y="3429000"/>
            <a:ext cx="213741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C5E063"/>
                </a:solidFill>
                <a:latin typeface="Calibri"/>
              </a:rPr>
              <a:t>IMPACT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46870" y="3749040"/>
            <a:ext cx="213741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Georgia"/>
              </a:rPr>
              <a:t>Yours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46870" y="4526280"/>
            <a:ext cx="213741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E5E7EB"/>
                </a:solidFill>
                <a:latin typeface="Calibri"/>
              </a:rPr>
              <a:t>A real reason this matters in industry today.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475569"/>
                </a:solidFill>
                <a:latin typeface="Calibri"/>
              </a:rPr>
              <a:t>AI  LEARNING  HUB   ·   LESSON 4 OF 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475569"/>
                </a:solidFill>
                <a:latin typeface="Calibri"/>
              </a:rPr>
              <a:t>HOOK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1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1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1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1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" dur="1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2" dur="1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2C5244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0F1F1A"/>
                </a:solidFill>
                <a:latin typeface="Calibri"/>
              </a:rPr>
              <a:t>WEEK 1   /   LESSON 4   /   2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0F766E"/>
                </a:solidFill>
                <a:latin typeface="Calibri"/>
              </a:rPr>
              <a:t>LEARNING OUTCOMES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00584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 i="0">
                <a:solidFill>
                  <a:srgbClr val="0F1F1A"/>
                </a:solidFill>
                <a:latin typeface="Georgia"/>
              </a:rPr>
              <a:t>By the end of this lesson, you will be able to —</a:t>
            </a:r>
          </a:p>
        </p:txBody>
      </p:sp>
      <p:sp>
        <p:nvSpPr>
          <p:cNvPr id="7" name="Oval 6"/>
          <p:cNvSpPr/>
          <p:nvPr/>
        </p:nvSpPr>
        <p:spPr>
          <a:xfrm>
            <a:off x="548640" y="2788920"/>
            <a:ext cx="411480" cy="41148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788920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2C5244"/>
                </a:solidFill>
                <a:latin typeface="Georgia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743200"/>
            <a:ext cx="480060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0F1F1A"/>
                </a:solidFill>
                <a:latin typeface="Calibri"/>
              </a:rPr>
              <a:t>Concurrency vs parallelism in one sentence each.</a:t>
            </a:r>
          </a:p>
        </p:txBody>
      </p:sp>
      <p:sp>
        <p:nvSpPr>
          <p:cNvPr id="10" name="Oval 9"/>
          <p:cNvSpPr/>
          <p:nvPr/>
        </p:nvSpPr>
        <p:spPr>
          <a:xfrm>
            <a:off x="6080760" y="2788920"/>
            <a:ext cx="411480" cy="41148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080760" y="2788920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2C5244"/>
                </a:solidFill>
                <a:latin typeface="Georgia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29400" y="2743200"/>
            <a:ext cx="480060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0F1F1A"/>
                </a:solidFill>
                <a:latin typeface="Calibri"/>
              </a:rPr>
              <a:t>Write async def + await correctly.</a:t>
            </a:r>
          </a:p>
        </p:txBody>
      </p:sp>
      <p:sp>
        <p:nvSpPr>
          <p:cNvPr id="13" name="Oval 12"/>
          <p:cNvSpPr/>
          <p:nvPr/>
        </p:nvSpPr>
        <p:spPr>
          <a:xfrm>
            <a:off x="548640" y="3657600"/>
            <a:ext cx="411480" cy="41148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3657600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2C5244"/>
                </a:solidFill>
                <a:latin typeface="Georgia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3611880"/>
            <a:ext cx="480060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0F1F1A"/>
                </a:solidFill>
                <a:latin typeface="Calibri"/>
              </a:rPr>
              <a:t>Fan out N network calls with asyncio.gather.</a:t>
            </a:r>
          </a:p>
        </p:txBody>
      </p:sp>
      <p:sp>
        <p:nvSpPr>
          <p:cNvPr id="16" name="Oval 15"/>
          <p:cNvSpPr/>
          <p:nvPr/>
        </p:nvSpPr>
        <p:spPr>
          <a:xfrm>
            <a:off x="6080760" y="3657600"/>
            <a:ext cx="411480" cy="41148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080760" y="3657600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2C5244"/>
                </a:solidFill>
                <a:latin typeface="Georgia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29400" y="3611880"/>
            <a:ext cx="480060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0F1F1A"/>
                </a:solidFill>
                <a:latin typeface="Calibri"/>
              </a:rPr>
              <a:t>Validate API payloads with Pydantic.</a:t>
            </a:r>
          </a:p>
        </p:txBody>
      </p:sp>
      <p:sp>
        <p:nvSpPr>
          <p:cNvPr id="19" name="Oval 18"/>
          <p:cNvSpPr/>
          <p:nvPr/>
        </p:nvSpPr>
        <p:spPr>
          <a:xfrm>
            <a:off x="548640" y="4526280"/>
            <a:ext cx="411480" cy="41148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4526280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2C5244"/>
                </a:solidFill>
                <a:latin typeface="Georgia"/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" y="4480560"/>
            <a:ext cx="480060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0F1F1A"/>
                </a:solidFill>
                <a:latin typeface="Calibri"/>
              </a:rPr>
              <a:t>Report validation errors cleanly with 422.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475569"/>
                </a:solidFill>
                <a:latin typeface="Calibri"/>
              </a:rPr>
              <a:t>AI  LEARNING  HUB   ·   LESSON 4 OF 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475569"/>
                </a:solidFill>
                <a:latin typeface="Calibri"/>
              </a:rPr>
              <a:t>OUTCOMES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1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1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1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1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4   /   2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AGENDA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00584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0" i="0">
                <a:solidFill>
                  <a:srgbClr val="FFFFFF"/>
                </a:solidFill>
                <a:latin typeface="Georgia"/>
              </a:rPr>
              <a:t>What we'll cover today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286000"/>
            <a:ext cx="100584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E5E7EB"/>
                </a:solidFill>
                <a:latin typeface="Calibri"/>
              </a:rPr>
              <a:t>Short, sequenced parts. Each one builds on the last.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3108960"/>
            <a:ext cx="2628900" cy="246888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3337560"/>
            <a:ext cx="21717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C5E063"/>
                </a:solidFill>
                <a:latin typeface="Georgia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977640"/>
            <a:ext cx="21717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FFFFFF"/>
                </a:solidFill>
                <a:latin typeface="Georgia"/>
              </a:rPr>
              <a:t>Concurrency vs parallelism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663440"/>
            <a:ext cx="21717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E5E7EB"/>
                </a:solidFill>
                <a:latin typeface="Calibri"/>
              </a:rPr>
              <a:t>One sentence each — memorise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360420" y="3108960"/>
            <a:ext cx="2628900" cy="246888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89020" y="3337560"/>
            <a:ext cx="21717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C5E063"/>
                </a:solidFill>
                <a:latin typeface="Georgia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89020" y="3977640"/>
            <a:ext cx="21717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FFFFFF"/>
                </a:solidFill>
                <a:latin typeface="Georgia"/>
              </a:rPr>
              <a:t>async def + await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89020" y="4663440"/>
            <a:ext cx="21717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E5E7EB"/>
                </a:solidFill>
                <a:latin typeface="Calibri"/>
              </a:rPr>
              <a:t>The vocabulary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72200" y="3108960"/>
            <a:ext cx="2628900" cy="246888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3337560"/>
            <a:ext cx="21717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C5E063"/>
                </a:solidFill>
                <a:latin typeface="Georgia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3977640"/>
            <a:ext cx="21717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FFFFFF"/>
                </a:solidFill>
                <a:latin typeface="Georgia"/>
              </a:rPr>
              <a:t>Pydantic — types at the...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4663440"/>
            <a:ext cx="21717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E5E7EB"/>
                </a:solidFill>
                <a:latin typeface="Calibri"/>
              </a:rPr>
              <a:t>One Pydantic model per endpoint. Errors auto-route to 422 with field-level detail.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983980" y="3108960"/>
            <a:ext cx="2628900" cy="246888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212580" y="3337560"/>
            <a:ext cx="21717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C5E063"/>
                </a:solidFill>
                <a:latin typeface="Georgia"/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12580" y="3977640"/>
            <a:ext cx="21717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FFFFFF"/>
                </a:solidFill>
                <a:latin typeface="Georgia"/>
              </a:rPr>
              <a:t>Error handling — at the...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12580" y="4663440"/>
            <a:ext cx="21717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E5E7EB"/>
                </a:solidFill>
                <a:latin typeface="Calibri"/>
              </a:rPr>
              <a:t>Exceptions flow up; 422 goes out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4 OF 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AGENDA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1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1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1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1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" dur="1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2" dur="1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35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4   /   1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371600"/>
            <a:ext cx="512064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0" b="1" i="0">
                <a:solidFill>
                  <a:srgbClr val="C5E063"/>
                </a:solidFill>
                <a:latin typeface="Georgia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0" y="2103120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600">
                <a:solidFill>
                  <a:srgbClr val="C5E063"/>
                </a:solidFill>
                <a:latin typeface="Calibri"/>
              </a:rPr>
              <a:t>PART 1  OF 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0" y="2606040"/>
            <a:ext cx="64008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Georgia"/>
              </a:rPr>
              <a:t>Concurrency vs parallelism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0" y="4160520"/>
            <a:ext cx="457200" cy="45720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0" y="4343400"/>
            <a:ext cx="640080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E5E7EB"/>
                </a:solidFill>
                <a:latin typeface="Calibri"/>
              </a:rPr>
              <a:t>One sentence each — memorise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4 OF 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PART 1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4   /   3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CONCEPT 1  OF 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6400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  <a:latin typeface="Georgia"/>
              </a:rPr>
              <a:t>Concurrency vs parallelism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606040"/>
            <a:ext cx="6400800" cy="3291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 i="0">
                <a:solidFill>
                  <a:srgbClr val="E5E7EB"/>
                </a:solidFill>
                <a:latin typeface="Calibri"/>
              </a:rPr>
              <a:t>Concurrency: many things IN FLIGHT at once.
Parallelism: many things EXECUTING at once.
async = concurrency (single thread, IO yields).
multiprocessing = parallelism (CPU cores).
PICK BY
IO vs CPU
IO-bound → async. CPU-bound → multiprocessing.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0" y="1417320"/>
            <a:ext cx="4297680" cy="4572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0" y="1691640"/>
            <a:ext cx="3749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DEFINITION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20" y="2057400"/>
            <a:ext cx="374904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Georgia"/>
              </a:rPr>
              <a:t>Concurrency vs parallelism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0" y="3246120"/>
            <a:ext cx="374904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E5E7EB"/>
                </a:solidFill>
                <a:latin typeface="Calibri"/>
              </a:rPr>
              <a:t>One sentence each — memorise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589520" y="4892040"/>
            <a:ext cx="365760" cy="36576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89520" y="5029200"/>
            <a:ext cx="3749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500">
                <a:solidFill>
                  <a:srgbClr val="C5E063"/>
                </a:solidFill>
                <a:latin typeface="Calibri"/>
              </a:rPr>
              <a:t>EXAMPLE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89520" y="5303520"/>
            <a:ext cx="37490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i="1">
                <a:solidFill>
                  <a:srgbClr val="FFFFFF"/>
                </a:solidFill>
                <a:latin typeface="Calibri"/>
              </a:rPr>
              <a:t>Real-world example: applies directly to Indian industry contexts.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4 OF 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P1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4   /   3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CONCEPT 2  OF 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6400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  <a:latin typeface="Georgia"/>
              </a:rPr>
              <a:t>async def + await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606040"/>
            <a:ext cx="6400800" cy="3291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 i="0">
                <a:solidFill>
                  <a:srgbClr val="E5E7EB"/>
                </a:solidFill>
                <a:latin typeface="Calibri"/>
              </a:rPr>
              <a:t>async def fetch(url): returns a coroutine.
await runs it; yields on IO.
asyncio.gather(*tasks) fans out in parallel.
Never call blocking code (time.sleep, requests) inside async.
CORE RULE
Never block
Use await asyncio.sleep() and async HTTP clients only.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0" y="1417320"/>
            <a:ext cx="4297680" cy="4572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0" y="1691640"/>
            <a:ext cx="3749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KEY  POINTS</a:t>
            </a:r>
          </a:p>
        </p:txBody>
      </p:sp>
      <p:sp>
        <p:nvSpPr>
          <p:cNvPr id="10" name="Oval 9"/>
          <p:cNvSpPr/>
          <p:nvPr/>
        </p:nvSpPr>
        <p:spPr>
          <a:xfrm>
            <a:off x="7635240" y="2359152"/>
            <a:ext cx="109728" cy="109728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63840" y="2194560"/>
            <a:ext cx="34747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async def fetch(url): returns a coroutine</a:t>
            </a:r>
          </a:p>
        </p:txBody>
      </p:sp>
      <p:sp>
        <p:nvSpPr>
          <p:cNvPr id="12" name="Oval 11"/>
          <p:cNvSpPr/>
          <p:nvPr/>
        </p:nvSpPr>
        <p:spPr>
          <a:xfrm>
            <a:off x="7635240" y="3072384"/>
            <a:ext cx="109728" cy="109728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63840" y="2907792"/>
            <a:ext cx="34747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await runs it; yields on IO</a:t>
            </a:r>
          </a:p>
        </p:txBody>
      </p:sp>
      <p:sp>
        <p:nvSpPr>
          <p:cNvPr id="14" name="Oval 13"/>
          <p:cNvSpPr/>
          <p:nvPr/>
        </p:nvSpPr>
        <p:spPr>
          <a:xfrm>
            <a:off x="7635240" y="3785616"/>
            <a:ext cx="109728" cy="109728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63840" y="3621024"/>
            <a:ext cx="34747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asyncio.gather(*tasks) fans out in parallel</a:t>
            </a:r>
          </a:p>
        </p:txBody>
      </p:sp>
      <p:sp>
        <p:nvSpPr>
          <p:cNvPr id="16" name="Oval 15"/>
          <p:cNvSpPr/>
          <p:nvPr/>
        </p:nvSpPr>
        <p:spPr>
          <a:xfrm>
            <a:off x="7635240" y="4498848"/>
            <a:ext cx="109728" cy="109728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863840" y="4334256"/>
            <a:ext cx="34747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Never call blocking code (time.sleep, requests) inside async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4 OF 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P2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4   /   3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CONCEPT 3  OF 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6400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  <a:latin typeface="Georgia"/>
              </a:rPr>
              <a:t>Pydantic — types at the boundary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606040"/>
            <a:ext cx="6400800" cy="3291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 i="0">
                <a:solidFill>
                  <a:srgbClr val="E5E7EB"/>
                </a:solidFill>
                <a:latin typeface="Calibri"/>
              </a:rPr>
              <a:t>One Pydantic model per endpoint. Errors auto-route to 422 with field-level detail.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0" y="1417320"/>
            <a:ext cx="4297680" cy="4572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0" y="1691640"/>
            <a:ext cx="3749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DEFINITION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20" y="2057400"/>
            <a:ext cx="374904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Georgia"/>
              </a:rPr>
              <a:t>Pydantic — types at the boundary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0" y="3246120"/>
            <a:ext cx="374904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E5E7EB"/>
                </a:solidFill>
                <a:latin typeface="Calibri"/>
              </a:rPr>
              <a:t>One Pydantic model per endpoint. Errors auto-route to 422 with field-level detail.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589520" y="4892040"/>
            <a:ext cx="365760" cy="36576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89520" y="5029200"/>
            <a:ext cx="3749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500">
                <a:solidFill>
                  <a:srgbClr val="C5E063"/>
                </a:solidFill>
                <a:latin typeface="Calibri"/>
              </a:rPr>
              <a:t>EXAMPLE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89520" y="5303520"/>
            <a:ext cx="37490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i="1">
                <a:solidFill>
                  <a:srgbClr val="FFFFFF"/>
                </a:solidFill>
                <a:latin typeface="Calibri"/>
              </a:rPr>
              <a:t>Real-world example: applies directly to Indian industry contexts.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4 OF 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P3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4   /   3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CONCEPT 4  OF 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6400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  <a:latin typeface="Georgia"/>
              </a:rPr>
              <a:t>Error handling — at the boundary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606040"/>
            <a:ext cx="6400800" cy="3291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 i="0">
                <a:solidFill>
                  <a:srgbClr val="E5E7EB"/>
                </a:solidFill>
                <a:latin typeface="Calibri"/>
              </a:rPr>
              <a:t>Let Pydantic raise ValidationError naturally.
FastAPI maps it to HTTP 422 + structured body.
Never swallow exceptions — log, surface, propagate.
Use tenacity for transient retry logic.
STATUS
422 = validation
Unprocessable Entity. Specific, machine-readable, frontend-friendly.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0" y="1417320"/>
            <a:ext cx="4297680" cy="4572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0" y="1691640"/>
            <a:ext cx="3749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KEY  POINTS</a:t>
            </a:r>
          </a:p>
        </p:txBody>
      </p:sp>
      <p:sp>
        <p:nvSpPr>
          <p:cNvPr id="10" name="Oval 9"/>
          <p:cNvSpPr/>
          <p:nvPr/>
        </p:nvSpPr>
        <p:spPr>
          <a:xfrm>
            <a:off x="7635240" y="2359152"/>
            <a:ext cx="109728" cy="109728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63840" y="2194560"/>
            <a:ext cx="34747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Let Pydantic raise ValidationError naturally</a:t>
            </a:r>
          </a:p>
        </p:txBody>
      </p:sp>
      <p:sp>
        <p:nvSpPr>
          <p:cNvPr id="12" name="Oval 11"/>
          <p:cNvSpPr/>
          <p:nvPr/>
        </p:nvSpPr>
        <p:spPr>
          <a:xfrm>
            <a:off x="7635240" y="3072384"/>
            <a:ext cx="109728" cy="109728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63840" y="2907792"/>
            <a:ext cx="34747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FastAPI maps it to HTTP 422 + structured body</a:t>
            </a:r>
          </a:p>
        </p:txBody>
      </p:sp>
      <p:sp>
        <p:nvSpPr>
          <p:cNvPr id="14" name="Oval 13"/>
          <p:cNvSpPr/>
          <p:nvPr/>
        </p:nvSpPr>
        <p:spPr>
          <a:xfrm>
            <a:off x="7635240" y="3785616"/>
            <a:ext cx="109728" cy="109728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63840" y="3621024"/>
            <a:ext cx="34747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Never swallow exceptions — log, surface, propagate</a:t>
            </a:r>
          </a:p>
        </p:txBody>
      </p:sp>
      <p:sp>
        <p:nvSpPr>
          <p:cNvPr id="16" name="Oval 15"/>
          <p:cNvSpPr/>
          <p:nvPr/>
        </p:nvSpPr>
        <p:spPr>
          <a:xfrm>
            <a:off x="7635240" y="4498848"/>
            <a:ext cx="109728" cy="109728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863840" y="4334256"/>
            <a:ext cx="34747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Use tenacity for transient retry logic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4 OF 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P4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35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4   /   1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371600"/>
            <a:ext cx="512064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0" b="1" i="0">
                <a:solidFill>
                  <a:srgbClr val="C5E063"/>
                </a:solidFill>
                <a:latin typeface="Georgia"/>
              </a:rP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0" y="2103120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600">
                <a:solidFill>
                  <a:srgbClr val="C5E063"/>
                </a:solidFill>
                <a:latin typeface="Calibri"/>
              </a:rPr>
              <a:t>PART 2  OF 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0" y="2606040"/>
            <a:ext cx="64008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Georgia"/>
              </a:rPr>
              <a:t>Engage and reflect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0" y="4160520"/>
            <a:ext cx="457200" cy="45720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0" y="4343400"/>
            <a:ext cx="640080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E5E7EB"/>
                </a:solidFill>
                <a:latin typeface="Calibri"/>
              </a:rPr>
              <a:t>Pause, talk, and connect what you just learned to your own work.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4 OF 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PART 2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4   /   3 min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143000"/>
            <a:ext cx="2377440" cy="365760"/>
          </a:xfrm>
          <a:prstGeom prst="round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43000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 spc="500">
                <a:solidFill>
                  <a:srgbClr val="2C5244"/>
                </a:solidFill>
                <a:latin typeface="Calibri"/>
              </a:rPr>
              <a:t>✦  THINK · PAIR · SHARE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63240" y="120700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ACTIVITY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69164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0">
                <a:solidFill>
                  <a:srgbClr val="FFFFFF"/>
                </a:solidFill>
                <a:latin typeface="Georgia"/>
              </a:rPr>
              <a:t>Measure the 40× speed-up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743200"/>
            <a:ext cx="7040880" cy="338328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926080"/>
            <a:ext cx="6492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PROMPT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246120"/>
            <a:ext cx="6492240" cy="274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 i="1">
                <a:solidFill>
                  <a:srgbClr val="FFFFFF"/>
                </a:solidFill>
                <a:latin typeface="Calibri"/>
              </a:rPr>
              <a:t>Apply the four concepts above to one real example from your own week.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818120" y="2743200"/>
            <a:ext cx="3794760" cy="3383280"/>
          </a:xfrm>
          <a:prstGeom prst="rect">
            <a:avLst/>
          </a:prstGeom>
          <a:solidFill>
            <a:srgbClr val="224036"/>
          </a:solidFill>
          <a:ln w="6350">
            <a:solidFill>
              <a:srgbClr val="DCEC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92440" y="2926080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HOW TO RUN IT</a:t>
            </a:r>
          </a:p>
        </p:txBody>
      </p:sp>
      <p:sp>
        <p:nvSpPr>
          <p:cNvPr id="14" name="Oval 13"/>
          <p:cNvSpPr/>
          <p:nvPr/>
        </p:nvSpPr>
        <p:spPr>
          <a:xfrm>
            <a:off x="8092440" y="3246120"/>
            <a:ext cx="292608" cy="292608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92440" y="3246120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2C5244"/>
                </a:solidFill>
                <a:latin typeface="Georgia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20" y="3246120"/>
            <a:ext cx="30175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17" name="Oval 16"/>
          <p:cNvSpPr/>
          <p:nvPr/>
        </p:nvSpPr>
        <p:spPr>
          <a:xfrm>
            <a:off x="8092440" y="3886200"/>
            <a:ext cx="292608" cy="292608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92440" y="3886200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2C5244"/>
                </a:solidFill>
                <a:latin typeface="Georgia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0" y="3886200"/>
            <a:ext cx="30175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20" name="Oval 19"/>
          <p:cNvSpPr/>
          <p:nvPr/>
        </p:nvSpPr>
        <p:spPr>
          <a:xfrm>
            <a:off x="8092440" y="4526279"/>
            <a:ext cx="292608" cy="292608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92440" y="4526279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2C5244"/>
                </a:solidFill>
                <a:latin typeface="Georgia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03920" y="4526279"/>
            <a:ext cx="30175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23" name="Oval 22"/>
          <p:cNvSpPr/>
          <p:nvPr/>
        </p:nvSpPr>
        <p:spPr>
          <a:xfrm>
            <a:off x="8092440" y="5166359"/>
            <a:ext cx="292608" cy="292608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92440" y="5166359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2C5244"/>
                </a:solidFill>
                <a:latin typeface="Georgia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03920" y="5166359"/>
            <a:ext cx="30175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FFFFFF"/>
                </a:solidFill>
                <a:latin typeface="Calibri"/>
              </a:rPr>
              <a:t>Reveal: instructor confirms the canonical answer.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4 OF 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ACTIVITY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1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1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1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1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" dur="1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2" dur="1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7" dur="1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2" dur="1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2C5244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0F1F1A"/>
                </a:solidFill>
                <a:latin typeface="Calibri"/>
              </a:rPr>
              <a:t>WEEK 1   /   LESSON 4   /   2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0F766E"/>
                </a:solidFill>
                <a:latin typeface="Calibri"/>
              </a:rPr>
              <a:t>REFLECT  &amp;  APPLY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 i="0">
                <a:solidFill>
                  <a:srgbClr val="0F1F1A"/>
                </a:solidFill>
                <a:latin typeface="Georgia"/>
              </a:rPr>
              <a:t>Three questions before you close this lesson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28600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475569"/>
                </a:solidFill>
                <a:latin typeface="Calibri"/>
              </a:rPr>
              <a:t>Spend 60 seconds on each. Write the answers down — no scrolling, no shortcuts.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3200400"/>
            <a:ext cx="1106424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A6C2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3200400"/>
            <a:ext cx="777240" cy="822960"/>
          </a:xfrm>
          <a:prstGeom prst="rect">
            <a:avLst/>
          </a:prstGeom>
          <a:solidFill>
            <a:srgbClr val="2C5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3200400"/>
            <a:ext cx="77724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 i="0">
                <a:solidFill>
                  <a:srgbClr val="C5E063"/>
                </a:solidFill>
                <a:latin typeface="Georgia"/>
              </a:rPr>
              <a:t>Q1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3200400"/>
            <a:ext cx="996696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1">
                <a:solidFill>
                  <a:srgbClr val="0F1F1A"/>
                </a:solidFill>
                <a:latin typeface="Calibri"/>
              </a:rPr>
              <a:t>Which Python script of yours most needs asyncio right now?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4160520"/>
            <a:ext cx="1106424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A6C2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4160520"/>
            <a:ext cx="777240" cy="822960"/>
          </a:xfrm>
          <a:prstGeom prst="rect">
            <a:avLst/>
          </a:prstGeom>
          <a:solidFill>
            <a:srgbClr val="2C5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4160520"/>
            <a:ext cx="77724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 i="0">
                <a:solidFill>
                  <a:srgbClr val="C5E063"/>
                </a:solidFill>
                <a:latin typeface="Georgia"/>
              </a:rPr>
              <a:t>Q2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54480" y="4160520"/>
            <a:ext cx="996696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1">
                <a:solidFill>
                  <a:srgbClr val="0F1F1A"/>
                </a:solidFill>
                <a:latin typeface="Calibri"/>
              </a:rPr>
              <a:t>What validation error has bitten you that Pydantic would have caught?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5120640"/>
            <a:ext cx="1106424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A6C2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48640" y="5120640"/>
            <a:ext cx="777240" cy="822960"/>
          </a:xfrm>
          <a:prstGeom prst="rect">
            <a:avLst/>
          </a:prstGeom>
          <a:solidFill>
            <a:srgbClr val="2C5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5120640"/>
            <a:ext cx="77724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 i="0">
                <a:solidFill>
                  <a:srgbClr val="C5E063"/>
                </a:solidFill>
                <a:latin typeface="Georgia"/>
              </a:rPr>
              <a:t>Q3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54480" y="5120640"/>
            <a:ext cx="996696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1">
                <a:solidFill>
                  <a:srgbClr val="0F1F1A"/>
                </a:solidFill>
                <a:latin typeface="Calibri"/>
              </a:rPr>
              <a:t>When would you reach for multiprocessing instead?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475569"/>
                </a:solidFill>
                <a:latin typeface="Calibri"/>
              </a:rPr>
              <a:t>AI  LEARNING  HUB   ·   LESSON 4 OF 7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475569"/>
                </a:solidFill>
                <a:latin typeface="Calibri"/>
              </a:rPr>
              <a:t>REFLECT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1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1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35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4   /   1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371600"/>
            <a:ext cx="512064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0" b="1" i="0">
                <a:solidFill>
                  <a:srgbClr val="C5E063"/>
                </a:solidFill>
                <a:latin typeface="Georgia"/>
              </a:rPr>
              <a:t>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0" y="2103120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600">
                <a:solidFill>
                  <a:srgbClr val="C5E063"/>
                </a:solidFill>
                <a:latin typeface="Calibri"/>
              </a:rPr>
              <a:t>PART 3  OF 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0" y="2606040"/>
            <a:ext cx="64008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Georgia"/>
              </a:rPr>
              <a:t>Knowledge check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0" y="4160520"/>
            <a:ext cx="457200" cy="45720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0" y="4343400"/>
            <a:ext cx="640080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E5E7EB"/>
                </a:solidFill>
                <a:latin typeface="Calibri"/>
              </a:rPr>
              <a:t>Three short questions. One minute each. Honest answers only.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4 OF 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PART 3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4   /   2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KNOWLEDGE CHECK   ·   QUESTION 1  OF 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106424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200" b="1" i="0">
                <a:solidFill>
                  <a:srgbClr val="FFFFFF"/>
                </a:solidFill>
                <a:latin typeface="Georgia"/>
              </a:rPr>
              <a:t>Which is IO-bound?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3200400"/>
            <a:ext cx="5349240" cy="1143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31520" y="3474720"/>
            <a:ext cx="594360" cy="5943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347472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2C5244"/>
                </a:solidFill>
                <a:latin typeface="Georgia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08760" y="3200400"/>
            <a:ext cx="420624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Matrix multiply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63640" y="3200400"/>
            <a:ext cx="5349240" cy="1143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446520" y="3474720"/>
            <a:ext cx="594360" cy="5943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347472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2C5244"/>
                </a:solidFill>
                <a:latin typeface="Georgia"/>
              </a:rPr>
              <a:t>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23760" y="3200400"/>
            <a:ext cx="420624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Parsing 1M JSON lines from disk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4526280"/>
            <a:ext cx="5349240" cy="1143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31520" y="4800600"/>
            <a:ext cx="594360" cy="5943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480060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2C5244"/>
                </a:solidFill>
                <a:latin typeface="Georgia"/>
              </a:rPr>
              <a:t>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08760" y="4526280"/>
            <a:ext cx="420624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Image filter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63640" y="4526280"/>
            <a:ext cx="5349240" cy="1143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446520" y="4800600"/>
            <a:ext cx="594360" cy="5943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46520" y="480060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2C5244"/>
                </a:solidFill>
                <a:latin typeface="Georgia"/>
              </a:rPr>
              <a:t>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23760" y="4526280"/>
            <a:ext cx="420624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Pi calculation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4 OF 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Q1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1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1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1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1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" dur="1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4   /   2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ANSWER   ·   QUESTION 1  OF 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10642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1" i="1">
                <a:solidFill>
                  <a:srgbClr val="FFFFFF"/>
                </a:solidFill>
                <a:latin typeface="Georgia"/>
              </a:rPr>
              <a:t>Which is IO-bound?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743200"/>
            <a:ext cx="11064240" cy="1463040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77240" y="2971800"/>
            <a:ext cx="1005840" cy="1005840"/>
          </a:xfrm>
          <a:prstGeom prst="ellipse">
            <a:avLst/>
          </a:prstGeom>
          <a:solidFill>
            <a:srgbClr val="2C5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971800"/>
            <a:ext cx="1005840" cy="10058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3600" b="1" i="0">
                <a:solidFill>
                  <a:srgbClr val="C5E063"/>
                </a:solidFill>
                <a:latin typeface="Georgia"/>
              </a:rPr>
              <a:t>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65960" y="2880360"/>
            <a:ext cx="9509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2C5244"/>
                </a:solidFill>
                <a:latin typeface="Calibri"/>
              </a:rPr>
              <a:t>CORRECT  ANSWER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65960" y="3200400"/>
            <a:ext cx="95097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 i="0">
                <a:solidFill>
                  <a:srgbClr val="2C5244"/>
                </a:solidFill>
                <a:latin typeface="Georgia"/>
              </a:rPr>
              <a:t>Parsing 1M JSON lines from disk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4526280"/>
            <a:ext cx="11064240" cy="146304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4663440"/>
            <a:ext cx="10607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WHY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937760"/>
            <a:ext cx="1060704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IO-bound = disk or network wait dominates; asyncio helps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4 OF 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A1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4   /   2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KNOWLEDGE CHECK   ·   QUESTION 2  OF 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106424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200" b="1" i="0">
                <a:solidFill>
                  <a:srgbClr val="FFFFFF"/>
                </a:solidFill>
                <a:latin typeface="Georgia"/>
              </a:rPr>
              <a:t>Inside async code, time.sleep(3) causes: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3200400"/>
            <a:ext cx="5349240" cy="1143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31520" y="3474720"/>
            <a:ext cx="594360" cy="5943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347472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2C5244"/>
                </a:solidFill>
                <a:latin typeface="Georgia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08760" y="3200400"/>
            <a:ext cx="420624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Nothing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63640" y="3200400"/>
            <a:ext cx="5349240" cy="1143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446520" y="3474720"/>
            <a:ext cx="594360" cy="5943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347472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2C5244"/>
                </a:solidFill>
                <a:latin typeface="Georgia"/>
              </a:rPr>
              <a:t>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23760" y="3200400"/>
            <a:ext cx="420624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Blocks event loop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4526280"/>
            <a:ext cx="5349240" cy="1143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31520" y="4800600"/>
            <a:ext cx="594360" cy="5943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480060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2C5244"/>
                </a:solidFill>
                <a:latin typeface="Georgia"/>
              </a:rPr>
              <a:t>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08760" y="4526280"/>
            <a:ext cx="420624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Error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63640" y="4526280"/>
            <a:ext cx="5349240" cy="1143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446520" y="4800600"/>
            <a:ext cx="594360" cy="5943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46520" y="480060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2C5244"/>
                </a:solidFill>
                <a:latin typeface="Georgia"/>
              </a:rPr>
              <a:t>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23760" y="4526280"/>
            <a:ext cx="420624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Crash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4 OF 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Q2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1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1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1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1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" dur="1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4   /   2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ANSWER   ·   QUESTION 2  OF 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10642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1" i="1">
                <a:solidFill>
                  <a:srgbClr val="FFFFFF"/>
                </a:solidFill>
                <a:latin typeface="Georgia"/>
              </a:rPr>
              <a:t>Inside async code, time.sleep(3) causes: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743200"/>
            <a:ext cx="11064240" cy="1463040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77240" y="2971800"/>
            <a:ext cx="1005840" cy="1005840"/>
          </a:xfrm>
          <a:prstGeom prst="ellipse">
            <a:avLst/>
          </a:prstGeom>
          <a:solidFill>
            <a:srgbClr val="2C5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971800"/>
            <a:ext cx="1005840" cy="10058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3600" b="1" i="0">
                <a:solidFill>
                  <a:srgbClr val="C5E063"/>
                </a:solidFill>
                <a:latin typeface="Georgia"/>
              </a:rPr>
              <a:t>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65960" y="2880360"/>
            <a:ext cx="9509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2C5244"/>
                </a:solidFill>
                <a:latin typeface="Calibri"/>
              </a:rPr>
              <a:t>CORRECT  ANSWER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65960" y="3200400"/>
            <a:ext cx="95097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 i="0">
                <a:solidFill>
                  <a:srgbClr val="2C5244"/>
                </a:solidFill>
                <a:latin typeface="Georgia"/>
              </a:rPr>
              <a:t>Blocks event loop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4526280"/>
            <a:ext cx="11064240" cy="146304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4663440"/>
            <a:ext cx="10607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WHY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937760"/>
            <a:ext cx="1060704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It blocks the event loop, starving every other coroutine. Use await asyncio.sleep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4 OF 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A2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4   /   2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KNOWLEDGE CHECK   ·   QUESTION 3  OF 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106424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200" b="1" i="0">
                <a:solidFill>
                  <a:srgbClr val="FFFFFF"/>
                </a:solidFill>
                <a:latin typeface="Georgia"/>
              </a:rPr>
              <a:t>Pydantic validation failure → HTTP: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3200400"/>
            <a:ext cx="5349240" cy="1143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31520" y="3474720"/>
            <a:ext cx="594360" cy="5943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347472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2C5244"/>
                </a:solidFill>
                <a:latin typeface="Georgia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08760" y="3200400"/>
            <a:ext cx="420624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63640" y="3200400"/>
            <a:ext cx="5349240" cy="1143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446520" y="3474720"/>
            <a:ext cx="594360" cy="5943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347472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2C5244"/>
                </a:solidFill>
                <a:latin typeface="Georgia"/>
              </a:rPr>
              <a:t>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23760" y="3200400"/>
            <a:ext cx="420624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4526280"/>
            <a:ext cx="5349240" cy="1143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31520" y="4800600"/>
            <a:ext cx="594360" cy="5943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480060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2C5244"/>
                </a:solidFill>
                <a:latin typeface="Georgia"/>
              </a:rPr>
              <a:t>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08760" y="4526280"/>
            <a:ext cx="420624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Answer: D.  FastAPI maps ValidationError to 422 Unprocessable Entity.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63640" y="4526280"/>
            <a:ext cx="5349240" cy="1143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446520" y="4800600"/>
            <a:ext cx="594360" cy="5943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46520" y="480060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2C5244"/>
                </a:solidFill>
                <a:latin typeface="Georgia"/>
              </a:rPr>
              <a:t>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23760" y="4526280"/>
            <a:ext cx="420624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(no option)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4 OF 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Q3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1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1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1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1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" dur="1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4   /   2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ANSWER   ·   QUESTION 3  OF 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10642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1" i="1">
                <a:solidFill>
                  <a:srgbClr val="FFFFFF"/>
                </a:solidFill>
                <a:latin typeface="Georgia"/>
              </a:rPr>
              <a:t>Pydantic validation failure → HTTP: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743200"/>
            <a:ext cx="11064240" cy="1463040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77240" y="2971800"/>
            <a:ext cx="1005840" cy="1005840"/>
          </a:xfrm>
          <a:prstGeom prst="ellipse">
            <a:avLst/>
          </a:prstGeom>
          <a:solidFill>
            <a:srgbClr val="2C5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971800"/>
            <a:ext cx="1005840" cy="10058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3600" b="1" i="0">
                <a:solidFill>
                  <a:srgbClr val="C5E063"/>
                </a:solidFill>
                <a:latin typeface="Georgia"/>
              </a:rPr>
              <a:t>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65960" y="2880360"/>
            <a:ext cx="9509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2C5244"/>
                </a:solidFill>
                <a:latin typeface="Calibri"/>
              </a:rPr>
              <a:t>CORRECT  ANSWER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65960" y="3200400"/>
            <a:ext cx="95097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 i="0">
                <a:solidFill>
                  <a:srgbClr val="2C5244"/>
                </a:solidFill>
                <a:latin typeface="Georgia"/>
              </a:rPr>
              <a:t>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4526280"/>
            <a:ext cx="11064240" cy="146304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4663440"/>
            <a:ext cx="10607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WHY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937760"/>
            <a:ext cx="1060704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The correct option matches the lesson's core principle.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4 OF 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A3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35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4   /   1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371600"/>
            <a:ext cx="512064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0" b="1" i="0">
                <a:solidFill>
                  <a:srgbClr val="C5E063"/>
                </a:solidFill>
                <a:latin typeface="Georgia"/>
              </a:rPr>
              <a:t>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0" y="2103120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600">
                <a:solidFill>
                  <a:srgbClr val="C5E063"/>
                </a:solidFill>
                <a:latin typeface="Calibri"/>
              </a:rPr>
              <a:t>PART 4  OF 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0" y="2606040"/>
            <a:ext cx="64008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Georgia"/>
              </a:rPr>
              <a:t>Apply and close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0" y="4160520"/>
            <a:ext cx="457200" cy="45720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0" y="4343400"/>
            <a:ext cx="640080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E5E7EB"/>
                </a:solidFill>
                <a:latin typeface="Calibri"/>
              </a:rPr>
              <a:t>One thing to remember. One thing to ship this week.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4 OF 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PART 4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4   /   2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SUMMARY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  <a:latin typeface="Georgia"/>
              </a:rPr>
              <a:t>Five sentences to remember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28600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E5E7EB"/>
                </a:solidFill>
                <a:latin typeface="Calibri"/>
              </a:rPr>
              <a:t>If you remember nothing else from this lesson, remember these five lines.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154680"/>
            <a:ext cx="5486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1" i="0">
                <a:solidFill>
                  <a:srgbClr val="C5E063"/>
                </a:solidFill>
                <a:latin typeface="Georgia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3154680"/>
            <a:ext cx="105156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FFFFFF"/>
                </a:solidFill>
                <a:latin typeface="Calibri"/>
              </a:rPr>
              <a:t>Pick the right tool — never the loudest one.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749040"/>
            <a:ext cx="5486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1" i="0">
                <a:solidFill>
                  <a:srgbClr val="C5E063"/>
                </a:solidFill>
                <a:latin typeface="Georgia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3749040"/>
            <a:ext cx="105156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FFFFFF"/>
                </a:solidFill>
                <a:latin typeface="Calibri"/>
              </a:rPr>
              <a:t>Practice the framework on a real example.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343400"/>
            <a:ext cx="5486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1" i="0">
                <a:solidFill>
                  <a:srgbClr val="C5E063"/>
                </a:solidFill>
                <a:latin typeface="Georgia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4343400"/>
            <a:ext cx="105156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FFFFFF"/>
                </a:solidFill>
                <a:latin typeface="Calibri"/>
              </a:rPr>
              <a:t>Watch for the three classic pitfalls.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937760"/>
            <a:ext cx="5486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1" i="0">
                <a:solidFill>
                  <a:srgbClr val="C5E063"/>
                </a:solidFill>
                <a:latin typeface="Georgia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" y="4937760"/>
            <a:ext cx="105156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FFFFFF"/>
                </a:solidFill>
                <a:latin typeface="Calibri"/>
              </a:rPr>
              <a:t>Document your decision in one sentence.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5532120"/>
            <a:ext cx="5486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1" i="0">
                <a:solidFill>
                  <a:srgbClr val="C5E063"/>
                </a:solidFill>
                <a:latin typeface="Georgia"/>
              </a:rPr>
              <a:t>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3000" y="5532120"/>
            <a:ext cx="105156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FFFFFF"/>
                </a:solidFill>
                <a:latin typeface="Calibri"/>
              </a:rPr>
              <a:t>Carry the discipline forward to the next lesson.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4 OF 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SUMMARY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2C5244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0F1F1A"/>
                </a:solidFill>
                <a:latin typeface="Calibri"/>
              </a:rPr>
              <a:t>WEEK 1   /   LESSON 4   /   3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0F766E"/>
                </a:solidFill>
                <a:latin typeface="Calibri"/>
              </a:rPr>
              <a:t>WORKED  EXAMPLE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 i="0">
                <a:solidFill>
                  <a:srgbClr val="0F1F1A"/>
                </a:solidFill>
                <a:latin typeface="Georgia"/>
              </a:rPr>
              <a:t>How this lesson plays out in one real Indian context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468880"/>
            <a:ext cx="6858000" cy="2194560"/>
          </a:xfrm>
          <a:prstGeom prst="rect">
            <a:avLst/>
          </a:prstGeom>
          <a:solidFill>
            <a:srgbClr val="FFFFFF"/>
          </a:solidFill>
          <a:ln w="6350">
            <a:solidFill>
              <a:srgbClr val="A6C2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60604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0F766E"/>
                </a:solidFill>
                <a:latin typeface="Calibri"/>
              </a:rPr>
              <a:t>THE  SCENARIO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926080"/>
            <a:ext cx="6400800" cy="1691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0F1F1A"/>
                </a:solidFill>
                <a:latin typeface="Calibri"/>
              </a:rPr>
              <a:t>Concurrency: many things IN FLIGHT at once.
Parallelism: many things EXECUTING at once.
async = concurrency (single thread, IO yields).
multiprocessing = parallelism (CPU cores).
PICK BY
IO vs CPU
IO-bound → async. CPU-bound → multiprocessing.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4800600"/>
            <a:ext cx="6858000" cy="1325880"/>
          </a:xfrm>
          <a:prstGeom prst="rect">
            <a:avLst/>
          </a:prstGeom>
          <a:solidFill>
            <a:srgbClr val="2C5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493776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THE  TAKEAWAY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5212080"/>
            <a:ext cx="640080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0" i="1">
                <a:solidFill>
                  <a:srgbClr val="FFFFFF"/>
                </a:solidFill>
                <a:latin typeface="Georgia"/>
              </a:rPr>
              <a:t>"That is the production Python spine. Everything else is style."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35240" y="2468880"/>
            <a:ext cx="3977639" cy="3657600"/>
          </a:xfrm>
          <a:prstGeom prst="rect">
            <a:avLst/>
          </a:prstGeom>
          <a:solidFill>
            <a:srgbClr val="F1F4EC"/>
          </a:solidFill>
          <a:ln w="6350">
            <a:solidFill>
              <a:srgbClr val="A6C2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863840" y="2606040"/>
            <a:ext cx="3520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0F766E"/>
                </a:solidFill>
                <a:latin typeface="Calibri"/>
              </a:rPr>
              <a:t>WHAT  TO  NOTICE</a:t>
            </a:r>
          </a:p>
        </p:txBody>
      </p:sp>
      <p:sp>
        <p:nvSpPr>
          <p:cNvPr id="15" name="Oval 14"/>
          <p:cNvSpPr/>
          <p:nvPr/>
        </p:nvSpPr>
        <p:spPr>
          <a:xfrm>
            <a:off x="7863840" y="2971800"/>
            <a:ext cx="411480" cy="411480"/>
          </a:xfrm>
          <a:prstGeom prst="ellipse">
            <a:avLst/>
          </a:prstGeom>
          <a:solidFill>
            <a:srgbClr val="2C5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63840" y="2971800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C5E063"/>
                </a:solidFill>
                <a:latin typeface="Georgia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66760" y="2971800"/>
            <a:ext cx="31546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0F1F1A"/>
                </a:solidFill>
                <a:latin typeface="Calibri"/>
              </a:rPr>
              <a:t>Concurrency vs parallelism</a:t>
            </a:r>
          </a:p>
        </p:txBody>
      </p:sp>
      <p:sp>
        <p:nvSpPr>
          <p:cNvPr id="18" name="Oval 17"/>
          <p:cNvSpPr/>
          <p:nvPr/>
        </p:nvSpPr>
        <p:spPr>
          <a:xfrm>
            <a:off x="7863840" y="3749039"/>
            <a:ext cx="411480" cy="411480"/>
          </a:xfrm>
          <a:prstGeom prst="ellipse">
            <a:avLst/>
          </a:prstGeom>
          <a:solidFill>
            <a:srgbClr val="2C5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863840" y="3749039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C5E063"/>
                </a:solidFill>
                <a:latin typeface="Georgia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66760" y="3749039"/>
            <a:ext cx="31546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0F1F1A"/>
                </a:solidFill>
                <a:latin typeface="Calibri"/>
              </a:rPr>
              <a:t>async def + await</a:t>
            </a:r>
          </a:p>
        </p:txBody>
      </p:sp>
      <p:sp>
        <p:nvSpPr>
          <p:cNvPr id="21" name="Oval 20"/>
          <p:cNvSpPr/>
          <p:nvPr/>
        </p:nvSpPr>
        <p:spPr>
          <a:xfrm>
            <a:off x="7863840" y="4526280"/>
            <a:ext cx="411480" cy="411480"/>
          </a:xfrm>
          <a:prstGeom prst="ellipse">
            <a:avLst/>
          </a:prstGeom>
          <a:solidFill>
            <a:srgbClr val="2C5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863840" y="4526280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C5E063"/>
                </a:solidFill>
                <a:latin typeface="Georgia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66760" y="4526280"/>
            <a:ext cx="31546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0F1F1A"/>
                </a:solidFill>
                <a:latin typeface="Calibri"/>
              </a:rPr>
              <a:t>Pydantic — types at the...</a:t>
            </a:r>
          </a:p>
        </p:txBody>
      </p:sp>
      <p:sp>
        <p:nvSpPr>
          <p:cNvPr id="24" name="Oval 23"/>
          <p:cNvSpPr/>
          <p:nvPr/>
        </p:nvSpPr>
        <p:spPr>
          <a:xfrm>
            <a:off x="7863840" y="5303520"/>
            <a:ext cx="411480" cy="411480"/>
          </a:xfrm>
          <a:prstGeom prst="ellipse">
            <a:avLst/>
          </a:prstGeom>
          <a:solidFill>
            <a:srgbClr val="2C5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863840" y="5303520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C5E063"/>
                </a:solidFill>
                <a:latin typeface="Georgia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66760" y="5303520"/>
            <a:ext cx="31546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0F1F1A"/>
                </a:solidFill>
                <a:latin typeface="Calibri"/>
              </a:rPr>
              <a:t>Error handling — at the...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475569"/>
                </a:solidFill>
                <a:latin typeface="Calibri"/>
              </a:rPr>
              <a:t>AI  LEARNING  HUB   ·   LESSON 4 OF 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475569"/>
                </a:solidFill>
                <a:latin typeface="Calibri"/>
              </a:rPr>
              <a:t>EXAMPLE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1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1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1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1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" dur="1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2" dur="1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7" dur="1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2" dur="1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7" dur="15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4   /   3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APPLY  IT  →  ASSIGNMENT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  <a:latin typeface="Georgia"/>
              </a:rPr>
              <a:t>Mini assignment — FastAPI + asyncio + Pydantic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33172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E5E7EB"/>
                </a:solidFill>
                <a:latin typeface="Calibri"/>
              </a:rPr>
              <a:t>Rewrite your W3 P2 Python microservice using FastAPI + asyncio + Pydantic.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3383280"/>
            <a:ext cx="6858000" cy="27432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352044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DELIVERABLES</a:t>
            </a:r>
          </a:p>
        </p:txBody>
      </p:sp>
      <p:sp>
        <p:nvSpPr>
          <p:cNvPr id="10" name="Oval 9"/>
          <p:cNvSpPr/>
          <p:nvPr/>
        </p:nvSpPr>
        <p:spPr>
          <a:xfrm>
            <a:off x="868680" y="3950208"/>
            <a:ext cx="118872" cy="118872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3840480"/>
            <a:ext cx="61264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Replace Flask with FastAPI.</a:t>
            </a:r>
          </a:p>
        </p:txBody>
      </p:sp>
      <p:sp>
        <p:nvSpPr>
          <p:cNvPr id="12" name="Oval 11"/>
          <p:cNvSpPr/>
          <p:nvPr/>
        </p:nvSpPr>
        <p:spPr>
          <a:xfrm>
            <a:off x="868680" y="4361688"/>
            <a:ext cx="118872" cy="118872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4251960"/>
            <a:ext cx="61264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Define a Pydantic HouseInput model.</a:t>
            </a:r>
          </a:p>
        </p:txBody>
      </p:sp>
      <p:sp>
        <p:nvSpPr>
          <p:cNvPr id="14" name="Oval 13"/>
          <p:cNvSpPr/>
          <p:nvPr/>
        </p:nvSpPr>
        <p:spPr>
          <a:xfrm>
            <a:off x="868680" y="4773168"/>
            <a:ext cx="118872" cy="118872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97280" y="4663440"/>
            <a:ext cx="61264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Convert /predict to async def.</a:t>
            </a:r>
          </a:p>
        </p:txBody>
      </p:sp>
      <p:sp>
        <p:nvSpPr>
          <p:cNvPr id="16" name="Oval 15"/>
          <p:cNvSpPr/>
          <p:nvPr/>
        </p:nvSpPr>
        <p:spPr>
          <a:xfrm>
            <a:off x="868680" y="5184648"/>
            <a:ext cx="118872" cy="118872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97280" y="5074920"/>
            <a:ext cx="61264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Measure QPS before and after.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35240" y="3383280"/>
            <a:ext cx="3977639" cy="2743200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863840" y="3520440"/>
            <a:ext cx="3520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2C5244"/>
                </a:solidFill>
                <a:latin typeface="Calibri"/>
              </a:rPr>
              <a:t>WHAT 'GOOD' LOOKS LIKE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63840" y="3840480"/>
            <a:ext cx="3520440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1">
                <a:solidFill>
                  <a:srgbClr val="2C5244"/>
                </a:solidFill>
                <a:latin typeface="Georgia"/>
              </a:rPr>
              <a:t>Deliverable: Repo URL + before/after QPS numbers on the forum.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4 OF 7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APPLY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1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1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1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35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4   /   1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ONE  THING  TO  REMEMBER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286000"/>
            <a:ext cx="5486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0" b="1" i="0">
                <a:solidFill>
                  <a:srgbClr val="C5E063"/>
                </a:solidFill>
                <a:latin typeface="Georgia"/>
              </a:rPr>
              <a:t>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468880"/>
            <a:ext cx="10515600" cy="274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3000" b="0" i="1">
                <a:solidFill>
                  <a:srgbClr val="FFFFFF"/>
                </a:solidFill>
                <a:latin typeface="Georgia"/>
              </a:rPr>
              <a:t>"That is the production Python spine. Everything else is style."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530352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 spc="400">
                <a:solidFill>
                  <a:srgbClr val="C5E063"/>
                </a:solidFill>
                <a:latin typeface="Calibri"/>
              </a:rPr>
              <a:t>—  AI Learning Hub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4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BIG IDEA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4   /   1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430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END OF LESSON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17320"/>
            <a:ext cx="105156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0" i="0">
                <a:solidFill>
                  <a:srgbClr val="FFFFFF"/>
                </a:solidFill>
                <a:latin typeface="Georgia"/>
              </a:rPr>
              <a:t>What you can now 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240280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E5E7EB"/>
                </a:solidFill>
                <a:latin typeface="Calibri"/>
              </a:rPr>
              <a:t>Each one of these is now part of your working vocabulary.</a:t>
            </a:r>
          </a:p>
        </p:txBody>
      </p:sp>
      <p:sp>
        <p:nvSpPr>
          <p:cNvPr id="8" name="Oval 7"/>
          <p:cNvSpPr/>
          <p:nvPr/>
        </p:nvSpPr>
        <p:spPr>
          <a:xfrm>
            <a:off x="640080" y="3017520"/>
            <a:ext cx="365760" cy="3657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301752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2C5244"/>
                </a:solidFill>
                <a:latin typeface="Georgi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3017520"/>
            <a:ext cx="104241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Pick the right tool — never the loudest one.</a:t>
            </a:r>
          </a:p>
        </p:txBody>
      </p:sp>
      <p:sp>
        <p:nvSpPr>
          <p:cNvPr id="11" name="Oval 10"/>
          <p:cNvSpPr/>
          <p:nvPr/>
        </p:nvSpPr>
        <p:spPr>
          <a:xfrm>
            <a:off x="640080" y="3520440"/>
            <a:ext cx="365760" cy="3657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352044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2C5244"/>
                </a:solidFill>
                <a:latin typeface="Georgia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3520440"/>
            <a:ext cx="104241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Practice the framework on a real example.</a:t>
            </a:r>
          </a:p>
        </p:txBody>
      </p:sp>
      <p:sp>
        <p:nvSpPr>
          <p:cNvPr id="14" name="Oval 13"/>
          <p:cNvSpPr/>
          <p:nvPr/>
        </p:nvSpPr>
        <p:spPr>
          <a:xfrm>
            <a:off x="640080" y="4023360"/>
            <a:ext cx="365760" cy="3657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402336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2C5244"/>
                </a:solidFill>
                <a:latin typeface="Georgia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20" y="4023360"/>
            <a:ext cx="104241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Watch for the three classic pitfalls.</a:t>
            </a:r>
          </a:p>
        </p:txBody>
      </p:sp>
      <p:sp>
        <p:nvSpPr>
          <p:cNvPr id="17" name="Oval 16"/>
          <p:cNvSpPr/>
          <p:nvPr/>
        </p:nvSpPr>
        <p:spPr>
          <a:xfrm>
            <a:off x="640080" y="4526280"/>
            <a:ext cx="365760" cy="3657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452628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2C5244"/>
                </a:solidFill>
                <a:latin typeface="Georgia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88720" y="4526280"/>
            <a:ext cx="104241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Document your decision in one sentence.</a:t>
            </a:r>
          </a:p>
        </p:txBody>
      </p:sp>
      <p:sp>
        <p:nvSpPr>
          <p:cNvPr id="20" name="Oval 19"/>
          <p:cNvSpPr/>
          <p:nvPr/>
        </p:nvSpPr>
        <p:spPr>
          <a:xfrm>
            <a:off x="640080" y="5029200"/>
            <a:ext cx="365760" cy="3657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502920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2C5244"/>
                </a:solidFill>
                <a:latin typeface="Georgia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88720" y="5029200"/>
            <a:ext cx="104241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Carry the discipline forward to the next lesson.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5669280"/>
            <a:ext cx="11064240" cy="502920"/>
          </a:xfrm>
          <a:prstGeom prst="roundRect">
            <a:avLst/>
          </a:prstGeom>
          <a:solidFill>
            <a:srgbClr val="224036"/>
          </a:solidFill>
          <a:ln w="9525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7240" y="5669280"/>
            <a:ext cx="106070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 spc="400">
                <a:solidFill>
                  <a:srgbClr val="C5E063"/>
                </a:solidFill>
                <a:latin typeface="Calibri"/>
              </a:rPr>
              <a:t>NEXT  →   Lesson 2 — Computer Vision. Your first face-detection pipeline.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4 OF 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WRAP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1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1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1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1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" dur="1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2" dur="1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7" dur="1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