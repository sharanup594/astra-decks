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L5</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Virtual environments (venv)</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requirements.txt the right way</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VS Code for AI work</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Jupyter inside VS Code</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Git, GitHub &amp; your first push</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1   /   LESSON 5   /   60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Setting Up Your Developer Environment</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The unglamorous setup that makes everything else possible. Virtual environments, VS Code, Jupyter inside VS Code, Git, GitHub and your first green push. Get this right once and you stop fighting your machine — forever.</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ENVIRONMENT  FIRST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90% of student pain is environment, not maths</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ROOT CAUSE</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90%</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Of debugging time spent on environment issues — not the actual code.</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THIS LESSON</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40 min</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To eliminate that entire class of problem, forever.</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NON-NEGOTIABLE</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1 push</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Every learner ends with a green 'push successful' on a public repo.</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 IT MATTERS</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forever</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You will set up new projects 50+ times in your career. Get the rhythm right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Create and manage a Python virtual environment per project.</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Pin and freeze dependencies with requirements.txt.</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Configure VS Code with the essential extensions for AI work.</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Run Jupyter notebooks inside VS Code, not in a separate browser.</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Use Git for version control and GitHub for collaboration.</a:t>
            </a:r>
          </a:p>
        </p:txBody>
      </p:sp>
      <p:sp>
        <p:nvSpPr>
          <p:cNvPr id="22" name="Oval 21"/>
          <p:cNvSpPr/>
          <p:nvPr/>
        </p:nvSpPr>
        <p:spPr>
          <a:xfrm>
            <a:off x="608076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8076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6</a:t>
            </a:r>
          </a:p>
        </p:txBody>
      </p:sp>
      <p:sp>
        <p:nvSpPr>
          <p:cNvPr id="24" name="TextBox 23"/>
          <p:cNvSpPr txBox="1"/>
          <p:nvPr/>
        </p:nvSpPr>
        <p:spPr>
          <a:xfrm>
            <a:off x="662940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Resolve a merge conflict calmly — without panic.</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Three pillars</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Jupyter for exploration, VS Code for engineering, Git for memory. Each one earns its place.</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venv &amp; requirements</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One environment per project. Pin everything. Reproducible setups every time.</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VS Code, configured</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Extensions that matter, settings that save hours, shortcuts that compound.</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Git → GitHub → green</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From git init on your laptop to a green checkmark on a public repo — the actual mechanics.</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The three pillars — and what each is best at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Each tool has a job. Pick the wrong one and the work fights you all day.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ROLE  EACH  TOOL  PLAYS</a:t>
            </a:r>
          </a:p>
        </p:txBody>
      </p:sp>
      <p:sp>
        <p:nvSpPr>
          <p:cNvPr id="6" name="TextBox 5"/>
          <p:cNvSpPr txBox="1"/>
          <p:nvPr/>
        </p:nvSpPr>
        <p:spPr>
          <a:xfrm>
            <a:off x="548640" y="1463040"/>
            <a:ext cx="10515600" cy="1097280"/>
          </a:xfrm>
          <a:prstGeom prst="rect">
            <a:avLst/>
          </a:prstGeom>
          <a:noFill/>
        </p:spPr>
        <p:txBody>
          <a:bodyPr wrap="square" lIns="0" rIns="0" tIns="0" bIns="0" anchor="t">
            <a:spAutoFit/>
          </a:bodyPr>
          <a:lstStyle/>
          <a:p>
            <a:pPr algn="l"/>
            <a:r>
              <a:rPr sz="2800" b="0" i="0">
                <a:solidFill>
                  <a:srgbClr val="FFFFFF"/>
                </a:solidFill>
                <a:latin typeface="Georgia"/>
              </a:rPr>
              <a:t>What each pillar is actually for</a:t>
            </a:r>
          </a:p>
        </p:txBody>
      </p:sp>
      <p:sp>
        <p:nvSpPr>
          <p:cNvPr id="7" name="TextBox 6"/>
          <p:cNvSpPr txBox="1"/>
          <p:nvPr/>
        </p:nvSpPr>
        <p:spPr>
          <a:xfrm>
            <a:off x="548640" y="228600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Don't write production code in a notebook. Don't explore data in a CLI. Use the right tool for the moment.</a:t>
            </a:r>
          </a:p>
        </p:txBody>
      </p:sp>
      <p:sp>
        <p:nvSpPr>
          <p:cNvPr id="8" name="Rectangle 7"/>
          <p:cNvSpPr/>
          <p:nvPr/>
        </p:nvSpPr>
        <p:spPr>
          <a:xfrm>
            <a:off x="548640" y="3154680"/>
            <a:ext cx="356616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J</a:t>
            </a:r>
          </a:p>
        </p:txBody>
      </p:sp>
      <p:sp>
        <p:nvSpPr>
          <p:cNvPr id="11" name="TextBox 10"/>
          <p:cNvSpPr txBox="1"/>
          <p:nvPr/>
        </p:nvSpPr>
        <p:spPr>
          <a:xfrm>
            <a:off x="1371600" y="344728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JUPYTER</a:t>
            </a:r>
          </a:p>
        </p:txBody>
      </p:sp>
      <p:sp>
        <p:nvSpPr>
          <p:cNvPr id="12" name="TextBox 11"/>
          <p:cNvSpPr txBox="1"/>
          <p:nvPr/>
        </p:nvSpPr>
        <p:spPr>
          <a:xfrm>
            <a:off x="1371600" y="3675888"/>
            <a:ext cx="2651760" cy="365760"/>
          </a:xfrm>
          <a:prstGeom prst="rect">
            <a:avLst/>
          </a:prstGeom>
          <a:noFill/>
        </p:spPr>
        <p:txBody>
          <a:bodyPr wrap="square" lIns="0" rIns="0" tIns="0" bIns="0" anchor="t">
            <a:spAutoFit/>
          </a:bodyPr>
          <a:lstStyle/>
          <a:p>
            <a:pPr algn="l"/>
            <a:r>
              <a:rPr sz="1600" b="1" i="0">
                <a:solidFill>
                  <a:srgbClr val="FFFFFF"/>
                </a:solidFill>
                <a:latin typeface="Georgia"/>
              </a:rPr>
              <a:t>For exploring data</a:t>
            </a:r>
          </a:p>
        </p:txBody>
      </p:sp>
      <p:sp>
        <p:nvSpPr>
          <p:cNvPr id="13" name="TextBox 12"/>
          <p:cNvSpPr txBox="1"/>
          <p:nvPr/>
        </p:nvSpPr>
        <p:spPr>
          <a:xfrm>
            <a:off x="822960" y="4069080"/>
            <a:ext cx="301752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Cells, plots, narratives. Best when you don't yet know what the answer looks like. Worst for production code.</a:t>
            </a:r>
          </a:p>
        </p:txBody>
      </p:sp>
      <p:sp>
        <p:nvSpPr>
          <p:cNvPr id="14" name="Rectangle 13"/>
          <p:cNvSpPr/>
          <p:nvPr/>
        </p:nvSpPr>
        <p:spPr>
          <a:xfrm>
            <a:off x="4297680" y="3154680"/>
            <a:ext cx="356616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200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V</a:t>
            </a:r>
          </a:p>
        </p:txBody>
      </p:sp>
      <p:sp>
        <p:nvSpPr>
          <p:cNvPr id="17" name="TextBox 16"/>
          <p:cNvSpPr txBox="1"/>
          <p:nvPr/>
        </p:nvSpPr>
        <p:spPr>
          <a:xfrm>
            <a:off x="5120640" y="344728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VS CODE</a:t>
            </a:r>
          </a:p>
        </p:txBody>
      </p:sp>
      <p:sp>
        <p:nvSpPr>
          <p:cNvPr id="18" name="TextBox 17"/>
          <p:cNvSpPr txBox="1"/>
          <p:nvPr/>
        </p:nvSpPr>
        <p:spPr>
          <a:xfrm>
            <a:off x="5120640" y="3675888"/>
            <a:ext cx="2651760" cy="365760"/>
          </a:xfrm>
          <a:prstGeom prst="rect">
            <a:avLst/>
          </a:prstGeom>
          <a:noFill/>
        </p:spPr>
        <p:txBody>
          <a:bodyPr wrap="square" lIns="0" rIns="0" tIns="0" bIns="0" anchor="t">
            <a:spAutoFit/>
          </a:bodyPr>
          <a:lstStyle/>
          <a:p>
            <a:pPr algn="l"/>
            <a:r>
              <a:rPr sz="1600" b="1" i="0">
                <a:solidFill>
                  <a:srgbClr val="FFFFFF"/>
                </a:solidFill>
                <a:latin typeface="Georgia"/>
              </a:rPr>
              <a:t>For building software</a:t>
            </a:r>
          </a:p>
        </p:txBody>
      </p:sp>
      <p:sp>
        <p:nvSpPr>
          <p:cNvPr id="19" name="TextBox 18"/>
          <p:cNvSpPr txBox="1"/>
          <p:nvPr/>
        </p:nvSpPr>
        <p:spPr>
          <a:xfrm>
            <a:off x="4572000" y="4069080"/>
            <a:ext cx="301752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Editor + debugger + terminal + Git, all in one window. The home of every refactor, every test, every package.</a:t>
            </a:r>
          </a:p>
        </p:txBody>
      </p:sp>
      <p:sp>
        <p:nvSpPr>
          <p:cNvPr id="20" name="Rectangle 19"/>
          <p:cNvSpPr/>
          <p:nvPr/>
        </p:nvSpPr>
        <p:spPr>
          <a:xfrm>
            <a:off x="8046720" y="3154680"/>
            <a:ext cx="356616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2104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G</a:t>
            </a:r>
          </a:p>
        </p:txBody>
      </p:sp>
      <p:sp>
        <p:nvSpPr>
          <p:cNvPr id="23" name="TextBox 22"/>
          <p:cNvSpPr txBox="1"/>
          <p:nvPr/>
        </p:nvSpPr>
        <p:spPr>
          <a:xfrm>
            <a:off x="8869680" y="344728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GIT  +  GITHUB</a:t>
            </a:r>
          </a:p>
        </p:txBody>
      </p:sp>
      <p:sp>
        <p:nvSpPr>
          <p:cNvPr id="24" name="TextBox 23"/>
          <p:cNvSpPr txBox="1"/>
          <p:nvPr/>
        </p:nvSpPr>
        <p:spPr>
          <a:xfrm>
            <a:off x="8869680" y="3675888"/>
            <a:ext cx="2651760" cy="365760"/>
          </a:xfrm>
          <a:prstGeom prst="rect">
            <a:avLst/>
          </a:prstGeom>
          <a:noFill/>
        </p:spPr>
        <p:txBody>
          <a:bodyPr wrap="square" lIns="0" rIns="0" tIns="0" bIns="0" anchor="t">
            <a:spAutoFit/>
          </a:bodyPr>
          <a:lstStyle/>
          <a:p>
            <a:pPr algn="l"/>
            <a:r>
              <a:rPr sz="1600" b="1" i="0">
                <a:solidFill>
                  <a:srgbClr val="FFFFFF"/>
                </a:solidFill>
                <a:latin typeface="Georgia"/>
              </a:rPr>
              <a:t>For memory &amp; teamwork</a:t>
            </a:r>
          </a:p>
        </p:txBody>
      </p:sp>
      <p:sp>
        <p:nvSpPr>
          <p:cNvPr id="25" name="TextBox 24"/>
          <p:cNvSpPr txBox="1"/>
          <p:nvPr/>
        </p:nvSpPr>
        <p:spPr>
          <a:xfrm>
            <a:off x="8321040" y="4069080"/>
            <a:ext cx="301752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Git is your time machine — every change reversible. GitHub turns one engineer's work into a team's work.</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THREE PILLARS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Virtual environments — one per project, no exceptions</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The five-minute habit that prevents 90% of dependency disasters.</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THE  COMMANDS  YOU'LL  RUN  100  TIMES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600" b="0" i="0">
                <a:solidFill>
                  <a:srgbClr val="FFFFFF"/>
                </a:solidFill>
                <a:latin typeface="Georgia"/>
              </a:rPr>
              <a:t>The four commands that set up any Python project</a:t>
            </a:r>
          </a:p>
        </p:txBody>
      </p:sp>
      <p:sp>
        <p:nvSpPr>
          <p:cNvPr id="7" name="TextBox 6"/>
          <p:cNvSpPr txBox="1"/>
          <p:nvPr/>
        </p:nvSpPr>
        <p:spPr>
          <a:xfrm>
            <a:off x="548640" y="2331720"/>
            <a:ext cx="11064240" cy="502920"/>
          </a:xfrm>
          <a:prstGeom prst="rect">
            <a:avLst/>
          </a:prstGeom>
          <a:noFill/>
        </p:spPr>
        <p:txBody>
          <a:bodyPr wrap="square" lIns="0" rIns="0" tIns="0" bIns="0" anchor="t">
            <a:spAutoFit/>
          </a:bodyPr>
          <a:lstStyle/>
          <a:p>
            <a:pPr algn="l">
              <a:lnSpc>
                <a:spcPct val="135000"/>
              </a:lnSpc>
            </a:pPr>
            <a:r>
              <a:rPr sz="1200" b="0" i="0">
                <a:solidFill>
                  <a:srgbClr val="E5E7EB"/>
                </a:solidFill>
                <a:latin typeface="Calibri"/>
              </a:rPr>
              <a:t>Memorise these. You will type them on every new project, every machine, for the rest of your career.</a:t>
            </a:r>
          </a:p>
        </p:txBody>
      </p:sp>
      <p:sp>
        <p:nvSpPr>
          <p:cNvPr id="8" name="Rectangle 7"/>
          <p:cNvSpPr/>
          <p:nvPr/>
        </p:nvSpPr>
        <p:spPr>
          <a:xfrm>
            <a:off x="548640" y="2926080"/>
            <a:ext cx="11064240" cy="29260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017520"/>
            <a:ext cx="10607040" cy="274320"/>
          </a:xfrm>
          <a:prstGeom prst="rect">
            <a:avLst/>
          </a:prstGeom>
          <a:noFill/>
        </p:spPr>
        <p:txBody>
          <a:bodyPr wrap="square" lIns="0" rIns="0" tIns="0" bIns="0" anchor="t">
            <a:spAutoFit/>
          </a:bodyPr>
          <a:lstStyle/>
          <a:p>
            <a:pPr algn="l"/>
            <a:r>
              <a:rPr sz="1000" b="1" i="0" spc="400">
                <a:solidFill>
                  <a:srgbClr val="C5E063"/>
                </a:solidFill>
                <a:latin typeface="Consolas"/>
              </a:rPr>
              <a:t>&gt;&gt;&gt;  PYTHON</a:t>
            </a:r>
          </a:p>
        </p:txBody>
      </p:sp>
      <p:sp>
        <p:nvSpPr>
          <p:cNvPr id="10" name="TextBox 9"/>
          <p:cNvSpPr txBox="1"/>
          <p:nvPr/>
        </p:nvSpPr>
        <p:spPr>
          <a:xfrm>
            <a:off x="777240" y="3291840"/>
            <a:ext cx="10607040" cy="2468880"/>
          </a:xfrm>
          <a:prstGeom prst="rect">
            <a:avLst/>
          </a:prstGeom>
          <a:noFill/>
        </p:spPr>
        <p:txBody>
          <a:bodyPr wrap="square" lIns="0" rIns="0" tIns="0" bIns="0" anchor="t">
            <a:spAutoFit/>
          </a:bodyPr>
          <a:lstStyle/>
          <a:p>
            <a:pPr algn="l">
              <a:lnSpc>
                <a:spcPct val="145000"/>
              </a:lnSpc>
            </a:pPr>
            <a:r>
              <a:rPr sz="1400" b="0" i="0">
                <a:solidFill>
                  <a:srgbClr val="DCEC9B"/>
                </a:solidFill>
                <a:latin typeface="Consolas"/>
              </a:rPr>
              <a:t># 1. Create a fresh venv inside your project folder
python -m venv .venv
# 2. Activate it (macOS/Linux)
source .venv/bin/activate          # Windows: .venv\Scripts\activate
# 3. Install your packages
pip install pandas scikit-learn jupyter
# 4. Freeze them so anyone can reproduce your setup
pip freeze &gt; requirements.txt</a:t>
            </a:r>
          </a:p>
        </p:txBody>
      </p:sp>
      <p:sp>
        <p:nvSpPr>
          <p:cNvPr id="11" name="TextBox 10"/>
          <p:cNvSpPr txBox="1"/>
          <p:nvPr/>
        </p:nvSpPr>
        <p:spPr>
          <a:xfrm>
            <a:off x="548640" y="5989320"/>
            <a:ext cx="11064240" cy="365760"/>
          </a:xfrm>
          <a:prstGeom prst="rect">
            <a:avLst/>
          </a:prstGeom>
          <a:noFill/>
        </p:spPr>
        <p:txBody>
          <a:bodyPr wrap="square" lIns="0" rIns="0" tIns="0" bIns="0" anchor="t">
            <a:spAutoFit/>
          </a:bodyPr>
          <a:lstStyle/>
          <a:p>
            <a:pPr algn="l">
              <a:lnSpc>
                <a:spcPct val="130000"/>
              </a:lnSpc>
            </a:pPr>
            <a:r>
              <a:rPr sz="1100" b="0" i="1">
                <a:solidFill>
                  <a:srgbClr val="C5E063"/>
                </a:solidFill>
                <a:latin typeface="Calibri"/>
              </a:rPr>
              <a:t>→  One venv per project. Never install with sudo pip. Never use the system Python directly.</a:t>
            </a:r>
          </a:p>
        </p:txBody>
      </p:sp>
      <p:sp>
        <p:nvSpPr>
          <p:cNvPr id="12" name="TextBox 1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3" name="TextBox 1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VENV</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VS Code, configured for real work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Extensions that pay rent, settings that compound, shortcuts that save hours.</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THE  ESSENTIAL  EXTENSIONS</a:t>
            </a:r>
          </a:p>
        </p:txBody>
      </p:sp>
      <p:sp>
        <p:nvSpPr>
          <p:cNvPr id="6" name="TextBox 5"/>
          <p:cNvSpPr txBox="1"/>
          <p:nvPr/>
        </p:nvSpPr>
        <p:spPr>
          <a:xfrm>
            <a:off x="548640" y="1463040"/>
            <a:ext cx="10515600" cy="1097280"/>
          </a:xfrm>
          <a:prstGeom prst="rect">
            <a:avLst/>
          </a:prstGeom>
          <a:noFill/>
        </p:spPr>
        <p:txBody>
          <a:bodyPr wrap="square" lIns="0" rIns="0" tIns="0" bIns="0" anchor="t">
            <a:spAutoFit/>
          </a:bodyPr>
          <a:lstStyle/>
          <a:p>
            <a:pPr algn="l"/>
            <a:r>
              <a:rPr sz="2800" b="0" i="0">
                <a:solidFill>
                  <a:srgbClr val="0F1F1A"/>
                </a:solidFill>
                <a:latin typeface="Georgia"/>
              </a:rPr>
              <a:t>Six extensions to install before you write a line</a:t>
            </a:r>
          </a:p>
        </p:txBody>
      </p:sp>
      <p:sp>
        <p:nvSpPr>
          <p:cNvPr id="7" name="TextBox 6"/>
          <p:cNvSpPr txBox="1"/>
          <p:nvPr/>
        </p:nvSpPr>
        <p:spPr>
          <a:xfrm>
            <a:off x="548640" y="2286000"/>
            <a:ext cx="105156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Don't install fifty extensions. Install these six, configure them once, then forget the marketplace exists.</a:t>
            </a:r>
          </a:p>
        </p:txBody>
      </p:sp>
      <p:sp>
        <p:nvSpPr>
          <p:cNvPr id="8" name="Rectangle 7"/>
          <p:cNvSpPr/>
          <p:nvPr/>
        </p:nvSpPr>
        <p:spPr>
          <a:xfrm>
            <a:off x="548640" y="297180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24612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2461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P</a:t>
            </a:r>
          </a:p>
        </p:txBody>
      </p:sp>
      <p:sp>
        <p:nvSpPr>
          <p:cNvPr id="11" name="TextBox 10"/>
          <p:cNvSpPr txBox="1"/>
          <p:nvPr/>
        </p:nvSpPr>
        <p:spPr>
          <a:xfrm>
            <a:off x="1371600" y="32644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PYTHON</a:t>
            </a:r>
          </a:p>
        </p:txBody>
      </p:sp>
      <p:sp>
        <p:nvSpPr>
          <p:cNvPr id="12" name="TextBox 11"/>
          <p:cNvSpPr txBox="1"/>
          <p:nvPr/>
        </p:nvSpPr>
        <p:spPr>
          <a:xfrm>
            <a:off x="1371600" y="3493008"/>
            <a:ext cx="2651760" cy="365760"/>
          </a:xfrm>
          <a:prstGeom prst="rect">
            <a:avLst/>
          </a:prstGeom>
          <a:noFill/>
        </p:spPr>
        <p:txBody>
          <a:bodyPr wrap="square" lIns="0" rIns="0" tIns="0" bIns="0" anchor="t">
            <a:spAutoFit/>
          </a:bodyPr>
          <a:lstStyle/>
          <a:p>
            <a:pPr algn="l"/>
            <a:r>
              <a:rPr sz="1500" b="1" i="0">
                <a:solidFill>
                  <a:srgbClr val="0F1F1A"/>
                </a:solidFill>
                <a:latin typeface="Georgia"/>
              </a:rPr>
              <a:t>Microsoft Python</a:t>
            </a:r>
          </a:p>
        </p:txBody>
      </p:sp>
      <p:sp>
        <p:nvSpPr>
          <p:cNvPr id="13" name="TextBox 12"/>
          <p:cNvSpPr txBox="1"/>
          <p:nvPr/>
        </p:nvSpPr>
        <p:spPr>
          <a:xfrm>
            <a:off x="822960" y="388620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Linting, IntelliSense, debugging, env detection. Non-optional.</a:t>
            </a:r>
          </a:p>
        </p:txBody>
      </p:sp>
      <p:sp>
        <p:nvSpPr>
          <p:cNvPr id="14" name="Rectangle 13"/>
          <p:cNvSpPr/>
          <p:nvPr/>
        </p:nvSpPr>
        <p:spPr>
          <a:xfrm>
            <a:off x="4297680" y="297180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2000" y="324612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32461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J</a:t>
            </a:r>
          </a:p>
        </p:txBody>
      </p:sp>
      <p:sp>
        <p:nvSpPr>
          <p:cNvPr id="17" name="TextBox 16"/>
          <p:cNvSpPr txBox="1"/>
          <p:nvPr/>
        </p:nvSpPr>
        <p:spPr>
          <a:xfrm>
            <a:off x="5120640" y="32644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JUPYTER</a:t>
            </a:r>
          </a:p>
        </p:txBody>
      </p:sp>
      <p:sp>
        <p:nvSpPr>
          <p:cNvPr id="18" name="TextBox 17"/>
          <p:cNvSpPr txBox="1"/>
          <p:nvPr/>
        </p:nvSpPr>
        <p:spPr>
          <a:xfrm>
            <a:off x="5120640" y="3493008"/>
            <a:ext cx="2651760" cy="365760"/>
          </a:xfrm>
          <a:prstGeom prst="rect">
            <a:avLst/>
          </a:prstGeom>
          <a:noFill/>
        </p:spPr>
        <p:txBody>
          <a:bodyPr wrap="square" lIns="0" rIns="0" tIns="0" bIns="0" anchor="t">
            <a:spAutoFit/>
          </a:bodyPr>
          <a:lstStyle/>
          <a:p>
            <a:pPr algn="l"/>
            <a:r>
              <a:rPr sz="1500" b="1" i="0">
                <a:solidFill>
                  <a:srgbClr val="0F1F1A"/>
                </a:solidFill>
                <a:latin typeface="Georgia"/>
              </a:rPr>
              <a:t>Jupyter</a:t>
            </a:r>
          </a:p>
        </p:txBody>
      </p:sp>
      <p:sp>
        <p:nvSpPr>
          <p:cNvPr id="19" name="TextBox 18"/>
          <p:cNvSpPr txBox="1"/>
          <p:nvPr/>
        </p:nvSpPr>
        <p:spPr>
          <a:xfrm>
            <a:off x="4572000" y="388620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Run .ipynb files inside VS Code. Same kernel, same plots, no browser.</a:t>
            </a:r>
          </a:p>
        </p:txBody>
      </p:sp>
      <p:sp>
        <p:nvSpPr>
          <p:cNvPr id="20" name="Rectangle 19"/>
          <p:cNvSpPr/>
          <p:nvPr/>
        </p:nvSpPr>
        <p:spPr>
          <a:xfrm>
            <a:off x="8046720" y="297180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21040" y="324612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2461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G</a:t>
            </a:r>
          </a:p>
        </p:txBody>
      </p:sp>
      <p:sp>
        <p:nvSpPr>
          <p:cNvPr id="23" name="TextBox 22"/>
          <p:cNvSpPr txBox="1"/>
          <p:nvPr/>
        </p:nvSpPr>
        <p:spPr>
          <a:xfrm>
            <a:off x="8869680" y="32644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GITLENS</a:t>
            </a:r>
          </a:p>
        </p:txBody>
      </p:sp>
      <p:sp>
        <p:nvSpPr>
          <p:cNvPr id="24" name="TextBox 23"/>
          <p:cNvSpPr txBox="1"/>
          <p:nvPr/>
        </p:nvSpPr>
        <p:spPr>
          <a:xfrm>
            <a:off x="8869680" y="3493008"/>
            <a:ext cx="2651760" cy="365760"/>
          </a:xfrm>
          <a:prstGeom prst="rect">
            <a:avLst/>
          </a:prstGeom>
          <a:noFill/>
        </p:spPr>
        <p:txBody>
          <a:bodyPr wrap="square" lIns="0" rIns="0" tIns="0" bIns="0" anchor="t">
            <a:spAutoFit/>
          </a:bodyPr>
          <a:lstStyle/>
          <a:p>
            <a:pPr algn="l"/>
            <a:r>
              <a:rPr sz="1500" b="1" i="0">
                <a:solidFill>
                  <a:srgbClr val="0F1F1A"/>
                </a:solidFill>
                <a:latin typeface="Georgia"/>
              </a:rPr>
              <a:t>GitLens</a:t>
            </a:r>
          </a:p>
        </p:txBody>
      </p:sp>
      <p:sp>
        <p:nvSpPr>
          <p:cNvPr id="25" name="TextBox 24"/>
          <p:cNvSpPr txBox="1"/>
          <p:nvPr/>
        </p:nvSpPr>
        <p:spPr>
          <a:xfrm>
            <a:off x="8321040" y="388620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Annotates each line with who changed it, when, and why. Reviews become 5x faster.</a:t>
            </a:r>
          </a:p>
        </p:txBody>
      </p:sp>
      <p:sp>
        <p:nvSpPr>
          <p:cNvPr id="26" name="Rectangle 25"/>
          <p:cNvSpPr/>
          <p:nvPr/>
        </p:nvSpPr>
        <p:spPr>
          <a:xfrm>
            <a:off x="548640" y="466344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493776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937760"/>
            <a:ext cx="457200" cy="457200"/>
          </a:xfrm>
          <a:prstGeom prst="rect">
            <a:avLst/>
          </a:prstGeom>
          <a:noFill/>
        </p:spPr>
        <p:txBody>
          <a:bodyPr wrap="square" lIns="0" rIns="0" tIns="0" bIns="0" anchor="ctr">
            <a:spAutoFit/>
          </a:bodyPr>
          <a:lstStyle/>
          <a:p>
            <a:pPr algn="ctr"/>
            <a:r>
              <a:rPr sz="1800" b="1" i="0">
                <a:solidFill>
                  <a:srgbClr val="C5E063"/>
                </a:solidFill>
                <a:latin typeface="Calibri"/>
              </a:rPr>
              <a:t>R</a:t>
            </a:r>
          </a:p>
        </p:txBody>
      </p:sp>
      <p:sp>
        <p:nvSpPr>
          <p:cNvPr id="29" name="TextBox 28"/>
          <p:cNvSpPr txBox="1"/>
          <p:nvPr/>
        </p:nvSpPr>
        <p:spPr>
          <a:xfrm>
            <a:off x="1371600" y="495604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RUFF</a:t>
            </a:r>
          </a:p>
        </p:txBody>
      </p:sp>
      <p:sp>
        <p:nvSpPr>
          <p:cNvPr id="30" name="TextBox 29"/>
          <p:cNvSpPr txBox="1"/>
          <p:nvPr/>
        </p:nvSpPr>
        <p:spPr>
          <a:xfrm>
            <a:off x="1371600" y="5184648"/>
            <a:ext cx="2651760" cy="365760"/>
          </a:xfrm>
          <a:prstGeom prst="rect">
            <a:avLst/>
          </a:prstGeom>
          <a:noFill/>
        </p:spPr>
        <p:txBody>
          <a:bodyPr wrap="square" lIns="0" rIns="0" tIns="0" bIns="0" anchor="t">
            <a:spAutoFit/>
          </a:bodyPr>
          <a:lstStyle/>
          <a:p>
            <a:pPr algn="l"/>
            <a:r>
              <a:rPr sz="1500" b="1" i="0">
                <a:solidFill>
                  <a:srgbClr val="0F1F1A"/>
                </a:solidFill>
                <a:latin typeface="Georgia"/>
              </a:rPr>
              <a:t>Ruff</a:t>
            </a:r>
          </a:p>
        </p:txBody>
      </p:sp>
      <p:sp>
        <p:nvSpPr>
          <p:cNvPr id="31" name="TextBox 30"/>
          <p:cNvSpPr txBox="1"/>
          <p:nvPr/>
        </p:nvSpPr>
        <p:spPr>
          <a:xfrm>
            <a:off x="822960" y="557784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Linter + formatter, written in Rust. Catches issues before tests do — instantly.</a:t>
            </a:r>
          </a:p>
        </p:txBody>
      </p:sp>
      <p:sp>
        <p:nvSpPr>
          <p:cNvPr id="32" name="Rectangle 31"/>
          <p:cNvSpPr/>
          <p:nvPr/>
        </p:nvSpPr>
        <p:spPr>
          <a:xfrm>
            <a:off x="4297680" y="466344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72000" y="493776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0" y="4937760"/>
            <a:ext cx="457200" cy="457200"/>
          </a:xfrm>
          <a:prstGeom prst="rect">
            <a:avLst/>
          </a:prstGeom>
          <a:noFill/>
        </p:spPr>
        <p:txBody>
          <a:bodyPr wrap="square" lIns="0" rIns="0" tIns="0" bIns="0" anchor="ctr">
            <a:spAutoFit/>
          </a:bodyPr>
          <a:lstStyle/>
          <a:p>
            <a:pPr algn="ctr"/>
            <a:r>
              <a:rPr sz="1800" b="1" i="0">
                <a:solidFill>
                  <a:srgbClr val="C5E063"/>
                </a:solidFill>
                <a:latin typeface="Calibri"/>
              </a:rPr>
              <a:t>E</a:t>
            </a:r>
          </a:p>
        </p:txBody>
      </p:sp>
      <p:sp>
        <p:nvSpPr>
          <p:cNvPr id="35" name="TextBox 34"/>
          <p:cNvSpPr txBox="1"/>
          <p:nvPr/>
        </p:nvSpPr>
        <p:spPr>
          <a:xfrm>
            <a:off x="5120640" y="495604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ERROR LENS</a:t>
            </a:r>
          </a:p>
        </p:txBody>
      </p:sp>
      <p:sp>
        <p:nvSpPr>
          <p:cNvPr id="36" name="TextBox 35"/>
          <p:cNvSpPr txBox="1"/>
          <p:nvPr/>
        </p:nvSpPr>
        <p:spPr>
          <a:xfrm>
            <a:off x="5120640" y="5184648"/>
            <a:ext cx="2651760" cy="365760"/>
          </a:xfrm>
          <a:prstGeom prst="rect">
            <a:avLst/>
          </a:prstGeom>
          <a:noFill/>
        </p:spPr>
        <p:txBody>
          <a:bodyPr wrap="square" lIns="0" rIns="0" tIns="0" bIns="0" anchor="t">
            <a:spAutoFit/>
          </a:bodyPr>
          <a:lstStyle/>
          <a:p>
            <a:pPr algn="l"/>
            <a:r>
              <a:rPr sz="1500" b="1" i="0">
                <a:solidFill>
                  <a:srgbClr val="0F1F1A"/>
                </a:solidFill>
                <a:latin typeface="Georgia"/>
              </a:rPr>
              <a:t>Error Lens</a:t>
            </a:r>
          </a:p>
        </p:txBody>
      </p:sp>
      <p:sp>
        <p:nvSpPr>
          <p:cNvPr id="37" name="TextBox 36"/>
          <p:cNvSpPr txBox="1"/>
          <p:nvPr/>
        </p:nvSpPr>
        <p:spPr>
          <a:xfrm>
            <a:off x="4572000" y="557784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Surfaces errors and warnings inline, on the same line. No more hunting.</a:t>
            </a:r>
          </a:p>
        </p:txBody>
      </p:sp>
      <p:sp>
        <p:nvSpPr>
          <p:cNvPr id="38" name="Rectangle 37"/>
          <p:cNvSpPr/>
          <p:nvPr/>
        </p:nvSpPr>
        <p:spPr>
          <a:xfrm>
            <a:off x="8046720" y="466344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21040" y="493776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1040" y="4937760"/>
            <a:ext cx="457200" cy="457200"/>
          </a:xfrm>
          <a:prstGeom prst="rect">
            <a:avLst/>
          </a:prstGeom>
          <a:noFill/>
        </p:spPr>
        <p:txBody>
          <a:bodyPr wrap="square" lIns="0" rIns="0" tIns="0" bIns="0" anchor="ctr">
            <a:spAutoFit/>
          </a:bodyPr>
          <a:lstStyle/>
          <a:p>
            <a:pPr algn="ctr"/>
            <a:r>
              <a:rPr sz="1800" b="1" i="0">
                <a:solidFill>
                  <a:srgbClr val="C5E063"/>
                </a:solidFill>
                <a:latin typeface="Calibri"/>
              </a:rPr>
              <a:t>C</a:t>
            </a:r>
          </a:p>
        </p:txBody>
      </p:sp>
      <p:sp>
        <p:nvSpPr>
          <p:cNvPr id="41" name="TextBox 40"/>
          <p:cNvSpPr txBox="1"/>
          <p:nvPr/>
        </p:nvSpPr>
        <p:spPr>
          <a:xfrm>
            <a:off x="8869680" y="495604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COPILOT (opt)</a:t>
            </a:r>
          </a:p>
        </p:txBody>
      </p:sp>
      <p:sp>
        <p:nvSpPr>
          <p:cNvPr id="42" name="TextBox 41"/>
          <p:cNvSpPr txBox="1"/>
          <p:nvPr/>
        </p:nvSpPr>
        <p:spPr>
          <a:xfrm>
            <a:off x="8869680" y="5184648"/>
            <a:ext cx="2651760" cy="365760"/>
          </a:xfrm>
          <a:prstGeom prst="rect">
            <a:avLst/>
          </a:prstGeom>
          <a:noFill/>
        </p:spPr>
        <p:txBody>
          <a:bodyPr wrap="square" lIns="0" rIns="0" tIns="0" bIns="0" anchor="t">
            <a:spAutoFit/>
          </a:bodyPr>
          <a:lstStyle/>
          <a:p>
            <a:pPr algn="l"/>
            <a:r>
              <a:rPr sz="1500" b="1" i="0">
                <a:solidFill>
                  <a:srgbClr val="0F1F1A"/>
                </a:solidFill>
                <a:latin typeface="Georgia"/>
              </a:rPr>
              <a:t>Copilot or Claude</a:t>
            </a:r>
          </a:p>
        </p:txBody>
      </p:sp>
      <p:sp>
        <p:nvSpPr>
          <p:cNvPr id="43" name="TextBox 42"/>
          <p:cNvSpPr txBox="1"/>
          <p:nvPr/>
        </p:nvSpPr>
        <p:spPr>
          <a:xfrm>
            <a:off x="8321040" y="557784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AI pair-programmer for boilerplate, tests, docstrings. Useful — but always review the diff.</a:t>
            </a:r>
          </a:p>
        </p:txBody>
      </p:sp>
      <p:sp>
        <p:nvSpPr>
          <p:cNvPr id="44" name="TextBox 4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45" name="TextBox 4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EXTENSIONS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par>
                    <p:cTn id="188" fill="hold">
                      <p:stCondLst>
                        <p:cond delay="indefinite"/>
                        <p:cond evt="onBegin" delay="0">
                          <p:tn val="2"/>
                        </p:cond>
                      </p:stCondLst>
                      <p:childTnLst>
                        <p:par>
                          <p:cTn id="189" fill="hold">
                            <p:stCondLst>
                              <p:cond delay="0"/>
                            </p:stCondLst>
                            <p:childTnLst>
                              <p:par>
                                <p:cTn id="190" presetID="10" presetClass="entr" presetSubtype="0" fill="hold" grpId="0" nodeType="afterEffect">
                                  <p:stCondLst>
                                    <p:cond delay="18"/>
                                  </p:stCondLst>
                                  <p:childTnLst>
                                    <p:set>
                                      <p:cBhvr>
                                        <p:cTn id="191" dur="1" fill="hold">
                                          <p:stCondLst>
                                            <p:cond delay="0"/>
                                          </p:stCondLst>
                                        </p:cTn>
                                        <p:tgtEl>
                                          <p:spTgt spid="39"/>
                                        </p:tgtEl>
                                        <p:attrNameLst>
                                          <p:attrName>style.visibility</p:attrName>
                                        </p:attrNameLst>
                                      </p:cBhvr>
                                      <p:to>
                                        <p:strVal val="visible"/>
                                      </p:to>
                                    </p:set>
                                    <p:anim calcmode="lin" valueType="num">
                                      <p:cBhvr additive="base">
                                        <p:cTn id="192" dur="150" fill="hold"/>
                                        <p:tgtEl>
                                          <p:spTgt spid="39"/>
                                        </p:tgtEl>
                                        <p:attrNameLst>
                                          <p:attrName>style.opacity</p:attrName>
                                        </p:attrNameLst>
                                      </p:cBhvr>
                                      <p:tavLst>
                                        <p:tav tm="0">
                                          <p:val>
                                            <p:fltVal val="0"/>
                                          </p:val>
                                        </p:tav>
                                        <p:tav tm="100000">
                                          <p:val>
                                            <p:fltVal val="1"/>
                                          </p:val>
                                        </p:tav>
                                      </p:tavLst>
                                    </p:anim>
                                  </p:childTnLst>
                                </p:cTn>
                              </p:par>
                            </p:childTnLst>
                          </p:cTn>
                        </p:par>
                      </p:childTnLst>
                    </p:cTn>
                  </p:par>
                  <p:par>
                    <p:cTn id="193" fill="hold">
                      <p:stCondLst>
                        <p:cond delay="indefinite"/>
                        <p:cond evt="onBegin" delay="0">
                          <p:tn val="2"/>
                        </p:cond>
                      </p:stCondLst>
                      <p:childTnLst>
                        <p:par>
                          <p:cTn id="194" fill="hold">
                            <p:stCondLst>
                              <p:cond delay="0"/>
                            </p:stCondLst>
                            <p:childTnLst>
                              <p:par>
                                <p:cTn id="195" presetID="10" presetClass="entr" presetSubtype="0" fill="hold" grpId="0" nodeType="afterEffect">
                                  <p:stCondLst>
                                    <p:cond delay="18"/>
                                  </p:stCondLst>
                                  <p:childTnLst>
                                    <p:set>
                                      <p:cBhvr>
                                        <p:cTn id="196" dur="1" fill="hold">
                                          <p:stCondLst>
                                            <p:cond delay="0"/>
                                          </p:stCondLst>
                                        </p:cTn>
                                        <p:tgtEl>
                                          <p:spTgt spid="40"/>
                                        </p:tgtEl>
                                        <p:attrNameLst>
                                          <p:attrName>style.visibility</p:attrName>
                                        </p:attrNameLst>
                                      </p:cBhvr>
                                      <p:to>
                                        <p:strVal val="visible"/>
                                      </p:to>
                                    </p:set>
                                    <p:anim calcmode="lin" valueType="num">
                                      <p:cBhvr additive="base">
                                        <p:cTn id="197" dur="150" fill="hold"/>
                                        <p:tgtEl>
                                          <p:spTgt spid="40"/>
                                        </p:tgtEl>
                                        <p:attrNameLst>
                                          <p:attrName>style.opacity</p:attrName>
                                        </p:attrNameLst>
                                      </p:cBhvr>
                                      <p:tavLst>
                                        <p:tav tm="0">
                                          <p:val>
                                            <p:fltVal val="0"/>
                                          </p:val>
                                        </p:tav>
                                        <p:tav tm="100000">
                                          <p:val>
                                            <p:fltVal val="1"/>
                                          </p:val>
                                        </p:tav>
                                      </p:tavLst>
                                    </p:anim>
                                  </p:childTnLst>
                                </p:cTn>
                              </p:par>
                            </p:childTnLst>
                          </p:cTn>
                        </p:par>
                      </p:childTnLst>
                    </p:cTn>
                  </p:par>
                  <p:par>
                    <p:cTn id="198" fill="hold">
                      <p:stCondLst>
                        <p:cond delay="indefinite"/>
                        <p:cond evt="onBegin" delay="0">
                          <p:tn val="2"/>
                        </p:cond>
                      </p:stCondLst>
                      <p:childTnLst>
                        <p:par>
                          <p:cTn id="199" fill="hold">
                            <p:stCondLst>
                              <p:cond delay="0"/>
                            </p:stCondLst>
                            <p:childTnLst>
                              <p:par>
                                <p:cTn id="200" presetID="10" presetClass="entr" presetSubtype="0" fill="hold" grpId="0" nodeType="afterEffect">
                                  <p:stCondLst>
                                    <p:cond delay="18"/>
                                  </p:stCondLst>
                                  <p:childTnLst>
                                    <p:set>
                                      <p:cBhvr>
                                        <p:cTn id="201" dur="1" fill="hold">
                                          <p:stCondLst>
                                            <p:cond delay="0"/>
                                          </p:stCondLst>
                                        </p:cTn>
                                        <p:tgtEl>
                                          <p:spTgt spid="41"/>
                                        </p:tgtEl>
                                        <p:attrNameLst>
                                          <p:attrName>style.visibility</p:attrName>
                                        </p:attrNameLst>
                                      </p:cBhvr>
                                      <p:to>
                                        <p:strVal val="visible"/>
                                      </p:to>
                                    </p:set>
                                    <p:anim calcmode="lin" valueType="num">
                                      <p:cBhvr additive="base">
                                        <p:cTn id="202" dur="150" fill="hold"/>
                                        <p:tgtEl>
                                          <p:spTgt spid="41"/>
                                        </p:tgtEl>
                                        <p:attrNameLst>
                                          <p:attrName>style.opacity</p:attrName>
                                        </p:attrNameLst>
                                      </p:cBhvr>
                                      <p:tavLst>
                                        <p:tav tm="0">
                                          <p:val>
                                            <p:fltVal val="0"/>
                                          </p:val>
                                        </p:tav>
                                        <p:tav tm="100000">
                                          <p:val>
                                            <p:fltVal val="1"/>
                                          </p:val>
                                        </p:tav>
                                      </p:tavLst>
                                    </p:anim>
                                  </p:childTnLst>
                                </p:cTn>
                              </p:par>
                            </p:childTnLst>
                          </p:cTn>
                        </p:par>
                      </p:childTnLst>
                    </p:cTn>
                  </p:par>
                  <p:par>
                    <p:cTn id="203" fill="hold">
                      <p:stCondLst>
                        <p:cond delay="indefinite"/>
                        <p:cond evt="onBegin" delay="0">
                          <p:tn val="2"/>
                        </p:cond>
                      </p:stCondLst>
                      <p:childTnLst>
                        <p:par>
                          <p:cTn id="204" fill="hold">
                            <p:stCondLst>
                              <p:cond delay="0"/>
                            </p:stCondLst>
                            <p:childTnLst>
                              <p:par>
                                <p:cTn id="205" presetID="10" presetClass="entr" presetSubtype="0" fill="hold" grpId="0" nodeType="afterEffect">
                                  <p:stCondLst>
                                    <p:cond delay="18"/>
                                  </p:stCondLst>
                                  <p:childTnLst>
                                    <p:set>
                                      <p:cBhvr>
                                        <p:cTn id="206" dur="1" fill="hold">
                                          <p:stCondLst>
                                            <p:cond delay="0"/>
                                          </p:stCondLst>
                                        </p:cTn>
                                        <p:tgtEl>
                                          <p:spTgt spid="42"/>
                                        </p:tgtEl>
                                        <p:attrNameLst>
                                          <p:attrName>style.visibility</p:attrName>
                                        </p:attrNameLst>
                                      </p:cBhvr>
                                      <p:to>
                                        <p:strVal val="visible"/>
                                      </p:to>
                                    </p:set>
                                    <p:anim calcmode="lin" valueType="num">
                                      <p:cBhvr additive="base">
                                        <p:cTn id="207" dur="150" fill="hold"/>
                                        <p:tgtEl>
                                          <p:spTgt spid="42"/>
                                        </p:tgtEl>
                                        <p:attrNameLst>
                                          <p:attrName>style.opacity</p:attrName>
                                        </p:attrNameLst>
                                      </p:cBhvr>
                                      <p:tavLst>
                                        <p:tav tm="0">
                                          <p:val>
                                            <p:fltVal val="0"/>
                                          </p:val>
                                        </p:tav>
                                        <p:tav tm="100000">
                                          <p:val>
                                            <p:fltVal val="1"/>
                                          </p:val>
                                        </p:tav>
                                      </p:tavLst>
                                    </p:anim>
                                  </p:childTnLst>
                                </p:cTn>
                              </p:par>
                            </p:childTnLst>
                          </p:cTn>
                        </p:par>
                      </p:childTnLst>
                    </p:cTn>
                  </p:par>
                  <p:par>
                    <p:cTn id="208" fill="hold">
                      <p:stCondLst>
                        <p:cond delay="indefinite"/>
                        <p:cond evt="onBegin" delay="0">
                          <p:tn val="2"/>
                        </p:cond>
                      </p:stCondLst>
                      <p:childTnLst>
                        <p:par>
                          <p:cTn id="209" fill="hold">
                            <p:stCondLst>
                              <p:cond delay="0"/>
                            </p:stCondLst>
                            <p:childTnLst>
                              <p:par>
                                <p:cTn id="210" presetID="10" presetClass="entr" presetSubtype="0" fill="hold" grpId="0" nodeType="afterEffect">
                                  <p:stCondLst>
                                    <p:cond delay="18"/>
                                  </p:stCondLst>
                                  <p:childTnLst>
                                    <p:set>
                                      <p:cBhvr>
                                        <p:cTn id="211" dur="1" fill="hold">
                                          <p:stCondLst>
                                            <p:cond delay="0"/>
                                          </p:stCondLst>
                                        </p:cTn>
                                        <p:tgtEl>
                                          <p:spTgt spid="43"/>
                                        </p:tgtEl>
                                        <p:attrNameLst>
                                          <p:attrName>style.visibility</p:attrName>
                                        </p:attrNameLst>
                                      </p:cBhvr>
                                      <p:to>
                                        <p:strVal val="visible"/>
                                      </p:to>
                                    </p:set>
                                    <p:anim calcmode="lin" valueType="num">
                                      <p:cBhvr additive="base">
                                        <p:cTn id="212" dur="150" fill="hold"/>
                                        <p:tgtEl>
                                          <p:spTgt spid="43"/>
                                        </p:tgtEl>
                                        <p:attrNameLst>
                                          <p:attrName>style.opacity</p:attrName>
                                        </p:attrNameLst>
                                      </p:cBhvr>
                                      <p:tavLst>
                                        <p:tav tm="0">
                                          <p:val>
                                            <p:fltVal val="0"/>
                                          </p:val>
                                        </p:tav>
                                        <p:tav tm="100000">
                                          <p:val>
                                            <p:fltVal val="1"/>
                                          </p:val>
                                        </p:tav>
                                      </p:tavLst>
                                    </p:anim>
                                  </p:childTnLst>
                                </p:cTn>
                              </p:par>
                            </p:childTnLst>
                          </p:cTn>
                        </p:par>
                      </p:childTnLst>
                    </p:cTn>
                  </p:par>
                  <p:par>
                    <p:cTn id="213" fill="hold">
                      <p:stCondLst>
                        <p:cond delay="indefinite"/>
                        <p:cond evt="onBegin" delay="0">
                          <p:tn val="2"/>
                        </p:cond>
                      </p:stCondLst>
                      <p:childTnLst>
                        <p:par>
                          <p:cTn id="214" fill="hold">
                            <p:stCondLst>
                              <p:cond delay="0"/>
                            </p:stCondLst>
                            <p:childTnLst>
                              <p:par>
                                <p:cTn id="215" presetID="10" presetClass="entr" presetSubtype="0" fill="hold" grpId="0" nodeType="afterEffect">
                                  <p:stCondLst>
                                    <p:cond delay="18"/>
                                  </p:stCondLst>
                                  <p:childTnLst>
                                    <p:set>
                                      <p:cBhvr>
                                        <p:cTn id="216" dur="1" fill="hold">
                                          <p:stCondLst>
                                            <p:cond delay="0"/>
                                          </p:stCondLst>
                                        </p:cTn>
                                        <p:tgtEl>
                                          <p:spTgt spid="44"/>
                                        </p:tgtEl>
                                        <p:attrNameLst>
                                          <p:attrName>style.visibility</p:attrName>
                                        </p:attrNameLst>
                                      </p:cBhvr>
                                      <p:to>
                                        <p:strVal val="visible"/>
                                      </p:to>
                                    </p:set>
                                    <p:anim calcmode="lin" valueType="num">
                                      <p:cBhvr additive="base">
                                        <p:cTn id="217" dur="150" fill="hold"/>
                                        <p:tgtEl>
                                          <p:spTgt spid="44"/>
                                        </p:tgtEl>
                                        <p:attrNameLst>
                                          <p:attrName>style.opacity</p:attrName>
                                        </p:attrNameLst>
                                      </p:cBhvr>
                                      <p:tavLst>
                                        <p:tav tm="0">
                                          <p:val>
                                            <p:fltVal val="0"/>
                                          </p:val>
                                        </p:tav>
                                        <p:tav tm="100000">
                                          <p:val>
                                            <p:fltVal val="1"/>
                                          </p:val>
                                        </p:tav>
                                      </p:tavLst>
                                    </p:anim>
                                  </p:childTnLst>
                                </p:cTn>
                              </p:par>
                            </p:childTnLst>
                          </p:cTn>
                        </p:par>
                      </p:childTnLst>
                    </p:cTn>
                  </p:par>
                  <p:par>
                    <p:cTn id="218" fill="hold">
                      <p:stCondLst>
                        <p:cond delay="indefinite"/>
                        <p:cond evt="onBegin" delay="0">
                          <p:tn val="2"/>
                        </p:cond>
                      </p:stCondLst>
                      <p:childTnLst>
                        <p:par>
                          <p:cTn id="219" fill="hold">
                            <p:stCondLst>
                              <p:cond delay="0"/>
                            </p:stCondLst>
                            <p:childTnLst>
                              <p:par>
                                <p:cTn id="220" presetID="10" presetClass="entr" presetSubtype="0" fill="hold" grpId="0" nodeType="afterEffect">
                                  <p:stCondLst>
                                    <p:cond delay="18"/>
                                  </p:stCondLst>
                                  <p:childTnLst>
                                    <p:set>
                                      <p:cBhvr>
                                        <p:cTn id="221" dur="1" fill="hold">
                                          <p:stCondLst>
                                            <p:cond delay="0"/>
                                          </p:stCondLst>
                                        </p:cTn>
                                        <p:tgtEl>
                                          <p:spTgt spid="45"/>
                                        </p:tgtEl>
                                        <p:attrNameLst>
                                          <p:attrName>style.visibility</p:attrName>
                                        </p:attrNameLst>
                                      </p:cBhvr>
                                      <p:to>
                                        <p:strVal val="visible"/>
                                      </p:to>
                                    </p:set>
                                    <p:anim calcmode="lin" valueType="num">
                                      <p:cBhvr additive="base">
                                        <p:cTn id="222" dur="150" fill="hold"/>
                                        <p:tgtEl>
                                          <p:spTgt spid="4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WHEN  TO  LEAVE  THE  NOTEBOOK</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Notebooks are for exploring. Modules are for keeping.</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Notebooks shine when you don't know the answer yet — plotting, fiddling, narrating. But notebooks fall apart when:
·  the same code lives in three cells
·  cell-execution order matters and you've lost track
·  someone else has to read it next Tuesday
When any of these starts hurting, extract the stable bits into a .py module and import it back into the notebook.</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FOUR  RULES  OF  THUMB</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Use a notebook for the first 200 lines of a problem.</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Extract pure functions into a .py file as soon as they stabilise.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Import that .py back into the notebook — keep the narrative.</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Commit notebooks with cleared outputs. Diffs become readable.</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NOTEBOOKS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Git, GitHub, and your first green push</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By the end of this part, you will have a public repo and a working pull request.</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FROM  LAPTOP  TO  THE  WORLD</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Six commands. Five minutes. Your first public push.</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Run these in order. The non-negotiable end state is a green 'push successful' on a public GitHub repo.</a:t>
            </a:r>
          </a:p>
        </p:txBody>
      </p:sp>
      <p:sp>
        <p:nvSpPr>
          <p:cNvPr id="8" name="Rectangle 7"/>
          <p:cNvSpPr/>
          <p:nvPr/>
        </p:nvSpPr>
        <p:spPr>
          <a:xfrm>
            <a:off x="548640"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1</a:t>
            </a:r>
          </a:p>
        </p:txBody>
      </p:sp>
      <p:sp>
        <p:nvSpPr>
          <p:cNvPr id="10" name="Rectangle 9"/>
          <p:cNvSpPr/>
          <p:nvPr/>
        </p:nvSpPr>
        <p:spPr>
          <a:xfrm>
            <a:off x="548640"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Init the repo</a:t>
            </a:r>
          </a:p>
        </p:txBody>
      </p:sp>
      <p:sp>
        <p:nvSpPr>
          <p:cNvPr id="12" name="TextBox 11"/>
          <p:cNvSpPr txBox="1"/>
          <p:nvPr/>
        </p:nvSpPr>
        <p:spPr>
          <a:xfrm>
            <a:off x="713232"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Inside your project folder, run git init. Configure your name and email with git config --global.</a:t>
            </a:r>
          </a:p>
        </p:txBody>
      </p:sp>
      <p:sp>
        <p:nvSpPr>
          <p:cNvPr id="13" name="TextBox 12"/>
          <p:cNvSpPr txBox="1"/>
          <p:nvPr/>
        </p:nvSpPr>
        <p:spPr>
          <a:xfrm>
            <a:off x="2492654"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14" name="Rectangle 13"/>
          <p:cNvSpPr/>
          <p:nvPr/>
        </p:nvSpPr>
        <p:spPr>
          <a:xfrm>
            <a:off x="2794406"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4406"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2</a:t>
            </a:r>
          </a:p>
        </p:txBody>
      </p:sp>
      <p:sp>
        <p:nvSpPr>
          <p:cNvPr id="16" name="Rectangle 15"/>
          <p:cNvSpPr/>
          <p:nvPr/>
        </p:nvSpPr>
        <p:spPr>
          <a:xfrm>
            <a:off x="2794406"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58998"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Add &amp; commit</a:t>
            </a:r>
          </a:p>
        </p:txBody>
      </p:sp>
      <p:sp>
        <p:nvSpPr>
          <p:cNvPr id="18" name="TextBox 17"/>
          <p:cNvSpPr txBox="1"/>
          <p:nvPr/>
        </p:nvSpPr>
        <p:spPr>
          <a:xfrm>
            <a:off x="2958998"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git add . stages everything. git commit -m 'Initial commit' takes the first snapshot.</a:t>
            </a:r>
          </a:p>
        </p:txBody>
      </p:sp>
      <p:sp>
        <p:nvSpPr>
          <p:cNvPr id="19" name="TextBox 18"/>
          <p:cNvSpPr txBox="1"/>
          <p:nvPr/>
        </p:nvSpPr>
        <p:spPr>
          <a:xfrm>
            <a:off x="4738420"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20" name="Rectangle 19"/>
          <p:cNvSpPr/>
          <p:nvPr/>
        </p:nvSpPr>
        <p:spPr>
          <a:xfrm>
            <a:off x="5040172"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0172"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3</a:t>
            </a:r>
          </a:p>
        </p:txBody>
      </p:sp>
      <p:sp>
        <p:nvSpPr>
          <p:cNvPr id="22" name="Rectangle 21"/>
          <p:cNvSpPr/>
          <p:nvPr/>
        </p:nvSpPr>
        <p:spPr>
          <a:xfrm>
            <a:off x="5040172"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04764"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Create on GitHub</a:t>
            </a:r>
          </a:p>
        </p:txBody>
      </p:sp>
      <p:sp>
        <p:nvSpPr>
          <p:cNvPr id="24" name="TextBox 23"/>
          <p:cNvSpPr txBox="1"/>
          <p:nvPr/>
        </p:nvSpPr>
        <p:spPr>
          <a:xfrm>
            <a:off x="5204764"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On github.com, create a new empty repo. Copy its URL. Don't initialise it with a README — yours wins.</a:t>
            </a:r>
          </a:p>
        </p:txBody>
      </p:sp>
      <p:sp>
        <p:nvSpPr>
          <p:cNvPr id="25" name="TextBox 24"/>
          <p:cNvSpPr txBox="1"/>
          <p:nvPr/>
        </p:nvSpPr>
        <p:spPr>
          <a:xfrm>
            <a:off x="6984187"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26" name="Rectangle 25"/>
          <p:cNvSpPr/>
          <p:nvPr/>
        </p:nvSpPr>
        <p:spPr>
          <a:xfrm>
            <a:off x="7285939"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85939"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4</a:t>
            </a:r>
          </a:p>
        </p:txBody>
      </p:sp>
      <p:sp>
        <p:nvSpPr>
          <p:cNvPr id="28" name="Rectangle 27"/>
          <p:cNvSpPr/>
          <p:nvPr/>
        </p:nvSpPr>
        <p:spPr>
          <a:xfrm>
            <a:off x="7285939"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0531"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Wire the remote</a:t>
            </a:r>
          </a:p>
        </p:txBody>
      </p:sp>
      <p:sp>
        <p:nvSpPr>
          <p:cNvPr id="30" name="TextBox 29"/>
          <p:cNvSpPr txBox="1"/>
          <p:nvPr/>
        </p:nvSpPr>
        <p:spPr>
          <a:xfrm>
            <a:off x="7450531"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git remote add origin &lt;url&gt; tells your local repo where to push to.</a:t>
            </a:r>
          </a:p>
        </p:txBody>
      </p:sp>
      <p:sp>
        <p:nvSpPr>
          <p:cNvPr id="31" name="TextBox 30"/>
          <p:cNvSpPr txBox="1"/>
          <p:nvPr/>
        </p:nvSpPr>
        <p:spPr>
          <a:xfrm>
            <a:off x="9229953"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32" name="Rectangle 31"/>
          <p:cNvSpPr/>
          <p:nvPr/>
        </p:nvSpPr>
        <p:spPr>
          <a:xfrm>
            <a:off x="9531705"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31705"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5</a:t>
            </a:r>
          </a:p>
        </p:txBody>
      </p:sp>
      <p:sp>
        <p:nvSpPr>
          <p:cNvPr id="34" name="Rectangle 33"/>
          <p:cNvSpPr/>
          <p:nvPr/>
        </p:nvSpPr>
        <p:spPr>
          <a:xfrm>
            <a:off x="9531705"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6297"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Push &amp; verify</a:t>
            </a:r>
          </a:p>
        </p:txBody>
      </p:sp>
      <p:sp>
        <p:nvSpPr>
          <p:cNvPr id="36" name="TextBox 35"/>
          <p:cNvSpPr txBox="1"/>
          <p:nvPr/>
        </p:nvSpPr>
        <p:spPr>
          <a:xfrm>
            <a:off x="9696297"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git push -u origin main — wait for the green 'success'. Refresh GitHub. Your code is live.</a:t>
            </a:r>
          </a:p>
        </p:txBody>
      </p:sp>
      <p:sp>
        <p:nvSpPr>
          <p:cNvPr id="37" name="TextBox 3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38" name="TextBox 3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PROCESS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Match each activity to the right tool</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Drop each task below into the right column — Jupyter, VS Code or Git.
·  Writing and testing a Python package
·  Plotting six versions of a histogram while exploring data
·  Reverting a commit that broke production
·  Debugging a script with breakpoints and watch variables
·  Reviewing a teammate's changes line-by-line
·  Telling a story about a dataset, with code and prose interleaved</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solo — sort each activity into a tool.</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with a partner — defend any borderline picks.</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share-out — instructor calls on one team.</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30s reveal — instructor reveals the canonical sort.</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Setting up a 3-person Indian student project — the right way</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Three students in Pune are starting an end-of-semester ML project. Two are on Mac, one on Windows. They will share a private GitHub repo. They have one week. The previous batch's project failed during demo because 'it works on my laptop' — the code wouldn't run on the evaluator's machine.</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One venv each (.venv per machine), one requirements.txt in the repo, notebooks in /notebooks/ with cleared outputs, package code in /src/, tests in /tests/. The evaluator runs three commands and everything works.</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Each developer creates their own venv — they are local, never committed.</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requirements.txt is committed; .venv is in .gitignore.</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Notebooks live in /notebooks/, with outputs cleared before commit.</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Reproducibility is one README away: clone → venv → install → run.</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Your teammate sends you a project. They forgot the requirements.txt. What's the senior-engineer move?</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Install whatever pip suggests on each ImportError</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Delete your venv and use the system Python — easier</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Ask them to run pip freeze &gt; requirements.txt and re-share</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Skip the venv altogether for this project</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Your teammate sends you a project. They forgot the requirements.txt. What's the senior-engineer move?</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C</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Ask them to run pip freeze &gt; requirements.txt and re-share</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Reproducibility is non-negotiable. Without a pinned requirements file, you'll spend hours guessing versions. The right answer is the small, polite request that saves the next week.</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When should you stop developing in a Jupyter notebook?</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Never — notebooks are always preferred</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When the notebook crosses ~200 lines or the cell order starts mattering</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Only when the project is already in production</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When your kernel crashes more than once</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When should you stop developing in a Jupyter notebook?</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When the notebook crosses ~200 lines, or cell order starts mattering</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Notebooks excel at exploration. They start to fail you when execution order matters, when code is duplicated across cells, or when reviewers need to read it sequentially. At that point, extract pure functions to a .py file and import them back.</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`git push` returns a 'merge conflict'. What do you do?</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Force-push with --force to overwrite the conflict</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Delete the repo and start over</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Pull, resolve the conflict locally, commit, then push</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Email the teammate and ask them to fix it</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`git push` returns a 'merge conflict'. What do you do?</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C</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Pull, resolve the conflict locally, commit, then push</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Conflicts are routine in any team. Pull the remote changes, open the conflicting file in VS Code (it shows a clear three-way merge UI), pick which version wins, commit, push. --force is a last resort that almost always destroys someone's work.</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What part of your current setup feels most fragile? venv, dependencies, Git, IDE — pick one and improve it tonight.</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keyboard shortcut would save you the most time, and how often do you currently use it?</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of your past projects could you re-create on a brand-new laptop in 5 minutes? If none — what's missing?</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Ship a public repo. Green push. Pull request. Merge.</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Pick any small Python project — even a 30-line script. Set up the full environment by hand, push to a public repo, invite a classmate, accept their pull request, and merge. End-to-end.</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Public GitHub repo with green 'push successful' status</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requirements.txt at the root, .venv in .gitignore</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README with the three commands needed to reproduce your setup</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One classmate added as a collaborator and one PR merged</a:t>
            </a:r>
          </a:p>
        </p:txBody>
      </p:sp>
      <p:sp>
        <p:nvSpPr>
          <p:cNvPr id="18" name="Oval 17"/>
          <p:cNvSpPr/>
          <p:nvPr/>
        </p:nvSpPr>
        <p:spPr>
          <a:xfrm>
            <a:off x="868680" y="559612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48640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A 60-second screen recording of the green push moment</a:t>
            </a:r>
          </a:p>
        </p:txBody>
      </p:sp>
      <p:sp>
        <p:nvSpPr>
          <p:cNvPr id="20" name="Rectangle 19"/>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2" name="TextBox 21"/>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A great submission can be cloned, run, and contributed to by a stranger in under five minutes. That is the standard your future internship will assume on day one.</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One venv per project — every project, every machine, no exceptions.</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requirements.txt is the contract that lets anyone reproduce your setup.</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Use Jupyter for exploration, VS Code for engineering, Git for memory.</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Six VS Code extensions — Python, Jupyter, GitLens, Ruff, Error Lens, an AI assistant.</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Your environment is your instrument. Tune before every performance.</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5</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Spin up a virtual environment + requirements.txt in under a minute.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Configure VS Code with the six extensions that actually matter.</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Use Jupyter for exploration and know exactly when to leave it.</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Push a public repo from cold start to green status in five minutes.</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Resolve a merge conflict in VS Code without breaking a sweat.</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6 — Hyperautomation Fundamentals</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