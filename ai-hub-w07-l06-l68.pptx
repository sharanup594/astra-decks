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_hero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0"/>
            <a:ext cx="57908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0" y="0"/>
            <a:ext cx="5790895" cy="6858000"/>
          </a:xfrm>
          <a:prstGeom prst="rect">
            <a:avLst/>
          </a:prstGeom>
          <a:solidFill>
            <a:srgbClr val="1A352B">
              <a:alpha val="3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0" y="502920"/>
            <a:ext cx="1188720" cy="11887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4400" b="1" i="0">
                <a:solidFill>
                  <a:srgbClr val="2C5244"/>
                </a:solidFill>
                <a:latin typeface="Georgia"/>
              </a:rPr>
              <a:t>L7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286000"/>
            <a:ext cx="4572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WHAT'S INSIDE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74320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60920" y="274320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The data gap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33756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33756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Bhashini — the national platform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93192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60920" y="393192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AI4Bharat — the research engine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452628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60920" y="452628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Hinglish classifier — 25 lines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5120640"/>
            <a:ext cx="365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000" b="1" i="0">
                <a:solidFill>
                  <a:srgbClr val="C5E063"/>
                </a:solidFill>
                <a:latin typeface="Georgia"/>
              </a:rPr>
              <a:t>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60920" y="5120640"/>
            <a:ext cx="46634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Calibri"/>
              </a:rPr>
              <a:t>Voice-first design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76656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400">
                <a:solidFill>
                  <a:srgbClr val="FFFFFF"/>
                </a:solidFill>
                <a:latin typeface="Calibri"/>
              </a:rPr>
              <a:t>WEEK 7   /   LESSON 7   /   50 MINUTES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1508760"/>
            <a:ext cx="6400800" cy="2468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FFFFFF"/>
                </a:solidFill>
                <a:latin typeface="Georgia"/>
              </a:rPr>
              <a:t>Indic NLP · Bhashini · AI4Bharat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160520"/>
            <a:ext cx="6400800" cy="1554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E5E7EB"/>
                </a:solidFill>
                <a:latin typeface="Calibri"/>
              </a:rPr>
              <a:t>English-only apps max out at 150 million. Indic-first apps reach 600 million. Whoever solves Indic best wins the next half-billion users. That is the Indian AI moat.
Which languages does your current product support? Which are missing?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COVER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WHY  THIS  LESSON  MATTERS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0F1F1A"/>
                </a:solidFill>
                <a:latin typeface="Georgia"/>
              </a:rPr>
              <a:t>62% of Indian internet users prefer native-language content.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697480"/>
            <a:ext cx="457200" cy="45720"/>
          </a:xfrm>
          <a:prstGeom prst="rect">
            <a:avLst/>
          </a:prstGeom>
          <a:solidFill>
            <a:srgbClr val="A6C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150 million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7185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0045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NUMBER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45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600 million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045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From real-world deployments.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9506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2366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SPEED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2366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Now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2366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18270" y="3200400"/>
            <a:ext cx="2594610" cy="19202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46870" y="3429000"/>
            <a:ext cx="213741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C5E063"/>
                </a:solidFill>
                <a:latin typeface="Calibri"/>
              </a:rPr>
              <a:t>IMPACT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46870" y="3749040"/>
            <a:ext cx="213741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Yours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46870" y="4526280"/>
            <a:ext cx="213741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A real reason this matters in industry today.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HOOK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LEARNING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By the end of this lesson, you will be able to —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Why Indic NLP is underserved.</a:t>
            </a:r>
          </a:p>
        </p:txBody>
      </p:sp>
      <p:sp>
        <p:nvSpPr>
          <p:cNvPr id="10" name="Oval 9"/>
          <p:cNvSpPr/>
          <p:nvPr/>
        </p:nvSpPr>
        <p:spPr>
          <a:xfrm>
            <a:off x="6080760" y="278892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27889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74320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Use Bhashini APIs.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AI4Bharat models.</a:t>
            </a:r>
          </a:p>
        </p:txBody>
      </p:sp>
      <p:sp>
        <p:nvSpPr>
          <p:cNvPr id="16" name="Oval 15"/>
          <p:cNvSpPr/>
          <p:nvPr/>
        </p:nvSpPr>
        <p:spPr>
          <a:xfrm>
            <a:off x="6080760" y="365760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80760" y="36576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29400" y="361188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Hinglish classifier with IndicBERT.</a:t>
            </a:r>
          </a:p>
        </p:txBody>
      </p:sp>
      <p:sp>
        <p:nvSpPr>
          <p:cNvPr id="19" name="Oval 18"/>
          <p:cNvSpPr/>
          <p:nvPr/>
        </p:nvSpPr>
        <p:spPr>
          <a:xfrm>
            <a:off x="548640" y="4526280"/>
            <a:ext cx="411480" cy="41148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480560"/>
            <a:ext cx="4800600" cy="8686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0F1F1A"/>
                </a:solidFill>
                <a:latin typeface="Calibri"/>
              </a:rPr>
              <a:t>Voice-first Indic product.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OUTCOMES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AGENDA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0584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Georgia"/>
              </a:rPr>
              <a:t>What we'll cover today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Short, sequenced parts. Each one builds on the last.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The data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Why frontier LLMs fall short on Indic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6042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8902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8902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Bhashini — the national...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8902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Free government APIs for Indic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AI4Bharat — the research...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IIT Madras initiative + Nilekani Philanthropies. Open weights + free use.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83980" y="3108960"/>
            <a:ext cx="2628900" cy="24688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12580" y="3337560"/>
            <a:ext cx="2171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2580" y="3977640"/>
            <a:ext cx="21717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FFFFFF"/>
                </a:solidFill>
                <a:latin typeface="Georgia"/>
              </a:rPr>
              <a:t>Hinglish classifier — 25...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12580" y="4663440"/>
            <a:ext cx="2171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E5E7EB"/>
                </a:solidFill>
                <a:latin typeface="Calibri"/>
              </a:rPr>
              <a:t>IndicBERTv2 embeddings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AGENDA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1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The data gap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Why frontier LLMs fall short on Indic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1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The data gap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English is 50% of the internet.
Indic langs: 15% of humanity but &lt; 2% of training data.
Hindi passably handled; Tamil poorly; Kannada laughably.
Gap = pain point for users AND opportunity for builders.
MOAT
Indic first
Few frontier labs will prioritise this — Indian teams must.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The data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Why frontier LLMs fall short on Indic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2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Bhashini — the national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Ministry of Electronics and IT, launched 2022.
22 scheduled languages.
Speech, text, translation, OCR.
REST APIs; register at bhashini.gov.in.
Public-sector deployments mandate Bhashini integration.
FREE
bhashini.gov.in
Get keys; go.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Ministry of Electronics and IT, launched 2022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22 scheduled languages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Speech, text, translation, OCR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REST APIs; register at bhashini.gov.in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3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AI4Bharat — the research engine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IIT Madras initiative + Nilekani Philanthropies. Open weights + free use.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89520" y="2057400"/>
            <a:ext cx="37490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Georgia"/>
              </a:rPr>
              <a:t>AI4Bharat — the research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89520" y="3246120"/>
            <a:ext cx="37490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IIT Madras initiative + Nilekani Philanthropies. Open weights + free use.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589520" y="4892040"/>
            <a:ext cx="365760" cy="36576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502920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500">
                <a:solidFill>
                  <a:srgbClr val="C5E063"/>
                </a:solidFill>
                <a:latin typeface="Calibri"/>
              </a:rPr>
              <a:t>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20" y="5303520"/>
            <a:ext cx="3749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 i="1">
                <a:solidFill>
                  <a:srgbClr val="FFFFFF"/>
                </a:solidFill>
                <a:latin typeface="Calibri"/>
              </a:rPr>
              <a:t>Real-world example: applies directly to Indian industry contexts.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CONCEPT 4  OF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6400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Hinglish classifier — 25 lines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606040"/>
            <a:ext cx="640080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Tokenise mixed-language text.
Get 768-dim embeddings.
Train a small classifier on top.
Handles Roman + Devanagari in the same input.
USE
IndicBERTv2
Open-weight; accepts code-mix.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0" y="1417320"/>
            <a:ext cx="4297680" cy="4572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1691640"/>
            <a:ext cx="3749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KEY  POINTS</a:t>
            </a:r>
          </a:p>
        </p:txBody>
      </p:sp>
      <p:sp>
        <p:nvSpPr>
          <p:cNvPr id="10" name="Oval 9"/>
          <p:cNvSpPr/>
          <p:nvPr/>
        </p:nvSpPr>
        <p:spPr>
          <a:xfrm>
            <a:off x="7635240" y="2359152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2194560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Tokenise mixed-language text</a:t>
            </a:r>
          </a:p>
        </p:txBody>
      </p:sp>
      <p:sp>
        <p:nvSpPr>
          <p:cNvPr id="12" name="Oval 11"/>
          <p:cNvSpPr/>
          <p:nvPr/>
        </p:nvSpPr>
        <p:spPr>
          <a:xfrm>
            <a:off x="7635240" y="3072384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0" y="2907792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Get 768-dim embeddings</a:t>
            </a:r>
          </a:p>
        </p:txBody>
      </p:sp>
      <p:sp>
        <p:nvSpPr>
          <p:cNvPr id="14" name="Oval 13"/>
          <p:cNvSpPr/>
          <p:nvPr/>
        </p:nvSpPr>
        <p:spPr>
          <a:xfrm>
            <a:off x="7635240" y="3785616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0" y="3621024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Train a small classifier on top</a:t>
            </a:r>
          </a:p>
        </p:txBody>
      </p:sp>
      <p:sp>
        <p:nvSpPr>
          <p:cNvPr id="16" name="Oval 15"/>
          <p:cNvSpPr/>
          <p:nvPr/>
        </p:nvSpPr>
        <p:spPr>
          <a:xfrm>
            <a:off x="7635240" y="4498848"/>
            <a:ext cx="109728" cy="10972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0" y="4334256"/>
            <a:ext cx="34747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Handles Roman + Devanagari in the same input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2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Engage and reflect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Pause, talk, and connect what you just learned to your own work.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143000"/>
            <a:ext cx="2377440" cy="365760"/>
          </a:xfrm>
          <a:prstGeom prst="round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000" b="1" i="0" spc="500">
                <a:solidFill>
                  <a:srgbClr val="2C5244"/>
                </a:solidFill>
                <a:latin typeface="Calibri"/>
              </a:rPr>
              <a:t>✦  THINK · PAIR · SHARE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240" y="1207008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6916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0" i="0">
                <a:solidFill>
                  <a:srgbClr val="FFFFFF"/>
                </a:solidFill>
                <a:latin typeface="Georgia"/>
              </a:rPr>
              <a:t>Frontier LLM vs AI4Bharat on Tamil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743200"/>
            <a:ext cx="7040880" cy="338328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926080"/>
            <a:ext cx="6492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246120"/>
            <a:ext cx="649224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1">
                <a:solidFill>
                  <a:srgbClr val="FFFFFF"/>
                </a:solidFill>
                <a:latin typeface="Calibri"/>
              </a:rPr>
              <a:t>Apply the four concepts above to one real example from your own week.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743200"/>
            <a:ext cx="3794760" cy="3383280"/>
          </a:xfrm>
          <a:prstGeom prst="rect">
            <a:avLst/>
          </a:prstGeom>
          <a:solidFill>
            <a:srgbClr val="224036"/>
          </a:solidFill>
          <a:ln w="6350">
            <a:solidFill>
              <a:srgbClr val="DCEC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2926080"/>
            <a:ext cx="32918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HOW TO RUN IT</a:t>
            </a:r>
          </a:p>
        </p:txBody>
      </p:sp>
      <p:sp>
        <p:nvSpPr>
          <p:cNvPr id="14" name="Oval 13"/>
          <p:cNvSpPr/>
          <p:nvPr/>
        </p:nvSpPr>
        <p:spPr>
          <a:xfrm>
            <a:off x="8092440" y="324612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324612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03920" y="324612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17" name="Oval 16"/>
          <p:cNvSpPr/>
          <p:nvPr/>
        </p:nvSpPr>
        <p:spPr>
          <a:xfrm>
            <a:off x="8092440" y="3886200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92440" y="3886200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886200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0" name="Oval 19"/>
          <p:cNvSpPr/>
          <p:nvPr/>
        </p:nvSpPr>
        <p:spPr>
          <a:xfrm>
            <a:off x="8092440" y="452627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92440" y="452627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03920" y="452627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/>
            </a:r>
          </a:p>
        </p:txBody>
      </p:sp>
      <p:sp>
        <p:nvSpPr>
          <p:cNvPr id="23" name="Oval 22"/>
          <p:cNvSpPr/>
          <p:nvPr/>
        </p:nvSpPr>
        <p:spPr>
          <a:xfrm>
            <a:off x="8092440" y="5166359"/>
            <a:ext cx="292608" cy="292608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092440" y="5166359"/>
            <a:ext cx="292608" cy="2926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03920" y="5166359"/>
            <a:ext cx="301752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Reveal: instructor confirms the canonical answer.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ACTIVITY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REFLECT  &amp;  APPLY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Three questions before you close this lesson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475569"/>
                </a:solidFill>
                <a:latin typeface="Calibri"/>
              </a:rPr>
              <a:t>Spend 60 seconds on each. Write the answers down — no scrolling, no shortcuts.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20040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320040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20040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Which Indic language would you ship first — and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16052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16052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416052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What does your grandmother's dream app look like?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5120640"/>
            <a:ext cx="11064240" cy="8229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120640"/>
            <a:ext cx="77724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2000" b="1" i="0">
                <a:solidFill>
                  <a:srgbClr val="C5E063"/>
                </a:solidFill>
                <a:latin typeface="Georgia"/>
              </a:rPr>
              <a:t>Q3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5120640"/>
            <a:ext cx="9966960" cy="8229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1">
                <a:solidFill>
                  <a:srgbClr val="0F1F1A"/>
                </a:solidFill>
                <a:latin typeface="Calibri"/>
              </a:rPr>
              <a:t>Where does code-switching break current products you use?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REFLECT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3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Knowledge check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Three short questions. One minute each. Honest answers only.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Why Indic NLP underserved: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Easy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Low data; low priority at frontier labs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Illegal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Nothing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1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Why Indic NLP underserved: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Low data; low priority at frontier labs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&lt; 2% of training data; frontier labs prioritise English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A1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Bhashini ministry: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Finance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Education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MeitY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Health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2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Bhashini ministry: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MeitY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Ministry of Electronics and 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A2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KNOWLEDGE CHECK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1" i="0">
                <a:solidFill>
                  <a:srgbClr val="FFFFFF"/>
                </a:solidFill>
                <a:latin typeface="Georgia"/>
              </a:rPr>
              <a:t>AI4Bharat host institution: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31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IIT Bombay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320040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446520" y="347472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347472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23760" y="320040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IIT Madras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31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IISc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4526280"/>
            <a:ext cx="5349240" cy="11430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446520" y="4800600"/>
            <a:ext cx="594360" cy="5943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4800600"/>
            <a:ext cx="594360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800" b="1" i="0">
                <a:solidFill>
                  <a:srgbClr val="2C5244"/>
                </a:solidFill>
                <a:latin typeface="Georgia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0" y="4526280"/>
            <a:ext cx="4206240" cy="1143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ISI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Q3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ANSWER   ·   QUESTION 3  OF 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6424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800" b="1" i="1">
                <a:solidFill>
                  <a:srgbClr val="FFFFFF"/>
                </a:solidFill>
                <a:latin typeface="Georgia"/>
              </a:rPr>
              <a:t>AI4Bharat host institution: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743200"/>
            <a:ext cx="11064240" cy="146304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2971800"/>
            <a:ext cx="1005840" cy="100584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71800"/>
            <a:ext cx="1005840" cy="10058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3600" b="1" i="0">
                <a:solidFill>
                  <a:srgbClr val="C5E063"/>
                </a:solidFill>
                <a:latin typeface="Georgia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65960" y="2880360"/>
            <a:ext cx="95097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CORRECT 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960" y="3200400"/>
            <a:ext cx="95097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 i="0">
                <a:solidFill>
                  <a:srgbClr val="2C5244"/>
                </a:solidFill>
                <a:latin typeface="Georgia"/>
              </a:rPr>
              <a:t>IIT Madras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4526280"/>
            <a:ext cx="11064240" cy="146304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4663440"/>
            <a:ext cx="106070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WHY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937760"/>
            <a:ext cx="10607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IIT Madras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A3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71600"/>
            <a:ext cx="5120640" cy="4389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0" b="1" i="0">
                <a:solidFill>
                  <a:srgbClr val="C5E063"/>
                </a:solidFill>
                <a:latin typeface="Georgia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1031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 spc="600">
                <a:solidFill>
                  <a:srgbClr val="C5E063"/>
                </a:solidFill>
                <a:latin typeface="Calibri"/>
              </a:rPr>
              <a:t>PART 4  OF 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606040"/>
            <a:ext cx="6400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Georgia"/>
              </a:rPr>
              <a:t>Apply and close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0" y="4160520"/>
            <a:ext cx="457200" cy="4572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0" y="4343400"/>
            <a:ext cx="6400800" cy="1828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0" i="0">
                <a:solidFill>
                  <a:srgbClr val="E5E7EB"/>
                </a:solidFill>
                <a:latin typeface="Calibri"/>
              </a:rPr>
              <a:t>One thing to remember. One thing to ship this week.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PART 4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2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Five sentences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8600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If you remember nothing else from this lesson, remember these five lines.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15468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15468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4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374904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34340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434340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493776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43000" y="493776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5532120"/>
            <a:ext cx="5486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2800" b="1" i="0">
                <a:solidFill>
                  <a:srgbClr val="C5E063"/>
                </a:solidFill>
                <a:latin typeface="Georgia"/>
              </a:rP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" y="5532120"/>
            <a:ext cx="1051560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SUMMARY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B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2C5244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0F1F1A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WORKED  EXAMPLE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0F1F1A"/>
                </a:solidFill>
                <a:latin typeface="Georgia"/>
              </a:rPr>
              <a:t>How this lesson plays out in one real Indian context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68880"/>
            <a:ext cx="6858000" cy="2194560"/>
          </a:xfrm>
          <a:prstGeom prst="rect">
            <a:avLst/>
          </a:prstGeom>
          <a:solidFill>
            <a:srgbClr val="FFFFFF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6060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THE  SCENARIO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6400800" cy="1691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 i="0">
                <a:solidFill>
                  <a:srgbClr val="0F1F1A"/>
                </a:solidFill>
                <a:latin typeface="Calibri"/>
              </a:rPr>
              <a:t>English is 50% of the internet.
Indic langs: 15% of humanity but &lt; 2% of training data.
Hindi passably handled; Tamil poorly; Kannada laughably.
Gap = pain point for users AND opportunity for builders.
MOAT
Indic first
Few frontier labs will prioritise this — Indian teams must.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4800600"/>
            <a:ext cx="6858000" cy="1325880"/>
          </a:xfrm>
          <a:prstGeom prst="rect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493776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THE  TAKEAWAY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212080"/>
            <a:ext cx="640080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 i="1">
                <a:solidFill>
                  <a:srgbClr val="FFFFFF"/>
                </a:solidFill>
                <a:latin typeface="Georgia"/>
              </a:rPr>
              <a:t>"The next 500 million users do exactly that. Build for them first."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635240" y="2468880"/>
            <a:ext cx="3977639" cy="3657600"/>
          </a:xfrm>
          <a:prstGeom prst="rect">
            <a:avLst/>
          </a:prstGeom>
          <a:solidFill>
            <a:srgbClr val="F1F4EC"/>
          </a:solidFill>
          <a:ln w="6350">
            <a:solidFill>
              <a:srgbClr val="A6C2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6060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0F766E"/>
                </a:solidFill>
                <a:latin typeface="Calibri"/>
              </a:rPr>
              <a:t>WHAT  TO  NOTICE</a:t>
            </a:r>
          </a:p>
        </p:txBody>
      </p:sp>
      <p:sp>
        <p:nvSpPr>
          <p:cNvPr id="15" name="Oval 14"/>
          <p:cNvSpPr/>
          <p:nvPr/>
        </p:nvSpPr>
        <p:spPr>
          <a:xfrm>
            <a:off x="7863840" y="297180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63840" y="297180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97180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The data gap</a:t>
            </a:r>
          </a:p>
        </p:txBody>
      </p:sp>
      <p:sp>
        <p:nvSpPr>
          <p:cNvPr id="18" name="Oval 17"/>
          <p:cNvSpPr/>
          <p:nvPr/>
        </p:nvSpPr>
        <p:spPr>
          <a:xfrm>
            <a:off x="7863840" y="3749039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749039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6760" y="3749039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Bhashini — the national...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0" y="452628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63840" y="452628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452628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AI4Bharat — the research...</a:t>
            </a:r>
          </a:p>
        </p:txBody>
      </p:sp>
      <p:sp>
        <p:nvSpPr>
          <p:cNvPr id="24" name="Oval 23"/>
          <p:cNvSpPr/>
          <p:nvPr/>
        </p:nvSpPr>
        <p:spPr>
          <a:xfrm>
            <a:off x="7863840" y="5303520"/>
            <a:ext cx="411480" cy="411480"/>
          </a:xfrm>
          <a:prstGeom prst="ellipse">
            <a:avLst/>
          </a:prstGeom>
          <a:solidFill>
            <a:srgbClr val="2C52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63840" y="5303520"/>
            <a:ext cx="4114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C5E063"/>
                </a:solidFill>
                <a:latin typeface="Georgia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03520"/>
            <a:ext cx="315468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0F1F1A"/>
                </a:solidFill>
                <a:latin typeface="Calibri"/>
              </a:rPr>
              <a:t>Hinglish classifier — 25...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475569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475569"/>
                </a:solidFill>
                <a:latin typeface="Calibri"/>
              </a:rPr>
              <a:t>EXAMPLE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2" dur="1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1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3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APPLY  IT  →  ASSIGNMENT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09728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0" i="0">
                <a:solidFill>
                  <a:srgbClr val="FFFFFF"/>
                </a:solidFill>
                <a:latin typeface="Georgia"/>
              </a:rPr>
              <a:t>Hinglish sentiment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331720"/>
            <a:ext cx="109728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500 tweets.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383280"/>
            <a:ext cx="6858000" cy="2743200"/>
          </a:xfrm>
          <a:prstGeom prst="rect">
            <a:avLst/>
          </a:prstGeom>
          <a:solidFill>
            <a:srgbClr val="1A352B"/>
          </a:solidFill>
          <a:ln w="6350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52044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DELIVERABLES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95020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84048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IndicBERTv2 embeddings.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36168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25196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Logistic regression head.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477316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466344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Report macro-F1.</a:t>
            </a:r>
          </a:p>
        </p:txBody>
      </p:sp>
      <p:sp>
        <p:nvSpPr>
          <p:cNvPr id="16" name="Oval 15"/>
          <p:cNvSpPr/>
          <p:nvPr/>
        </p:nvSpPr>
        <p:spPr>
          <a:xfrm>
            <a:off x="868680" y="5184648"/>
            <a:ext cx="118872" cy="118872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5074920"/>
            <a:ext cx="612648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Document one decision you made because of this lesson.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635240" y="3383280"/>
            <a:ext cx="3977639" cy="2743200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63840" y="3520440"/>
            <a:ext cx="35204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2C5244"/>
                </a:solidFill>
                <a:latin typeface="Calibri"/>
              </a:rPr>
              <a:t>WHAT 'GOOD' LOOKS LIKE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0" y="3840480"/>
            <a:ext cx="3520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1">
                <a:solidFill>
                  <a:srgbClr val="2C5244"/>
                </a:solidFill>
                <a:latin typeface="Georgia"/>
              </a:rPr>
              <a:t>Deliverable: Macro-F1 on forum.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APPLY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352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ONE  THING  TO  REMEMBER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86000"/>
            <a:ext cx="54864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0" b="1" i="0">
                <a:solidFill>
                  <a:srgbClr val="C5E063"/>
                </a:solidFill>
                <a:latin typeface="Georgia"/>
              </a:rPr>
              <a:t>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468880"/>
            <a:ext cx="1051560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3000" b="0" i="1">
                <a:solidFill>
                  <a:srgbClr val="FFFFFF"/>
                </a:solidFill>
                <a:latin typeface="Georgia"/>
              </a:rPr>
              <a:t>"The next 500 million users do exactly that. Build for them first."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303520"/>
            <a:ext cx="10515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 i="0" spc="400">
                <a:solidFill>
                  <a:srgbClr val="C5E063"/>
                </a:solidFill>
                <a:latin typeface="Calibri"/>
              </a:rPr>
              <a:t>—  AI Learning Hub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BIG IDEA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52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3444"/>
          </a:xfrm>
          <a:prstGeom prst="rect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9184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600">
                <a:solidFill>
                  <a:srgbClr val="C5E063"/>
                </a:solidFill>
                <a:latin typeface="Calibri"/>
              </a:rPr>
              <a:t>AI  LEARNING  HUB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03504"/>
            <a:ext cx="91440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 spc="400">
                <a:solidFill>
                  <a:srgbClr val="FFFFFF"/>
                </a:solidFill>
                <a:latin typeface="Calibri"/>
              </a:rPr>
              <a:t>WEEK 1   /   LESSON 7   /   1 min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 spc="500">
                <a:solidFill>
                  <a:srgbClr val="C5E063"/>
                </a:solidFill>
                <a:latin typeface="Calibri"/>
              </a:rPr>
              <a:t>END OF LESSON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17320"/>
            <a:ext cx="10515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400" b="0" i="0">
                <a:solidFill>
                  <a:srgbClr val="FFFFFF"/>
                </a:solidFill>
                <a:latin typeface="Georgia"/>
              </a:rPr>
              <a:t>What you can now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240280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400" b="0" i="0">
                <a:solidFill>
                  <a:srgbClr val="E5E7EB"/>
                </a:solidFill>
                <a:latin typeface="Calibri"/>
              </a:rPr>
              <a:t>Each one of these is now part of your working vocabulary.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01752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301752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Pick the right tool — never the loudest one.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352044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352044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2044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Practice the framework on a real example.</a:t>
            </a:r>
          </a:p>
        </p:txBody>
      </p:sp>
      <p:sp>
        <p:nvSpPr>
          <p:cNvPr id="14" name="Oval 13"/>
          <p:cNvSpPr/>
          <p:nvPr/>
        </p:nvSpPr>
        <p:spPr>
          <a:xfrm>
            <a:off x="640080" y="402336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233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02336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Watch for the three classic pitfalls.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" y="452628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2628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52628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Document your decision in one sentence.</a:t>
            </a:r>
          </a:p>
        </p:txBody>
      </p:sp>
      <p:sp>
        <p:nvSpPr>
          <p:cNvPr id="20" name="Oval 19"/>
          <p:cNvSpPr/>
          <p:nvPr/>
        </p:nvSpPr>
        <p:spPr>
          <a:xfrm>
            <a:off x="640080" y="5029200"/>
            <a:ext cx="365760" cy="365760"/>
          </a:xfrm>
          <a:prstGeom prst="ellipse">
            <a:avLst/>
          </a:prstGeom>
          <a:solidFill>
            <a:srgbClr val="C5E0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502920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2C5244"/>
                </a:solidFill>
                <a:latin typeface="Georgia"/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88720" y="5029200"/>
            <a:ext cx="104241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i="0">
                <a:solidFill>
                  <a:srgbClr val="FFFFFF"/>
                </a:solidFill>
                <a:latin typeface="Calibri"/>
              </a:rPr>
              <a:t>Carry the discipline forward to the next lesson.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5669280"/>
            <a:ext cx="11064240" cy="502920"/>
          </a:xfrm>
          <a:prstGeom prst="roundRect">
            <a:avLst/>
          </a:prstGeom>
          <a:solidFill>
            <a:srgbClr val="224036"/>
          </a:solidFill>
          <a:ln w="9525">
            <a:solidFill>
              <a:srgbClr val="C5E06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5669280"/>
            <a:ext cx="1060704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00" b="1" i="0" spc="400">
                <a:solidFill>
                  <a:srgbClr val="C5E063"/>
                </a:solidFill>
                <a:latin typeface="Calibri"/>
              </a:rPr>
              <a:t>NEXT  →   Projects Saturday.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4652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00" b="1" i="0" spc="400">
                <a:solidFill>
                  <a:srgbClr val="B7C9BD"/>
                </a:solidFill>
                <a:latin typeface="Calibri"/>
              </a:rPr>
              <a:t>AI  LEARNING  HUB   ·   LESSON 7 OF 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6446520"/>
            <a:ext cx="52120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00" b="1" i="0" spc="400">
                <a:solidFill>
                  <a:srgbClr val="B7C9BD"/>
                </a:solidFill>
                <a:latin typeface="Calibri"/>
              </a:rPr>
              <a:t>WRAP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4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15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5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15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2" dur="1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7" dur="1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1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1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1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1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7" dur="1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2" dur="1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1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2" dur="1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7" dur="1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09" fill="hold">
                            <p:stCondLst>
                              <p:cond delay="0"/>
                            </p:stCondLst>
                            <p:childTnLst>
                              <p:par>
                                <p:cTn id="11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2" dur="1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4" fill="hold">
                            <p:stCondLst>
                              <p:cond delay="0"/>
                            </p:stCondLst>
                            <p:childTnLst>
                              <p:par>
                                <p:cTn id="11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7" dur="1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2" dur="1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ntr" presetSubtype="0" fill="hold" grpId="0" nodeType="afterEffect">
                                  <p:stCondLst>
                                    <p:cond delay="18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7" dur="1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