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 panose="02040502050405020303"/>
              </a:rPr>
              <a:t>L1</a:t>
            </a:r>
            <a:endParaRPr sz="44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 panose="020F0502020204030204"/>
              </a:rPr>
              <a:t>WHAT'S INSIDE</a:t>
            </a:r>
            <a:endParaRPr sz="1000" b="1" i="0" spc="5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 panose="02040502050405020303"/>
              </a:rPr>
              <a:t>01</a:t>
            </a:r>
            <a:endParaRPr sz="20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 panose="020F0502020204030204"/>
              </a:rPr>
              <a:t>list — the everyday workhorse</a:t>
            </a:r>
            <a:endParaRPr sz="12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 panose="02040502050405020303"/>
              </a:rPr>
              <a:t>02</a:t>
            </a:r>
            <a:endParaRPr sz="20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 panose="020F0502020204030204"/>
              </a:rPr>
              <a:t>dict — O(1) lookup by key</a:t>
            </a:r>
            <a:endParaRPr sz="12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 panose="02040502050405020303"/>
              </a:rPr>
              <a:t>03</a:t>
            </a:r>
            <a:endParaRPr sz="20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 panose="020F0502020204030204"/>
              </a:rPr>
              <a:t>set — membership and dedup</a:t>
            </a:r>
            <a:endParaRPr sz="12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 panose="02040502050405020303"/>
              </a:rPr>
              <a:t>04</a:t>
            </a:r>
            <a:endParaRPr sz="20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 panose="020F0502020204030204"/>
              </a:rPr>
              <a:t>tuple — immutable twin of list</a:t>
            </a:r>
            <a:endParaRPr sz="12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 panose="02040502050405020303"/>
              </a:rPr>
              <a:t>05</a:t>
            </a:r>
            <a:endParaRPr sz="20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 panose="020F0502020204030204"/>
              </a:rPr>
              <a:t>Complexity cheat sheet — memorise this...</a:t>
            </a:r>
            <a:endParaRPr sz="12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 panose="020F0502020204030204"/>
              </a:rPr>
              <a:t>AI  LEARNING  HUB</a:t>
            </a:r>
            <a:endParaRPr sz="1100" b="1" i="0" spc="6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 panose="020F0502020204030204"/>
              </a:rPr>
              <a:t>WEEK 2   /   LESSON 1   /   50 MINUTES</a:t>
            </a:r>
            <a:endParaRPr sz="1000" b="1" i="0" spc="40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0" y="1504950"/>
            <a:ext cx="64008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 panose="02040502050405020303"/>
              </a:rPr>
              <a:t>Python Data Structures</a:t>
            </a:r>
            <a:endParaRPr sz="40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0" y="4160520"/>
            <a:ext cx="64008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 panose="020F0502020204030204"/>
              </a:rPr>
              <a:t>80% of "my pandas is slow" bugs are actually "I chose the wrong data structure below pandas". Pick the structure first; the algorithm is easy afterwards.
Question: how many milliseconds to check `item in my_list` across 1M items? And across `my_set`? We demo live.</a:t>
            </a:r>
            <a:endParaRPr sz="12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 panose="020F0502020204030204"/>
              </a:rPr>
              <a:t>AI  LEARNING  HUB   ·   LESSON 1 OF 7</a:t>
            </a:r>
            <a:endParaRPr sz="800" b="1" i="0" spc="400">
              <a:solidFill>
                <a:srgbClr val="B7C9BD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 panose="020F0502020204030204"/>
              </a:rPr>
              <a:t>COVER</a:t>
            </a:r>
            <a:endParaRPr sz="800" b="1" i="0" spc="400">
              <a:solidFill>
                <a:srgbClr val="B7C9BD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4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58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76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94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12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3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648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166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684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02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7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238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756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274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792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31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828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346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864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382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9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 panose="020F0502020204030204"/>
              </a:rPr>
              <a:t>AI  LEARNING  HUB</a:t>
            </a:r>
            <a:endParaRPr sz="1000" b="1" i="0" spc="600">
              <a:solidFill>
                <a:srgbClr val="2C5244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 panose="020F0502020204030204"/>
              </a:rPr>
              <a:t>WEEK 1   /   LESSON 2   /   2 min</a:t>
            </a:r>
            <a:endParaRPr sz="900" b="1" i="0" spc="400">
              <a:solidFill>
                <a:srgbClr val="0F1F1A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 panose="020F0502020204030204"/>
              </a:rPr>
              <a:t>WHY  THIS  LESSON  MATTERS</a:t>
            </a:r>
            <a:endParaRPr sz="1000" b="1" i="0" spc="500">
              <a:solidFill>
                <a:srgbClr val="0F766E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 panose="02040502050405020303"/>
              </a:rPr>
              <a:t>Flipkart catalog: 4.2 million SKU lookups per second.</a:t>
            </a:r>
            <a:endParaRPr sz="3400" b="0" i="0">
              <a:solidFill>
                <a:srgbClr val="0F1F1A"/>
              </a:solidFill>
              <a:latin typeface="Georgia" panose="020405020504050203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 panose="020F0502020204030204"/>
              </a:rPr>
              <a:t>WHY</a:t>
            </a:r>
            <a:endParaRPr sz="900" b="1" i="0" spc="4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 panose="02040502050405020303"/>
              </a:rPr>
              <a:t>Real</a:t>
            </a:r>
            <a:endParaRPr sz="30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 panose="020F0502020204030204"/>
              </a:rPr>
              <a:t>A real reason this matters in industry today.</a:t>
            </a:r>
            <a:endParaRPr sz="11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 panose="020F0502020204030204"/>
              </a:rPr>
              <a:t>SCALE</a:t>
            </a:r>
            <a:endParaRPr sz="900" b="1" i="0" spc="4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 panose="02040502050405020303"/>
              </a:rPr>
              <a:t>Today</a:t>
            </a:r>
            <a:endParaRPr sz="30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 panose="020F0502020204030204"/>
              </a:rPr>
              <a:t>A real reason this matters in industry today.</a:t>
            </a:r>
            <a:endParaRPr sz="11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 panose="020F0502020204030204"/>
              </a:rPr>
              <a:t>SPEED</a:t>
            </a:r>
            <a:endParaRPr sz="900" b="1" i="0" spc="4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 panose="02040502050405020303"/>
              </a:rPr>
              <a:t>Now</a:t>
            </a:r>
            <a:endParaRPr sz="30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 panose="020F0502020204030204"/>
              </a:rPr>
              <a:t>A real reason this matters in industry today.</a:t>
            </a:r>
            <a:endParaRPr sz="11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 panose="020F0502020204030204"/>
              </a:rPr>
              <a:t>IMPACT</a:t>
            </a:r>
            <a:endParaRPr sz="900" b="1" i="0" spc="4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 panose="02040502050405020303"/>
              </a:rPr>
              <a:t>Yours</a:t>
            </a:r>
            <a:endParaRPr sz="30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 panose="020F0502020204030204"/>
              </a:rPr>
              <a:t>A real reason this matters in industry today.</a:t>
            </a:r>
            <a:endParaRPr sz="11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 panose="020F0502020204030204"/>
              </a:rPr>
              <a:t>AI  LEARNING  HUB   ·   LESSON 2 OF 7</a:t>
            </a:r>
            <a:endParaRPr sz="800" b="1" i="0" spc="40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 panose="020F0502020204030204"/>
              </a:rPr>
              <a:t>HOOK</a:t>
            </a:r>
            <a:endParaRPr sz="800" b="1" i="0" spc="400">
              <a:solidFill>
                <a:srgbClr val="475569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4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58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76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94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12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3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648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166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684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02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7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238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756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274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792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31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828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346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864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382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9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418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1936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 panose="020F0502020204030204"/>
              </a:rPr>
              <a:t>AI  LEARNING  HUB</a:t>
            </a:r>
            <a:endParaRPr sz="1000" b="1" i="0" spc="600">
              <a:solidFill>
                <a:srgbClr val="2C5244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 panose="020F0502020204030204"/>
              </a:rPr>
              <a:t>WEEK 1   /   LESSON 2   /   2 min</a:t>
            </a:r>
            <a:endParaRPr sz="900" b="1" i="0" spc="400">
              <a:solidFill>
                <a:srgbClr val="0F1F1A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 panose="020F0502020204030204"/>
              </a:rPr>
              <a:t>LEARNING OUTCOMES</a:t>
            </a:r>
            <a:endParaRPr sz="1000" b="1" i="0" spc="500">
              <a:solidFill>
                <a:srgbClr val="0F766E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 panose="02040502050405020303"/>
              </a:rPr>
              <a:t>By the end of this lesson, you will be able to —</a:t>
            </a:r>
            <a:endParaRPr sz="2800" b="0" i="0">
              <a:solidFill>
                <a:srgbClr val="0F1F1A"/>
              </a:solidFill>
              <a:latin typeface="Georgia" panose="02040502050405020303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 panose="02040502050405020303"/>
              </a:rPr>
              <a:t>1</a:t>
            </a:r>
            <a:endParaRPr sz="14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 panose="020F0502020204030204"/>
              </a:rPr>
              <a:t>Choose the correct structure for a scenario in under 10 seconds.</a:t>
            </a:r>
            <a:endParaRPr sz="1300" b="0" i="0">
              <a:solidFill>
                <a:srgbClr val="0F1F1A"/>
              </a:solidFill>
              <a:latin typeface="Calibri" panose="020F0502020204030204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 panose="02040502050405020303"/>
              </a:rPr>
              <a:t>2</a:t>
            </a:r>
            <a:endParaRPr sz="14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 panose="020F0502020204030204"/>
              </a:rPr>
              <a:t>Predict the complexity of common operations on each.</a:t>
            </a:r>
            <a:endParaRPr sz="1300" b="0" i="0">
              <a:solidFill>
                <a:srgbClr val="0F1F1A"/>
              </a:solidFill>
              <a:latin typeface="Calibri" panose="020F0502020204030204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 panose="02040502050405020303"/>
              </a:rPr>
              <a:t>3</a:t>
            </a:r>
            <a:endParaRPr sz="14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 panose="020F0502020204030204"/>
              </a:rPr>
              <a:t>Convert fluently between the four structures.</a:t>
            </a:r>
            <a:endParaRPr sz="1300" b="0" i="0">
              <a:solidFill>
                <a:srgbClr val="0F1F1A"/>
              </a:solidFill>
              <a:latin typeface="Calibri" panose="020F0502020204030204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 panose="02040502050405020303"/>
              </a:rPr>
              <a:t>4</a:t>
            </a:r>
            <a:endParaRPr sz="14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 panose="020F0502020204030204"/>
              </a:rPr>
              <a:t>Recognise the three most common Big-O surprises.</a:t>
            </a:r>
            <a:endParaRPr sz="1300" b="0" i="0">
              <a:solidFill>
                <a:srgbClr val="0F1F1A"/>
              </a:solidFill>
              <a:latin typeface="Calibri" panose="020F0502020204030204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 panose="02040502050405020303"/>
              </a:rPr>
              <a:t>5</a:t>
            </a:r>
            <a:endParaRPr sz="14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 panose="020F0502020204030204"/>
              </a:rPr>
              <a:t>Apply comprehensions where they improve readability.</a:t>
            </a:r>
            <a:endParaRPr sz="1300" b="0" i="0">
              <a:solidFill>
                <a:srgbClr val="0F1F1A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 panose="020F0502020204030204"/>
              </a:rPr>
              <a:t>AI  LEARNING  HUB   ·   LESSON 2 OF 7</a:t>
            </a:r>
            <a:endParaRPr sz="800" b="1" i="0" spc="40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 panose="020F0502020204030204"/>
              </a:rPr>
              <a:t>OUTCOMES</a:t>
            </a:r>
            <a:endParaRPr sz="800" b="1" i="0" spc="400">
              <a:solidFill>
                <a:srgbClr val="475569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4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58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76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94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12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3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648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166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684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02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7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238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756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274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792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31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828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346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864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382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9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 panose="020F0502020204030204"/>
              </a:rPr>
              <a:t>AI  LEARNING  HUB</a:t>
            </a:r>
            <a:endParaRPr sz="1000" b="1" i="0" spc="6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 panose="020F0502020204030204"/>
              </a:rPr>
              <a:t>WEEK 1   /   LESSON 2   /   2 min</a:t>
            </a:r>
            <a:endParaRPr sz="900" b="1" i="0" spc="40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 panose="020F0502020204030204"/>
              </a:rPr>
              <a:t>AGENDA</a:t>
            </a:r>
            <a:endParaRPr sz="1000" b="1" i="0" spc="5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 panose="02040502050405020303"/>
              </a:rPr>
              <a:t>What we'll cover today</a:t>
            </a:r>
            <a:endParaRPr sz="3000" b="0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 panose="020F0502020204030204"/>
              </a:rPr>
              <a:t>Short, sequenced parts. Each one builds on the last.</a:t>
            </a:r>
            <a:endParaRPr sz="14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 panose="02040502050405020303"/>
              </a:rPr>
              <a:t>01</a:t>
            </a:r>
            <a:endParaRPr sz="36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 panose="02040502050405020303"/>
              </a:rPr>
              <a:t>list — the everyday...</a:t>
            </a:r>
            <a:endParaRPr sz="16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 panose="020F0502020204030204"/>
              </a:rPr>
              <a:t>Ordered, duplicates allowed</a:t>
            </a:r>
            <a:endParaRPr sz="11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 panose="02040502050405020303"/>
              </a:rPr>
              <a:t>02</a:t>
            </a:r>
            <a:endParaRPr sz="36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 panose="02040502050405020303"/>
              </a:rPr>
              <a:t>dict — O(1) lookup by key</a:t>
            </a:r>
            <a:endParaRPr sz="16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 panose="020F0502020204030204"/>
              </a:rPr>
              <a:t>Replace any 3+ if/elif ladder</a:t>
            </a:r>
            <a:endParaRPr sz="11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 panose="02040502050405020303"/>
              </a:rPr>
              <a:t>03</a:t>
            </a:r>
            <a:endParaRPr sz="36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 panose="02040502050405020303"/>
              </a:rPr>
              <a:t>set — membership and dedup</a:t>
            </a:r>
            <a:endParaRPr sz="16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 panose="020F0502020204030204"/>
              </a:rPr>
              <a:t>O(1) contains; set algebra built in</a:t>
            </a:r>
            <a:endParaRPr sz="11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 panose="02040502050405020303"/>
              </a:rPr>
              <a:t>04</a:t>
            </a:r>
            <a:endParaRPr sz="36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 panose="02040502050405020303"/>
              </a:rPr>
              <a:t>tuple — immutable twin of...</a:t>
            </a:r>
            <a:endParaRPr sz="16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 panose="020F0502020204030204"/>
              </a:rPr>
              <a:t>Dict keys, set elements, multi-return</a:t>
            </a:r>
            <a:endParaRPr sz="11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 panose="020F0502020204030204"/>
              </a:rPr>
              <a:t>AI  LEARNING  HUB   ·   LESSON 2 OF 7</a:t>
            </a:r>
            <a:endParaRPr sz="800" b="1" i="0" spc="400">
              <a:solidFill>
                <a:srgbClr val="B7C9BD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 panose="020F0502020204030204"/>
              </a:rPr>
              <a:t>AGENDA</a:t>
            </a:r>
            <a:endParaRPr sz="800" b="1" i="0" spc="400">
              <a:solidFill>
                <a:srgbClr val="B7C9BD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4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58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76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94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12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3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648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166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684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02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7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238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756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274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792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31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828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346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864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382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9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418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1936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 panose="020F0502020204030204"/>
              </a:rPr>
              <a:t>AI  LEARNING  HUB</a:t>
            </a:r>
            <a:endParaRPr sz="1000" b="1" i="0" spc="6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 panose="020F0502020204030204"/>
              </a:rPr>
              <a:t>WEEK 1   /   LESSON 2   /   1 min</a:t>
            </a:r>
            <a:endParaRPr sz="900" b="1" i="0" spc="40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 panose="02040502050405020303"/>
              </a:rPr>
              <a:t>01</a:t>
            </a:r>
            <a:endParaRPr sz="200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 panose="020F0502020204030204"/>
              </a:rPr>
              <a:t>PART 1  OF  4</a:t>
            </a:r>
            <a:endParaRPr sz="1100" b="1" i="0" spc="6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 panose="02040502050405020303"/>
              </a:rPr>
              <a:t>list — the everyday...</a:t>
            </a:r>
            <a:endParaRPr sz="36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 panose="020F0502020204030204"/>
              </a:rPr>
              <a:t>Ordered, duplicates allowed</a:t>
            </a:r>
            <a:endParaRPr sz="13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 panose="020F0502020204030204"/>
              </a:rPr>
              <a:t>AI  LEARNING  HUB   ·   LESSON 2 OF 7</a:t>
            </a:r>
            <a:endParaRPr sz="800" b="1" i="0" spc="400">
              <a:solidFill>
                <a:srgbClr val="B7C9BD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 panose="020F0502020204030204"/>
              </a:rPr>
              <a:t>PART 1</a:t>
            </a:r>
            <a:endParaRPr sz="800" b="1" i="0" spc="400">
              <a:solidFill>
                <a:srgbClr val="B7C9BD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4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58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76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94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12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3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648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166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684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 panose="020F0502020204030204"/>
              </a:rPr>
              <a:t>AI  LEARNING  HUB</a:t>
            </a:r>
            <a:endParaRPr sz="1000" b="1" i="0" spc="6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 panose="020F0502020204030204"/>
              </a:rPr>
              <a:t>WEEK 1   /   LESSON 2   /   3 min</a:t>
            </a:r>
            <a:endParaRPr sz="900" b="1" i="0" spc="40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 panose="020F0502020204030204"/>
              </a:rPr>
              <a:t>CONCEPT 1  OF  4</a:t>
            </a:r>
            <a:endParaRPr sz="1000" b="1" i="0" spc="5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 panose="02040502050405020303"/>
              </a:rPr>
              <a:t>list — the everyday workhorse</a:t>
            </a:r>
            <a:endParaRPr sz="2800" b="0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 panose="020F0502020204030204"/>
              </a:rPr>
              <a:t>Append O(1). Index access O(1). Membership O(n).
Slicing: a[::-1] is the reversed copy — O(n).
Insert at front O(n) — use collections.deque for frequent front-ops.
Sort is Timsort — O(n log n), stable.
USE WHEN
Order + duplicates
Iteration is frequent; lookup is rare.</a:t>
            </a:r>
            <a:endParaRPr sz="14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 panose="020F0502020204030204"/>
              </a:rPr>
              <a:t>DEFINITION</a:t>
            </a:r>
            <a:endParaRPr sz="1000" b="1" i="0" spc="5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 panose="02040502050405020303"/>
              </a:rPr>
              <a:t>list — the everyday workhorse</a:t>
            </a:r>
            <a:endParaRPr sz="24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 panose="020F0502020204030204"/>
              </a:rPr>
              <a:t>Ordered, duplicates allowed</a:t>
            </a:r>
            <a:endParaRPr sz="13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 panose="020F0502020204030204"/>
              </a:rPr>
              <a:t>EXAMPLE</a:t>
            </a:r>
            <a:endParaRPr sz="900" b="1" i="0" spc="5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 panose="020F0502020204030204"/>
              </a:rPr>
              <a:t>Real-world example: applies directly to Indian industry contexts.</a:t>
            </a:r>
            <a:endParaRPr sz="1100" b="0" i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 panose="020F0502020204030204"/>
              </a:rPr>
              <a:t>AI  LEARNING  HUB   ·   LESSON 2 OF 7</a:t>
            </a:r>
            <a:endParaRPr sz="800" b="1" i="0" spc="400">
              <a:solidFill>
                <a:srgbClr val="B7C9BD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 panose="020F0502020204030204"/>
              </a:rPr>
              <a:t>P1</a:t>
            </a:r>
            <a:endParaRPr sz="800" b="1" i="0" spc="400">
              <a:solidFill>
                <a:srgbClr val="B7C9BD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4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58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76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94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12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3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648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166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684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02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7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238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756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274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 panose="020F0502020204030204"/>
              </a:rPr>
              <a:t>AI  LEARNING  HUB</a:t>
            </a:r>
            <a:endParaRPr sz="1000" b="1" i="0" spc="6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 panose="020F0502020204030204"/>
              </a:rPr>
              <a:t>WEEK 1   /   LESSON 2   /   3 min</a:t>
            </a:r>
            <a:endParaRPr sz="900" b="1" i="0" spc="40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 panose="020F0502020204030204"/>
              </a:rPr>
              <a:t>CONCEPT 2  OF  4</a:t>
            </a:r>
            <a:endParaRPr sz="1000" b="1" i="0" spc="5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 panose="02040502050405020303"/>
              </a:rPr>
              <a:t>dict — O(1) lookup by key</a:t>
            </a:r>
            <a:endParaRPr sz="2800" b="0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 panose="020F0502020204030204"/>
              </a:rPr>
              <a:t>Keys must be hashable: str, int, tuple — never list, never dict.
d.get(key, default) — safe access.
d.setdefault(key, []).append(v) — group-by in one line.
Dict comprehension: {k: v*2 for k, v in d.items()}.
USE WHEN
Key → Value
You need constant-time lookup.</a:t>
            </a:r>
            <a:endParaRPr sz="14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 panose="020F0502020204030204"/>
              </a:rPr>
              <a:t>KEY  POINTS</a:t>
            </a:r>
            <a:endParaRPr sz="1000" b="1" i="0" spc="5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 panose="020F0502020204030204"/>
              </a:rPr>
              <a:t>Keys must be hashable: str, int, tuple — never list, never dict</a:t>
            </a:r>
            <a:endParaRPr sz="12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 panose="020F0502020204030204"/>
              </a:rPr>
              <a:t>d.get(key, default) — safe access</a:t>
            </a:r>
            <a:endParaRPr sz="12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 panose="020F0502020204030204"/>
              </a:rPr>
              <a:t>d.setdefault(key, []).append(v) — group-by in one line</a:t>
            </a:r>
            <a:endParaRPr sz="12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 panose="020F0502020204030204"/>
              </a:rPr>
              <a:t>Dict comprehension: {k: v*2 for k, v in d.items()}</a:t>
            </a:r>
            <a:endParaRPr sz="12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 panose="020F0502020204030204"/>
              </a:rPr>
              <a:t>AI  LEARNING  HUB   ·   LESSON 2 OF 7</a:t>
            </a:r>
            <a:endParaRPr sz="800" b="1" i="0" spc="400">
              <a:solidFill>
                <a:srgbClr val="B7C9BD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 panose="020F0502020204030204"/>
              </a:rPr>
              <a:t>P2</a:t>
            </a:r>
            <a:endParaRPr sz="800" b="1" i="0" spc="400">
              <a:solidFill>
                <a:srgbClr val="B7C9BD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4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58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76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94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12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3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648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166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684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02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7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238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756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274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792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31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828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 panose="020F0502020204030204"/>
              </a:rPr>
              <a:t>AI  LEARNING  HUB</a:t>
            </a:r>
            <a:endParaRPr sz="1000" b="1" i="0" spc="6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 panose="020F0502020204030204"/>
              </a:rPr>
              <a:t>WEEK 1   /   LESSON 2   /   3 min</a:t>
            </a:r>
            <a:endParaRPr sz="900" b="1" i="0" spc="40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 panose="020F0502020204030204"/>
              </a:rPr>
              <a:t>CONCEPT 3  OF  4</a:t>
            </a:r>
            <a:endParaRPr sz="1000" b="1" i="0" spc="5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 panose="02040502050405020303"/>
              </a:rPr>
              <a:t>set — membership and dedup</a:t>
            </a:r>
            <a:endParaRPr sz="2800" b="0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 panose="020F0502020204030204"/>
              </a:rPr>
              <a:t>valid = set(ids) → `id in valid` is O(1).
a &amp; b intersection; a | b union; a - b difference.
list(set(xs)) dedupes; dict.fromkeys(xs) dedupes AND preserves order.
Set comprehension: {x.lower() for x in xs}.
USE WHEN
Unique + fast "in"
Order does not matter.</a:t>
            </a:r>
            <a:endParaRPr sz="14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 panose="020F0502020204030204"/>
              </a:rPr>
              <a:t>DEFINITION</a:t>
            </a:r>
            <a:endParaRPr sz="1000" b="1" i="0" spc="5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 panose="02040502050405020303"/>
              </a:rPr>
              <a:t>set — membership and dedup</a:t>
            </a:r>
            <a:endParaRPr sz="24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 panose="020F0502020204030204"/>
              </a:rPr>
              <a:t>O(1) contains; set algebra built in</a:t>
            </a:r>
            <a:endParaRPr sz="13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 panose="020F0502020204030204"/>
              </a:rPr>
              <a:t>EXAMPLE</a:t>
            </a:r>
            <a:endParaRPr sz="900" b="1" i="0" spc="5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 panose="020F0502020204030204"/>
              </a:rPr>
              <a:t>Real-world example: applies directly to Indian industry contexts.</a:t>
            </a:r>
            <a:endParaRPr sz="1100" b="0" i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 panose="020F0502020204030204"/>
              </a:rPr>
              <a:t>AI  LEARNING  HUB   ·   LESSON 2 OF 7</a:t>
            </a:r>
            <a:endParaRPr sz="800" b="1" i="0" spc="400">
              <a:solidFill>
                <a:srgbClr val="B7C9BD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 panose="020F0502020204030204"/>
              </a:rPr>
              <a:t>P3</a:t>
            </a:r>
            <a:endParaRPr sz="800" b="1" i="0" spc="400">
              <a:solidFill>
                <a:srgbClr val="B7C9BD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4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58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76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94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12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3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648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166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684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02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7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238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756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274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 panose="020F0502020204030204"/>
              </a:rPr>
              <a:t>AI  LEARNING  HUB</a:t>
            </a:r>
            <a:endParaRPr sz="1000" b="1" i="0" spc="6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 panose="020F0502020204030204"/>
              </a:rPr>
              <a:t>WEEK 1   /   LESSON 2   /   3 min</a:t>
            </a:r>
            <a:endParaRPr sz="900" b="1" i="0" spc="40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 panose="020F0502020204030204"/>
              </a:rPr>
              <a:t>CONCEPT 4  OF  4</a:t>
            </a:r>
            <a:endParaRPr sz="1000" b="1" i="0" spc="5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 panose="02040502050405020303"/>
              </a:rPr>
              <a:t>tuple — immutable twin of list</a:t>
            </a:r>
            <a:endParaRPr sz="2800" b="0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 panose="020F0502020204030204"/>
              </a:rPr>
              <a:t>Immutable after creation.
Can be used as a dict key or set element.
Multi-return: return (name, age).
Named tuples give you fields — bridge to dataclasses.
USE WHEN
Fixed tuple of values
Think: coordinates, (year, month) keys.</a:t>
            </a:r>
            <a:endParaRPr sz="14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 panose="020F0502020204030204"/>
              </a:rPr>
              <a:t>KEY  POINTS</a:t>
            </a:r>
            <a:endParaRPr sz="1000" b="1" i="0" spc="5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 panose="020F0502020204030204"/>
              </a:rPr>
              <a:t>Immutable after creation</a:t>
            </a:r>
            <a:endParaRPr sz="12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 panose="020F0502020204030204"/>
              </a:rPr>
              <a:t>Can be used as a dict key or set element</a:t>
            </a:r>
            <a:endParaRPr sz="12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 panose="020F0502020204030204"/>
              </a:rPr>
              <a:t>Multi-return: return (name, age)</a:t>
            </a:r>
            <a:endParaRPr sz="12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 panose="020F0502020204030204"/>
              </a:rPr>
              <a:t>Named tuples give you fields — bridge to dataclasses</a:t>
            </a:r>
            <a:endParaRPr sz="12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 panose="020F0502020204030204"/>
              </a:rPr>
              <a:t>AI  LEARNING  HUB   ·   LESSON 2 OF 7</a:t>
            </a:r>
            <a:endParaRPr sz="800" b="1" i="0" spc="400">
              <a:solidFill>
                <a:srgbClr val="B7C9BD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 panose="020F0502020204030204"/>
              </a:rPr>
              <a:t>P4</a:t>
            </a:r>
            <a:endParaRPr sz="800" b="1" i="0" spc="400">
              <a:solidFill>
                <a:srgbClr val="B7C9BD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4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58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76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94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12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3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648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166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684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02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7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238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756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274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792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31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828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 panose="020F0502020204030204"/>
              </a:rPr>
              <a:t>AI  LEARNING  HUB</a:t>
            </a:r>
            <a:endParaRPr sz="1000" b="1" i="0" spc="6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 panose="020F0502020204030204"/>
              </a:rPr>
              <a:t>WEEK 1   /   LESSON 2   /   1 min</a:t>
            </a:r>
            <a:endParaRPr sz="900" b="1" i="0" spc="40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 panose="02040502050405020303"/>
              </a:rPr>
              <a:t>02</a:t>
            </a:r>
            <a:endParaRPr sz="200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 panose="020F0502020204030204"/>
              </a:rPr>
              <a:t>PART 2  OF  4</a:t>
            </a:r>
            <a:endParaRPr sz="1100" b="1" i="0" spc="6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 panose="02040502050405020303"/>
              </a:rPr>
              <a:t>Engage and reflect</a:t>
            </a:r>
            <a:endParaRPr sz="36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 panose="020F0502020204030204"/>
              </a:rPr>
              <a:t>Pause, talk, and connect what you just learned to your own work.</a:t>
            </a:r>
            <a:endParaRPr sz="13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 panose="020F0502020204030204"/>
              </a:rPr>
              <a:t>AI  LEARNING  HUB   ·   LESSON 2 OF 7</a:t>
            </a:r>
            <a:endParaRPr sz="800" b="1" i="0" spc="400">
              <a:solidFill>
                <a:srgbClr val="B7C9BD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 panose="020F0502020204030204"/>
              </a:rPr>
              <a:t>PART 2</a:t>
            </a:r>
            <a:endParaRPr sz="800" b="1" i="0" spc="400">
              <a:solidFill>
                <a:srgbClr val="B7C9BD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4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58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76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94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12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3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648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166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684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 panose="020F0502020204030204"/>
              </a:rPr>
              <a:t>AI  LEARNING  HUB</a:t>
            </a:r>
            <a:endParaRPr sz="1000" b="1" i="0" spc="6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 panose="020F0502020204030204"/>
              </a:rPr>
              <a:t>WEEK 1   /   LESSON 2   /   3 min</a:t>
            </a:r>
            <a:endParaRPr sz="900" b="1" i="0" spc="40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 panose="020F0502020204030204"/>
              </a:rPr>
              <a:t>✦  THINK · PAIR · SHARE</a:t>
            </a:r>
            <a:endParaRPr sz="1000" b="1" i="0" spc="500">
              <a:solidFill>
                <a:srgbClr val="2C5244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 panose="020F0502020204030204"/>
              </a:rPr>
              <a:t>ACTIVITY</a:t>
            </a:r>
            <a:endParaRPr sz="1000" b="1" i="0" spc="5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 panose="02040502050405020303"/>
              </a:rPr>
              <a:t>Pick the right structure for each scenario</a:t>
            </a:r>
            <a:endParaRPr sz="2600" b="0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 panose="020F0502020204030204"/>
              </a:rPr>
              <a:t>PROMPT</a:t>
            </a:r>
            <a:endParaRPr sz="1000" b="1" i="0" spc="5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 panose="020F0502020204030204"/>
              </a:rPr>
              <a:t>Assign list / dict / set / tuple to: (a) seat allocations for a 10-row theatre (b) the last N tweets in chronological order (c) unique email addresses across 10 CSVs (d) (lat, lon) coordinates on a map.</a:t>
            </a:r>
            <a:endParaRPr sz="1400" b="0" i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 panose="020F0502020204030204"/>
              </a:rPr>
              <a:t>HOW TO RUN IT</a:t>
            </a:r>
            <a:endParaRPr sz="1000" b="1" i="0" spc="5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 panose="02040502050405020303"/>
              </a:rPr>
              <a:t>1</a:t>
            </a:r>
            <a:endParaRPr sz="11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 panose="020F0502020204030204"/>
              </a:rPr>
              <a:t>Assign list / dict / set / tuple to: (a) seat allocations for a 10-row theatre (b) the...</a:t>
            </a:r>
            <a:endParaRPr sz="11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 panose="02040502050405020303"/>
              </a:rPr>
              <a:t>2</a:t>
            </a:r>
            <a:endParaRPr sz="11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 panose="020F0502020204030204"/>
              </a:rPr>
              <a:t>Debate disagreements. Each pair must defend one choice.</a:t>
            </a:r>
            <a:endParaRPr sz="11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 panose="02040502050405020303"/>
              </a:rPr>
              <a:t>3</a:t>
            </a:r>
            <a:endParaRPr sz="11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 panose="020F0502020204030204"/>
              </a:rPr>
              <a:t>One pair presents their rationale to the room.</a:t>
            </a:r>
            <a:endParaRPr sz="11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 panose="02040502050405020303"/>
              </a:rPr>
              <a:t>4</a:t>
            </a:r>
            <a:endParaRPr sz="11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 panose="020F0502020204030204"/>
              </a:rPr>
              <a:t>Reveal: instructor confirms the canonical answer.</a:t>
            </a:r>
            <a:endParaRPr sz="11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 panose="020F0502020204030204"/>
              </a:rPr>
              <a:t>AI  LEARNING  HUB   ·   LESSON 2 OF 7</a:t>
            </a:r>
            <a:endParaRPr sz="800" b="1" i="0" spc="400">
              <a:solidFill>
                <a:srgbClr val="B7C9BD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 panose="020F0502020204030204"/>
              </a:rPr>
              <a:t>ACTIVITY</a:t>
            </a:r>
            <a:endParaRPr sz="800" b="1" i="0" spc="400">
              <a:solidFill>
                <a:srgbClr val="B7C9BD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4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58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76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94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12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3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648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166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684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02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7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238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756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274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792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31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828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346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864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382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9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418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1936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2454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2972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 panose="020F0502020204030204"/>
              </a:rPr>
              <a:t>AI  LEARNING  HUB</a:t>
            </a:r>
            <a:endParaRPr sz="1000" b="1" i="0" spc="600">
              <a:solidFill>
                <a:srgbClr val="2C5244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 panose="020F0502020204030204"/>
              </a:rPr>
              <a:t>WEEK 1   /   LESSON 2   /   2 min</a:t>
            </a:r>
            <a:endParaRPr sz="900" b="1" i="0" spc="400">
              <a:solidFill>
                <a:srgbClr val="0F1F1A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 panose="020F0502020204030204"/>
              </a:rPr>
              <a:t>REFLECT  &amp;  APPLY</a:t>
            </a:r>
            <a:endParaRPr sz="1000" b="1" i="0" spc="500">
              <a:solidFill>
                <a:srgbClr val="0F766E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 panose="02040502050405020303"/>
              </a:rPr>
              <a:t>Three questions before you close this lesson</a:t>
            </a:r>
            <a:endParaRPr sz="2800" b="0" i="0">
              <a:solidFill>
                <a:srgbClr val="0F1F1A"/>
              </a:solidFill>
              <a:latin typeface="Georgia" panose="0204050205040502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 panose="020F0502020204030204"/>
              </a:rPr>
              <a:t>Spend 60 seconds on each. Write the answers down — no scrolling, no shortcuts.</a:t>
            </a:r>
            <a:endParaRPr sz="1400" b="0" i="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 panose="02040502050405020303"/>
              </a:rPr>
              <a:t>Q1</a:t>
            </a:r>
            <a:endParaRPr sz="20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 panose="020F0502020204030204"/>
              </a:rPr>
              <a:t>Which structure has been your default — and is it always the right one?</a:t>
            </a:r>
            <a:endParaRPr sz="1300" b="0" i="1">
              <a:solidFill>
                <a:srgbClr val="0F1F1A"/>
              </a:solidFill>
              <a:latin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 panose="02040502050405020303"/>
              </a:rPr>
              <a:t>Q2</a:t>
            </a:r>
            <a:endParaRPr sz="20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 panose="020F0502020204030204"/>
              </a:rPr>
              <a:t>Where did you last write an O(n) membership check that could be O(1)?</a:t>
            </a:r>
            <a:endParaRPr sz="1300" b="0" i="1">
              <a:solidFill>
                <a:srgbClr val="0F1F1A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 panose="02040502050405020303"/>
              </a:rPr>
              <a:t>Q3</a:t>
            </a:r>
            <a:endParaRPr sz="20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 panose="020F0502020204030204"/>
              </a:rPr>
              <a:t>One habit you will adopt this week to think "structure first".</a:t>
            </a:r>
            <a:endParaRPr sz="1300" b="0" i="1">
              <a:solidFill>
                <a:srgbClr val="0F1F1A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 panose="020F0502020204030204"/>
              </a:rPr>
              <a:t>AI  LEARNING  HUB   ·   LESSON 2 OF 7</a:t>
            </a:r>
            <a:endParaRPr sz="800" b="1" i="0" spc="40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 panose="020F0502020204030204"/>
              </a:rPr>
              <a:t>REFLECT</a:t>
            </a:r>
            <a:endParaRPr sz="800" b="1" i="0" spc="400">
              <a:solidFill>
                <a:srgbClr val="475569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4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58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76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94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12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3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648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166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684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02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7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238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756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274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792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31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828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346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864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 panose="020F0502020204030204"/>
              </a:rPr>
              <a:t>AI  LEARNING  HUB</a:t>
            </a:r>
            <a:endParaRPr sz="1000" b="1" i="0" spc="6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 panose="020F0502020204030204"/>
              </a:rPr>
              <a:t>WEEK 1   /   LESSON 2   /   1 min</a:t>
            </a:r>
            <a:endParaRPr sz="900" b="1" i="0" spc="40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 panose="02040502050405020303"/>
              </a:rPr>
              <a:t>03</a:t>
            </a:r>
            <a:endParaRPr sz="200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 panose="020F0502020204030204"/>
              </a:rPr>
              <a:t>PART 3  OF  4</a:t>
            </a:r>
            <a:endParaRPr sz="1100" b="1" i="0" spc="6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 panose="02040502050405020303"/>
              </a:rPr>
              <a:t>Knowledge check</a:t>
            </a:r>
            <a:endParaRPr sz="36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 panose="020F0502020204030204"/>
              </a:rPr>
              <a:t>Three short questions. One minute each. Honest answers only.</a:t>
            </a:r>
            <a:endParaRPr sz="13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 panose="020F0502020204030204"/>
              </a:rPr>
              <a:t>AI  LEARNING  HUB   ·   LESSON 2 OF 7</a:t>
            </a:r>
            <a:endParaRPr sz="800" b="1" i="0" spc="400">
              <a:solidFill>
                <a:srgbClr val="B7C9BD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 panose="020F0502020204030204"/>
              </a:rPr>
              <a:t>PART 3</a:t>
            </a:r>
            <a:endParaRPr sz="800" b="1" i="0" spc="400">
              <a:solidFill>
                <a:srgbClr val="B7C9BD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4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58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76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94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12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3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648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166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684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 panose="020F0502020204030204"/>
              </a:rPr>
              <a:t>AI  LEARNING  HUB</a:t>
            </a:r>
            <a:endParaRPr sz="1000" b="1" i="0" spc="6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 panose="020F0502020204030204"/>
              </a:rPr>
              <a:t>WEEK 1   /   LESSON 2   /   2 min</a:t>
            </a:r>
            <a:endParaRPr sz="900" b="1" i="0" spc="40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 panose="020F0502020204030204"/>
              </a:rPr>
              <a:t>KNOWLEDGE CHECK   ·   QUESTION 1  OF  3</a:t>
            </a:r>
            <a:endParaRPr sz="1000" b="1" i="0" spc="5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 panose="02040502050405020303"/>
              </a:rPr>
              <a:t>Which has O(1) membership?</a:t>
            </a:r>
            <a:endParaRPr sz="22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 panose="02040502050405020303"/>
              </a:rPr>
              <a:t>A</a:t>
            </a:r>
            <a:endParaRPr sz="18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list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 panose="02040502050405020303"/>
              </a:rPr>
              <a:t>B</a:t>
            </a:r>
            <a:endParaRPr sz="18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dict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 panose="02040502050405020303"/>
              </a:rPr>
              <a:t>C</a:t>
            </a:r>
            <a:endParaRPr sz="18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tuple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 panose="02040502050405020303"/>
              </a:rPr>
              <a:t>D</a:t>
            </a:r>
            <a:endParaRPr sz="18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str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 panose="020F0502020204030204"/>
              </a:rPr>
              <a:t>AI  LEARNING  HUB   ·   LESSON 2 OF 7</a:t>
            </a:r>
            <a:endParaRPr sz="800" b="1" i="0" spc="400">
              <a:solidFill>
                <a:srgbClr val="B7C9BD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 panose="020F0502020204030204"/>
              </a:rPr>
              <a:t>Q1</a:t>
            </a:r>
            <a:endParaRPr sz="800" b="1" i="0" spc="400">
              <a:solidFill>
                <a:srgbClr val="B7C9BD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4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58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76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94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12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3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648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166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684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02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7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238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756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274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792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31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828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346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864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382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9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418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 panose="020F0502020204030204"/>
              </a:rPr>
              <a:t>AI  LEARNING  HUB</a:t>
            </a:r>
            <a:endParaRPr sz="1000" b="1" i="0" spc="6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 panose="020F0502020204030204"/>
              </a:rPr>
              <a:t>WEEK 1   /   LESSON 2   /   2 min</a:t>
            </a:r>
            <a:endParaRPr sz="900" b="1" i="0" spc="40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 panose="020F0502020204030204"/>
              </a:rPr>
              <a:t>ANSWER   ·   QUESTION 1  OF  3</a:t>
            </a:r>
            <a:endParaRPr sz="1000" b="1" i="0" spc="5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 panose="02040502050405020303"/>
              </a:rPr>
              <a:t>Which has O(1) membership?</a:t>
            </a:r>
            <a:endParaRPr sz="1800" b="1" i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 panose="02040502050405020303"/>
              </a:rPr>
              <a:t>B</a:t>
            </a:r>
            <a:endParaRPr sz="36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 panose="020F0502020204030204"/>
              </a:rPr>
              <a:t>CORRECT  ANSWER</a:t>
            </a:r>
            <a:endParaRPr sz="1000" b="1" i="0" spc="500">
              <a:solidFill>
                <a:srgbClr val="2C5244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 panose="02040502050405020303"/>
              </a:rPr>
              <a:t>dict</a:t>
            </a:r>
            <a:endParaRPr sz="18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 panose="020F0502020204030204"/>
              </a:rPr>
              <a:t>WHY</a:t>
            </a:r>
            <a:endParaRPr sz="1000" b="1" i="0" spc="5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 panose="020F0502020204030204"/>
              </a:rPr>
              <a:t>dict (and set) use hashing for O(1) lookup. list and tuple are O(n)</a:t>
            </a:r>
            <a:endParaRPr sz="12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 panose="020F0502020204030204"/>
              </a:rPr>
              <a:t>AI  LEARNING  HUB   ·   LESSON 2 OF 7</a:t>
            </a:r>
            <a:endParaRPr sz="800" b="1" i="0" spc="400">
              <a:solidFill>
                <a:srgbClr val="B7C9BD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 panose="020F0502020204030204"/>
              </a:rPr>
              <a:t>A1</a:t>
            </a:r>
            <a:endParaRPr sz="800" b="1" i="0" spc="400">
              <a:solidFill>
                <a:srgbClr val="B7C9BD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4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58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76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94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12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3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648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166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684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02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7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238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756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274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 panose="020F0502020204030204"/>
              </a:rPr>
              <a:t>AI  LEARNING  HUB</a:t>
            </a:r>
            <a:endParaRPr sz="1000" b="1" i="0" spc="6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 panose="020F0502020204030204"/>
              </a:rPr>
              <a:t>WEEK 1   /   LESSON 2   /   2 min</a:t>
            </a:r>
            <a:endParaRPr sz="900" b="1" i="0" spc="40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 panose="020F0502020204030204"/>
              </a:rPr>
              <a:t>KNOWLEDGE CHECK   ·   QUESTION 2  OF  3</a:t>
            </a:r>
            <a:endParaRPr sz="1000" b="1" i="0" spc="5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 panose="02040502050405020303"/>
              </a:rPr>
              <a:t>Why can't a list be a dict key?</a:t>
            </a:r>
            <a:endParaRPr sz="22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 panose="02040502050405020303"/>
              </a:rPr>
              <a:t>A</a:t>
            </a:r>
            <a:endParaRPr sz="18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Lists are slow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 panose="02040502050405020303"/>
              </a:rPr>
              <a:t>B</a:t>
            </a:r>
            <a:endParaRPr sz="18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Lists are mutable — not hashable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 panose="02040502050405020303"/>
              </a:rPr>
              <a:t>C</a:t>
            </a:r>
            <a:endParaRPr sz="18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Lists are indexed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 panose="02040502050405020303"/>
              </a:rPr>
              <a:t>D</a:t>
            </a:r>
            <a:endParaRPr sz="18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Python forbids it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 panose="020F0502020204030204"/>
              </a:rPr>
              <a:t>AI  LEARNING  HUB   ·   LESSON 2 OF 7</a:t>
            </a:r>
            <a:endParaRPr sz="800" b="1" i="0" spc="400">
              <a:solidFill>
                <a:srgbClr val="B7C9BD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 panose="020F0502020204030204"/>
              </a:rPr>
              <a:t>Q2</a:t>
            </a:r>
            <a:endParaRPr sz="800" b="1" i="0" spc="400">
              <a:solidFill>
                <a:srgbClr val="B7C9BD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4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58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76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94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12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3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648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166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684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02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7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238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756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274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792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31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828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346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864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382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9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418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 panose="020F0502020204030204"/>
              </a:rPr>
              <a:t>AI  LEARNING  HUB</a:t>
            </a:r>
            <a:endParaRPr sz="1000" b="1" i="0" spc="6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 panose="020F0502020204030204"/>
              </a:rPr>
              <a:t>WEEK 1   /   LESSON 2   /   2 min</a:t>
            </a:r>
            <a:endParaRPr sz="900" b="1" i="0" spc="40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 panose="020F0502020204030204"/>
              </a:rPr>
              <a:t>ANSWER   ·   QUESTION 2  OF  3</a:t>
            </a:r>
            <a:endParaRPr sz="1000" b="1" i="0" spc="5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 panose="02040502050405020303"/>
              </a:rPr>
              <a:t>Why can't a list be a dict key?</a:t>
            </a:r>
            <a:endParaRPr sz="1800" b="1" i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 panose="02040502050405020303"/>
              </a:rPr>
              <a:t>B</a:t>
            </a:r>
            <a:endParaRPr sz="36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 panose="020F0502020204030204"/>
              </a:rPr>
              <a:t>CORRECT  ANSWER</a:t>
            </a:r>
            <a:endParaRPr sz="1000" b="1" i="0" spc="500">
              <a:solidFill>
                <a:srgbClr val="2C5244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 panose="02040502050405020303"/>
              </a:rPr>
              <a:t>Lists are mutable — not hashable</a:t>
            </a:r>
            <a:endParaRPr sz="18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 panose="020F0502020204030204"/>
              </a:rPr>
              <a:t>WHY</a:t>
            </a:r>
            <a:endParaRPr sz="1000" b="1" i="0" spc="5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 panose="020F0502020204030204"/>
              </a:rPr>
              <a:t>Dict keys must be hashable and immutable. Lists are mutable; tuples are fine</a:t>
            </a:r>
            <a:endParaRPr sz="12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 panose="020F0502020204030204"/>
              </a:rPr>
              <a:t>AI  LEARNING  HUB   ·   LESSON 2 OF 7</a:t>
            </a:r>
            <a:endParaRPr sz="800" b="1" i="0" spc="400">
              <a:solidFill>
                <a:srgbClr val="B7C9BD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 panose="020F0502020204030204"/>
              </a:rPr>
              <a:t>A2</a:t>
            </a:r>
            <a:endParaRPr sz="800" b="1" i="0" spc="400">
              <a:solidFill>
                <a:srgbClr val="B7C9BD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4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58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76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94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12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3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648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166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684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02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7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238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756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274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 panose="020F0502020204030204"/>
              </a:rPr>
              <a:t>AI  LEARNING  HUB</a:t>
            </a:r>
            <a:endParaRPr sz="1000" b="1" i="0" spc="6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 panose="020F0502020204030204"/>
              </a:rPr>
              <a:t>WEEK 1   /   LESSON 2   /   2 min</a:t>
            </a:r>
            <a:endParaRPr sz="900" b="1" i="0" spc="40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 panose="020F0502020204030204"/>
              </a:rPr>
              <a:t>KNOWLEDGE CHECK   ·   QUESTION 3  OF  3</a:t>
            </a:r>
            <a:endParaRPr sz="1000" b="1" i="0" spc="5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 panose="02040502050405020303"/>
              </a:rPr>
              <a:t>Dedup AND preserve order of [3,1,2,1]:</a:t>
            </a:r>
            <a:endParaRPr sz="22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 panose="02040502050405020303"/>
              </a:rPr>
              <a:t>A</a:t>
            </a:r>
            <a:endParaRPr sz="18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set(xs)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 panose="02040502050405020303"/>
              </a:rPr>
              <a:t>B</a:t>
            </a:r>
            <a:endParaRPr sz="18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list(set(xs))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 panose="02040502050405020303"/>
              </a:rPr>
              <a:t>C</a:t>
            </a:r>
            <a:endParaRPr sz="18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list(dict.fromkeys(xs))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 panose="02040502050405020303"/>
              </a:rPr>
              <a:t>D</a:t>
            </a:r>
            <a:endParaRPr sz="18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sorted(set(xs))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 panose="020F0502020204030204"/>
              </a:rPr>
              <a:t>AI  LEARNING  HUB   ·   LESSON 2 OF 7</a:t>
            </a:r>
            <a:endParaRPr sz="800" b="1" i="0" spc="400">
              <a:solidFill>
                <a:srgbClr val="B7C9BD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 panose="020F0502020204030204"/>
              </a:rPr>
              <a:t>Q3</a:t>
            </a:r>
            <a:endParaRPr sz="800" b="1" i="0" spc="400">
              <a:solidFill>
                <a:srgbClr val="B7C9BD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4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58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76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94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12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3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648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166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684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02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7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238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756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274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792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31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828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346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864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382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9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418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 panose="020F0502020204030204"/>
              </a:rPr>
              <a:t>AI  LEARNING  HUB</a:t>
            </a:r>
            <a:endParaRPr sz="1000" b="1" i="0" spc="6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 panose="020F0502020204030204"/>
              </a:rPr>
              <a:t>WEEK 1   /   LESSON 2   /   2 min</a:t>
            </a:r>
            <a:endParaRPr sz="900" b="1" i="0" spc="40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 panose="020F0502020204030204"/>
              </a:rPr>
              <a:t>ANSWER   ·   QUESTION 3  OF  3</a:t>
            </a:r>
            <a:endParaRPr sz="1000" b="1" i="0" spc="5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 panose="02040502050405020303"/>
              </a:rPr>
              <a:t>Dedup AND preserve order of [3,1,2,1]:</a:t>
            </a:r>
            <a:endParaRPr sz="1800" b="1" i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 panose="02040502050405020303"/>
              </a:rPr>
              <a:t>C</a:t>
            </a:r>
            <a:endParaRPr sz="36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 panose="020F0502020204030204"/>
              </a:rPr>
              <a:t>CORRECT  ANSWER</a:t>
            </a:r>
            <a:endParaRPr sz="1000" b="1" i="0" spc="500">
              <a:solidFill>
                <a:srgbClr val="2C5244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 panose="02040502050405020303"/>
              </a:rPr>
              <a:t>list(dict.fromkeys(xs))</a:t>
            </a:r>
            <a:endParaRPr sz="18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 panose="020F0502020204030204"/>
              </a:rPr>
              <a:t>WHY</a:t>
            </a:r>
            <a:endParaRPr sz="1000" b="1" i="0" spc="5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 panose="020F0502020204030204"/>
              </a:rPr>
              <a:t>dict.fromkeys preserves insertion order (Python 3.7+)</a:t>
            </a:r>
            <a:endParaRPr sz="12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 panose="020F0502020204030204"/>
              </a:rPr>
              <a:t>AI  LEARNING  HUB   ·   LESSON 2 OF 7</a:t>
            </a:r>
            <a:endParaRPr sz="800" b="1" i="0" spc="400">
              <a:solidFill>
                <a:srgbClr val="B7C9BD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 panose="020F0502020204030204"/>
              </a:rPr>
              <a:t>A3</a:t>
            </a:r>
            <a:endParaRPr sz="800" b="1" i="0" spc="400">
              <a:solidFill>
                <a:srgbClr val="B7C9BD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4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58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76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94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12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3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648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166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684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02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7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238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756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274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 panose="020F0502020204030204"/>
              </a:rPr>
              <a:t>AI  LEARNING  HUB</a:t>
            </a:r>
            <a:endParaRPr sz="1000" b="1" i="0" spc="6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 panose="020F0502020204030204"/>
              </a:rPr>
              <a:t>WEEK 1   /   LESSON 2   /   1 min</a:t>
            </a:r>
            <a:endParaRPr sz="900" b="1" i="0" spc="40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 panose="02040502050405020303"/>
              </a:rPr>
              <a:t>04</a:t>
            </a:r>
            <a:endParaRPr sz="200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 panose="020F0502020204030204"/>
              </a:rPr>
              <a:t>PART 4  OF  4</a:t>
            </a:r>
            <a:endParaRPr sz="1100" b="1" i="0" spc="6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 panose="02040502050405020303"/>
              </a:rPr>
              <a:t>Apply and close</a:t>
            </a:r>
            <a:endParaRPr sz="36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 panose="020F0502020204030204"/>
              </a:rPr>
              <a:t>One thing to remember. One thing to ship this week.</a:t>
            </a:r>
            <a:endParaRPr sz="13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 panose="020F0502020204030204"/>
              </a:rPr>
              <a:t>AI  LEARNING  HUB   ·   LESSON 2 OF 7</a:t>
            </a:r>
            <a:endParaRPr sz="800" b="1" i="0" spc="400">
              <a:solidFill>
                <a:srgbClr val="B7C9BD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 panose="020F0502020204030204"/>
              </a:rPr>
              <a:t>PART 4</a:t>
            </a:r>
            <a:endParaRPr sz="800" b="1" i="0" spc="400">
              <a:solidFill>
                <a:srgbClr val="B7C9BD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4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58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76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94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12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3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648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166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684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 panose="020F0502020204030204"/>
              </a:rPr>
              <a:t>AI  LEARNING  HUB</a:t>
            </a:r>
            <a:endParaRPr sz="1000" b="1" i="0" spc="6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 panose="020F0502020204030204"/>
              </a:rPr>
              <a:t>WEEK 1   /   LESSON 2   /   2 min</a:t>
            </a:r>
            <a:endParaRPr sz="900" b="1" i="0" spc="40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 panose="020F0502020204030204"/>
              </a:rPr>
              <a:t>SUMMARY</a:t>
            </a:r>
            <a:endParaRPr sz="1000" b="1" i="0" spc="5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 panose="02040502050405020303"/>
              </a:rPr>
              <a:t>Five sentences to remember</a:t>
            </a:r>
            <a:endParaRPr sz="2800" b="0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 panose="020F0502020204030204"/>
              </a:rPr>
              <a:t>If you remember nothing else from this lesson, remember these five lines.</a:t>
            </a:r>
            <a:endParaRPr sz="14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 panose="02040502050405020303"/>
              </a:rPr>
              <a:t>1</a:t>
            </a:r>
            <a:endParaRPr sz="28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 panose="020F0502020204030204"/>
              </a:rPr>
              <a:t>Pick the right tool — never the loudest one.</a:t>
            </a:r>
            <a:endParaRPr sz="14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 panose="02040502050405020303"/>
              </a:rPr>
              <a:t>2</a:t>
            </a:r>
            <a:endParaRPr sz="28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 panose="020F0502020204030204"/>
              </a:rPr>
              <a:t>Practice the framework on a real example.</a:t>
            </a:r>
            <a:endParaRPr sz="14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 panose="02040502050405020303"/>
              </a:rPr>
              <a:t>3</a:t>
            </a:r>
            <a:endParaRPr sz="28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 panose="020F0502020204030204"/>
              </a:rPr>
              <a:t>Watch for the three classic pitfalls.</a:t>
            </a:r>
            <a:endParaRPr sz="14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 panose="02040502050405020303"/>
              </a:rPr>
              <a:t>4</a:t>
            </a:r>
            <a:endParaRPr sz="28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 panose="020F0502020204030204"/>
              </a:rPr>
              <a:t>Document your decision in one sentence.</a:t>
            </a:r>
            <a:endParaRPr sz="14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 panose="02040502050405020303"/>
              </a:rPr>
              <a:t>5</a:t>
            </a:r>
            <a:endParaRPr sz="28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 panose="020F0502020204030204"/>
              </a:rPr>
              <a:t>Carry the discipline forward to the next lesson.</a:t>
            </a:r>
            <a:endParaRPr sz="14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 panose="020F0502020204030204"/>
              </a:rPr>
              <a:t>AI  LEARNING  HUB   ·   LESSON 2 OF 7</a:t>
            </a:r>
            <a:endParaRPr sz="800" b="1" i="0" spc="400">
              <a:solidFill>
                <a:srgbClr val="B7C9BD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 panose="020F0502020204030204"/>
              </a:rPr>
              <a:t>SUMMARY</a:t>
            </a:r>
            <a:endParaRPr sz="800" b="1" i="0" spc="400">
              <a:solidFill>
                <a:srgbClr val="B7C9BD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4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58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76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94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12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3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648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166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684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02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7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238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756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274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792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31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828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 panose="020F0502020204030204"/>
              </a:rPr>
              <a:t>AI  LEARNING  HUB</a:t>
            </a:r>
            <a:endParaRPr sz="1000" b="1" i="0" spc="600">
              <a:solidFill>
                <a:srgbClr val="2C5244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 panose="020F0502020204030204"/>
              </a:rPr>
              <a:t>WEEK 1   /   LESSON 2   /   3 min</a:t>
            </a:r>
            <a:endParaRPr sz="900" b="1" i="0" spc="400">
              <a:solidFill>
                <a:srgbClr val="0F1F1A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 panose="020F0502020204030204"/>
              </a:rPr>
              <a:t>WORKED  EXAMPLE</a:t>
            </a:r>
            <a:endParaRPr sz="1000" b="1" i="0" spc="500">
              <a:solidFill>
                <a:srgbClr val="0F766E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 panose="02040502050405020303"/>
              </a:rPr>
              <a:t>How this lesson plays out in one real Indian context</a:t>
            </a:r>
            <a:endParaRPr sz="2800" b="0" i="0">
              <a:solidFill>
                <a:srgbClr val="0F1F1A"/>
              </a:solidFill>
              <a:latin typeface="Georgia" panose="020405020504050203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 panose="020F0502020204030204"/>
              </a:rPr>
              <a:t>THE  SCENARIO</a:t>
            </a:r>
            <a:endParaRPr sz="1000" b="1" i="0" spc="500">
              <a:solidFill>
                <a:srgbClr val="0F766E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 panose="020F0502020204030204"/>
              </a:rPr>
              <a:t>Append O(1). Index access O(1). Membership O(n).
Slicing: a[::-1] is the reversed copy — O(n).
Insert at front O(n) — use collections.deque for frequent front-ops.
Sort is Timsort — O(n log n), stable.
USE WHEN
Order + duplicates
Iteration is frequent; lookup is rare.</a:t>
            </a:r>
            <a:endParaRPr sz="1200" b="0" i="0">
              <a:solidFill>
                <a:srgbClr val="0F1F1A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 panose="020F0502020204030204"/>
              </a:rPr>
              <a:t>THE  TAKEAWAY</a:t>
            </a:r>
            <a:endParaRPr sz="1000" b="1" i="0" spc="5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 panose="02040502050405020303"/>
              </a:rPr>
              <a:t>"80% of slow pandas code is a wrong-structure bug below pandas. Master the four; pay that cost never again."</a:t>
            </a:r>
            <a:endParaRPr sz="1400" b="0" i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 panose="020F0502020204030204"/>
              </a:rPr>
              <a:t>WHAT  TO  NOTICE</a:t>
            </a:r>
            <a:endParaRPr sz="1000" b="1" i="0" spc="500">
              <a:solidFill>
                <a:srgbClr val="0F766E"/>
              </a:solidFill>
              <a:latin typeface="Calibri" panose="020F050202020403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 panose="02040502050405020303"/>
              </a:rPr>
              <a:t>1</a:t>
            </a:r>
            <a:endParaRPr sz="14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 panose="020F0502020204030204"/>
              </a:rPr>
              <a:t>list — the everyday...</a:t>
            </a:r>
            <a:endParaRPr sz="1100" b="0" i="0">
              <a:solidFill>
                <a:srgbClr val="0F1F1A"/>
              </a:solidFill>
              <a:latin typeface="Calibri" panose="020F0502020204030204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 panose="02040502050405020303"/>
              </a:rPr>
              <a:t>2</a:t>
            </a:r>
            <a:endParaRPr sz="14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 panose="020F0502020204030204"/>
              </a:rPr>
              <a:t>dict — O(1) lookup by key</a:t>
            </a:r>
            <a:endParaRPr sz="1100" b="0" i="0">
              <a:solidFill>
                <a:srgbClr val="0F1F1A"/>
              </a:solidFill>
              <a:latin typeface="Calibri" panose="020F0502020204030204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 panose="02040502050405020303"/>
              </a:rPr>
              <a:t>3</a:t>
            </a:r>
            <a:endParaRPr sz="14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 panose="020F0502020204030204"/>
              </a:rPr>
              <a:t>set — membership and dedup</a:t>
            </a:r>
            <a:endParaRPr sz="1100" b="0" i="0">
              <a:solidFill>
                <a:srgbClr val="0F1F1A"/>
              </a:solidFill>
              <a:latin typeface="Calibri" panose="020F0502020204030204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 panose="02040502050405020303"/>
              </a:rPr>
              <a:t>4</a:t>
            </a:r>
            <a:endParaRPr sz="14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 panose="020F0502020204030204"/>
              </a:rPr>
              <a:t>tuple — immutable twin of...</a:t>
            </a:r>
            <a:endParaRPr sz="1100" b="0" i="0">
              <a:solidFill>
                <a:srgbClr val="0F1F1A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 panose="020F0502020204030204"/>
              </a:rPr>
              <a:t>AI  LEARNING  HUB   ·   LESSON 2 OF 7</a:t>
            </a:r>
            <a:endParaRPr sz="800" b="1" i="0" spc="400">
              <a:solidFill>
                <a:srgbClr val="475569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 panose="020F0502020204030204"/>
              </a:rPr>
              <a:t>EXAMPLE</a:t>
            </a:r>
            <a:endParaRPr sz="800" b="1" i="0" spc="400">
              <a:solidFill>
                <a:srgbClr val="475569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4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58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76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94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12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3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648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166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684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02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7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238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756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274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792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31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828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346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864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382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9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418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1936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2454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2972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3490"/>
                            </p:stCondLst>
                            <p:childTnLst>
                              <p:par>
                                <p:cTn id="10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 panose="020F0502020204030204"/>
              </a:rPr>
              <a:t>AI  LEARNING  HUB</a:t>
            </a:r>
            <a:endParaRPr sz="1000" b="1" i="0" spc="6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 panose="020F0502020204030204"/>
              </a:rPr>
              <a:t>WEEK 1   /   LESSON 2   /   3 min</a:t>
            </a:r>
            <a:endParaRPr sz="900" b="1" i="0" spc="40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 panose="020F0502020204030204"/>
              </a:rPr>
              <a:t>APPLY  IT  →  ASSIGNMENT</a:t>
            </a:r>
            <a:endParaRPr sz="1000" b="1" i="0" spc="5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 panose="02040502050405020303"/>
              </a:rPr>
              <a:t>Mini assignment — replace one O(n) with O(1)</a:t>
            </a:r>
            <a:endParaRPr sz="2800" b="0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 panose="020F0502020204030204"/>
              </a:rPr>
              <a:t>Take any Week-1 script you wrote. Find one list membership check inside a loop.</a:t>
            </a:r>
            <a:endParaRPr sz="14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 panose="020F0502020204030204"/>
              </a:rPr>
              <a:t>DELIVERABLES</a:t>
            </a:r>
            <a:endParaRPr sz="1000" b="1" i="0" spc="5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 panose="020F0502020204030204"/>
              </a:rPr>
              <a:t>Convert the list to a set at the top of the function.</a:t>
            </a:r>
            <a:endParaRPr sz="12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 panose="020F0502020204030204"/>
              </a:rPr>
              <a:t>Measure with %timeit before and after.</a:t>
            </a:r>
            <a:endParaRPr sz="12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 panose="020F0502020204030204"/>
              </a:rPr>
              <a:t>Post the before/after timings + the diff in a cohort-forum thread.</a:t>
            </a:r>
            <a:endParaRPr sz="12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 panose="020F0502020204030204"/>
              </a:rPr>
              <a:t>Document one decision you made because of this lesson.</a:t>
            </a:r>
            <a:endParaRPr sz="12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 panose="020F0502020204030204"/>
              </a:rPr>
              <a:t>WHAT 'GOOD' LOOKS LIKE</a:t>
            </a:r>
            <a:endParaRPr sz="1000" b="1" i="0" spc="500">
              <a:solidFill>
                <a:srgbClr val="2C5244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 panose="02040502050405020303"/>
              </a:rPr>
              <a:t>Deliverable: Screenshot of the %timeit comparison + 2-sentence explanation.</a:t>
            </a:r>
            <a:endParaRPr sz="1400" b="0" i="1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 panose="020F0502020204030204"/>
              </a:rPr>
              <a:t>AI  LEARNING  HUB   ·   LESSON 2 OF 7</a:t>
            </a:r>
            <a:endParaRPr sz="800" b="1" i="0" spc="400">
              <a:solidFill>
                <a:srgbClr val="B7C9BD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 panose="020F0502020204030204"/>
              </a:rPr>
              <a:t>APPLY</a:t>
            </a:r>
            <a:endParaRPr sz="800" b="1" i="0" spc="400">
              <a:solidFill>
                <a:srgbClr val="B7C9BD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4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58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76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94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12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3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648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166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684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02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7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238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756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274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792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31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828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346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864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382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 panose="020F0502020204030204"/>
              </a:rPr>
              <a:t>AI  LEARNING  HUB</a:t>
            </a:r>
            <a:endParaRPr sz="1000" b="1" i="0" spc="6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 panose="020F0502020204030204"/>
              </a:rPr>
              <a:t>WEEK 1   /   LESSON 2   /   1 min</a:t>
            </a:r>
            <a:endParaRPr sz="900" b="1" i="0" spc="40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 panose="020F0502020204030204"/>
              </a:rPr>
              <a:t>ONE  THING  TO  REMEMBER</a:t>
            </a:r>
            <a:endParaRPr sz="1000" b="1" i="0" spc="5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 panose="02040502050405020303"/>
              </a:rPr>
              <a:t>“</a:t>
            </a:r>
            <a:endParaRPr sz="12000" b="1" i="0">
              <a:solidFill>
                <a:srgbClr val="C5E063"/>
              </a:solidFill>
              <a:latin typeface="Georgia" panose="0204050205040502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 panose="02040502050405020303"/>
              </a:rPr>
              <a:t>"80% of slow pandas code is a wrong-structure bug below pandas. Master the four; pay that cost never again."</a:t>
            </a:r>
            <a:endParaRPr sz="3000" b="0" i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 panose="020F0502020204030204"/>
              </a:rPr>
              <a:t>—  AI Learning Hub</a:t>
            </a:r>
            <a:endParaRPr sz="1200" b="1" i="0" spc="4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 panose="020F0502020204030204"/>
              </a:rPr>
              <a:t>AI  LEARNING  HUB   ·   LESSON 2 OF 7</a:t>
            </a:r>
            <a:endParaRPr sz="800" b="1" i="0" spc="400">
              <a:solidFill>
                <a:srgbClr val="B7C9BD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 panose="020F0502020204030204"/>
              </a:rPr>
              <a:t>BIG IDEA</a:t>
            </a:r>
            <a:endParaRPr sz="800" b="1" i="0" spc="400">
              <a:solidFill>
                <a:srgbClr val="B7C9BD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4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58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76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94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12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3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648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166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 panose="020F0502020204030204"/>
              </a:rPr>
              <a:t>AI  LEARNING  HUB</a:t>
            </a:r>
            <a:endParaRPr sz="1000" b="1" i="0" spc="6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 panose="020F0502020204030204"/>
              </a:rPr>
              <a:t>WEEK 1   /   LESSON 2   /   1 min</a:t>
            </a:r>
            <a:endParaRPr sz="900" b="1" i="0" spc="40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 panose="020F0502020204030204"/>
              </a:rPr>
              <a:t>END OF LESSON 2</a:t>
            </a:r>
            <a:endParaRPr sz="1000" b="1" i="0" spc="5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 panose="02040502050405020303"/>
              </a:rPr>
              <a:t>What you can now do</a:t>
            </a:r>
            <a:endParaRPr sz="3400" b="0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 panose="020F0502020204030204"/>
              </a:rPr>
              <a:t>Each one of these is now part of your working vocabulary.</a:t>
            </a:r>
            <a:endParaRPr sz="1400" b="0" i="0">
              <a:solidFill>
                <a:srgbClr val="E5E7EB"/>
              </a:solidFill>
              <a:latin typeface="Calibri" panose="020F0502020204030204"/>
            </a:endParaRP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 panose="02040502050405020303"/>
              </a:rPr>
              <a:t>1</a:t>
            </a:r>
            <a:endParaRPr sz="14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Pick the right tool — never the loudest one.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 panose="02040502050405020303"/>
              </a:rPr>
              <a:t>2</a:t>
            </a:r>
            <a:endParaRPr sz="14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Practice the framework on a real example.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 panose="02040502050405020303"/>
              </a:rPr>
              <a:t>3</a:t>
            </a:r>
            <a:endParaRPr sz="14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Watch for the three classic pitfalls.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 panose="02040502050405020303"/>
              </a:rPr>
              <a:t>4</a:t>
            </a:r>
            <a:endParaRPr sz="14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Document your decision in one sentence.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 panose="02040502050405020303"/>
              </a:rPr>
              <a:t>5</a:t>
            </a:r>
            <a:endParaRPr sz="1400" b="1" i="0">
              <a:solidFill>
                <a:srgbClr val="2C5244"/>
              </a:solidFill>
              <a:latin typeface="Georgia" panose="020405020504050203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Carry the discipline forward to the next lesson.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 panose="020F0502020204030204"/>
              </a:rPr>
              <a:t>NEXT  →   Lesson 2 — NumPy Fundamentals. The speed layer under every Python ML library.</a:t>
            </a:r>
            <a:endParaRPr sz="1100" b="1" i="0" spc="400">
              <a:solidFill>
                <a:srgbClr val="C5E063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 panose="020F0502020204030204"/>
              </a:rPr>
              <a:t>AI  LEARNING  HUB   ·   LESSON 2 OF 7</a:t>
            </a:r>
            <a:endParaRPr sz="800" b="1" i="0" spc="400">
              <a:solidFill>
                <a:srgbClr val="B7C9BD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 panose="020F0502020204030204"/>
              </a:rPr>
              <a:t>WRAP</a:t>
            </a:r>
            <a:endParaRPr sz="800" b="1" i="0" spc="400">
              <a:solidFill>
                <a:srgbClr val="B7C9BD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4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58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76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94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12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13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648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166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684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02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7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238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756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274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792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31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828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346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864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382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9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418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1936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2454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9544</Words>
  <Application>WPS Presentation</Application>
  <PresentationFormat>On-screen Show (4:3)</PresentationFormat>
  <Paragraphs>666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Arial</vt:lpstr>
      <vt:lpstr>SimSun</vt:lpstr>
      <vt:lpstr>Wingdings</vt:lpstr>
      <vt:lpstr>Arial</vt:lpstr>
      <vt:lpstr>Georgia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raj.k</cp:lastModifiedBy>
  <cp:revision>2</cp:revision>
  <dcterms:created xsi:type="dcterms:W3CDTF">2013-01-27T09:14:00Z</dcterms:created>
  <dcterms:modified xsi:type="dcterms:W3CDTF">2026-05-06T04:24:19Z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9E37DD75BD0D442B8D00326D5FEFFF03_12</vt:lpwstr>
  </property>
  <property fmtid="{D5CDD505-2E9C-101B-9397-08002B2CF9AE}" pid="3" name="KSOProductBuildVer">
    <vt:lpwstr>1033-12.1.0.25862</vt:lpwstr>
  </property>
</Properties>
</file>