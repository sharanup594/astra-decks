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pic>
        <p:nvPicPr>
          <p:cNvPr id="2" name="Picture 1" descr="cover_hero.jpeg"/>
          <p:cNvPicPr>
            <a:picLocks noChangeAspect="1"/>
          </p:cNvPicPr>
          <p:nvPr/>
        </p:nvPicPr>
        <p:blipFill>
          <a:blip r:embed="rId2"/>
          <a:stretch>
            <a:fillRect/>
          </a:stretch>
        </p:blipFill>
        <p:spPr>
          <a:xfrm>
            <a:off x="6400800" y="0"/>
            <a:ext cx="5790895" cy="6858000"/>
          </a:xfrm>
          <a:prstGeom prst="rect">
            <a:avLst/>
          </a:prstGeom>
        </p:spPr>
      </p:pic>
      <p:sp>
        <p:nvSpPr>
          <p:cNvPr id="3" name="Rectangle 2"/>
          <p:cNvSpPr/>
          <p:nvPr/>
        </p:nvSpPr>
        <p:spPr>
          <a:xfrm>
            <a:off x="6400800" y="0"/>
            <a:ext cx="5790895" cy="6858000"/>
          </a:xfrm>
          <a:prstGeom prst="rect">
            <a:avLst/>
          </a:prstGeom>
          <a:solidFill>
            <a:srgbClr val="1A352B">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515600" y="502920"/>
            <a:ext cx="1188720" cy="118872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0" y="502920"/>
            <a:ext cx="1188720" cy="1188720"/>
          </a:xfrm>
          <a:prstGeom prst="rect">
            <a:avLst/>
          </a:prstGeom>
          <a:noFill/>
        </p:spPr>
        <p:txBody>
          <a:bodyPr wrap="square" lIns="0" rIns="0" tIns="0" bIns="0" anchor="ctr">
            <a:spAutoFit/>
          </a:bodyPr>
          <a:lstStyle/>
          <a:p>
            <a:pPr algn="ctr"/>
            <a:r>
              <a:rPr sz="4400" b="1" i="0">
                <a:solidFill>
                  <a:srgbClr val="2C5244"/>
                </a:solidFill>
                <a:latin typeface="Georgia"/>
              </a:rPr>
              <a:t>L4</a:t>
            </a:r>
          </a:p>
        </p:txBody>
      </p:sp>
      <p:sp>
        <p:nvSpPr>
          <p:cNvPr id="6" name="TextBox 5"/>
          <p:cNvSpPr txBox="1"/>
          <p:nvPr/>
        </p:nvSpPr>
        <p:spPr>
          <a:xfrm>
            <a:off x="6858000" y="2286000"/>
            <a:ext cx="4572000" cy="274320"/>
          </a:xfrm>
          <a:prstGeom prst="rect">
            <a:avLst/>
          </a:prstGeom>
          <a:noFill/>
        </p:spPr>
        <p:txBody>
          <a:bodyPr wrap="square" lIns="0" rIns="0" tIns="0" bIns="0" anchor="t">
            <a:spAutoFit/>
          </a:bodyPr>
          <a:lstStyle/>
          <a:p>
            <a:pPr algn="l"/>
            <a:r>
              <a:rPr sz="1000" b="1" i="0" spc="500">
                <a:solidFill>
                  <a:srgbClr val="C5E063"/>
                </a:solidFill>
                <a:latin typeface="Calibri"/>
              </a:rPr>
              <a:t>WHAT'S INSIDE</a:t>
            </a:r>
          </a:p>
        </p:txBody>
      </p:sp>
      <p:sp>
        <p:nvSpPr>
          <p:cNvPr id="7" name="TextBox 6"/>
          <p:cNvSpPr txBox="1"/>
          <p:nvPr/>
        </p:nvSpPr>
        <p:spPr>
          <a:xfrm>
            <a:off x="6858000" y="2743200"/>
            <a:ext cx="365760" cy="457200"/>
          </a:xfrm>
          <a:prstGeom prst="rect">
            <a:avLst/>
          </a:prstGeom>
          <a:noFill/>
        </p:spPr>
        <p:txBody>
          <a:bodyPr wrap="square" lIns="0" rIns="0" tIns="0" bIns="0" anchor="ctr">
            <a:spAutoFit/>
          </a:bodyPr>
          <a:lstStyle/>
          <a:p>
            <a:pPr algn="l"/>
            <a:r>
              <a:rPr sz="2000" b="1" i="0">
                <a:solidFill>
                  <a:srgbClr val="C5E063"/>
                </a:solidFill>
                <a:latin typeface="Georgia"/>
              </a:rPr>
              <a:t>01</a:t>
            </a:r>
          </a:p>
        </p:txBody>
      </p:sp>
      <p:sp>
        <p:nvSpPr>
          <p:cNvPr id="8" name="TextBox 7"/>
          <p:cNvSpPr txBox="1"/>
          <p:nvPr/>
        </p:nvSpPr>
        <p:spPr>
          <a:xfrm>
            <a:off x="7360920" y="2743200"/>
            <a:ext cx="4663440" cy="502920"/>
          </a:xfrm>
          <a:prstGeom prst="rect">
            <a:avLst/>
          </a:prstGeom>
          <a:noFill/>
        </p:spPr>
        <p:txBody>
          <a:bodyPr wrap="square" lIns="0" rIns="0" tIns="0" bIns="0" anchor="ctr">
            <a:spAutoFit/>
          </a:bodyPr>
          <a:lstStyle/>
          <a:p>
            <a:pPr algn="l"/>
            <a:r>
              <a:rPr sz="1200" b="0" i="0">
                <a:solidFill>
                  <a:srgbClr val="FFFFFF"/>
                </a:solidFill>
                <a:latin typeface="Calibri"/>
              </a:rPr>
              <a:t>Embeddings — dense fingerprints</a:t>
            </a:r>
          </a:p>
        </p:txBody>
      </p:sp>
      <p:sp>
        <p:nvSpPr>
          <p:cNvPr id="9" name="TextBox 8"/>
          <p:cNvSpPr txBox="1"/>
          <p:nvPr/>
        </p:nvSpPr>
        <p:spPr>
          <a:xfrm>
            <a:off x="6858000" y="3337560"/>
            <a:ext cx="365760" cy="457200"/>
          </a:xfrm>
          <a:prstGeom prst="rect">
            <a:avLst/>
          </a:prstGeom>
          <a:noFill/>
        </p:spPr>
        <p:txBody>
          <a:bodyPr wrap="square" lIns="0" rIns="0" tIns="0" bIns="0" anchor="ctr">
            <a:spAutoFit/>
          </a:bodyPr>
          <a:lstStyle/>
          <a:p>
            <a:pPr algn="l"/>
            <a:r>
              <a:rPr sz="2000" b="1" i="0">
                <a:solidFill>
                  <a:srgbClr val="C5E063"/>
                </a:solidFill>
                <a:latin typeface="Georgia"/>
              </a:rPr>
              <a:t>02</a:t>
            </a:r>
          </a:p>
        </p:txBody>
      </p:sp>
      <p:sp>
        <p:nvSpPr>
          <p:cNvPr id="10" name="TextBox 9"/>
          <p:cNvSpPr txBox="1"/>
          <p:nvPr/>
        </p:nvSpPr>
        <p:spPr>
          <a:xfrm>
            <a:off x="7360920" y="3337560"/>
            <a:ext cx="4663440" cy="502920"/>
          </a:xfrm>
          <a:prstGeom prst="rect">
            <a:avLst/>
          </a:prstGeom>
          <a:noFill/>
        </p:spPr>
        <p:txBody>
          <a:bodyPr wrap="square" lIns="0" rIns="0" tIns="0" bIns="0" anchor="ctr">
            <a:spAutoFit/>
          </a:bodyPr>
          <a:lstStyle/>
          <a:p>
            <a:pPr algn="l"/>
            <a:r>
              <a:rPr sz="1200" b="0" i="0">
                <a:solidFill>
                  <a:srgbClr val="FFFFFF"/>
                </a:solidFill>
                <a:latin typeface="Calibri"/>
              </a:rPr>
              <a:t>ANN algorithms</a:t>
            </a:r>
          </a:p>
        </p:txBody>
      </p:sp>
      <p:sp>
        <p:nvSpPr>
          <p:cNvPr id="11" name="TextBox 10"/>
          <p:cNvSpPr txBox="1"/>
          <p:nvPr/>
        </p:nvSpPr>
        <p:spPr>
          <a:xfrm>
            <a:off x="6858000" y="3931920"/>
            <a:ext cx="365760" cy="457200"/>
          </a:xfrm>
          <a:prstGeom prst="rect">
            <a:avLst/>
          </a:prstGeom>
          <a:noFill/>
        </p:spPr>
        <p:txBody>
          <a:bodyPr wrap="square" lIns="0" rIns="0" tIns="0" bIns="0" anchor="ctr">
            <a:spAutoFit/>
          </a:bodyPr>
          <a:lstStyle/>
          <a:p>
            <a:pPr algn="l"/>
            <a:r>
              <a:rPr sz="2000" b="1" i="0">
                <a:solidFill>
                  <a:srgbClr val="C5E063"/>
                </a:solidFill>
                <a:latin typeface="Georgia"/>
              </a:rPr>
              <a:t>03</a:t>
            </a:r>
          </a:p>
        </p:txBody>
      </p:sp>
      <p:sp>
        <p:nvSpPr>
          <p:cNvPr id="12" name="TextBox 11"/>
          <p:cNvSpPr txBox="1"/>
          <p:nvPr/>
        </p:nvSpPr>
        <p:spPr>
          <a:xfrm>
            <a:off x="7360920" y="3931920"/>
            <a:ext cx="4663440" cy="502920"/>
          </a:xfrm>
          <a:prstGeom prst="rect">
            <a:avLst/>
          </a:prstGeom>
          <a:noFill/>
        </p:spPr>
        <p:txBody>
          <a:bodyPr wrap="square" lIns="0" rIns="0" tIns="0" bIns="0" anchor="ctr">
            <a:spAutoFit/>
          </a:bodyPr>
          <a:lstStyle/>
          <a:p>
            <a:pPr algn="l"/>
            <a:r>
              <a:rPr sz="1200" b="0" i="0">
                <a:solidFill>
                  <a:srgbClr val="FFFFFF"/>
                </a:solidFill>
                <a:latin typeface="Calibri"/>
              </a:rPr>
              <a:t>2026 vector-DB landscape</a:t>
            </a:r>
          </a:p>
        </p:txBody>
      </p:sp>
      <p:sp>
        <p:nvSpPr>
          <p:cNvPr id="13" name="TextBox 12"/>
          <p:cNvSpPr txBox="1"/>
          <p:nvPr/>
        </p:nvSpPr>
        <p:spPr>
          <a:xfrm>
            <a:off x="6858000" y="4526280"/>
            <a:ext cx="365760" cy="457200"/>
          </a:xfrm>
          <a:prstGeom prst="rect">
            <a:avLst/>
          </a:prstGeom>
          <a:noFill/>
        </p:spPr>
        <p:txBody>
          <a:bodyPr wrap="square" lIns="0" rIns="0" tIns="0" bIns="0" anchor="ctr">
            <a:spAutoFit/>
          </a:bodyPr>
          <a:lstStyle/>
          <a:p>
            <a:pPr algn="l"/>
            <a:r>
              <a:rPr sz="2000" b="1" i="0">
                <a:solidFill>
                  <a:srgbClr val="C5E063"/>
                </a:solidFill>
                <a:latin typeface="Georgia"/>
              </a:rPr>
              <a:t>04</a:t>
            </a:r>
          </a:p>
        </p:txBody>
      </p:sp>
      <p:sp>
        <p:nvSpPr>
          <p:cNvPr id="14" name="TextBox 13"/>
          <p:cNvSpPr txBox="1"/>
          <p:nvPr/>
        </p:nvSpPr>
        <p:spPr>
          <a:xfrm>
            <a:off x="7360920" y="4526280"/>
            <a:ext cx="4663440" cy="502920"/>
          </a:xfrm>
          <a:prstGeom prst="rect">
            <a:avLst/>
          </a:prstGeom>
          <a:noFill/>
        </p:spPr>
        <p:txBody>
          <a:bodyPr wrap="square" lIns="0" rIns="0" tIns="0" bIns="0" anchor="ctr">
            <a:spAutoFit/>
          </a:bodyPr>
          <a:lstStyle/>
          <a:p>
            <a:pPr algn="l"/>
            <a:r>
              <a:rPr sz="1200" b="0" i="0">
                <a:solidFill>
                  <a:srgbClr val="FFFFFF"/>
                </a:solidFill>
                <a:latin typeface="Calibri"/>
              </a:rPr>
              <a:t>Metadata filters + hybrid search</a:t>
            </a:r>
          </a:p>
        </p:txBody>
      </p:sp>
      <p:sp>
        <p:nvSpPr>
          <p:cNvPr id="15" name="TextBox 14"/>
          <p:cNvSpPr txBox="1"/>
          <p:nvPr/>
        </p:nvSpPr>
        <p:spPr>
          <a:xfrm>
            <a:off x="6858000" y="5120640"/>
            <a:ext cx="365760" cy="457200"/>
          </a:xfrm>
          <a:prstGeom prst="rect">
            <a:avLst/>
          </a:prstGeom>
          <a:noFill/>
        </p:spPr>
        <p:txBody>
          <a:bodyPr wrap="square" lIns="0" rIns="0" tIns="0" bIns="0" anchor="ctr">
            <a:spAutoFit/>
          </a:bodyPr>
          <a:lstStyle/>
          <a:p>
            <a:pPr algn="l"/>
            <a:r>
              <a:rPr sz="2000" b="1" i="0">
                <a:solidFill>
                  <a:srgbClr val="C5E063"/>
                </a:solidFill>
                <a:latin typeface="Georgia"/>
              </a:rPr>
              <a:t>05</a:t>
            </a:r>
          </a:p>
        </p:txBody>
      </p:sp>
      <p:sp>
        <p:nvSpPr>
          <p:cNvPr id="16" name="TextBox 15"/>
          <p:cNvSpPr txBox="1"/>
          <p:nvPr/>
        </p:nvSpPr>
        <p:spPr>
          <a:xfrm>
            <a:off x="7360920" y="5120640"/>
            <a:ext cx="4663440" cy="502920"/>
          </a:xfrm>
          <a:prstGeom prst="rect">
            <a:avLst/>
          </a:prstGeom>
          <a:noFill/>
        </p:spPr>
        <p:txBody>
          <a:bodyPr wrap="square" lIns="0" rIns="0" tIns="0" bIns="0" anchor="ctr">
            <a:spAutoFit/>
          </a:bodyPr>
          <a:lstStyle/>
          <a:p>
            <a:pPr algn="l"/>
            <a:r>
              <a:rPr sz="1200" b="0" i="0">
                <a:solidFill>
                  <a:srgbClr val="FFFFFF"/>
                </a:solidFill>
                <a:latin typeface="Calibri"/>
              </a:rPr>
              <a:t>Analogy</a:t>
            </a:r>
          </a:p>
        </p:txBody>
      </p:sp>
      <p:sp>
        <p:nvSpPr>
          <p:cNvPr id="17" name="Rectangle 16"/>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329184"/>
            <a:ext cx="7315200" cy="274320"/>
          </a:xfrm>
          <a:prstGeom prst="rect">
            <a:avLst/>
          </a:prstGeom>
          <a:noFill/>
        </p:spPr>
        <p:txBody>
          <a:bodyPr wrap="square" lIns="0" rIns="0" tIns="0" bIns="0" anchor="t">
            <a:spAutoFit/>
          </a:bodyPr>
          <a:lstStyle/>
          <a:p>
            <a:pPr algn="l"/>
            <a:r>
              <a:rPr sz="1100" b="1" i="0" spc="600">
                <a:solidFill>
                  <a:srgbClr val="C5E063"/>
                </a:solidFill>
                <a:latin typeface="Calibri"/>
              </a:rPr>
              <a:t>AI  LEARNING  HUB</a:t>
            </a:r>
          </a:p>
        </p:txBody>
      </p:sp>
      <p:sp>
        <p:nvSpPr>
          <p:cNvPr id="19" name="TextBox 18"/>
          <p:cNvSpPr txBox="1"/>
          <p:nvPr/>
        </p:nvSpPr>
        <p:spPr>
          <a:xfrm>
            <a:off x="548640" y="676656"/>
            <a:ext cx="7315200" cy="274320"/>
          </a:xfrm>
          <a:prstGeom prst="rect">
            <a:avLst/>
          </a:prstGeom>
          <a:noFill/>
        </p:spPr>
        <p:txBody>
          <a:bodyPr wrap="square" lIns="0" rIns="0" tIns="0" bIns="0" anchor="t">
            <a:spAutoFit/>
          </a:bodyPr>
          <a:lstStyle/>
          <a:p>
            <a:pPr algn="l"/>
            <a:r>
              <a:rPr sz="1000" b="1" i="0" spc="400">
                <a:solidFill>
                  <a:srgbClr val="FFFFFF"/>
                </a:solidFill>
                <a:latin typeface="Calibri"/>
              </a:rPr>
              <a:t>WEEK 5   /   LESSON 4   /   50 MINUTES</a:t>
            </a:r>
          </a:p>
        </p:txBody>
      </p:sp>
      <p:sp>
        <p:nvSpPr>
          <p:cNvPr id="20" name="TextBox 19"/>
          <p:cNvSpPr txBox="1"/>
          <p:nvPr/>
        </p:nvSpPr>
        <p:spPr>
          <a:xfrm>
            <a:off x="548640" y="1508760"/>
            <a:ext cx="6400800" cy="2468880"/>
          </a:xfrm>
          <a:prstGeom prst="rect">
            <a:avLst/>
          </a:prstGeom>
          <a:noFill/>
        </p:spPr>
        <p:txBody>
          <a:bodyPr wrap="square" lIns="0" rIns="0" tIns="0" bIns="0" anchor="t">
            <a:spAutoFit/>
          </a:bodyPr>
          <a:lstStyle/>
          <a:p>
            <a:pPr algn="l">
              <a:lnSpc>
                <a:spcPct val="105000"/>
              </a:lnSpc>
            </a:pPr>
            <a:r>
              <a:rPr sz="4000" b="1" i="0">
                <a:solidFill>
                  <a:srgbClr val="FFFFFF"/>
                </a:solidFill>
                <a:latin typeface="Georgia"/>
              </a:rPr>
              <a:t>Embeddings · Similarity Search · Scale</a:t>
            </a:r>
          </a:p>
        </p:txBody>
      </p:sp>
      <p:sp>
        <p:nvSpPr>
          <p:cNvPr id="21" name="TextBox 20"/>
          <p:cNvSpPr txBox="1"/>
          <p:nvPr/>
        </p:nvSpPr>
        <p:spPr>
          <a:xfrm>
            <a:off x="548640" y="4160520"/>
            <a:ext cx="6400800" cy="1554480"/>
          </a:xfrm>
          <a:prstGeom prst="rect">
            <a:avLst/>
          </a:prstGeom>
          <a:noFill/>
        </p:spPr>
        <p:txBody>
          <a:bodyPr wrap="square" lIns="0" rIns="0" tIns="0" bIns="0" anchor="t">
            <a:spAutoFit/>
          </a:bodyPr>
          <a:lstStyle/>
          <a:p>
            <a:pPr algn="l">
              <a:lnSpc>
                <a:spcPct val="140000"/>
              </a:lnSpc>
            </a:pPr>
            <a:r>
              <a:rPr sz="1200" b="0" i="0">
                <a:solidFill>
                  <a:srgbClr val="E5E7EB"/>
                </a:solidFill>
                <a:latin typeface="Calibri"/>
              </a:rPr>
              <a:t>Keyword search sees them as strangers. Embeddings see them as cousins. One API call gives you the semantic fingerprint that powers RAG, recommendation, clustering, and classification.
Which two terms in YOUR domain mean the same thing but don't share letters?</a:t>
            </a:r>
          </a:p>
        </p:txBody>
      </p:sp>
      <p:sp>
        <p:nvSpPr>
          <p:cNvPr id="22" name="TextBox 21"/>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4 OF 7</a:t>
            </a:r>
          </a:p>
        </p:txBody>
      </p:sp>
      <p:sp>
        <p:nvSpPr>
          <p:cNvPr id="23" name="TextBox 22"/>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COVER</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BF5"/>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2C5244"/>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0F1F1A"/>
                </a:solidFill>
                <a:latin typeface="Calibri"/>
              </a:rPr>
              <a:t>WEEK 1   /   LESSON 5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0F766E"/>
                </a:solidFill>
                <a:latin typeface="Calibri"/>
              </a:rPr>
              <a:t>WHY  THIS  LESSON  MATTERS</a:t>
            </a:r>
          </a:p>
        </p:txBody>
      </p:sp>
      <p:sp>
        <p:nvSpPr>
          <p:cNvPr id="6" name="TextBox 5"/>
          <p:cNvSpPr txBox="1"/>
          <p:nvPr/>
        </p:nvSpPr>
        <p:spPr>
          <a:xfrm>
            <a:off x="548640" y="1463040"/>
            <a:ext cx="10972800" cy="1097280"/>
          </a:xfrm>
          <a:prstGeom prst="rect">
            <a:avLst/>
          </a:prstGeom>
          <a:noFill/>
        </p:spPr>
        <p:txBody>
          <a:bodyPr wrap="square" lIns="0" rIns="0" tIns="0" bIns="0" anchor="t">
            <a:spAutoFit/>
          </a:bodyPr>
          <a:lstStyle/>
          <a:p>
            <a:pPr algn="l"/>
            <a:r>
              <a:rPr sz="3400" b="0" i="0">
                <a:solidFill>
                  <a:srgbClr val="0F1F1A"/>
                </a:solidFill>
                <a:latin typeface="Georgia"/>
              </a:rPr>
              <a:t>"Bengaluru techie" and "Bangalore developer" — same meaning. Same vector.</a:t>
            </a:r>
          </a:p>
        </p:txBody>
      </p:sp>
      <p:sp>
        <p:nvSpPr>
          <p:cNvPr id="7" name="Rectangle 6"/>
          <p:cNvSpPr/>
          <p:nvPr/>
        </p:nvSpPr>
        <p:spPr>
          <a:xfrm>
            <a:off x="548640" y="2697480"/>
            <a:ext cx="457200" cy="45720"/>
          </a:xfrm>
          <a:prstGeom prst="rect">
            <a:avLst/>
          </a:prstGeom>
          <a:solidFill>
            <a:srgbClr val="A6C2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3200400"/>
            <a:ext cx="2594610" cy="19202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429000"/>
            <a:ext cx="2137410" cy="274320"/>
          </a:xfrm>
          <a:prstGeom prst="rect">
            <a:avLst/>
          </a:prstGeom>
          <a:noFill/>
        </p:spPr>
        <p:txBody>
          <a:bodyPr wrap="square" lIns="0" rIns="0" tIns="0" bIns="0" anchor="t">
            <a:spAutoFit/>
          </a:bodyPr>
          <a:lstStyle/>
          <a:p>
            <a:pPr algn="l"/>
            <a:r>
              <a:rPr sz="900" b="1" i="0" spc="400">
                <a:solidFill>
                  <a:srgbClr val="C5E063"/>
                </a:solidFill>
                <a:latin typeface="Calibri"/>
              </a:rPr>
              <a:t>WHY</a:t>
            </a:r>
          </a:p>
        </p:txBody>
      </p:sp>
      <p:sp>
        <p:nvSpPr>
          <p:cNvPr id="10" name="TextBox 9"/>
          <p:cNvSpPr txBox="1"/>
          <p:nvPr/>
        </p:nvSpPr>
        <p:spPr>
          <a:xfrm>
            <a:off x="777240" y="3749040"/>
            <a:ext cx="2137410" cy="822960"/>
          </a:xfrm>
          <a:prstGeom prst="rect">
            <a:avLst/>
          </a:prstGeom>
          <a:noFill/>
        </p:spPr>
        <p:txBody>
          <a:bodyPr wrap="square" lIns="0" rIns="0" tIns="0" bIns="0" anchor="t">
            <a:spAutoFit/>
          </a:bodyPr>
          <a:lstStyle/>
          <a:p>
            <a:pPr algn="l"/>
            <a:r>
              <a:rPr sz="3000" b="1" i="0">
                <a:solidFill>
                  <a:srgbClr val="FFFFFF"/>
                </a:solidFill>
                <a:latin typeface="Georgia"/>
              </a:rPr>
              <a:t>Real</a:t>
            </a:r>
          </a:p>
        </p:txBody>
      </p:sp>
      <p:sp>
        <p:nvSpPr>
          <p:cNvPr id="11" name="TextBox 10"/>
          <p:cNvSpPr txBox="1"/>
          <p:nvPr/>
        </p:nvSpPr>
        <p:spPr>
          <a:xfrm>
            <a:off x="777240" y="4526280"/>
            <a:ext cx="2137410" cy="548640"/>
          </a:xfrm>
          <a:prstGeom prst="rect">
            <a:avLst/>
          </a:prstGeom>
          <a:noFill/>
        </p:spPr>
        <p:txBody>
          <a:bodyPr wrap="square" lIns="0" rIns="0" tIns="0" bIns="0" anchor="t">
            <a:spAutoFit/>
          </a:bodyPr>
          <a:lstStyle/>
          <a:p>
            <a:pPr algn="l">
              <a:lnSpc>
                <a:spcPct val="125000"/>
              </a:lnSpc>
            </a:pPr>
            <a:r>
              <a:rPr sz="1100" b="0" i="0">
                <a:solidFill>
                  <a:srgbClr val="E5E7EB"/>
                </a:solidFill>
                <a:latin typeface="Calibri"/>
              </a:rPr>
              <a:t>A real reason this matters in industry today.</a:t>
            </a:r>
          </a:p>
        </p:txBody>
      </p:sp>
      <p:sp>
        <p:nvSpPr>
          <p:cNvPr id="12" name="Rectangle 11"/>
          <p:cNvSpPr/>
          <p:nvPr/>
        </p:nvSpPr>
        <p:spPr>
          <a:xfrm>
            <a:off x="3371850" y="3200400"/>
            <a:ext cx="2594610" cy="19202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00450" y="3429000"/>
            <a:ext cx="2137410" cy="274320"/>
          </a:xfrm>
          <a:prstGeom prst="rect">
            <a:avLst/>
          </a:prstGeom>
          <a:noFill/>
        </p:spPr>
        <p:txBody>
          <a:bodyPr wrap="square" lIns="0" rIns="0" tIns="0" bIns="0" anchor="t">
            <a:spAutoFit/>
          </a:bodyPr>
          <a:lstStyle/>
          <a:p>
            <a:pPr algn="l"/>
            <a:r>
              <a:rPr sz="900" b="1" i="0" spc="400">
                <a:solidFill>
                  <a:srgbClr val="C5E063"/>
                </a:solidFill>
                <a:latin typeface="Calibri"/>
              </a:rPr>
              <a:t>SCALE</a:t>
            </a:r>
          </a:p>
        </p:txBody>
      </p:sp>
      <p:sp>
        <p:nvSpPr>
          <p:cNvPr id="14" name="TextBox 13"/>
          <p:cNvSpPr txBox="1"/>
          <p:nvPr/>
        </p:nvSpPr>
        <p:spPr>
          <a:xfrm>
            <a:off x="3600450" y="3749040"/>
            <a:ext cx="2137410" cy="822960"/>
          </a:xfrm>
          <a:prstGeom prst="rect">
            <a:avLst/>
          </a:prstGeom>
          <a:noFill/>
        </p:spPr>
        <p:txBody>
          <a:bodyPr wrap="square" lIns="0" rIns="0" tIns="0" bIns="0" anchor="t">
            <a:spAutoFit/>
          </a:bodyPr>
          <a:lstStyle/>
          <a:p>
            <a:pPr algn="l"/>
            <a:r>
              <a:rPr sz="3000" b="1" i="0">
                <a:solidFill>
                  <a:srgbClr val="FFFFFF"/>
                </a:solidFill>
                <a:latin typeface="Georgia"/>
              </a:rPr>
              <a:t>Today</a:t>
            </a:r>
          </a:p>
        </p:txBody>
      </p:sp>
      <p:sp>
        <p:nvSpPr>
          <p:cNvPr id="15" name="TextBox 14"/>
          <p:cNvSpPr txBox="1"/>
          <p:nvPr/>
        </p:nvSpPr>
        <p:spPr>
          <a:xfrm>
            <a:off x="3600450" y="4526280"/>
            <a:ext cx="2137410" cy="548640"/>
          </a:xfrm>
          <a:prstGeom prst="rect">
            <a:avLst/>
          </a:prstGeom>
          <a:noFill/>
        </p:spPr>
        <p:txBody>
          <a:bodyPr wrap="square" lIns="0" rIns="0" tIns="0" bIns="0" anchor="t">
            <a:spAutoFit/>
          </a:bodyPr>
          <a:lstStyle/>
          <a:p>
            <a:pPr algn="l">
              <a:lnSpc>
                <a:spcPct val="125000"/>
              </a:lnSpc>
            </a:pPr>
            <a:r>
              <a:rPr sz="1100" b="0" i="0">
                <a:solidFill>
                  <a:srgbClr val="E5E7EB"/>
                </a:solidFill>
                <a:latin typeface="Calibri"/>
              </a:rPr>
              <a:t>A real reason this matters in industry today.</a:t>
            </a:r>
          </a:p>
        </p:txBody>
      </p:sp>
      <p:sp>
        <p:nvSpPr>
          <p:cNvPr id="16" name="Rectangle 15"/>
          <p:cNvSpPr/>
          <p:nvPr/>
        </p:nvSpPr>
        <p:spPr>
          <a:xfrm>
            <a:off x="6195060" y="3200400"/>
            <a:ext cx="2594610" cy="19202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23660" y="3429000"/>
            <a:ext cx="2137410" cy="274320"/>
          </a:xfrm>
          <a:prstGeom prst="rect">
            <a:avLst/>
          </a:prstGeom>
          <a:noFill/>
        </p:spPr>
        <p:txBody>
          <a:bodyPr wrap="square" lIns="0" rIns="0" tIns="0" bIns="0" anchor="t">
            <a:spAutoFit/>
          </a:bodyPr>
          <a:lstStyle/>
          <a:p>
            <a:pPr algn="l"/>
            <a:r>
              <a:rPr sz="900" b="1" i="0" spc="400">
                <a:solidFill>
                  <a:srgbClr val="C5E063"/>
                </a:solidFill>
                <a:latin typeface="Calibri"/>
              </a:rPr>
              <a:t>SPEED</a:t>
            </a:r>
          </a:p>
        </p:txBody>
      </p:sp>
      <p:sp>
        <p:nvSpPr>
          <p:cNvPr id="18" name="TextBox 17"/>
          <p:cNvSpPr txBox="1"/>
          <p:nvPr/>
        </p:nvSpPr>
        <p:spPr>
          <a:xfrm>
            <a:off x="6423660" y="3749040"/>
            <a:ext cx="2137410" cy="822960"/>
          </a:xfrm>
          <a:prstGeom prst="rect">
            <a:avLst/>
          </a:prstGeom>
          <a:noFill/>
        </p:spPr>
        <p:txBody>
          <a:bodyPr wrap="square" lIns="0" rIns="0" tIns="0" bIns="0" anchor="t">
            <a:spAutoFit/>
          </a:bodyPr>
          <a:lstStyle/>
          <a:p>
            <a:pPr algn="l"/>
            <a:r>
              <a:rPr sz="3000" b="1" i="0">
                <a:solidFill>
                  <a:srgbClr val="FFFFFF"/>
                </a:solidFill>
                <a:latin typeface="Georgia"/>
              </a:rPr>
              <a:t>Now</a:t>
            </a:r>
          </a:p>
        </p:txBody>
      </p:sp>
      <p:sp>
        <p:nvSpPr>
          <p:cNvPr id="19" name="TextBox 18"/>
          <p:cNvSpPr txBox="1"/>
          <p:nvPr/>
        </p:nvSpPr>
        <p:spPr>
          <a:xfrm>
            <a:off x="6423660" y="4526280"/>
            <a:ext cx="2137410" cy="548640"/>
          </a:xfrm>
          <a:prstGeom prst="rect">
            <a:avLst/>
          </a:prstGeom>
          <a:noFill/>
        </p:spPr>
        <p:txBody>
          <a:bodyPr wrap="square" lIns="0" rIns="0" tIns="0" bIns="0" anchor="t">
            <a:spAutoFit/>
          </a:bodyPr>
          <a:lstStyle/>
          <a:p>
            <a:pPr algn="l">
              <a:lnSpc>
                <a:spcPct val="125000"/>
              </a:lnSpc>
            </a:pPr>
            <a:r>
              <a:rPr sz="1100" b="0" i="0">
                <a:solidFill>
                  <a:srgbClr val="E5E7EB"/>
                </a:solidFill>
                <a:latin typeface="Calibri"/>
              </a:rPr>
              <a:t>A real reason this matters in industry today.</a:t>
            </a:r>
          </a:p>
        </p:txBody>
      </p:sp>
      <p:sp>
        <p:nvSpPr>
          <p:cNvPr id="20" name="Rectangle 19"/>
          <p:cNvSpPr/>
          <p:nvPr/>
        </p:nvSpPr>
        <p:spPr>
          <a:xfrm>
            <a:off x="9018270" y="3200400"/>
            <a:ext cx="2594610" cy="19202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46870" y="3429000"/>
            <a:ext cx="2137410" cy="274320"/>
          </a:xfrm>
          <a:prstGeom prst="rect">
            <a:avLst/>
          </a:prstGeom>
          <a:noFill/>
        </p:spPr>
        <p:txBody>
          <a:bodyPr wrap="square" lIns="0" rIns="0" tIns="0" bIns="0" anchor="t">
            <a:spAutoFit/>
          </a:bodyPr>
          <a:lstStyle/>
          <a:p>
            <a:pPr algn="l"/>
            <a:r>
              <a:rPr sz="900" b="1" i="0" spc="400">
                <a:solidFill>
                  <a:srgbClr val="C5E063"/>
                </a:solidFill>
                <a:latin typeface="Calibri"/>
              </a:rPr>
              <a:t>IMPACT</a:t>
            </a:r>
          </a:p>
        </p:txBody>
      </p:sp>
      <p:sp>
        <p:nvSpPr>
          <p:cNvPr id="22" name="TextBox 21"/>
          <p:cNvSpPr txBox="1"/>
          <p:nvPr/>
        </p:nvSpPr>
        <p:spPr>
          <a:xfrm>
            <a:off x="9246870" y="3749040"/>
            <a:ext cx="2137410" cy="822960"/>
          </a:xfrm>
          <a:prstGeom prst="rect">
            <a:avLst/>
          </a:prstGeom>
          <a:noFill/>
        </p:spPr>
        <p:txBody>
          <a:bodyPr wrap="square" lIns="0" rIns="0" tIns="0" bIns="0" anchor="t">
            <a:spAutoFit/>
          </a:bodyPr>
          <a:lstStyle/>
          <a:p>
            <a:pPr algn="l"/>
            <a:r>
              <a:rPr sz="3000" b="1" i="0">
                <a:solidFill>
                  <a:srgbClr val="FFFFFF"/>
                </a:solidFill>
                <a:latin typeface="Georgia"/>
              </a:rPr>
              <a:t>Yours</a:t>
            </a:r>
          </a:p>
        </p:txBody>
      </p:sp>
      <p:sp>
        <p:nvSpPr>
          <p:cNvPr id="23" name="TextBox 22"/>
          <p:cNvSpPr txBox="1"/>
          <p:nvPr/>
        </p:nvSpPr>
        <p:spPr>
          <a:xfrm>
            <a:off x="9246870" y="4526280"/>
            <a:ext cx="2137410" cy="548640"/>
          </a:xfrm>
          <a:prstGeom prst="rect">
            <a:avLst/>
          </a:prstGeom>
          <a:noFill/>
        </p:spPr>
        <p:txBody>
          <a:bodyPr wrap="square" lIns="0" rIns="0" tIns="0" bIns="0" anchor="t">
            <a:spAutoFit/>
          </a:bodyPr>
          <a:lstStyle/>
          <a:p>
            <a:pPr algn="l">
              <a:lnSpc>
                <a:spcPct val="125000"/>
              </a:lnSpc>
            </a:pPr>
            <a:r>
              <a:rPr sz="1100" b="0" i="0">
                <a:solidFill>
                  <a:srgbClr val="E5E7EB"/>
                </a:solidFill>
                <a:latin typeface="Calibri"/>
              </a:rPr>
              <a:t>A real reason this matters in industry today.</a:t>
            </a:r>
          </a:p>
        </p:txBody>
      </p:sp>
      <p:sp>
        <p:nvSpPr>
          <p:cNvPr id="24" name="TextBox 23"/>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475569"/>
                </a:solidFill>
                <a:latin typeface="Calibri"/>
              </a:rPr>
              <a:t>AI  LEARNING  HUB   ·   LESSON 5 OF 7</a:t>
            </a:r>
          </a:p>
        </p:txBody>
      </p:sp>
      <p:sp>
        <p:nvSpPr>
          <p:cNvPr id="25" name="TextBox 24"/>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475569"/>
                </a:solidFill>
                <a:latin typeface="Calibri"/>
              </a:rPr>
              <a:t>HOOK</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BF5"/>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2C5244"/>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0F1F1A"/>
                </a:solidFill>
                <a:latin typeface="Calibri"/>
              </a:rPr>
              <a:t>WEEK 1   /   LESSON 5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0F766E"/>
                </a:solidFill>
                <a:latin typeface="Calibri"/>
              </a:rPr>
              <a:t>LEARNING OUTCOMES</a:t>
            </a:r>
          </a:p>
        </p:txBody>
      </p:sp>
      <p:sp>
        <p:nvSpPr>
          <p:cNvPr id="6" name="TextBox 5"/>
          <p:cNvSpPr txBox="1"/>
          <p:nvPr/>
        </p:nvSpPr>
        <p:spPr>
          <a:xfrm>
            <a:off x="548640" y="1463040"/>
            <a:ext cx="10058400" cy="1097280"/>
          </a:xfrm>
          <a:prstGeom prst="rect">
            <a:avLst/>
          </a:prstGeom>
          <a:noFill/>
        </p:spPr>
        <p:txBody>
          <a:bodyPr wrap="square" lIns="0" rIns="0" tIns="0" bIns="0" anchor="t">
            <a:spAutoFit/>
          </a:bodyPr>
          <a:lstStyle/>
          <a:p>
            <a:pPr algn="l"/>
            <a:r>
              <a:rPr sz="2800" b="0" i="0">
                <a:solidFill>
                  <a:srgbClr val="0F1F1A"/>
                </a:solidFill>
                <a:latin typeface="Georgia"/>
              </a:rPr>
              <a:t>By the end of this lesson, you will be able to —</a:t>
            </a:r>
          </a:p>
        </p:txBody>
      </p:sp>
      <p:sp>
        <p:nvSpPr>
          <p:cNvPr id="7" name="Oval 6"/>
          <p:cNvSpPr/>
          <p:nvPr/>
        </p:nvSpPr>
        <p:spPr>
          <a:xfrm>
            <a:off x="548640" y="2788920"/>
            <a:ext cx="411480" cy="41148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788920"/>
            <a:ext cx="411480" cy="411480"/>
          </a:xfrm>
          <a:prstGeom prst="rect">
            <a:avLst/>
          </a:prstGeom>
          <a:noFill/>
        </p:spPr>
        <p:txBody>
          <a:bodyPr wrap="square" lIns="0" rIns="0" tIns="0" bIns="0" anchor="ctr">
            <a:spAutoFit/>
          </a:bodyPr>
          <a:lstStyle/>
          <a:p>
            <a:pPr algn="ctr"/>
            <a:r>
              <a:rPr sz="1400" b="1" i="0">
                <a:solidFill>
                  <a:srgbClr val="2C5244"/>
                </a:solidFill>
                <a:latin typeface="Georgia"/>
              </a:rPr>
              <a:t>1</a:t>
            </a:r>
          </a:p>
        </p:txBody>
      </p:sp>
      <p:sp>
        <p:nvSpPr>
          <p:cNvPr id="9" name="TextBox 8"/>
          <p:cNvSpPr txBox="1"/>
          <p:nvPr/>
        </p:nvSpPr>
        <p:spPr>
          <a:xfrm>
            <a:off x="1097280" y="2743200"/>
            <a:ext cx="4800600" cy="868680"/>
          </a:xfrm>
          <a:prstGeom prst="rect">
            <a:avLst/>
          </a:prstGeom>
          <a:noFill/>
        </p:spPr>
        <p:txBody>
          <a:bodyPr wrap="square" lIns="0" rIns="0" tIns="0" bIns="0" anchor="ctr">
            <a:spAutoFit/>
          </a:bodyPr>
          <a:lstStyle/>
          <a:p>
            <a:pPr algn="l">
              <a:lnSpc>
                <a:spcPct val="130000"/>
              </a:lnSpc>
            </a:pPr>
            <a:r>
              <a:rPr sz="1300" b="0" i="0">
                <a:solidFill>
                  <a:srgbClr val="0F1F1A"/>
                </a:solidFill>
                <a:latin typeface="Calibri"/>
              </a:rPr>
              <a:t>Embeddings as semantic fingerprints.</a:t>
            </a:r>
          </a:p>
        </p:txBody>
      </p:sp>
      <p:sp>
        <p:nvSpPr>
          <p:cNvPr id="10" name="Oval 9"/>
          <p:cNvSpPr/>
          <p:nvPr/>
        </p:nvSpPr>
        <p:spPr>
          <a:xfrm>
            <a:off x="6080760" y="2788920"/>
            <a:ext cx="411480" cy="41148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80760" y="2788920"/>
            <a:ext cx="411480" cy="411480"/>
          </a:xfrm>
          <a:prstGeom prst="rect">
            <a:avLst/>
          </a:prstGeom>
          <a:noFill/>
        </p:spPr>
        <p:txBody>
          <a:bodyPr wrap="square" lIns="0" rIns="0" tIns="0" bIns="0" anchor="ctr">
            <a:spAutoFit/>
          </a:bodyPr>
          <a:lstStyle/>
          <a:p>
            <a:pPr algn="ctr"/>
            <a:r>
              <a:rPr sz="1400" b="1" i="0">
                <a:solidFill>
                  <a:srgbClr val="2C5244"/>
                </a:solidFill>
                <a:latin typeface="Georgia"/>
              </a:rPr>
              <a:t>2</a:t>
            </a:r>
          </a:p>
        </p:txBody>
      </p:sp>
      <p:sp>
        <p:nvSpPr>
          <p:cNvPr id="12" name="TextBox 11"/>
          <p:cNvSpPr txBox="1"/>
          <p:nvPr/>
        </p:nvSpPr>
        <p:spPr>
          <a:xfrm>
            <a:off x="6629400" y="2743200"/>
            <a:ext cx="4800600" cy="868680"/>
          </a:xfrm>
          <a:prstGeom prst="rect">
            <a:avLst/>
          </a:prstGeom>
          <a:noFill/>
        </p:spPr>
        <p:txBody>
          <a:bodyPr wrap="square" lIns="0" rIns="0" tIns="0" bIns="0" anchor="ctr">
            <a:spAutoFit/>
          </a:bodyPr>
          <a:lstStyle/>
          <a:p>
            <a:pPr algn="l">
              <a:lnSpc>
                <a:spcPct val="130000"/>
              </a:lnSpc>
            </a:pPr>
            <a:r>
              <a:rPr sz="1300" b="0" i="0">
                <a:solidFill>
                  <a:srgbClr val="0F1F1A"/>
                </a:solidFill>
                <a:latin typeface="Calibri"/>
              </a:rPr>
              <a:t>ANN algorithms (HNSW, IVF) conceptually.</a:t>
            </a:r>
          </a:p>
        </p:txBody>
      </p:sp>
      <p:sp>
        <p:nvSpPr>
          <p:cNvPr id="13" name="Oval 12"/>
          <p:cNvSpPr/>
          <p:nvPr/>
        </p:nvSpPr>
        <p:spPr>
          <a:xfrm>
            <a:off x="548640" y="3657600"/>
            <a:ext cx="411480" cy="41148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657600"/>
            <a:ext cx="411480" cy="411480"/>
          </a:xfrm>
          <a:prstGeom prst="rect">
            <a:avLst/>
          </a:prstGeom>
          <a:noFill/>
        </p:spPr>
        <p:txBody>
          <a:bodyPr wrap="square" lIns="0" rIns="0" tIns="0" bIns="0" anchor="ctr">
            <a:spAutoFit/>
          </a:bodyPr>
          <a:lstStyle/>
          <a:p>
            <a:pPr algn="ctr"/>
            <a:r>
              <a:rPr sz="1400" b="1" i="0">
                <a:solidFill>
                  <a:srgbClr val="2C5244"/>
                </a:solidFill>
                <a:latin typeface="Georgia"/>
              </a:rPr>
              <a:t>3</a:t>
            </a:r>
          </a:p>
        </p:txBody>
      </p:sp>
      <p:sp>
        <p:nvSpPr>
          <p:cNvPr id="15" name="TextBox 14"/>
          <p:cNvSpPr txBox="1"/>
          <p:nvPr/>
        </p:nvSpPr>
        <p:spPr>
          <a:xfrm>
            <a:off x="1097280" y="3611880"/>
            <a:ext cx="4800600" cy="868680"/>
          </a:xfrm>
          <a:prstGeom prst="rect">
            <a:avLst/>
          </a:prstGeom>
          <a:noFill/>
        </p:spPr>
        <p:txBody>
          <a:bodyPr wrap="square" lIns="0" rIns="0" tIns="0" bIns="0" anchor="ctr">
            <a:spAutoFit/>
          </a:bodyPr>
          <a:lstStyle/>
          <a:p>
            <a:pPr algn="l">
              <a:lnSpc>
                <a:spcPct val="130000"/>
              </a:lnSpc>
            </a:pPr>
            <a:r>
              <a:rPr sz="1300" b="0" i="0">
                <a:solidFill>
                  <a:srgbClr val="0F1F1A"/>
                </a:solidFill>
                <a:latin typeface="Calibri"/>
              </a:rPr>
              <a:t>Compare ChromaDB, Pinecone, Weaviate, pgvector, Qdrant.</a:t>
            </a:r>
          </a:p>
        </p:txBody>
      </p:sp>
      <p:sp>
        <p:nvSpPr>
          <p:cNvPr id="16" name="Oval 15"/>
          <p:cNvSpPr/>
          <p:nvPr/>
        </p:nvSpPr>
        <p:spPr>
          <a:xfrm>
            <a:off x="6080760" y="3657600"/>
            <a:ext cx="411480" cy="41148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80760" y="3657600"/>
            <a:ext cx="411480" cy="411480"/>
          </a:xfrm>
          <a:prstGeom prst="rect">
            <a:avLst/>
          </a:prstGeom>
          <a:noFill/>
        </p:spPr>
        <p:txBody>
          <a:bodyPr wrap="square" lIns="0" rIns="0" tIns="0" bIns="0" anchor="ctr">
            <a:spAutoFit/>
          </a:bodyPr>
          <a:lstStyle/>
          <a:p>
            <a:pPr algn="ctr"/>
            <a:r>
              <a:rPr sz="1400" b="1" i="0">
                <a:solidFill>
                  <a:srgbClr val="2C5244"/>
                </a:solidFill>
                <a:latin typeface="Georgia"/>
              </a:rPr>
              <a:t>4</a:t>
            </a:r>
          </a:p>
        </p:txBody>
      </p:sp>
      <p:sp>
        <p:nvSpPr>
          <p:cNvPr id="18" name="TextBox 17"/>
          <p:cNvSpPr txBox="1"/>
          <p:nvPr/>
        </p:nvSpPr>
        <p:spPr>
          <a:xfrm>
            <a:off x="6629400" y="3611880"/>
            <a:ext cx="4800600" cy="868680"/>
          </a:xfrm>
          <a:prstGeom prst="rect">
            <a:avLst/>
          </a:prstGeom>
          <a:noFill/>
        </p:spPr>
        <p:txBody>
          <a:bodyPr wrap="square" lIns="0" rIns="0" tIns="0" bIns="0" anchor="ctr">
            <a:spAutoFit/>
          </a:bodyPr>
          <a:lstStyle/>
          <a:p>
            <a:pPr algn="l">
              <a:lnSpc>
                <a:spcPct val="130000"/>
              </a:lnSpc>
            </a:pPr>
            <a:r>
              <a:rPr sz="1300" b="0" i="0">
                <a:solidFill>
                  <a:srgbClr val="0F1F1A"/>
                </a:solidFill>
                <a:latin typeface="Calibri"/>
              </a:rPr>
              <a:t>Metadata filters + hybrid search.</a:t>
            </a:r>
          </a:p>
        </p:txBody>
      </p:sp>
      <p:sp>
        <p:nvSpPr>
          <p:cNvPr id="19" name="Oval 18"/>
          <p:cNvSpPr/>
          <p:nvPr/>
        </p:nvSpPr>
        <p:spPr>
          <a:xfrm>
            <a:off x="548640" y="4526280"/>
            <a:ext cx="411480" cy="41148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4526280"/>
            <a:ext cx="411480" cy="411480"/>
          </a:xfrm>
          <a:prstGeom prst="rect">
            <a:avLst/>
          </a:prstGeom>
          <a:noFill/>
        </p:spPr>
        <p:txBody>
          <a:bodyPr wrap="square" lIns="0" rIns="0" tIns="0" bIns="0" anchor="ctr">
            <a:spAutoFit/>
          </a:bodyPr>
          <a:lstStyle/>
          <a:p>
            <a:pPr algn="ctr"/>
            <a:r>
              <a:rPr sz="1400" b="1" i="0">
                <a:solidFill>
                  <a:srgbClr val="2C5244"/>
                </a:solidFill>
                <a:latin typeface="Georgia"/>
              </a:rPr>
              <a:t>5</a:t>
            </a:r>
          </a:p>
        </p:txBody>
      </p:sp>
      <p:sp>
        <p:nvSpPr>
          <p:cNvPr id="21" name="TextBox 20"/>
          <p:cNvSpPr txBox="1"/>
          <p:nvPr/>
        </p:nvSpPr>
        <p:spPr>
          <a:xfrm>
            <a:off x="1097280" y="4480560"/>
            <a:ext cx="4800600" cy="868680"/>
          </a:xfrm>
          <a:prstGeom prst="rect">
            <a:avLst/>
          </a:prstGeom>
          <a:noFill/>
        </p:spPr>
        <p:txBody>
          <a:bodyPr wrap="square" lIns="0" rIns="0" tIns="0" bIns="0" anchor="ctr">
            <a:spAutoFit/>
          </a:bodyPr>
          <a:lstStyle/>
          <a:p>
            <a:pPr algn="l">
              <a:lnSpc>
                <a:spcPct val="130000"/>
              </a:lnSpc>
            </a:pPr>
            <a:r>
              <a:rPr sz="1300" b="0" i="0">
                <a:solidFill>
                  <a:srgbClr val="0F1F1A"/>
                </a:solidFill>
                <a:latin typeface="Calibri"/>
              </a:rPr>
              <a:t>Pick a vector DB by scale + hosting constraint.</a:t>
            </a:r>
          </a:p>
        </p:txBody>
      </p:sp>
      <p:sp>
        <p:nvSpPr>
          <p:cNvPr id="22" name="TextBox 21"/>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475569"/>
                </a:solidFill>
                <a:latin typeface="Calibri"/>
              </a:rPr>
              <a:t>AI  LEARNING  HUB   ·   LESSON 5 OF 7</a:t>
            </a:r>
          </a:p>
        </p:txBody>
      </p:sp>
      <p:sp>
        <p:nvSpPr>
          <p:cNvPr id="23" name="TextBox 22"/>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475569"/>
                </a:solidFill>
                <a:latin typeface="Calibri"/>
              </a:rPr>
              <a:t>OUTCOMES</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AGENDA</a:t>
            </a:r>
          </a:p>
        </p:txBody>
      </p:sp>
      <p:sp>
        <p:nvSpPr>
          <p:cNvPr id="6" name="TextBox 5"/>
          <p:cNvSpPr txBox="1"/>
          <p:nvPr/>
        </p:nvSpPr>
        <p:spPr>
          <a:xfrm>
            <a:off x="548640" y="1463040"/>
            <a:ext cx="10058400" cy="1097280"/>
          </a:xfrm>
          <a:prstGeom prst="rect">
            <a:avLst/>
          </a:prstGeom>
          <a:noFill/>
        </p:spPr>
        <p:txBody>
          <a:bodyPr wrap="square" lIns="0" rIns="0" tIns="0" bIns="0" anchor="t">
            <a:spAutoFit/>
          </a:bodyPr>
          <a:lstStyle/>
          <a:p>
            <a:pPr algn="l"/>
            <a:r>
              <a:rPr sz="3000" b="0" i="0">
                <a:solidFill>
                  <a:srgbClr val="FFFFFF"/>
                </a:solidFill>
                <a:latin typeface="Georgia"/>
              </a:rPr>
              <a:t>What we'll cover today</a:t>
            </a:r>
          </a:p>
        </p:txBody>
      </p:sp>
      <p:sp>
        <p:nvSpPr>
          <p:cNvPr id="7" name="TextBox 6"/>
          <p:cNvSpPr txBox="1"/>
          <p:nvPr/>
        </p:nvSpPr>
        <p:spPr>
          <a:xfrm>
            <a:off x="548640" y="2286000"/>
            <a:ext cx="10058400" cy="914400"/>
          </a:xfrm>
          <a:prstGeom prst="rect">
            <a:avLst/>
          </a:prstGeom>
          <a:noFill/>
        </p:spPr>
        <p:txBody>
          <a:bodyPr wrap="square" lIns="0" rIns="0" tIns="0" bIns="0" anchor="t">
            <a:spAutoFit/>
          </a:bodyPr>
          <a:lstStyle/>
          <a:p>
            <a:pPr algn="l">
              <a:lnSpc>
                <a:spcPct val="125000"/>
              </a:lnSpc>
            </a:pPr>
            <a:r>
              <a:rPr sz="1400" b="0" i="0">
                <a:solidFill>
                  <a:srgbClr val="E5E7EB"/>
                </a:solidFill>
                <a:latin typeface="Calibri"/>
              </a:rPr>
              <a:t>Short, sequenced parts. Each one builds on the last.</a:t>
            </a:r>
          </a:p>
        </p:txBody>
      </p:sp>
      <p:sp>
        <p:nvSpPr>
          <p:cNvPr id="8" name="Rectangle 7"/>
          <p:cNvSpPr/>
          <p:nvPr/>
        </p:nvSpPr>
        <p:spPr>
          <a:xfrm>
            <a:off x="548640" y="3108960"/>
            <a:ext cx="2628900" cy="246888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337560"/>
            <a:ext cx="2171700" cy="548640"/>
          </a:xfrm>
          <a:prstGeom prst="rect">
            <a:avLst/>
          </a:prstGeom>
          <a:noFill/>
        </p:spPr>
        <p:txBody>
          <a:bodyPr wrap="square" lIns="0" rIns="0" tIns="0" bIns="0" anchor="t">
            <a:spAutoFit/>
          </a:bodyPr>
          <a:lstStyle/>
          <a:p>
            <a:pPr algn="l"/>
            <a:r>
              <a:rPr sz="3600" b="1" i="0">
                <a:solidFill>
                  <a:srgbClr val="C5E063"/>
                </a:solidFill>
                <a:latin typeface="Georgia"/>
              </a:rPr>
              <a:t>01</a:t>
            </a:r>
          </a:p>
        </p:txBody>
      </p:sp>
      <p:sp>
        <p:nvSpPr>
          <p:cNvPr id="10" name="TextBox 9"/>
          <p:cNvSpPr txBox="1"/>
          <p:nvPr/>
        </p:nvSpPr>
        <p:spPr>
          <a:xfrm>
            <a:off x="777240" y="3977640"/>
            <a:ext cx="2171700" cy="640080"/>
          </a:xfrm>
          <a:prstGeom prst="rect">
            <a:avLst/>
          </a:prstGeom>
          <a:noFill/>
        </p:spPr>
        <p:txBody>
          <a:bodyPr wrap="square" lIns="0" rIns="0" tIns="0" bIns="0" anchor="t">
            <a:spAutoFit/>
          </a:bodyPr>
          <a:lstStyle/>
          <a:p>
            <a:pPr algn="l">
              <a:lnSpc>
                <a:spcPct val="115000"/>
              </a:lnSpc>
            </a:pPr>
            <a:r>
              <a:rPr sz="1600" b="1" i="0">
                <a:solidFill>
                  <a:srgbClr val="FFFFFF"/>
                </a:solidFill>
                <a:latin typeface="Georgia"/>
              </a:rPr>
              <a:t>Embeddings — dense...</a:t>
            </a:r>
          </a:p>
        </p:txBody>
      </p:sp>
      <p:sp>
        <p:nvSpPr>
          <p:cNvPr id="11" name="TextBox 10"/>
          <p:cNvSpPr txBox="1"/>
          <p:nvPr/>
        </p:nvSpPr>
        <p:spPr>
          <a:xfrm>
            <a:off x="777240" y="4663440"/>
            <a:ext cx="2171700" cy="822960"/>
          </a:xfrm>
          <a:prstGeom prst="rect">
            <a:avLst/>
          </a:prstGeom>
          <a:noFill/>
        </p:spPr>
        <p:txBody>
          <a:bodyPr wrap="square" lIns="0" rIns="0" tIns="0" bIns="0" anchor="t">
            <a:spAutoFit/>
          </a:bodyPr>
          <a:lstStyle/>
          <a:p>
            <a:pPr algn="l">
              <a:lnSpc>
                <a:spcPct val="130000"/>
              </a:lnSpc>
            </a:pPr>
            <a:r>
              <a:rPr sz="1100" b="0" i="0">
                <a:solidFill>
                  <a:srgbClr val="E5E7EB"/>
                </a:solidFill>
                <a:latin typeface="Calibri"/>
              </a:rPr>
              <a:t>Map anything to a 384–3072 dim vector</a:t>
            </a:r>
          </a:p>
        </p:txBody>
      </p:sp>
      <p:sp>
        <p:nvSpPr>
          <p:cNvPr id="12" name="Rectangle 11"/>
          <p:cNvSpPr/>
          <p:nvPr/>
        </p:nvSpPr>
        <p:spPr>
          <a:xfrm>
            <a:off x="3360420" y="3108960"/>
            <a:ext cx="2628900" cy="246888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89020" y="3337560"/>
            <a:ext cx="2171700" cy="548640"/>
          </a:xfrm>
          <a:prstGeom prst="rect">
            <a:avLst/>
          </a:prstGeom>
          <a:noFill/>
        </p:spPr>
        <p:txBody>
          <a:bodyPr wrap="square" lIns="0" rIns="0" tIns="0" bIns="0" anchor="t">
            <a:spAutoFit/>
          </a:bodyPr>
          <a:lstStyle/>
          <a:p>
            <a:pPr algn="l"/>
            <a:r>
              <a:rPr sz="3600" b="1" i="0">
                <a:solidFill>
                  <a:srgbClr val="C5E063"/>
                </a:solidFill>
                <a:latin typeface="Georgia"/>
              </a:rPr>
              <a:t>02</a:t>
            </a:r>
          </a:p>
        </p:txBody>
      </p:sp>
      <p:sp>
        <p:nvSpPr>
          <p:cNvPr id="14" name="TextBox 13"/>
          <p:cNvSpPr txBox="1"/>
          <p:nvPr/>
        </p:nvSpPr>
        <p:spPr>
          <a:xfrm>
            <a:off x="3589020" y="3977640"/>
            <a:ext cx="2171700" cy="640080"/>
          </a:xfrm>
          <a:prstGeom prst="rect">
            <a:avLst/>
          </a:prstGeom>
          <a:noFill/>
        </p:spPr>
        <p:txBody>
          <a:bodyPr wrap="square" lIns="0" rIns="0" tIns="0" bIns="0" anchor="t">
            <a:spAutoFit/>
          </a:bodyPr>
          <a:lstStyle/>
          <a:p>
            <a:pPr algn="l">
              <a:lnSpc>
                <a:spcPct val="115000"/>
              </a:lnSpc>
            </a:pPr>
            <a:r>
              <a:rPr sz="1600" b="1" i="0">
                <a:solidFill>
                  <a:srgbClr val="FFFFFF"/>
                </a:solidFill>
                <a:latin typeface="Georgia"/>
              </a:rPr>
              <a:t>ANN algorithms</a:t>
            </a:r>
          </a:p>
        </p:txBody>
      </p:sp>
      <p:sp>
        <p:nvSpPr>
          <p:cNvPr id="15" name="TextBox 14"/>
          <p:cNvSpPr txBox="1"/>
          <p:nvPr/>
        </p:nvSpPr>
        <p:spPr>
          <a:xfrm>
            <a:off x="3589020" y="4663440"/>
            <a:ext cx="2171700" cy="822960"/>
          </a:xfrm>
          <a:prstGeom prst="rect">
            <a:avLst/>
          </a:prstGeom>
          <a:noFill/>
        </p:spPr>
        <p:txBody>
          <a:bodyPr wrap="square" lIns="0" rIns="0" tIns="0" bIns="0" anchor="t">
            <a:spAutoFit/>
          </a:bodyPr>
          <a:lstStyle/>
          <a:p>
            <a:pPr algn="l">
              <a:lnSpc>
                <a:spcPct val="130000"/>
              </a:lnSpc>
            </a:pPr>
            <a:r>
              <a:rPr sz="1100" b="0" i="0">
                <a:solidFill>
                  <a:srgbClr val="E5E7EB"/>
                </a:solidFill>
                <a:latin typeface="Calibri"/>
              </a:rPr>
              <a:t>Key concept of this lesson.</a:t>
            </a:r>
          </a:p>
        </p:txBody>
      </p:sp>
      <p:sp>
        <p:nvSpPr>
          <p:cNvPr id="16" name="Rectangle 15"/>
          <p:cNvSpPr/>
          <p:nvPr/>
        </p:nvSpPr>
        <p:spPr>
          <a:xfrm>
            <a:off x="6172200" y="3108960"/>
            <a:ext cx="2628900" cy="246888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3337560"/>
            <a:ext cx="2171700" cy="548640"/>
          </a:xfrm>
          <a:prstGeom prst="rect">
            <a:avLst/>
          </a:prstGeom>
          <a:noFill/>
        </p:spPr>
        <p:txBody>
          <a:bodyPr wrap="square" lIns="0" rIns="0" tIns="0" bIns="0" anchor="t">
            <a:spAutoFit/>
          </a:bodyPr>
          <a:lstStyle/>
          <a:p>
            <a:pPr algn="l"/>
            <a:r>
              <a:rPr sz="3600" b="1" i="0">
                <a:solidFill>
                  <a:srgbClr val="C5E063"/>
                </a:solidFill>
                <a:latin typeface="Georgia"/>
              </a:rPr>
              <a:t>03</a:t>
            </a:r>
          </a:p>
        </p:txBody>
      </p:sp>
      <p:sp>
        <p:nvSpPr>
          <p:cNvPr id="18" name="TextBox 17"/>
          <p:cNvSpPr txBox="1"/>
          <p:nvPr/>
        </p:nvSpPr>
        <p:spPr>
          <a:xfrm>
            <a:off x="6400800" y="3977640"/>
            <a:ext cx="2171700" cy="640080"/>
          </a:xfrm>
          <a:prstGeom prst="rect">
            <a:avLst/>
          </a:prstGeom>
          <a:noFill/>
        </p:spPr>
        <p:txBody>
          <a:bodyPr wrap="square" lIns="0" rIns="0" tIns="0" bIns="0" anchor="t">
            <a:spAutoFit/>
          </a:bodyPr>
          <a:lstStyle/>
          <a:p>
            <a:pPr algn="l">
              <a:lnSpc>
                <a:spcPct val="115000"/>
              </a:lnSpc>
            </a:pPr>
            <a:r>
              <a:rPr sz="1600" b="1" i="0">
                <a:solidFill>
                  <a:srgbClr val="FFFFFF"/>
                </a:solidFill>
                <a:latin typeface="Georgia"/>
              </a:rPr>
              <a:t>2026 vector-DB landscape</a:t>
            </a:r>
          </a:p>
        </p:txBody>
      </p:sp>
      <p:sp>
        <p:nvSpPr>
          <p:cNvPr id="19" name="TextBox 18"/>
          <p:cNvSpPr txBox="1"/>
          <p:nvPr/>
        </p:nvSpPr>
        <p:spPr>
          <a:xfrm>
            <a:off x="6400800" y="4663440"/>
            <a:ext cx="2171700" cy="822960"/>
          </a:xfrm>
          <a:prstGeom prst="rect">
            <a:avLst/>
          </a:prstGeom>
          <a:noFill/>
        </p:spPr>
        <p:txBody>
          <a:bodyPr wrap="square" lIns="0" rIns="0" tIns="0" bIns="0" anchor="t">
            <a:spAutoFit/>
          </a:bodyPr>
          <a:lstStyle/>
          <a:p>
            <a:pPr algn="l">
              <a:lnSpc>
                <a:spcPct val="130000"/>
              </a:lnSpc>
            </a:pPr>
            <a:r>
              <a:rPr sz="1100" b="0" i="0">
                <a:solidFill>
                  <a:srgbClr val="E5E7EB"/>
                </a:solidFill>
                <a:latin typeface="Calibri"/>
              </a:rPr>
              <a:t>&lt; 1 M + dev → Chroma. 1 M–100 M + zero ops → Pinecone. On Postgres → pgvector.</a:t>
            </a:r>
          </a:p>
        </p:txBody>
      </p:sp>
      <p:sp>
        <p:nvSpPr>
          <p:cNvPr id="20" name="Rectangle 19"/>
          <p:cNvSpPr/>
          <p:nvPr/>
        </p:nvSpPr>
        <p:spPr>
          <a:xfrm>
            <a:off x="8983980" y="3108960"/>
            <a:ext cx="2628900" cy="246888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12580" y="3337560"/>
            <a:ext cx="2171700" cy="548640"/>
          </a:xfrm>
          <a:prstGeom prst="rect">
            <a:avLst/>
          </a:prstGeom>
          <a:noFill/>
        </p:spPr>
        <p:txBody>
          <a:bodyPr wrap="square" lIns="0" rIns="0" tIns="0" bIns="0" anchor="t">
            <a:spAutoFit/>
          </a:bodyPr>
          <a:lstStyle/>
          <a:p>
            <a:pPr algn="l"/>
            <a:r>
              <a:rPr sz="3600" b="1" i="0">
                <a:solidFill>
                  <a:srgbClr val="C5E063"/>
                </a:solidFill>
                <a:latin typeface="Georgia"/>
              </a:rPr>
              <a:t>04</a:t>
            </a:r>
          </a:p>
        </p:txBody>
      </p:sp>
      <p:sp>
        <p:nvSpPr>
          <p:cNvPr id="22" name="TextBox 21"/>
          <p:cNvSpPr txBox="1"/>
          <p:nvPr/>
        </p:nvSpPr>
        <p:spPr>
          <a:xfrm>
            <a:off x="9212580" y="3977640"/>
            <a:ext cx="2171700" cy="640080"/>
          </a:xfrm>
          <a:prstGeom prst="rect">
            <a:avLst/>
          </a:prstGeom>
          <a:noFill/>
        </p:spPr>
        <p:txBody>
          <a:bodyPr wrap="square" lIns="0" rIns="0" tIns="0" bIns="0" anchor="t">
            <a:spAutoFit/>
          </a:bodyPr>
          <a:lstStyle/>
          <a:p>
            <a:pPr algn="l">
              <a:lnSpc>
                <a:spcPct val="115000"/>
              </a:lnSpc>
            </a:pPr>
            <a:r>
              <a:rPr sz="1600" b="1" i="0">
                <a:solidFill>
                  <a:srgbClr val="FFFFFF"/>
                </a:solidFill>
                <a:latin typeface="Georgia"/>
              </a:rPr>
              <a:t>Metadata filters + hybrid...</a:t>
            </a:r>
          </a:p>
        </p:txBody>
      </p:sp>
      <p:sp>
        <p:nvSpPr>
          <p:cNvPr id="23" name="TextBox 22"/>
          <p:cNvSpPr txBox="1"/>
          <p:nvPr/>
        </p:nvSpPr>
        <p:spPr>
          <a:xfrm>
            <a:off x="9212580" y="4663440"/>
            <a:ext cx="2171700" cy="822960"/>
          </a:xfrm>
          <a:prstGeom prst="rect">
            <a:avLst/>
          </a:prstGeom>
          <a:noFill/>
        </p:spPr>
        <p:txBody>
          <a:bodyPr wrap="square" lIns="0" rIns="0" tIns="0" bIns="0" anchor="t">
            <a:spAutoFit/>
          </a:bodyPr>
          <a:lstStyle/>
          <a:p>
            <a:pPr algn="l">
              <a:lnSpc>
                <a:spcPct val="130000"/>
              </a:lnSpc>
            </a:pPr>
            <a:r>
              <a:rPr sz="1100" b="0" i="0">
                <a:solidFill>
                  <a:srgbClr val="E5E7EB"/>
                </a:solidFill>
                <a:latin typeface="Calibri"/>
              </a:rPr>
              <a:t>Real queries combine semantics + hard filters</a:t>
            </a:r>
          </a:p>
        </p:txBody>
      </p:sp>
      <p:sp>
        <p:nvSpPr>
          <p:cNvPr id="24" name="TextBox 23"/>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25" name="TextBox 24"/>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AGENDA</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352B"/>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1 min</a:t>
            </a:r>
          </a:p>
        </p:txBody>
      </p:sp>
      <p:sp>
        <p:nvSpPr>
          <p:cNvPr id="5" name="TextBox 4"/>
          <p:cNvSpPr txBox="1"/>
          <p:nvPr/>
        </p:nvSpPr>
        <p:spPr>
          <a:xfrm>
            <a:off x="274320" y="1371600"/>
            <a:ext cx="5120640" cy="4389120"/>
          </a:xfrm>
          <a:prstGeom prst="rect">
            <a:avLst/>
          </a:prstGeom>
          <a:noFill/>
        </p:spPr>
        <p:txBody>
          <a:bodyPr wrap="square" lIns="0" rIns="0" tIns="0" bIns="0" anchor="t">
            <a:spAutoFit/>
          </a:bodyPr>
          <a:lstStyle/>
          <a:p>
            <a:pPr algn="l"/>
            <a:r>
              <a:rPr sz="20000" b="1" i="0">
                <a:solidFill>
                  <a:srgbClr val="C5E063"/>
                </a:solidFill>
                <a:latin typeface="Georgia"/>
              </a:rPr>
              <a:t>01</a:t>
            </a:r>
          </a:p>
        </p:txBody>
      </p:sp>
      <p:sp>
        <p:nvSpPr>
          <p:cNvPr id="6" name="TextBox 5"/>
          <p:cNvSpPr txBox="1"/>
          <p:nvPr/>
        </p:nvSpPr>
        <p:spPr>
          <a:xfrm>
            <a:off x="5486400" y="2103120"/>
            <a:ext cx="6400800" cy="365760"/>
          </a:xfrm>
          <a:prstGeom prst="rect">
            <a:avLst/>
          </a:prstGeom>
          <a:noFill/>
        </p:spPr>
        <p:txBody>
          <a:bodyPr wrap="square" lIns="0" rIns="0" tIns="0" bIns="0" anchor="t">
            <a:spAutoFit/>
          </a:bodyPr>
          <a:lstStyle/>
          <a:p>
            <a:pPr algn="l"/>
            <a:r>
              <a:rPr sz="1100" b="1" i="0" spc="600">
                <a:solidFill>
                  <a:srgbClr val="C5E063"/>
                </a:solidFill>
                <a:latin typeface="Calibri"/>
              </a:rPr>
              <a:t>PART 1  OF  4</a:t>
            </a:r>
          </a:p>
        </p:txBody>
      </p:sp>
      <p:sp>
        <p:nvSpPr>
          <p:cNvPr id="7" name="TextBox 6"/>
          <p:cNvSpPr txBox="1"/>
          <p:nvPr/>
        </p:nvSpPr>
        <p:spPr>
          <a:xfrm>
            <a:off x="5486400" y="2606040"/>
            <a:ext cx="6400800" cy="1280160"/>
          </a:xfrm>
          <a:prstGeom prst="rect">
            <a:avLst/>
          </a:prstGeom>
          <a:noFill/>
        </p:spPr>
        <p:txBody>
          <a:bodyPr wrap="square" lIns="0" rIns="0" tIns="0" bIns="0" anchor="t">
            <a:spAutoFit/>
          </a:bodyPr>
          <a:lstStyle/>
          <a:p>
            <a:pPr algn="l"/>
            <a:r>
              <a:rPr sz="3600" b="1" i="0">
                <a:solidFill>
                  <a:srgbClr val="FFFFFF"/>
                </a:solidFill>
                <a:latin typeface="Georgia"/>
              </a:rPr>
              <a:t>Embeddings — dense...</a:t>
            </a:r>
          </a:p>
        </p:txBody>
      </p:sp>
      <p:sp>
        <p:nvSpPr>
          <p:cNvPr id="8" name="Rectangle 7"/>
          <p:cNvSpPr/>
          <p:nvPr/>
        </p:nvSpPr>
        <p:spPr>
          <a:xfrm>
            <a:off x="5486400" y="4160520"/>
            <a:ext cx="457200" cy="4572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0" y="4343400"/>
            <a:ext cx="6400800" cy="1828800"/>
          </a:xfrm>
          <a:prstGeom prst="rect">
            <a:avLst/>
          </a:prstGeom>
          <a:noFill/>
        </p:spPr>
        <p:txBody>
          <a:bodyPr wrap="square" lIns="0" rIns="0" tIns="0" bIns="0" anchor="t">
            <a:spAutoFit/>
          </a:bodyPr>
          <a:lstStyle/>
          <a:p>
            <a:pPr algn="l">
              <a:lnSpc>
                <a:spcPct val="140000"/>
              </a:lnSpc>
            </a:pPr>
            <a:r>
              <a:rPr sz="1300" b="0" i="0">
                <a:solidFill>
                  <a:srgbClr val="E5E7EB"/>
                </a:solidFill>
                <a:latin typeface="Calibri"/>
              </a:rPr>
              <a:t>Map anything to a 384–3072 dim vector</a:t>
            </a:r>
          </a:p>
        </p:txBody>
      </p:sp>
      <p:sp>
        <p:nvSpPr>
          <p:cNvPr id="10" name="TextBox 9"/>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11" name="TextBox 10"/>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PART 1</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CONCEPT 1  OF  4</a:t>
            </a:r>
          </a:p>
        </p:txBody>
      </p:sp>
      <p:sp>
        <p:nvSpPr>
          <p:cNvPr id="6" name="TextBox 5"/>
          <p:cNvSpPr txBox="1"/>
          <p:nvPr/>
        </p:nvSpPr>
        <p:spPr>
          <a:xfrm>
            <a:off x="548640" y="1463040"/>
            <a:ext cx="6400800" cy="1097280"/>
          </a:xfrm>
          <a:prstGeom prst="rect">
            <a:avLst/>
          </a:prstGeom>
          <a:noFill/>
        </p:spPr>
        <p:txBody>
          <a:bodyPr wrap="square" lIns="0" rIns="0" tIns="0" bIns="0" anchor="t">
            <a:spAutoFit/>
          </a:bodyPr>
          <a:lstStyle/>
          <a:p>
            <a:pPr algn="l"/>
            <a:r>
              <a:rPr sz="2800" b="0" i="0">
                <a:solidFill>
                  <a:srgbClr val="FFFFFF"/>
                </a:solidFill>
                <a:latin typeface="Georgia"/>
              </a:rPr>
              <a:t>Embeddings — dense fingerprints</a:t>
            </a:r>
          </a:p>
        </p:txBody>
      </p:sp>
      <p:sp>
        <p:nvSpPr>
          <p:cNvPr id="7" name="TextBox 6"/>
          <p:cNvSpPr txBox="1"/>
          <p:nvPr/>
        </p:nvSpPr>
        <p:spPr>
          <a:xfrm>
            <a:off x="548640" y="2606040"/>
            <a:ext cx="6400800" cy="3291840"/>
          </a:xfrm>
          <a:prstGeom prst="rect">
            <a:avLst/>
          </a:prstGeom>
          <a:noFill/>
        </p:spPr>
        <p:txBody>
          <a:bodyPr wrap="square" lIns="0" rIns="0" tIns="0" bIns="0" anchor="t">
            <a:spAutoFit/>
          </a:bodyPr>
          <a:lstStyle/>
          <a:p>
            <a:pPr algn="l">
              <a:lnSpc>
                <a:spcPct val="145000"/>
              </a:lnSpc>
            </a:pPr>
            <a:r>
              <a:rPr sz="1400" b="0" i="0">
                <a:solidFill>
                  <a:srgbClr val="E5E7EB"/>
                </a:solidFill>
                <a:latin typeface="Calibri"/>
              </a:rPr>
              <a:t>Same meaning → nearby vectors.
Cosine similarity scores closeness.
Works on text, images, audio, code.
text-embedding-3-small: 1536 dims, ₹0.02 per 1M tokens.
EXAMPLE
1536 dim
The "shape" of a concept in compressed form.</a:t>
            </a:r>
          </a:p>
        </p:txBody>
      </p:sp>
      <p:sp>
        <p:nvSpPr>
          <p:cNvPr id="8" name="Rectangle 7"/>
          <p:cNvSpPr/>
          <p:nvPr/>
        </p:nvSpPr>
        <p:spPr>
          <a:xfrm>
            <a:off x="7315200" y="1417320"/>
            <a:ext cx="4297680" cy="4572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0" y="1691640"/>
            <a:ext cx="3749040" cy="274320"/>
          </a:xfrm>
          <a:prstGeom prst="rect">
            <a:avLst/>
          </a:prstGeom>
          <a:noFill/>
        </p:spPr>
        <p:txBody>
          <a:bodyPr wrap="square" lIns="0" rIns="0" tIns="0" bIns="0" anchor="t">
            <a:spAutoFit/>
          </a:bodyPr>
          <a:lstStyle/>
          <a:p>
            <a:pPr algn="l"/>
            <a:r>
              <a:rPr sz="1000" b="1" i="0" spc="500">
                <a:solidFill>
                  <a:srgbClr val="C5E063"/>
                </a:solidFill>
                <a:latin typeface="Calibri"/>
              </a:rPr>
              <a:t>DEFINITION</a:t>
            </a:r>
          </a:p>
        </p:txBody>
      </p:sp>
      <p:sp>
        <p:nvSpPr>
          <p:cNvPr id="10" name="TextBox 9"/>
          <p:cNvSpPr txBox="1"/>
          <p:nvPr/>
        </p:nvSpPr>
        <p:spPr>
          <a:xfrm>
            <a:off x="7589520" y="2057400"/>
            <a:ext cx="3749040" cy="1188720"/>
          </a:xfrm>
          <a:prstGeom prst="rect">
            <a:avLst/>
          </a:prstGeom>
          <a:noFill/>
        </p:spPr>
        <p:txBody>
          <a:bodyPr wrap="square" lIns="0" rIns="0" tIns="0" bIns="0" anchor="t">
            <a:spAutoFit/>
          </a:bodyPr>
          <a:lstStyle/>
          <a:p>
            <a:pPr algn="l"/>
            <a:r>
              <a:rPr sz="2400" b="1" i="0">
                <a:solidFill>
                  <a:srgbClr val="FFFFFF"/>
                </a:solidFill>
                <a:latin typeface="Georgia"/>
              </a:rPr>
              <a:t>Embeddings — dense fingerprints</a:t>
            </a:r>
          </a:p>
        </p:txBody>
      </p:sp>
      <p:sp>
        <p:nvSpPr>
          <p:cNvPr id="11" name="TextBox 10"/>
          <p:cNvSpPr txBox="1"/>
          <p:nvPr/>
        </p:nvSpPr>
        <p:spPr>
          <a:xfrm>
            <a:off x="7589520" y="3246120"/>
            <a:ext cx="3749040" cy="1371600"/>
          </a:xfrm>
          <a:prstGeom prst="rect">
            <a:avLst/>
          </a:prstGeom>
          <a:noFill/>
        </p:spPr>
        <p:txBody>
          <a:bodyPr wrap="square" lIns="0" rIns="0" tIns="0" bIns="0" anchor="t">
            <a:spAutoFit/>
          </a:bodyPr>
          <a:lstStyle/>
          <a:p>
            <a:pPr algn="l">
              <a:lnSpc>
                <a:spcPct val="140000"/>
              </a:lnSpc>
            </a:pPr>
            <a:r>
              <a:rPr sz="1300" b="0" i="0">
                <a:solidFill>
                  <a:srgbClr val="E5E7EB"/>
                </a:solidFill>
                <a:latin typeface="Calibri"/>
              </a:rPr>
              <a:t>Map anything to a 384–3072 dim vector</a:t>
            </a:r>
          </a:p>
        </p:txBody>
      </p:sp>
      <p:sp>
        <p:nvSpPr>
          <p:cNvPr id="12" name="Rectangle 11"/>
          <p:cNvSpPr/>
          <p:nvPr/>
        </p:nvSpPr>
        <p:spPr>
          <a:xfrm>
            <a:off x="7589520" y="4892040"/>
            <a:ext cx="365760" cy="36576"/>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0" y="5029200"/>
            <a:ext cx="3749040" cy="274320"/>
          </a:xfrm>
          <a:prstGeom prst="rect">
            <a:avLst/>
          </a:prstGeom>
          <a:noFill/>
        </p:spPr>
        <p:txBody>
          <a:bodyPr wrap="square" lIns="0" rIns="0" tIns="0" bIns="0" anchor="t">
            <a:spAutoFit/>
          </a:bodyPr>
          <a:lstStyle/>
          <a:p>
            <a:pPr algn="l"/>
            <a:r>
              <a:rPr sz="900" b="1" i="0" spc="500">
                <a:solidFill>
                  <a:srgbClr val="C5E063"/>
                </a:solidFill>
                <a:latin typeface="Calibri"/>
              </a:rPr>
              <a:t>EXAMPLE</a:t>
            </a:r>
          </a:p>
        </p:txBody>
      </p:sp>
      <p:sp>
        <p:nvSpPr>
          <p:cNvPr id="14" name="TextBox 13"/>
          <p:cNvSpPr txBox="1"/>
          <p:nvPr/>
        </p:nvSpPr>
        <p:spPr>
          <a:xfrm>
            <a:off x="7589520" y="5303520"/>
            <a:ext cx="3749040" cy="548640"/>
          </a:xfrm>
          <a:prstGeom prst="rect">
            <a:avLst/>
          </a:prstGeom>
          <a:noFill/>
        </p:spPr>
        <p:txBody>
          <a:bodyPr wrap="square" lIns="0" rIns="0" tIns="0" bIns="0" anchor="t">
            <a:spAutoFit/>
          </a:bodyPr>
          <a:lstStyle/>
          <a:p>
            <a:pPr algn="l">
              <a:lnSpc>
                <a:spcPct val="135000"/>
              </a:lnSpc>
            </a:pPr>
            <a:r>
              <a:rPr sz="1100" b="0" i="1">
                <a:solidFill>
                  <a:srgbClr val="FFFFFF"/>
                </a:solidFill>
                <a:latin typeface="Calibri"/>
              </a:rPr>
              <a:t>Real-world example: applies directly to Indian industry contexts.</a:t>
            </a:r>
          </a:p>
        </p:txBody>
      </p:sp>
      <p:sp>
        <p:nvSpPr>
          <p:cNvPr id="15" name="TextBox 14"/>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16" name="TextBox 15"/>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P1</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CONCEPT 2  OF  4</a:t>
            </a:r>
          </a:p>
        </p:txBody>
      </p:sp>
      <p:sp>
        <p:nvSpPr>
          <p:cNvPr id="6" name="TextBox 5"/>
          <p:cNvSpPr txBox="1"/>
          <p:nvPr/>
        </p:nvSpPr>
        <p:spPr>
          <a:xfrm>
            <a:off x="548640" y="1463040"/>
            <a:ext cx="6400800" cy="1097280"/>
          </a:xfrm>
          <a:prstGeom prst="rect">
            <a:avLst/>
          </a:prstGeom>
          <a:noFill/>
        </p:spPr>
        <p:txBody>
          <a:bodyPr wrap="square" lIns="0" rIns="0" tIns="0" bIns="0" anchor="t">
            <a:spAutoFit/>
          </a:bodyPr>
          <a:lstStyle/>
          <a:p>
            <a:pPr algn="l"/>
            <a:r>
              <a:rPr sz="2800" b="0" i="0">
                <a:solidFill>
                  <a:srgbClr val="FFFFFF"/>
                </a:solidFill>
                <a:latin typeface="Georgia"/>
              </a:rPr>
              <a:t>ANN algorithms</a:t>
            </a:r>
          </a:p>
        </p:txBody>
      </p:sp>
      <p:sp>
        <p:nvSpPr>
          <p:cNvPr id="7" name="TextBox 6"/>
          <p:cNvSpPr txBox="1"/>
          <p:nvPr/>
        </p:nvSpPr>
        <p:spPr>
          <a:xfrm>
            <a:off x="548640" y="2606040"/>
            <a:ext cx="6400800" cy="3291840"/>
          </a:xfrm>
          <a:prstGeom prst="rect">
            <a:avLst/>
          </a:prstGeom>
          <a:noFill/>
        </p:spPr>
        <p:txBody>
          <a:bodyPr wrap="square" lIns="0" rIns="0" tIns="0" bIns="0" anchor="t">
            <a:spAutoFit/>
          </a:bodyPr>
          <a:lstStyle/>
          <a:p>
            <a:pPr algn="l">
              <a:lnSpc>
                <a:spcPct val="145000"/>
              </a:lnSpc>
            </a:pPr>
            <a:r>
              <a:rPr sz="1400" b="0" i="0">
                <a:solidFill>
                  <a:srgbClr val="E5E7EB"/>
                </a:solidFill>
                <a:latin typeface="Calibri"/>
              </a:rPr>
              <a:t>A core idea you'll use throughout this lesson.</a:t>
            </a:r>
          </a:p>
        </p:txBody>
      </p:sp>
      <p:sp>
        <p:nvSpPr>
          <p:cNvPr id="8" name="Rectangle 7"/>
          <p:cNvSpPr/>
          <p:nvPr/>
        </p:nvSpPr>
        <p:spPr>
          <a:xfrm>
            <a:off x="7315200" y="1417320"/>
            <a:ext cx="4297680" cy="4572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0" y="1691640"/>
            <a:ext cx="3749040" cy="274320"/>
          </a:xfrm>
          <a:prstGeom prst="rect">
            <a:avLst/>
          </a:prstGeom>
          <a:noFill/>
        </p:spPr>
        <p:txBody>
          <a:bodyPr wrap="square" lIns="0" rIns="0" tIns="0" bIns="0" anchor="t">
            <a:spAutoFit/>
          </a:bodyPr>
          <a:lstStyle/>
          <a:p>
            <a:pPr algn="l"/>
            <a:r>
              <a:rPr sz="1000" b="1" i="0" spc="500">
                <a:solidFill>
                  <a:srgbClr val="C5E063"/>
                </a:solidFill>
                <a:latin typeface="Calibri"/>
              </a:rPr>
              <a:t>KEY  POINTS</a:t>
            </a:r>
          </a:p>
        </p:txBody>
      </p:sp>
      <p:sp>
        <p:nvSpPr>
          <p:cNvPr id="10" name="Oval 9"/>
          <p:cNvSpPr/>
          <p:nvPr/>
        </p:nvSpPr>
        <p:spPr>
          <a:xfrm>
            <a:off x="7635240" y="2359152"/>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0" y="2194560"/>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A core idea you'll use throughout this lesson</a:t>
            </a:r>
          </a:p>
        </p:txBody>
      </p:sp>
      <p:sp>
        <p:nvSpPr>
          <p:cNvPr id="12" name="Oval 11"/>
          <p:cNvSpPr/>
          <p:nvPr/>
        </p:nvSpPr>
        <p:spPr>
          <a:xfrm>
            <a:off x="7635240" y="3072384"/>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0" y="2907792"/>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Practical, named, applied to a real Indian use-case.</a:t>
            </a:r>
          </a:p>
        </p:txBody>
      </p:sp>
      <p:sp>
        <p:nvSpPr>
          <p:cNvPr id="14" name="Oval 13"/>
          <p:cNvSpPr/>
          <p:nvPr/>
        </p:nvSpPr>
        <p:spPr>
          <a:xfrm>
            <a:off x="7635240" y="3785616"/>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63840" y="3621024"/>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Practical, named, applied to a real Indian use-case.</a:t>
            </a:r>
          </a:p>
        </p:txBody>
      </p:sp>
      <p:sp>
        <p:nvSpPr>
          <p:cNvPr id="16" name="TextBox 15"/>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17" name="TextBox 16"/>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P2</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CONCEPT 3  OF  4</a:t>
            </a:r>
          </a:p>
        </p:txBody>
      </p:sp>
      <p:sp>
        <p:nvSpPr>
          <p:cNvPr id="6" name="TextBox 5"/>
          <p:cNvSpPr txBox="1"/>
          <p:nvPr/>
        </p:nvSpPr>
        <p:spPr>
          <a:xfrm>
            <a:off x="548640" y="1463040"/>
            <a:ext cx="6400800" cy="1097280"/>
          </a:xfrm>
          <a:prstGeom prst="rect">
            <a:avLst/>
          </a:prstGeom>
          <a:noFill/>
        </p:spPr>
        <p:txBody>
          <a:bodyPr wrap="square" lIns="0" rIns="0" tIns="0" bIns="0" anchor="t">
            <a:spAutoFit/>
          </a:bodyPr>
          <a:lstStyle/>
          <a:p>
            <a:pPr algn="l"/>
            <a:r>
              <a:rPr sz="2800" b="0" i="0">
                <a:solidFill>
                  <a:srgbClr val="FFFFFF"/>
                </a:solidFill>
                <a:latin typeface="Georgia"/>
              </a:rPr>
              <a:t>2026 vector-DB landscape</a:t>
            </a:r>
          </a:p>
        </p:txBody>
      </p:sp>
      <p:sp>
        <p:nvSpPr>
          <p:cNvPr id="7" name="TextBox 6"/>
          <p:cNvSpPr txBox="1"/>
          <p:nvPr/>
        </p:nvSpPr>
        <p:spPr>
          <a:xfrm>
            <a:off x="548640" y="2606040"/>
            <a:ext cx="6400800" cy="3291840"/>
          </a:xfrm>
          <a:prstGeom prst="rect">
            <a:avLst/>
          </a:prstGeom>
          <a:noFill/>
        </p:spPr>
        <p:txBody>
          <a:bodyPr wrap="square" lIns="0" rIns="0" tIns="0" bIns="0" anchor="t">
            <a:spAutoFit/>
          </a:bodyPr>
          <a:lstStyle/>
          <a:p>
            <a:pPr algn="l">
              <a:lnSpc>
                <a:spcPct val="145000"/>
              </a:lnSpc>
            </a:pPr>
            <a:r>
              <a:rPr sz="1400" b="0" i="0">
                <a:solidFill>
                  <a:srgbClr val="E5E7EB"/>
                </a:solidFill>
                <a:latin typeface="Calibri"/>
              </a:rPr>
              <a:t>&lt; 1 M + dev → Chroma. 1 M–100 M + zero ops → Pinecone. On Postgres → pgvector.</a:t>
            </a:r>
          </a:p>
        </p:txBody>
      </p:sp>
      <p:sp>
        <p:nvSpPr>
          <p:cNvPr id="8" name="Rectangle 7"/>
          <p:cNvSpPr/>
          <p:nvPr/>
        </p:nvSpPr>
        <p:spPr>
          <a:xfrm>
            <a:off x="7315200" y="1417320"/>
            <a:ext cx="4297680" cy="4572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0" y="1691640"/>
            <a:ext cx="3749040" cy="274320"/>
          </a:xfrm>
          <a:prstGeom prst="rect">
            <a:avLst/>
          </a:prstGeom>
          <a:noFill/>
        </p:spPr>
        <p:txBody>
          <a:bodyPr wrap="square" lIns="0" rIns="0" tIns="0" bIns="0" anchor="t">
            <a:spAutoFit/>
          </a:bodyPr>
          <a:lstStyle/>
          <a:p>
            <a:pPr algn="l"/>
            <a:r>
              <a:rPr sz="1000" b="1" i="0" spc="500">
                <a:solidFill>
                  <a:srgbClr val="C5E063"/>
                </a:solidFill>
                <a:latin typeface="Calibri"/>
              </a:rPr>
              <a:t>DEFINITION</a:t>
            </a:r>
          </a:p>
        </p:txBody>
      </p:sp>
      <p:sp>
        <p:nvSpPr>
          <p:cNvPr id="10" name="TextBox 9"/>
          <p:cNvSpPr txBox="1"/>
          <p:nvPr/>
        </p:nvSpPr>
        <p:spPr>
          <a:xfrm>
            <a:off x="7589520" y="2057400"/>
            <a:ext cx="3749040" cy="1188720"/>
          </a:xfrm>
          <a:prstGeom prst="rect">
            <a:avLst/>
          </a:prstGeom>
          <a:noFill/>
        </p:spPr>
        <p:txBody>
          <a:bodyPr wrap="square" lIns="0" rIns="0" tIns="0" bIns="0" anchor="t">
            <a:spAutoFit/>
          </a:bodyPr>
          <a:lstStyle/>
          <a:p>
            <a:pPr algn="l"/>
            <a:r>
              <a:rPr sz="2400" b="1" i="0">
                <a:solidFill>
                  <a:srgbClr val="FFFFFF"/>
                </a:solidFill>
                <a:latin typeface="Georgia"/>
              </a:rPr>
              <a:t>2026 vector-DB landscape</a:t>
            </a:r>
          </a:p>
        </p:txBody>
      </p:sp>
      <p:sp>
        <p:nvSpPr>
          <p:cNvPr id="11" name="TextBox 10"/>
          <p:cNvSpPr txBox="1"/>
          <p:nvPr/>
        </p:nvSpPr>
        <p:spPr>
          <a:xfrm>
            <a:off x="7589520" y="3246120"/>
            <a:ext cx="3749040" cy="1371600"/>
          </a:xfrm>
          <a:prstGeom prst="rect">
            <a:avLst/>
          </a:prstGeom>
          <a:noFill/>
        </p:spPr>
        <p:txBody>
          <a:bodyPr wrap="square" lIns="0" rIns="0" tIns="0" bIns="0" anchor="t">
            <a:spAutoFit/>
          </a:bodyPr>
          <a:lstStyle/>
          <a:p>
            <a:pPr algn="l">
              <a:lnSpc>
                <a:spcPct val="140000"/>
              </a:lnSpc>
            </a:pPr>
            <a:r>
              <a:rPr sz="1300" b="0" i="0">
                <a:solidFill>
                  <a:srgbClr val="E5E7EB"/>
                </a:solidFill>
                <a:latin typeface="Calibri"/>
              </a:rPr>
              <a:t>&lt; 1 M + dev → Chroma. 1 M–100 M + zero ops → Pinecone. On Postgres → pgvector.</a:t>
            </a:r>
          </a:p>
        </p:txBody>
      </p:sp>
      <p:sp>
        <p:nvSpPr>
          <p:cNvPr id="12" name="Rectangle 11"/>
          <p:cNvSpPr/>
          <p:nvPr/>
        </p:nvSpPr>
        <p:spPr>
          <a:xfrm>
            <a:off x="7589520" y="4892040"/>
            <a:ext cx="365760" cy="36576"/>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89520" y="5029200"/>
            <a:ext cx="3749040" cy="274320"/>
          </a:xfrm>
          <a:prstGeom prst="rect">
            <a:avLst/>
          </a:prstGeom>
          <a:noFill/>
        </p:spPr>
        <p:txBody>
          <a:bodyPr wrap="square" lIns="0" rIns="0" tIns="0" bIns="0" anchor="t">
            <a:spAutoFit/>
          </a:bodyPr>
          <a:lstStyle/>
          <a:p>
            <a:pPr algn="l"/>
            <a:r>
              <a:rPr sz="900" b="1" i="0" spc="500">
                <a:solidFill>
                  <a:srgbClr val="C5E063"/>
                </a:solidFill>
                <a:latin typeface="Calibri"/>
              </a:rPr>
              <a:t>EXAMPLE</a:t>
            </a:r>
          </a:p>
        </p:txBody>
      </p:sp>
      <p:sp>
        <p:nvSpPr>
          <p:cNvPr id="14" name="TextBox 13"/>
          <p:cNvSpPr txBox="1"/>
          <p:nvPr/>
        </p:nvSpPr>
        <p:spPr>
          <a:xfrm>
            <a:off x="7589520" y="5303520"/>
            <a:ext cx="3749040" cy="548640"/>
          </a:xfrm>
          <a:prstGeom prst="rect">
            <a:avLst/>
          </a:prstGeom>
          <a:noFill/>
        </p:spPr>
        <p:txBody>
          <a:bodyPr wrap="square" lIns="0" rIns="0" tIns="0" bIns="0" anchor="t">
            <a:spAutoFit/>
          </a:bodyPr>
          <a:lstStyle/>
          <a:p>
            <a:pPr algn="l">
              <a:lnSpc>
                <a:spcPct val="135000"/>
              </a:lnSpc>
            </a:pPr>
            <a:r>
              <a:rPr sz="1100" b="0" i="1">
                <a:solidFill>
                  <a:srgbClr val="FFFFFF"/>
                </a:solidFill>
                <a:latin typeface="Calibri"/>
              </a:rPr>
              <a:t>Real-world example: applies directly to Indian industry contexts.</a:t>
            </a:r>
          </a:p>
        </p:txBody>
      </p:sp>
      <p:sp>
        <p:nvSpPr>
          <p:cNvPr id="15" name="TextBox 14"/>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16" name="TextBox 15"/>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P3</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CONCEPT 4  OF  4</a:t>
            </a:r>
          </a:p>
        </p:txBody>
      </p:sp>
      <p:sp>
        <p:nvSpPr>
          <p:cNvPr id="6" name="TextBox 5"/>
          <p:cNvSpPr txBox="1"/>
          <p:nvPr/>
        </p:nvSpPr>
        <p:spPr>
          <a:xfrm>
            <a:off x="548640" y="1463040"/>
            <a:ext cx="6400800" cy="1097280"/>
          </a:xfrm>
          <a:prstGeom prst="rect">
            <a:avLst/>
          </a:prstGeom>
          <a:noFill/>
        </p:spPr>
        <p:txBody>
          <a:bodyPr wrap="square" lIns="0" rIns="0" tIns="0" bIns="0" anchor="t">
            <a:spAutoFit/>
          </a:bodyPr>
          <a:lstStyle/>
          <a:p>
            <a:pPr algn="l"/>
            <a:r>
              <a:rPr sz="2800" b="0" i="0">
                <a:solidFill>
                  <a:srgbClr val="FFFFFF"/>
                </a:solidFill>
                <a:latin typeface="Georgia"/>
              </a:rPr>
              <a:t>Metadata filters + hybrid search</a:t>
            </a:r>
          </a:p>
        </p:txBody>
      </p:sp>
      <p:sp>
        <p:nvSpPr>
          <p:cNvPr id="7" name="TextBox 6"/>
          <p:cNvSpPr txBox="1"/>
          <p:nvPr/>
        </p:nvSpPr>
        <p:spPr>
          <a:xfrm>
            <a:off x="548640" y="2606040"/>
            <a:ext cx="6400800" cy="3291840"/>
          </a:xfrm>
          <a:prstGeom prst="rect">
            <a:avLst/>
          </a:prstGeom>
          <a:noFill/>
        </p:spPr>
        <p:txBody>
          <a:bodyPr wrap="square" lIns="0" rIns="0" tIns="0" bIns="0" anchor="t">
            <a:spAutoFit/>
          </a:bodyPr>
          <a:lstStyle/>
          <a:p>
            <a:pPr algn="l">
              <a:lnSpc>
                <a:spcPct val="145000"/>
              </a:lnSpc>
            </a:pPr>
            <a:r>
              <a:rPr sz="1400" b="0" i="0">
                <a:solidFill>
                  <a:srgbClr val="E5E7EB"/>
                </a:solidFill>
                <a:latin typeface="Calibri"/>
              </a:rPr>
              <a:t>query_embeddings=[q_emb], where={"country":"India"}
Dense (semantic) + sparse (BM25) = hybrid.
Hybrid often +10% recall.
Don't ship semantic-only production search.
PATTERN
Dense + Sparse
Sparse rescues exact-match terms (SKU codes, IDs).</a:t>
            </a:r>
          </a:p>
        </p:txBody>
      </p:sp>
      <p:sp>
        <p:nvSpPr>
          <p:cNvPr id="8" name="Rectangle 7"/>
          <p:cNvSpPr/>
          <p:nvPr/>
        </p:nvSpPr>
        <p:spPr>
          <a:xfrm>
            <a:off x="7315200" y="1417320"/>
            <a:ext cx="4297680" cy="4572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589520" y="1691640"/>
            <a:ext cx="3749040" cy="274320"/>
          </a:xfrm>
          <a:prstGeom prst="rect">
            <a:avLst/>
          </a:prstGeom>
          <a:noFill/>
        </p:spPr>
        <p:txBody>
          <a:bodyPr wrap="square" lIns="0" rIns="0" tIns="0" bIns="0" anchor="t">
            <a:spAutoFit/>
          </a:bodyPr>
          <a:lstStyle/>
          <a:p>
            <a:pPr algn="l"/>
            <a:r>
              <a:rPr sz="1000" b="1" i="0" spc="500">
                <a:solidFill>
                  <a:srgbClr val="C5E063"/>
                </a:solidFill>
                <a:latin typeface="Calibri"/>
              </a:rPr>
              <a:t>KEY  POINTS</a:t>
            </a:r>
          </a:p>
        </p:txBody>
      </p:sp>
      <p:sp>
        <p:nvSpPr>
          <p:cNvPr id="10" name="Oval 9"/>
          <p:cNvSpPr/>
          <p:nvPr/>
        </p:nvSpPr>
        <p:spPr>
          <a:xfrm>
            <a:off x="7635240" y="2359152"/>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63840" y="2194560"/>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query_embeddings=[q_emb], where={"country":"India"}</a:t>
            </a:r>
          </a:p>
        </p:txBody>
      </p:sp>
      <p:sp>
        <p:nvSpPr>
          <p:cNvPr id="12" name="Oval 11"/>
          <p:cNvSpPr/>
          <p:nvPr/>
        </p:nvSpPr>
        <p:spPr>
          <a:xfrm>
            <a:off x="7635240" y="3072384"/>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0" y="2907792"/>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Dense (semantic) + sparse (BM25) = hybrid</a:t>
            </a:r>
          </a:p>
        </p:txBody>
      </p:sp>
      <p:sp>
        <p:nvSpPr>
          <p:cNvPr id="14" name="Oval 13"/>
          <p:cNvSpPr/>
          <p:nvPr/>
        </p:nvSpPr>
        <p:spPr>
          <a:xfrm>
            <a:off x="7635240" y="3785616"/>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63840" y="3621024"/>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Hybrid often +10% recall</a:t>
            </a:r>
          </a:p>
        </p:txBody>
      </p:sp>
      <p:sp>
        <p:nvSpPr>
          <p:cNvPr id="16" name="Oval 15"/>
          <p:cNvSpPr/>
          <p:nvPr/>
        </p:nvSpPr>
        <p:spPr>
          <a:xfrm>
            <a:off x="7635240" y="4498848"/>
            <a:ext cx="109728" cy="10972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0" y="4334256"/>
            <a:ext cx="3474720" cy="640080"/>
          </a:xfrm>
          <a:prstGeom prst="rect">
            <a:avLst/>
          </a:prstGeom>
          <a:noFill/>
        </p:spPr>
        <p:txBody>
          <a:bodyPr wrap="square" lIns="0" rIns="0" tIns="0" bIns="0" anchor="t">
            <a:spAutoFit/>
          </a:bodyPr>
          <a:lstStyle/>
          <a:p>
            <a:pPr algn="l">
              <a:lnSpc>
                <a:spcPct val="130000"/>
              </a:lnSpc>
            </a:pPr>
            <a:r>
              <a:rPr sz="1200" b="0" i="0">
                <a:solidFill>
                  <a:srgbClr val="FFFFFF"/>
                </a:solidFill>
                <a:latin typeface="Calibri"/>
              </a:rPr>
              <a:t>Don't ship semantic-only production search</a:t>
            </a:r>
          </a:p>
        </p:txBody>
      </p:sp>
      <p:sp>
        <p:nvSpPr>
          <p:cNvPr id="18" name="TextBox 17"/>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19" name="TextBox 18"/>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P4</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352B"/>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1 min</a:t>
            </a:r>
          </a:p>
        </p:txBody>
      </p:sp>
      <p:sp>
        <p:nvSpPr>
          <p:cNvPr id="5" name="TextBox 4"/>
          <p:cNvSpPr txBox="1"/>
          <p:nvPr/>
        </p:nvSpPr>
        <p:spPr>
          <a:xfrm>
            <a:off x="274320" y="1371600"/>
            <a:ext cx="5120640" cy="4389120"/>
          </a:xfrm>
          <a:prstGeom prst="rect">
            <a:avLst/>
          </a:prstGeom>
          <a:noFill/>
        </p:spPr>
        <p:txBody>
          <a:bodyPr wrap="square" lIns="0" rIns="0" tIns="0" bIns="0" anchor="t">
            <a:spAutoFit/>
          </a:bodyPr>
          <a:lstStyle/>
          <a:p>
            <a:pPr algn="l"/>
            <a:r>
              <a:rPr sz="20000" b="1" i="0">
                <a:solidFill>
                  <a:srgbClr val="C5E063"/>
                </a:solidFill>
                <a:latin typeface="Georgia"/>
              </a:rPr>
              <a:t>02</a:t>
            </a:r>
          </a:p>
        </p:txBody>
      </p:sp>
      <p:sp>
        <p:nvSpPr>
          <p:cNvPr id="6" name="TextBox 5"/>
          <p:cNvSpPr txBox="1"/>
          <p:nvPr/>
        </p:nvSpPr>
        <p:spPr>
          <a:xfrm>
            <a:off x="5486400" y="2103120"/>
            <a:ext cx="6400800" cy="365760"/>
          </a:xfrm>
          <a:prstGeom prst="rect">
            <a:avLst/>
          </a:prstGeom>
          <a:noFill/>
        </p:spPr>
        <p:txBody>
          <a:bodyPr wrap="square" lIns="0" rIns="0" tIns="0" bIns="0" anchor="t">
            <a:spAutoFit/>
          </a:bodyPr>
          <a:lstStyle/>
          <a:p>
            <a:pPr algn="l"/>
            <a:r>
              <a:rPr sz="1100" b="1" i="0" spc="600">
                <a:solidFill>
                  <a:srgbClr val="C5E063"/>
                </a:solidFill>
                <a:latin typeface="Calibri"/>
              </a:rPr>
              <a:t>PART 2  OF  4</a:t>
            </a:r>
          </a:p>
        </p:txBody>
      </p:sp>
      <p:sp>
        <p:nvSpPr>
          <p:cNvPr id="7" name="TextBox 6"/>
          <p:cNvSpPr txBox="1"/>
          <p:nvPr/>
        </p:nvSpPr>
        <p:spPr>
          <a:xfrm>
            <a:off x="5486400" y="2606040"/>
            <a:ext cx="6400800" cy="1280160"/>
          </a:xfrm>
          <a:prstGeom prst="rect">
            <a:avLst/>
          </a:prstGeom>
          <a:noFill/>
        </p:spPr>
        <p:txBody>
          <a:bodyPr wrap="square" lIns="0" rIns="0" tIns="0" bIns="0" anchor="t">
            <a:spAutoFit/>
          </a:bodyPr>
          <a:lstStyle/>
          <a:p>
            <a:pPr algn="l"/>
            <a:r>
              <a:rPr sz="3600" b="1" i="0">
                <a:solidFill>
                  <a:srgbClr val="FFFFFF"/>
                </a:solidFill>
                <a:latin typeface="Georgia"/>
              </a:rPr>
              <a:t>Engage and reflect</a:t>
            </a:r>
          </a:p>
        </p:txBody>
      </p:sp>
      <p:sp>
        <p:nvSpPr>
          <p:cNvPr id="8" name="Rectangle 7"/>
          <p:cNvSpPr/>
          <p:nvPr/>
        </p:nvSpPr>
        <p:spPr>
          <a:xfrm>
            <a:off x="5486400" y="4160520"/>
            <a:ext cx="457200" cy="4572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0" y="4343400"/>
            <a:ext cx="6400800" cy="1828800"/>
          </a:xfrm>
          <a:prstGeom prst="rect">
            <a:avLst/>
          </a:prstGeom>
          <a:noFill/>
        </p:spPr>
        <p:txBody>
          <a:bodyPr wrap="square" lIns="0" rIns="0" tIns="0" bIns="0" anchor="t">
            <a:spAutoFit/>
          </a:bodyPr>
          <a:lstStyle/>
          <a:p>
            <a:pPr algn="l">
              <a:lnSpc>
                <a:spcPct val="140000"/>
              </a:lnSpc>
            </a:pPr>
            <a:r>
              <a:rPr sz="1300" b="0" i="0">
                <a:solidFill>
                  <a:srgbClr val="E5E7EB"/>
                </a:solidFill>
                <a:latin typeface="Calibri"/>
              </a:rPr>
              <a:t>Pause, talk, and connect what you just learned to your own work.</a:t>
            </a:r>
          </a:p>
        </p:txBody>
      </p:sp>
      <p:sp>
        <p:nvSpPr>
          <p:cNvPr id="10" name="TextBox 9"/>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11" name="TextBox 10"/>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PART 2</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3 min</a:t>
            </a:r>
          </a:p>
        </p:txBody>
      </p:sp>
      <p:sp>
        <p:nvSpPr>
          <p:cNvPr id="5" name="Rounded Rectangle 4"/>
          <p:cNvSpPr/>
          <p:nvPr/>
        </p:nvSpPr>
        <p:spPr>
          <a:xfrm>
            <a:off x="548640" y="1143000"/>
            <a:ext cx="2377440" cy="365760"/>
          </a:xfrm>
          <a:prstGeom prst="round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143000"/>
            <a:ext cx="2377440" cy="365760"/>
          </a:xfrm>
          <a:prstGeom prst="rect">
            <a:avLst/>
          </a:prstGeom>
          <a:noFill/>
        </p:spPr>
        <p:txBody>
          <a:bodyPr wrap="square" lIns="0" rIns="0" tIns="0" bIns="0" anchor="ctr">
            <a:spAutoFit/>
          </a:bodyPr>
          <a:lstStyle/>
          <a:p>
            <a:pPr algn="ctr"/>
            <a:r>
              <a:rPr sz="1000" b="1" i="0" spc="500">
                <a:solidFill>
                  <a:srgbClr val="2C5244"/>
                </a:solidFill>
                <a:latin typeface="Calibri"/>
              </a:rPr>
              <a:t>✦  THINK · PAIR · SHARE</a:t>
            </a:r>
          </a:p>
        </p:txBody>
      </p:sp>
      <p:sp>
        <p:nvSpPr>
          <p:cNvPr id="7" name="TextBox 6"/>
          <p:cNvSpPr txBox="1"/>
          <p:nvPr/>
        </p:nvSpPr>
        <p:spPr>
          <a:xfrm>
            <a:off x="3063240" y="1207008"/>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ACTIVITY</a:t>
            </a:r>
          </a:p>
        </p:txBody>
      </p:sp>
      <p:sp>
        <p:nvSpPr>
          <p:cNvPr id="8" name="TextBox 7"/>
          <p:cNvSpPr txBox="1"/>
          <p:nvPr/>
        </p:nvSpPr>
        <p:spPr>
          <a:xfrm>
            <a:off x="548640" y="1691640"/>
            <a:ext cx="10972800" cy="1097280"/>
          </a:xfrm>
          <a:prstGeom prst="rect">
            <a:avLst/>
          </a:prstGeom>
          <a:noFill/>
        </p:spPr>
        <p:txBody>
          <a:bodyPr wrap="square" lIns="0" rIns="0" tIns="0" bIns="0" anchor="t">
            <a:spAutoFit/>
          </a:bodyPr>
          <a:lstStyle/>
          <a:p>
            <a:pPr algn="l"/>
            <a:r>
              <a:rPr sz="2600" b="0" i="0">
                <a:solidFill>
                  <a:srgbClr val="FFFFFF"/>
                </a:solidFill>
                <a:latin typeface="Georgia"/>
              </a:rPr>
              <a:t>Pause and reflect</a:t>
            </a:r>
          </a:p>
        </p:txBody>
      </p:sp>
      <p:sp>
        <p:nvSpPr>
          <p:cNvPr id="9" name="Rectangle 8"/>
          <p:cNvSpPr/>
          <p:nvPr/>
        </p:nvSpPr>
        <p:spPr>
          <a:xfrm>
            <a:off x="548640" y="2743200"/>
            <a:ext cx="7040880" cy="338328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926080"/>
            <a:ext cx="6492240" cy="274320"/>
          </a:xfrm>
          <a:prstGeom prst="rect">
            <a:avLst/>
          </a:prstGeom>
          <a:noFill/>
        </p:spPr>
        <p:txBody>
          <a:bodyPr wrap="square" lIns="0" rIns="0" tIns="0" bIns="0" anchor="t">
            <a:spAutoFit/>
          </a:bodyPr>
          <a:lstStyle/>
          <a:p>
            <a:pPr algn="l"/>
            <a:r>
              <a:rPr sz="1000" b="1" i="0" spc="500">
                <a:solidFill>
                  <a:srgbClr val="C5E063"/>
                </a:solidFill>
                <a:latin typeface="Calibri"/>
              </a:rPr>
              <a:t>PROMPT</a:t>
            </a:r>
          </a:p>
        </p:txBody>
      </p:sp>
      <p:sp>
        <p:nvSpPr>
          <p:cNvPr id="11" name="TextBox 10"/>
          <p:cNvSpPr txBox="1"/>
          <p:nvPr/>
        </p:nvSpPr>
        <p:spPr>
          <a:xfrm>
            <a:off x="822960" y="3246120"/>
            <a:ext cx="6492240" cy="2743200"/>
          </a:xfrm>
          <a:prstGeom prst="rect">
            <a:avLst/>
          </a:prstGeom>
          <a:noFill/>
        </p:spPr>
        <p:txBody>
          <a:bodyPr wrap="square" lIns="0" rIns="0" tIns="0" bIns="0" anchor="t">
            <a:spAutoFit/>
          </a:bodyPr>
          <a:lstStyle/>
          <a:p>
            <a:pPr algn="l">
              <a:lnSpc>
                <a:spcPct val="145000"/>
              </a:lnSpc>
            </a:pPr>
            <a:r>
              <a:rPr sz="1400" b="0" i="1">
                <a:solidFill>
                  <a:srgbClr val="FFFFFF"/>
                </a:solidFill>
                <a:latin typeface="Calibri"/>
              </a:rPr>
              <a:t>Apply the four concepts above to one real example from your own week.</a:t>
            </a:r>
          </a:p>
        </p:txBody>
      </p:sp>
      <p:sp>
        <p:nvSpPr>
          <p:cNvPr id="12" name="Rectangle 11"/>
          <p:cNvSpPr/>
          <p:nvPr/>
        </p:nvSpPr>
        <p:spPr>
          <a:xfrm>
            <a:off x="7818120" y="2743200"/>
            <a:ext cx="3794760" cy="3383280"/>
          </a:xfrm>
          <a:prstGeom prst="rect">
            <a:avLst/>
          </a:prstGeom>
          <a:solidFill>
            <a:srgbClr val="224036"/>
          </a:solidFill>
          <a:ln w="6350">
            <a:solidFill>
              <a:srgbClr val="DCEC9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92440" y="2926080"/>
            <a:ext cx="3291840" cy="274320"/>
          </a:xfrm>
          <a:prstGeom prst="rect">
            <a:avLst/>
          </a:prstGeom>
          <a:noFill/>
        </p:spPr>
        <p:txBody>
          <a:bodyPr wrap="square" lIns="0" rIns="0" tIns="0" bIns="0" anchor="t">
            <a:spAutoFit/>
          </a:bodyPr>
          <a:lstStyle/>
          <a:p>
            <a:pPr algn="l"/>
            <a:r>
              <a:rPr sz="1000" b="1" i="0" spc="500">
                <a:solidFill>
                  <a:srgbClr val="C5E063"/>
                </a:solidFill>
                <a:latin typeface="Calibri"/>
              </a:rPr>
              <a:t>HOW TO RUN IT</a:t>
            </a:r>
          </a:p>
        </p:txBody>
      </p:sp>
      <p:sp>
        <p:nvSpPr>
          <p:cNvPr id="14" name="Oval 13"/>
          <p:cNvSpPr/>
          <p:nvPr/>
        </p:nvSpPr>
        <p:spPr>
          <a:xfrm>
            <a:off x="8092440" y="3246120"/>
            <a:ext cx="292608" cy="29260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92440" y="3246120"/>
            <a:ext cx="292608" cy="292608"/>
          </a:xfrm>
          <a:prstGeom prst="rect">
            <a:avLst/>
          </a:prstGeom>
          <a:noFill/>
        </p:spPr>
        <p:txBody>
          <a:bodyPr wrap="square" lIns="0" rIns="0" tIns="0" bIns="0" anchor="ctr">
            <a:spAutoFit/>
          </a:bodyPr>
          <a:lstStyle/>
          <a:p>
            <a:pPr algn="ctr"/>
            <a:r>
              <a:rPr sz="1100" b="1" i="0">
                <a:solidFill>
                  <a:srgbClr val="2C5244"/>
                </a:solidFill>
                <a:latin typeface="Georgia"/>
              </a:rPr>
              <a:t>1</a:t>
            </a:r>
          </a:p>
        </p:txBody>
      </p:sp>
      <p:sp>
        <p:nvSpPr>
          <p:cNvPr id="16" name="TextBox 15"/>
          <p:cNvSpPr txBox="1"/>
          <p:nvPr/>
        </p:nvSpPr>
        <p:spPr>
          <a:xfrm>
            <a:off x="8503920" y="3246120"/>
            <a:ext cx="3017520" cy="502920"/>
          </a:xfrm>
          <a:prstGeom prst="rect">
            <a:avLst/>
          </a:prstGeom>
          <a:noFill/>
        </p:spPr>
        <p:txBody>
          <a:bodyPr wrap="square" lIns="0" rIns="0" tIns="0" bIns="0" anchor="ctr">
            <a:spAutoFit/>
          </a:bodyPr>
          <a:lstStyle/>
          <a:p>
            <a:pPr algn="l">
              <a:lnSpc>
                <a:spcPct val="130000"/>
              </a:lnSpc>
            </a:pPr>
            <a:r>
              <a:rPr sz="1100" b="0" i="0">
                <a:solidFill>
                  <a:srgbClr val="FFFFFF"/>
                </a:solidFill>
                <a:latin typeface="Calibri"/>
              </a:rPr>
              <a:t/>
            </a:r>
          </a:p>
        </p:txBody>
      </p:sp>
      <p:sp>
        <p:nvSpPr>
          <p:cNvPr id="17" name="Oval 16"/>
          <p:cNvSpPr/>
          <p:nvPr/>
        </p:nvSpPr>
        <p:spPr>
          <a:xfrm>
            <a:off x="8092440" y="3886200"/>
            <a:ext cx="292608" cy="29260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92440" y="3886200"/>
            <a:ext cx="292608" cy="292608"/>
          </a:xfrm>
          <a:prstGeom prst="rect">
            <a:avLst/>
          </a:prstGeom>
          <a:noFill/>
        </p:spPr>
        <p:txBody>
          <a:bodyPr wrap="square" lIns="0" rIns="0" tIns="0" bIns="0" anchor="ctr">
            <a:spAutoFit/>
          </a:bodyPr>
          <a:lstStyle/>
          <a:p>
            <a:pPr algn="ctr"/>
            <a:r>
              <a:rPr sz="1100" b="1" i="0">
                <a:solidFill>
                  <a:srgbClr val="2C5244"/>
                </a:solidFill>
                <a:latin typeface="Georgia"/>
              </a:rPr>
              <a:t>2</a:t>
            </a:r>
          </a:p>
        </p:txBody>
      </p:sp>
      <p:sp>
        <p:nvSpPr>
          <p:cNvPr id="19" name="TextBox 18"/>
          <p:cNvSpPr txBox="1"/>
          <p:nvPr/>
        </p:nvSpPr>
        <p:spPr>
          <a:xfrm>
            <a:off x="8503920" y="3886200"/>
            <a:ext cx="3017520" cy="502920"/>
          </a:xfrm>
          <a:prstGeom prst="rect">
            <a:avLst/>
          </a:prstGeom>
          <a:noFill/>
        </p:spPr>
        <p:txBody>
          <a:bodyPr wrap="square" lIns="0" rIns="0" tIns="0" bIns="0" anchor="ctr">
            <a:spAutoFit/>
          </a:bodyPr>
          <a:lstStyle/>
          <a:p>
            <a:pPr algn="l">
              <a:lnSpc>
                <a:spcPct val="130000"/>
              </a:lnSpc>
            </a:pPr>
            <a:r>
              <a:rPr sz="1100" b="0" i="0">
                <a:solidFill>
                  <a:srgbClr val="FFFFFF"/>
                </a:solidFill>
                <a:latin typeface="Calibri"/>
              </a:rPr>
              <a:t/>
            </a:r>
          </a:p>
        </p:txBody>
      </p:sp>
      <p:sp>
        <p:nvSpPr>
          <p:cNvPr id="20" name="Oval 19"/>
          <p:cNvSpPr/>
          <p:nvPr/>
        </p:nvSpPr>
        <p:spPr>
          <a:xfrm>
            <a:off x="8092440" y="4526279"/>
            <a:ext cx="292608" cy="29260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92440" y="4526279"/>
            <a:ext cx="292608" cy="292608"/>
          </a:xfrm>
          <a:prstGeom prst="rect">
            <a:avLst/>
          </a:prstGeom>
          <a:noFill/>
        </p:spPr>
        <p:txBody>
          <a:bodyPr wrap="square" lIns="0" rIns="0" tIns="0" bIns="0" anchor="ctr">
            <a:spAutoFit/>
          </a:bodyPr>
          <a:lstStyle/>
          <a:p>
            <a:pPr algn="ctr"/>
            <a:r>
              <a:rPr sz="1100" b="1" i="0">
                <a:solidFill>
                  <a:srgbClr val="2C5244"/>
                </a:solidFill>
                <a:latin typeface="Georgia"/>
              </a:rPr>
              <a:t>3</a:t>
            </a:r>
          </a:p>
        </p:txBody>
      </p:sp>
      <p:sp>
        <p:nvSpPr>
          <p:cNvPr id="22" name="TextBox 21"/>
          <p:cNvSpPr txBox="1"/>
          <p:nvPr/>
        </p:nvSpPr>
        <p:spPr>
          <a:xfrm>
            <a:off x="8503920" y="4526279"/>
            <a:ext cx="3017520" cy="502920"/>
          </a:xfrm>
          <a:prstGeom prst="rect">
            <a:avLst/>
          </a:prstGeom>
          <a:noFill/>
        </p:spPr>
        <p:txBody>
          <a:bodyPr wrap="square" lIns="0" rIns="0" tIns="0" bIns="0" anchor="ctr">
            <a:spAutoFit/>
          </a:bodyPr>
          <a:lstStyle/>
          <a:p>
            <a:pPr algn="l">
              <a:lnSpc>
                <a:spcPct val="130000"/>
              </a:lnSpc>
            </a:pPr>
            <a:r>
              <a:rPr sz="1100" b="0" i="0">
                <a:solidFill>
                  <a:srgbClr val="FFFFFF"/>
                </a:solidFill>
                <a:latin typeface="Calibri"/>
              </a:rPr>
              <a:t/>
            </a:r>
          </a:p>
        </p:txBody>
      </p:sp>
      <p:sp>
        <p:nvSpPr>
          <p:cNvPr id="23" name="Oval 22"/>
          <p:cNvSpPr/>
          <p:nvPr/>
        </p:nvSpPr>
        <p:spPr>
          <a:xfrm>
            <a:off x="8092440" y="5166359"/>
            <a:ext cx="292608" cy="292608"/>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92440" y="5166359"/>
            <a:ext cx="292608" cy="292608"/>
          </a:xfrm>
          <a:prstGeom prst="rect">
            <a:avLst/>
          </a:prstGeom>
          <a:noFill/>
        </p:spPr>
        <p:txBody>
          <a:bodyPr wrap="square" lIns="0" rIns="0" tIns="0" bIns="0" anchor="ctr">
            <a:spAutoFit/>
          </a:bodyPr>
          <a:lstStyle/>
          <a:p>
            <a:pPr algn="ctr"/>
            <a:r>
              <a:rPr sz="1100" b="1" i="0">
                <a:solidFill>
                  <a:srgbClr val="2C5244"/>
                </a:solidFill>
                <a:latin typeface="Georgia"/>
              </a:rPr>
              <a:t>4</a:t>
            </a:r>
          </a:p>
        </p:txBody>
      </p:sp>
      <p:sp>
        <p:nvSpPr>
          <p:cNvPr id="25" name="TextBox 24"/>
          <p:cNvSpPr txBox="1"/>
          <p:nvPr/>
        </p:nvSpPr>
        <p:spPr>
          <a:xfrm>
            <a:off x="8503920" y="5166359"/>
            <a:ext cx="3017520" cy="502920"/>
          </a:xfrm>
          <a:prstGeom prst="rect">
            <a:avLst/>
          </a:prstGeom>
          <a:noFill/>
        </p:spPr>
        <p:txBody>
          <a:bodyPr wrap="square" lIns="0" rIns="0" tIns="0" bIns="0" anchor="ctr">
            <a:spAutoFit/>
          </a:bodyPr>
          <a:lstStyle/>
          <a:p>
            <a:pPr algn="l">
              <a:lnSpc>
                <a:spcPct val="130000"/>
              </a:lnSpc>
            </a:pPr>
            <a:r>
              <a:rPr sz="1100" b="0" i="0">
                <a:solidFill>
                  <a:srgbClr val="FFFFFF"/>
                </a:solidFill>
                <a:latin typeface="Calibri"/>
              </a:rPr>
              <a:t>Reveal: instructor confirms the canonical answer.</a:t>
            </a:r>
          </a:p>
        </p:txBody>
      </p:sp>
      <p:sp>
        <p:nvSpPr>
          <p:cNvPr id="26" name="TextBox 25"/>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27" name="TextBox 26"/>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ACTIVITY</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par>
                    <p:cTn id="123" fill="hold">
                      <p:stCondLst>
                        <p:cond delay="indefinite"/>
                        <p:cond evt="onBegin" delay="0">
                          <p:tn val="2"/>
                        </p:cond>
                      </p:stCondLst>
                      <p:childTnLst>
                        <p:par>
                          <p:cTn id="124" fill="hold">
                            <p:stCondLst>
                              <p:cond delay="0"/>
                            </p:stCondLst>
                            <p:childTnLst>
                              <p:par>
                                <p:cTn id="125" presetID="10" presetClass="entr" presetSubtype="0" fill="hold" grpId="0" nodeType="afterEffect">
                                  <p:stCondLst>
                                    <p:cond delay="18"/>
                                  </p:stCondLst>
                                  <p:childTnLst>
                                    <p:set>
                                      <p:cBhvr>
                                        <p:cTn id="126" dur="1" fill="hold">
                                          <p:stCondLst>
                                            <p:cond delay="0"/>
                                          </p:stCondLst>
                                        </p:cTn>
                                        <p:tgtEl>
                                          <p:spTgt spid="26"/>
                                        </p:tgtEl>
                                        <p:attrNameLst>
                                          <p:attrName>style.visibility</p:attrName>
                                        </p:attrNameLst>
                                      </p:cBhvr>
                                      <p:to>
                                        <p:strVal val="visible"/>
                                      </p:to>
                                    </p:set>
                                    <p:anim calcmode="lin" valueType="num">
                                      <p:cBhvr additive="base">
                                        <p:cTn id="127" dur="150" fill="hold"/>
                                        <p:tgtEl>
                                          <p:spTgt spid="26"/>
                                        </p:tgtEl>
                                        <p:attrNameLst>
                                          <p:attrName>style.opacity</p:attrName>
                                        </p:attrNameLst>
                                      </p:cBhvr>
                                      <p:tavLst>
                                        <p:tav tm="0">
                                          <p:val>
                                            <p:fltVal val="0"/>
                                          </p:val>
                                        </p:tav>
                                        <p:tav tm="100000">
                                          <p:val>
                                            <p:fltVal val="1"/>
                                          </p:val>
                                        </p:tav>
                                      </p:tavLst>
                                    </p:anim>
                                  </p:childTnLst>
                                </p:cTn>
                              </p:par>
                            </p:childTnLst>
                          </p:cTn>
                        </p:par>
                      </p:childTnLst>
                    </p:cTn>
                  </p:par>
                  <p:par>
                    <p:cTn id="128" fill="hold">
                      <p:stCondLst>
                        <p:cond delay="indefinite"/>
                        <p:cond evt="onBegin" delay="0">
                          <p:tn val="2"/>
                        </p:cond>
                      </p:stCondLst>
                      <p:childTnLst>
                        <p:par>
                          <p:cTn id="129" fill="hold">
                            <p:stCondLst>
                              <p:cond delay="0"/>
                            </p:stCondLst>
                            <p:childTnLst>
                              <p:par>
                                <p:cTn id="130" presetID="10" presetClass="entr" presetSubtype="0" fill="hold" grpId="0" nodeType="afterEffect">
                                  <p:stCondLst>
                                    <p:cond delay="18"/>
                                  </p:stCondLst>
                                  <p:childTnLst>
                                    <p:set>
                                      <p:cBhvr>
                                        <p:cTn id="131" dur="1" fill="hold">
                                          <p:stCondLst>
                                            <p:cond delay="0"/>
                                          </p:stCondLst>
                                        </p:cTn>
                                        <p:tgtEl>
                                          <p:spTgt spid="27"/>
                                        </p:tgtEl>
                                        <p:attrNameLst>
                                          <p:attrName>style.visibility</p:attrName>
                                        </p:attrNameLst>
                                      </p:cBhvr>
                                      <p:to>
                                        <p:strVal val="visible"/>
                                      </p:to>
                                    </p:set>
                                    <p:anim calcmode="lin" valueType="num">
                                      <p:cBhvr additive="base">
                                        <p:cTn id="132" dur="150" fill="hold"/>
                                        <p:tgtEl>
                                          <p:spTgt spid="27"/>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BF5"/>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2C5244"/>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0F1F1A"/>
                </a:solidFill>
                <a:latin typeface="Calibri"/>
              </a:rPr>
              <a:t>WEEK 1   /   LESSON 5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0F766E"/>
                </a:solidFill>
                <a:latin typeface="Calibri"/>
              </a:rPr>
              <a:t>REFLECT  &amp;  APPLY</a:t>
            </a:r>
          </a:p>
        </p:txBody>
      </p:sp>
      <p:sp>
        <p:nvSpPr>
          <p:cNvPr id="6" name="TextBox 5"/>
          <p:cNvSpPr txBox="1"/>
          <p:nvPr/>
        </p:nvSpPr>
        <p:spPr>
          <a:xfrm>
            <a:off x="548640" y="1463040"/>
            <a:ext cx="10972800" cy="1097280"/>
          </a:xfrm>
          <a:prstGeom prst="rect">
            <a:avLst/>
          </a:prstGeom>
          <a:noFill/>
        </p:spPr>
        <p:txBody>
          <a:bodyPr wrap="square" lIns="0" rIns="0" tIns="0" bIns="0" anchor="t">
            <a:spAutoFit/>
          </a:bodyPr>
          <a:lstStyle/>
          <a:p>
            <a:pPr algn="l"/>
            <a:r>
              <a:rPr sz="2800" b="0" i="0">
                <a:solidFill>
                  <a:srgbClr val="0F1F1A"/>
                </a:solidFill>
                <a:latin typeface="Georgia"/>
              </a:rPr>
              <a:t>Three questions before you close this lesson</a:t>
            </a:r>
          </a:p>
        </p:txBody>
      </p:sp>
      <p:sp>
        <p:nvSpPr>
          <p:cNvPr id="7" name="TextBox 6"/>
          <p:cNvSpPr txBox="1"/>
          <p:nvPr/>
        </p:nvSpPr>
        <p:spPr>
          <a:xfrm>
            <a:off x="548640" y="2286000"/>
            <a:ext cx="10972800" cy="914400"/>
          </a:xfrm>
          <a:prstGeom prst="rect">
            <a:avLst/>
          </a:prstGeom>
          <a:noFill/>
        </p:spPr>
        <p:txBody>
          <a:bodyPr wrap="square" lIns="0" rIns="0" tIns="0" bIns="0" anchor="t">
            <a:spAutoFit/>
          </a:bodyPr>
          <a:lstStyle/>
          <a:p>
            <a:pPr algn="l">
              <a:lnSpc>
                <a:spcPct val="125000"/>
              </a:lnSpc>
            </a:pPr>
            <a:r>
              <a:rPr sz="1400" b="0" i="0">
                <a:solidFill>
                  <a:srgbClr val="475569"/>
                </a:solidFill>
                <a:latin typeface="Calibri"/>
              </a:rPr>
              <a:t>Spend 60 seconds on each. Write the answers down — no scrolling, no shortcuts.</a:t>
            </a:r>
          </a:p>
        </p:txBody>
      </p:sp>
      <p:sp>
        <p:nvSpPr>
          <p:cNvPr id="8" name="Rectangle 7"/>
          <p:cNvSpPr/>
          <p:nvPr/>
        </p:nvSpPr>
        <p:spPr>
          <a:xfrm>
            <a:off x="548640" y="3200400"/>
            <a:ext cx="11064240" cy="82296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3200400"/>
            <a:ext cx="777240" cy="822960"/>
          </a:xfrm>
          <a:prstGeom prst="rect">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3200400"/>
            <a:ext cx="777240" cy="822960"/>
          </a:xfrm>
          <a:prstGeom prst="rect">
            <a:avLst/>
          </a:prstGeom>
          <a:noFill/>
        </p:spPr>
        <p:txBody>
          <a:bodyPr wrap="square" lIns="0" rIns="0" tIns="0" bIns="0" anchor="ctr">
            <a:spAutoFit/>
          </a:bodyPr>
          <a:lstStyle/>
          <a:p>
            <a:pPr algn="ctr"/>
            <a:r>
              <a:rPr sz="2000" b="1" i="0">
                <a:solidFill>
                  <a:srgbClr val="C5E063"/>
                </a:solidFill>
                <a:latin typeface="Georgia"/>
              </a:rPr>
              <a:t>Q1</a:t>
            </a:r>
          </a:p>
        </p:txBody>
      </p:sp>
      <p:sp>
        <p:nvSpPr>
          <p:cNvPr id="11" name="TextBox 10"/>
          <p:cNvSpPr txBox="1"/>
          <p:nvPr/>
        </p:nvSpPr>
        <p:spPr>
          <a:xfrm>
            <a:off x="1554480" y="3200400"/>
            <a:ext cx="9966960" cy="822960"/>
          </a:xfrm>
          <a:prstGeom prst="rect">
            <a:avLst/>
          </a:prstGeom>
          <a:noFill/>
        </p:spPr>
        <p:txBody>
          <a:bodyPr wrap="square" lIns="0" rIns="0" tIns="0" bIns="0" anchor="ctr">
            <a:spAutoFit/>
          </a:bodyPr>
          <a:lstStyle/>
          <a:p>
            <a:pPr algn="l">
              <a:lnSpc>
                <a:spcPct val="130000"/>
              </a:lnSpc>
            </a:pPr>
            <a:r>
              <a:rPr sz="1300" b="0" i="1">
                <a:solidFill>
                  <a:srgbClr val="0F1F1A"/>
                </a:solidFill>
                <a:latin typeface="Calibri"/>
              </a:rPr>
              <a:t>Where will you apply this in your next project?</a:t>
            </a:r>
          </a:p>
        </p:txBody>
      </p:sp>
      <p:sp>
        <p:nvSpPr>
          <p:cNvPr id="12" name="Rectangle 11"/>
          <p:cNvSpPr/>
          <p:nvPr/>
        </p:nvSpPr>
        <p:spPr>
          <a:xfrm>
            <a:off x="548640" y="4160520"/>
            <a:ext cx="11064240" cy="82296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4160520"/>
            <a:ext cx="777240" cy="822960"/>
          </a:xfrm>
          <a:prstGeom prst="rect">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4160520"/>
            <a:ext cx="777240" cy="822960"/>
          </a:xfrm>
          <a:prstGeom prst="rect">
            <a:avLst/>
          </a:prstGeom>
          <a:noFill/>
        </p:spPr>
        <p:txBody>
          <a:bodyPr wrap="square" lIns="0" rIns="0" tIns="0" bIns="0" anchor="ctr">
            <a:spAutoFit/>
          </a:bodyPr>
          <a:lstStyle/>
          <a:p>
            <a:pPr algn="ctr"/>
            <a:r>
              <a:rPr sz="2000" b="1" i="0">
                <a:solidFill>
                  <a:srgbClr val="C5E063"/>
                </a:solidFill>
                <a:latin typeface="Georgia"/>
              </a:rPr>
              <a:t>Q2</a:t>
            </a:r>
          </a:p>
        </p:txBody>
      </p:sp>
      <p:sp>
        <p:nvSpPr>
          <p:cNvPr id="15" name="TextBox 14"/>
          <p:cNvSpPr txBox="1"/>
          <p:nvPr/>
        </p:nvSpPr>
        <p:spPr>
          <a:xfrm>
            <a:off x="1554480" y="4160520"/>
            <a:ext cx="9966960" cy="822960"/>
          </a:xfrm>
          <a:prstGeom prst="rect">
            <a:avLst/>
          </a:prstGeom>
          <a:noFill/>
        </p:spPr>
        <p:txBody>
          <a:bodyPr wrap="square" lIns="0" rIns="0" tIns="0" bIns="0" anchor="ctr">
            <a:spAutoFit/>
          </a:bodyPr>
          <a:lstStyle/>
          <a:p>
            <a:pPr algn="l">
              <a:lnSpc>
                <a:spcPct val="130000"/>
              </a:lnSpc>
            </a:pPr>
            <a:r>
              <a:rPr sz="1300" b="0" i="1">
                <a:solidFill>
                  <a:srgbClr val="0F1F1A"/>
                </a:solidFill>
                <a:latin typeface="Calibri"/>
              </a:rPr>
              <a:t>What was the single biggest 'aha' from this lesson?</a:t>
            </a:r>
          </a:p>
        </p:txBody>
      </p:sp>
      <p:sp>
        <p:nvSpPr>
          <p:cNvPr id="16" name="Rectangle 15"/>
          <p:cNvSpPr/>
          <p:nvPr/>
        </p:nvSpPr>
        <p:spPr>
          <a:xfrm>
            <a:off x="548640" y="5120640"/>
            <a:ext cx="11064240" cy="82296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5120640"/>
            <a:ext cx="777240" cy="822960"/>
          </a:xfrm>
          <a:prstGeom prst="rect">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5120640"/>
            <a:ext cx="777240" cy="822960"/>
          </a:xfrm>
          <a:prstGeom prst="rect">
            <a:avLst/>
          </a:prstGeom>
          <a:noFill/>
        </p:spPr>
        <p:txBody>
          <a:bodyPr wrap="square" lIns="0" rIns="0" tIns="0" bIns="0" anchor="ctr">
            <a:spAutoFit/>
          </a:bodyPr>
          <a:lstStyle/>
          <a:p>
            <a:pPr algn="ctr"/>
            <a:r>
              <a:rPr sz="2000" b="1" i="0">
                <a:solidFill>
                  <a:srgbClr val="C5E063"/>
                </a:solidFill>
                <a:latin typeface="Georgia"/>
              </a:rPr>
              <a:t>Q3</a:t>
            </a:r>
          </a:p>
        </p:txBody>
      </p:sp>
      <p:sp>
        <p:nvSpPr>
          <p:cNvPr id="19" name="TextBox 18"/>
          <p:cNvSpPr txBox="1"/>
          <p:nvPr/>
        </p:nvSpPr>
        <p:spPr>
          <a:xfrm>
            <a:off x="1554480" y="5120640"/>
            <a:ext cx="9966960" cy="822960"/>
          </a:xfrm>
          <a:prstGeom prst="rect">
            <a:avLst/>
          </a:prstGeom>
          <a:noFill/>
        </p:spPr>
        <p:txBody>
          <a:bodyPr wrap="square" lIns="0" rIns="0" tIns="0" bIns="0" anchor="ctr">
            <a:spAutoFit/>
          </a:bodyPr>
          <a:lstStyle/>
          <a:p>
            <a:pPr algn="l">
              <a:lnSpc>
                <a:spcPct val="130000"/>
              </a:lnSpc>
            </a:pPr>
            <a:r>
              <a:rPr sz="1300" b="0" i="1">
                <a:solidFill>
                  <a:srgbClr val="0F1F1A"/>
                </a:solidFill>
                <a:latin typeface="Calibri"/>
              </a:rPr>
              <a:t>Which habit will you start using this week?</a:t>
            </a:r>
          </a:p>
        </p:txBody>
      </p:sp>
      <p:sp>
        <p:nvSpPr>
          <p:cNvPr id="20" name="TextBox 19"/>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475569"/>
                </a:solidFill>
                <a:latin typeface="Calibri"/>
              </a:rPr>
              <a:t>AI  LEARNING  HUB   ·   LESSON 5 OF 7</a:t>
            </a:r>
          </a:p>
        </p:txBody>
      </p:sp>
      <p:sp>
        <p:nvSpPr>
          <p:cNvPr id="21" name="TextBox 20"/>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475569"/>
                </a:solidFill>
                <a:latin typeface="Calibri"/>
              </a:rPr>
              <a:t>REFLECT</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A352B"/>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1 min</a:t>
            </a:r>
          </a:p>
        </p:txBody>
      </p:sp>
      <p:sp>
        <p:nvSpPr>
          <p:cNvPr id="5" name="TextBox 4"/>
          <p:cNvSpPr txBox="1"/>
          <p:nvPr/>
        </p:nvSpPr>
        <p:spPr>
          <a:xfrm>
            <a:off x="274320" y="1371600"/>
            <a:ext cx="5120640" cy="4389120"/>
          </a:xfrm>
          <a:prstGeom prst="rect">
            <a:avLst/>
          </a:prstGeom>
          <a:noFill/>
        </p:spPr>
        <p:txBody>
          <a:bodyPr wrap="square" lIns="0" rIns="0" tIns="0" bIns="0" anchor="t">
            <a:spAutoFit/>
          </a:bodyPr>
          <a:lstStyle/>
          <a:p>
            <a:pPr algn="l"/>
            <a:r>
              <a:rPr sz="20000" b="1" i="0">
                <a:solidFill>
                  <a:srgbClr val="C5E063"/>
                </a:solidFill>
                <a:latin typeface="Georgia"/>
              </a:rPr>
              <a:t>03</a:t>
            </a:r>
          </a:p>
        </p:txBody>
      </p:sp>
      <p:sp>
        <p:nvSpPr>
          <p:cNvPr id="6" name="TextBox 5"/>
          <p:cNvSpPr txBox="1"/>
          <p:nvPr/>
        </p:nvSpPr>
        <p:spPr>
          <a:xfrm>
            <a:off x="5486400" y="2103120"/>
            <a:ext cx="6400800" cy="365760"/>
          </a:xfrm>
          <a:prstGeom prst="rect">
            <a:avLst/>
          </a:prstGeom>
          <a:noFill/>
        </p:spPr>
        <p:txBody>
          <a:bodyPr wrap="square" lIns="0" rIns="0" tIns="0" bIns="0" anchor="t">
            <a:spAutoFit/>
          </a:bodyPr>
          <a:lstStyle/>
          <a:p>
            <a:pPr algn="l"/>
            <a:r>
              <a:rPr sz="1100" b="1" i="0" spc="600">
                <a:solidFill>
                  <a:srgbClr val="C5E063"/>
                </a:solidFill>
                <a:latin typeface="Calibri"/>
              </a:rPr>
              <a:t>PART 3  OF  4</a:t>
            </a:r>
          </a:p>
        </p:txBody>
      </p:sp>
      <p:sp>
        <p:nvSpPr>
          <p:cNvPr id="7" name="TextBox 6"/>
          <p:cNvSpPr txBox="1"/>
          <p:nvPr/>
        </p:nvSpPr>
        <p:spPr>
          <a:xfrm>
            <a:off x="5486400" y="2606040"/>
            <a:ext cx="6400800" cy="1280160"/>
          </a:xfrm>
          <a:prstGeom prst="rect">
            <a:avLst/>
          </a:prstGeom>
          <a:noFill/>
        </p:spPr>
        <p:txBody>
          <a:bodyPr wrap="square" lIns="0" rIns="0" tIns="0" bIns="0" anchor="t">
            <a:spAutoFit/>
          </a:bodyPr>
          <a:lstStyle/>
          <a:p>
            <a:pPr algn="l"/>
            <a:r>
              <a:rPr sz="3600" b="1" i="0">
                <a:solidFill>
                  <a:srgbClr val="FFFFFF"/>
                </a:solidFill>
                <a:latin typeface="Georgia"/>
              </a:rPr>
              <a:t>Knowledge check</a:t>
            </a:r>
          </a:p>
        </p:txBody>
      </p:sp>
      <p:sp>
        <p:nvSpPr>
          <p:cNvPr id="8" name="Rectangle 7"/>
          <p:cNvSpPr/>
          <p:nvPr/>
        </p:nvSpPr>
        <p:spPr>
          <a:xfrm>
            <a:off x="5486400" y="4160520"/>
            <a:ext cx="457200" cy="4572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0" y="4343400"/>
            <a:ext cx="6400800" cy="1828800"/>
          </a:xfrm>
          <a:prstGeom prst="rect">
            <a:avLst/>
          </a:prstGeom>
          <a:noFill/>
        </p:spPr>
        <p:txBody>
          <a:bodyPr wrap="square" lIns="0" rIns="0" tIns="0" bIns="0" anchor="t">
            <a:spAutoFit/>
          </a:bodyPr>
          <a:lstStyle/>
          <a:p>
            <a:pPr algn="l">
              <a:lnSpc>
                <a:spcPct val="140000"/>
              </a:lnSpc>
            </a:pPr>
            <a:r>
              <a:rPr sz="1300" b="0" i="0">
                <a:solidFill>
                  <a:srgbClr val="E5E7EB"/>
                </a:solidFill>
                <a:latin typeface="Calibri"/>
              </a:rPr>
              <a:t>Three short questions. One minute each. Honest answers only.</a:t>
            </a:r>
          </a:p>
        </p:txBody>
      </p:sp>
      <p:sp>
        <p:nvSpPr>
          <p:cNvPr id="10" name="TextBox 9"/>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11" name="TextBox 10"/>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PART 3</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KNOWLEDGE CHECK   ·   QUESTION 1  OF  3</a:t>
            </a:r>
          </a:p>
        </p:txBody>
      </p:sp>
      <p:sp>
        <p:nvSpPr>
          <p:cNvPr id="6" name="TextBox 5"/>
          <p:cNvSpPr txBox="1"/>
          <p:nvPr/>
        </p:nvSpPr>
        <p:spPr>
          <a:xfrm>
            <a:off x="548640" y="1463040"/>
            <a:ext cx="11064240" cy="1371600"/>
          </a:xfrm>
          <a:prstGeom prst="rect">
            <a:avLst/>
          </a:prstGeom>
          <a:noFill/>
        </p:spPr>
        <p:txBody>
          <a:bodyPr wrap="square" lIns="0" rIns="0" tIns="0" bIns="0" anchor="t">
            <a:spAutoFit/>
          </a:bodyPr>
          <a:lstStyle/>
          <a:p>
            <a:pPr algn="l">
              <a:lnSpc>
                <a:spcPct val="130000"/>
              </a:lnSpc>
            </a:pPr>
            <a:r>
              <a:rPr sz="2200" b="1" i="0">
                <a:solidFill>
                  <a:srgbClr val="FFFFFF"/>
                </a:solidFill>
                <a:latin typeface="Georgia"/>
              </a:rPr>
              <a:t>Fastest ANN for most needs:</a:t>
            </a:r>
          </a:p>
        </p:txBody>
      </p:sp>
      <p:sp>
        <p:nvSpPr>
          <p:cNvPr id="7" name="Rectangle 6"/>
          <p:cNvSpPr/>
          <p:nvPr/>
        </p:nvSpPr>
        <p:spPr>
          <a:xfrm>
            <a:off x="548640" y="320040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347472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474720"/>
            <a:ext cx="594360" cy="594360"/>
          </a:xfrm>
          <a:prstGeom prst="rect">
            <a:avLst/>
          </a:prstGeom>
          <a:noFill/>
        </p:spPr>
        <p:txBody>
          <a:bodyPr wrap="square" lIns="0" rIns="0" tIns="0" bIns="0" anchor="ctr">
            <a:spAutoFit/>
          </a:bodyPr>
          <a:lstStyle/>
          <a:p>
            <a:pPr algn="ctr"/>
            <a:r>
              <a:rPr sz="1800" b="1" i="0">
                <a:solidFill>
                  <a:srgbClr val="2C5244"/>
                </a:solidFill>
                <a:latin typeface="Georgia"/>
              </a:rPr>
              <a:t>A</a:t>
            </a:r>
          </a:p>
        </p:txBody>
      </p:sp>
      <p:sp>
        <p:nvSpPr>
          <p:cNvPr id="10" name="TextBox 9"/>
          <p:cNvSpPr txBox="1"/>
          <p:nvPr/>
        </p:nvSpPr>
        <p:spPr>
          <a:xfrm>
            <a:off x="1508760" y="320040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Brute force</a:t>
            </a:r>
          </a:p>
        </p:txBody>
      </p:sp>
      <p:sp>
        <p:nvSpPr>
          <p:cNvPr id="11" name="Rectangle 10"/>
          <p:cNvSpPr/>
          <p:nvPr/>
        </p:nvSpPr>
        <p:spPr>
          <a:xfrm>
            <a:off x="6263640" y="320040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46520" y="347472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3474720"/>
            <a:ext cx="594360" cy="594360"/>
          </a:xfrm>
          <a:prstGeom prst="rect">
            <a:avLst/>
          </a:prstGeom>
          <a:noFill/>
        </p:spPr>
        <p:txBody>
          <a:bodyPr wrap="square" lIns="0" rIns="0" tIns="0" bIns="0" anchor="ctr">
            <a:spAutoFit/>
          </a:bodyPr>
          <a:lstStyle/>
          <a:p>
            <a:pPr algn="ctr"/>
            <a:r>
              <a:rPr sz="1800" b="1" i="0">
                <a:solidFill>
                  <a:srgbClr val="2C5244"/>
                </a:solidFill>
                <a:latin typeface="Georgia"/>
              </a:rPr>
              <a:t>B</a:t>
            </a:r>
          </a:p>
        </p:txBody>
      </p:sp>
      <p:sp>
        <p:nvSpPr>
          <p:cNvPr id="14" name="TextBox 13"/>
          <p:cNvSpPr txBox="1"/>
          <p:nvPr/>
        </p:nvSpPr>
        <p:spPr>
          <a:xfrm>
            <a:off x="7223760" y="320040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HNSW</a:t>
            </a:r>
          </a:p>
        </p:txBody>
      </p:sp>
      <p:sp>
        <p:nvSpPr>
          <p:cNvPr id="15" name="Rectangle 14"/>
          <p:cNvSpPr/>
          <p:nvPr/>
        </p:nvSpPr>
        <p:spPr>
          <a:xfrm>
            <a:off x="548640" y="452628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31520" y="480060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800600"/>
            <a:ext cx="594360" cy="594360"/>
          </a:xfrm>
          <a:prstGeom prst="rect">
            <a:avLst/>
          </a:prstGeom>
          <a:noFill/>
        </p:spPr>
        <p:txBody>
          <a:bodyPr wrap="square" lIns="0" rIns="0" tIns="0" bIns="0" anchor="ctr">
            <a:spAutoFit/>
          </a:bodyPr>
          <a:lstStyle/>
          <a:p>
            <a:pPr algn="ctr"/>
            <a:r>
              <a:rPr sz="1800" b="1" i="0">
                <a:solidFill>
                  <a:srgbClr val="2C5244"/>
                </a:solidFill>
                <a:latin typeface="Georgia"/>
              </a:rPr>
              <a:t>C</a:t>
            </a:r>
          </a:p>
        </p:txBody>
      </p:sp>
      <p:sp>
        <p:nvSpPr>
          <p:cNvPr id="18" name="TextBox 17"/>
          <p:cNvSpPr txBox="1"/>
          <p:nvPr/>
        </p:nvSpPr>
        <p:spPr>
          <a:xfrm>
            <a:off x="1508760" y="452628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Binary search</a:t>
            </a:r>
          </a:p>
        </p:txBody>
      </p:sp>
      <p:sp>
        <p:nvSpPr>
          <p:cNvPr id="19" name="Rectangle 18"/>
          <p:cNvSpPr/>
          <p:nvPr/>
        </p:nvSpPr>
        <p:spPr>
          <a:xfrm>
            <a:off x="6263640" y="452628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446520" y="480060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4800600"/>
            <a:ext cx="594360" cy="594360"/>
          </a:xfrm>
          <a:prstGeom prst="rect">
            <a:avLst/>
          </a:prstGeom>
          <a:noFill/>
        </p:spPr>
        <p:txBody>
          <a:bodyPr wrap="square" lIns="0" rIns="0" tIns="0" bIns="0" anchor="ctr">
            <a:spAutoFit/>
          </a:bodyPr>
          <a:lstStyle/>
          <a:p>
            <a:pPr algn="ctr"/>
            <a:r>
              <a:rPr sz="1800" b="1" i="0">
                <a:solidFill>
                  <a:srgbClr val="2C5244"/>
                </a:solidFill>
                <a:latin typeface="Georgia"/>
              </a:rPr>
              <a:t>D</a:t>
            </a:r>
          </a:p>
        </p:txBody>
      </p:sp>
      <p:sp>
        <p:nvSpPr>
          <p:cNvPr id="22" name="TextBox 21"/>
          <p:cNvSpPr txBox="1"/>
          <p:nvPr/>
        </p:nvSpPr>
        <p:spPr>
          <a:xfrm>
            <a:off x="7223760" y="452628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Hash</a:t>
            </a:r>
          </a:p>
        </p:txBody>
      </p:sp>
      <p:sp>
        <p:nvSpPr>
          <p:cNvPr id="23" name="TextBox 22"/>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24" name="TextBox 23"/>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Q1</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ANSWER   ·   QUESTION 1  OF  3</a:t>
            </a:r>
          </a:p>
        </p:txBody>
      </p:sp>
      <p:sp>
        <p:nvSpPr>
          <p:cNvPr id="6" name="TextBox 5"/>
          <p:cNvSpPr txBox="1"/>
          <p:nvPr/>
        </p:nvSpPr>
        <p:spPr>
          <a:xfrm>
            <a:off x="548640" y="1463040"/>
            <a:ext cx="11064240" cy="914400"/>
          </a:xfrm>
          <a:prstGeom prst="rect">
            <a:avLst/>
          </a:prstGeom>
          <a:noFill/>
        </p:spPr>
        <p:txBody>
          <a:bodyPr wrap="square" lIns="0" rIns="0" tIns="0" bIns="0" anchor="t">
            <a:spAutoFit/>
          </a:bodyPr>
          <a:lstStyle/>
          <a:p>
            <a:pPr algn="l">
              <a:lnSpc>
                <a:spcPct val="130000"/>
              </a:lnSpc>
            </a:pPr>
            <a:r>
              <a:rPr sz="1800" b="1" i="1">
                <a:solidFill>
                  <a:srgbClr val="FFFFFF"/>
                </a:solidFill>
                <a:latin typeface="Georgia"/>
              </a:rPr>
              <a:t>Fastest ANN for most needs:</a:t>
            </a:r>
          </a:p>
        </p:txBody>
      </p:sp>
      <p:sp>
        <p:nvSpPr>
          <p:cNvPr id="7" name="Rectangle 6"/>
          <p:cNvSpPr/>
          <p:nvPr/>
        </p:nvSpPr>
        <p:spPr>
          <a:xfrm>
            <a:off x="548640" y="2743200"/>
            <a:ext cx="11064240" cy="146304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77240" y="2971800"/>
            <a:ext cx="1005840" cy="100584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971800"/>
            <a:ext cx="1005840" cy="1005840"/>
          </a:xfrm>
          <a:prstGeom prst="rect">
            <a:avLst/>
          </a:prstGeom>
          <a:noFill/>
        </p:spPr>
        <p:txBody>
          <a:bodyPr wrap="square" lIns="0" rIns="0" tIns="0" bIns="0" anchor="ctr">
            <a:spAutoFit/>
          </a:bodyPr>
          <a:lstStyle/>
          <a:p>
            <a:pPr algn="ctr"/>
            <a:r>
              <a:rPr sz="3600" b="1" i="0">
                <a:solidFill>
                  <a:srgbClr val="C5E063"/>
                </a:solidFill>
                <a:latin typeface="Georgia"/>
              </a:rPr>
              <a:t>B</a:t>
            </a:r>
          </a:p>
        </p:txBody>
      </p:sp>
      <p:sp>
        <p:nvSpPr>
          <p:cNvPr id="10" name="TextBox 9"/>
          <p:cNvSpPr txBox="1"/>
          <p:nvPr/>
        </p:nvSpPr>
        <p:spPr>
          <a:xfrm>
            <a:off x="1965960" y="2880360"/>
            <a:ext cx="9509760" cy="365760"/>
          </a:xfrm>
          <a:prstGeom prst="rect">
            <a:avLst/>
          </a:prstGeom>
          <a:noFill/>
        </p:spPr>
        <p:txBody>
          <a:bodyPr wrap="square" lIns="0" rIns="0" tIns="0" bIns="0" anchor="t">
            <a:spAutoFit/>
          </a:bodyPr>
          <a:lstStyle/>
          <a:p>
            <a:pPr algn="l"/>
            <a:r>
              <a:rPr sz="1000" b="1" i="0" spc="500">
                <a:solidFill>
                  <a:srgbClr val="2C5244"/>
                </a:solidFill>
                <a:latin typeface="Calibri"/>
              </a:rPr>
              <a:t>CORRECT  ANSWER</a:t>
            </a:r>
          </a:p>
        </p:txBody>
      </p:sp>
      <p:sp>
        <p:nvSpPr>
          <p:cNvPr id="11" name="TextBox 10"/>
          <p:cNvSpPr txBox="1"/>
          <p:nvPr/>
        </p:nvSpPr>
        <p:spPr>
          <a:xfrm>
            <a:off x="1965960" y="3200400"/>
            <a:ext cx="9509760" cy="914400"/>
          </a:xfrm>
          <a:prstGeom prst="rect">
            <a:avLst/>
          </a:prstGeom>
          <a:noFill/>
        </p:spPr>
        <p:txBody>
          <a:bodyPr wrap="square" lIns="0" rIns="0" tIns="0" bIns="0" anchor="t">
            <a:spAutoFit/>
          </a:bodyPr>
          <a:lstStyle/>
          <a:p>
            <a:pPr algn="l">
              <a:lnSpc>
                <a:spcPct val="125000"/>
              </a:lnSpc>
            </a:pPr>
            <a:r>
              <a:rPr sz="1800" b="1" i="0">
                <a:solidFill>
                  <a:srgbClr val="2C5244"/>
                </a:solidFill>
                <a:latin typeface="Georgia"/>
              </a:rPr>
              <a:t>HNSW</a:t>
            </a:r>
          </a:p>
        </p:txBody>
      </p:sp>
      <p:sp>
        <p:nvSpPr>
          <p:cNvPr id="12" name="Rectangle 11"/>
          <p:cNvSpPr/>
          <p:nvPr/>
        </p:nvSpPr>
        <p:spPr>
          <a:xfrm>
            <a:off x="548640" y="4526280"/>
            <a:ext cx="11064240" cy="14630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4663440"/>
            <a:ext cx="10607040" cy="274320"/>
          </a:xfrm>
          <a:prstGeom prst="rect">
            <a:avLst/>
          </a:prstGeom>
          <a:noFill/>
        </p:spPr>
        <p:txBody>
          <a:bodyPr wrap="square" lIns="0" rIns="0" tIns="0" bIns="0" anchor="t">
            <a:spAutoFit/>
          </a:bodyPr>
          <a:lstStyle/>
          <a:p>
            <a:pPr algn="l"/>
            <a:r>
              <a:rPr sz="1000" b="1" i="0" spc="500">
                <a:solidFill>
                  <a:srgbClr val="C5E063"/>
                </a:solidFill>
                <a:latin typeface="Calibri"/>
              </a:rPr>
              <a:t>WHY</a:t>
            </a:r>
          </a:p>
        </p:txBody>
      </p:sp>
      <p:sp>
        <p:nvSpPr>
          <p:cNvPr id="14" name="TextBox 13"/>
          <p:cNvSpPr txBox="1"/>
          <p:nvPr/>
        </p:nvSpPr>
        <p:spPr>
          <a:xfrm>
            <a:off x="777240" y="4937760"/>
            <a:ext cx="10607040" cy="1005840"/>
          </a:xfrm>
          <a:prstGeom prst="rect">
            <a:avLst/>
          </a:prstGeom>
          <a:noFill/>
        </p:spPr>
        <p:txBody>
          <a:bodyPr wrap="square" lIns="0" rIns="0" tIns="0" bIns="0" anchor="t">
            <a:spAutoFit/>
          </a:bodyPr>
          <a:lstStyle/>
          <a:p>
            <a:pPr algn="l">
              <a:lnSpc>
                <a:spcPct val="140000"/>
              </a:lnSpc>
            </a:pPr>
            <a:r>
              <a:rPr sz="1200" b="0" i="0">
                <a:solidFill>
                  <a:srgbClr val="FFFFFF"/>
                </a:solidFill>
                <a:latin typeface="Calibri"/>
              </a:rPr>
              <a:t>HNSW scales to 100M+ vectors with &lt;10ms latency</a:t>
            </a:r>
          </a:p>
        </p:txBody>
      </p:sp>
      <p:sp>
        <p:nvSpPr>
          <p:cNvPr id="15" name="TextBox 14"/>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16" name="TextBox 15"/>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A1</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KNOWLEDGE CHECK   ·   QUESTION 2  OF  3</a:t>
            </a:r>
          </a:p>
        </p:txBody>
      </p:sp>
      <p:sp>
        <p:nvSpPr>
          <p:cNvPr id="6" name="TextBox 5"/>
          <p:cNvSpPr txBox="1"/>
          <p:nvPr/>
        </p:nvSpPr>
        <p:spPr>
          <a:xfrm>
            <a:off x="548640" y="1463040"/>
            <a:ext cx="11064240" cy="1371600"/>
          </a:xfrm>
          <a:prstGeom prst="rect">
            <a:avLst/>
          </a:prstGeom>
          <a:noFill/>
        </p:spPr>
        <p:txBody>
          <a:bodyPr wrap="square" lIns="0" rIns="0" tIns="0" bIns="0" anchor="t">
            <a:spAutoFit/>
          </a:bodyPr>
          <a:lstStyle/>
          <a:p>
            <a:pPr algn="l">
              <a:lnSpc>
                <a:spcPct val="130000"/>
              </a:lnSpc>
            </a:pPr>
            <a:r>
              <a:rPr sz="2200" b="1" i="0">
                <a:solidFill>
                  <a:srgbClr val="FFFFFF"/>
                </a:solidFill>
                <a:latin typeface="Georgia"/>
              </a:rPr>
              <a:t>pgvector sweet spot:</a:t>
            </a:r>
          </a:p>
        </p:txBody>
      </p:sp>
      <p:sp>
        <p:nvSpPr>
          <p:cNvPr id="7" name="Rectangle 6"/>
          <p:cNvSpPr/>
          <p:nvPr/>
        </p:nvSpPr>
        <p:spPr>
          <a:xfrm>
            <a:off x="548640" y="320040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347472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474720"/>
            <a:ext cx="594360" cy="594360"/>
          </a:xfrm>
          <a:prstGeom prst="rect">
            <a:avLst/>
          </a:prstGeom>
          <a:noFill/>
        </p:spPr>
        <p:txBody>
          <a:bodyPr wrap="square" lIns="0" rIns="0" tIns="0" bIns="0" anchor="ctr">
            <a:spAutoFit/>
          </a:bodyPr>
          <a:lstStyle/>
          <a:p>
            <a:pPr algn="ctr"/>
            <a:r>
              <a:rPr sz="1800" b="1" i="0">
                <a:solidFill>
                  <a:srgbClr val="2C5244"/>
                </a:solidFill>
                <a:latin typeface="Georgia"/>
              </a:rPr>
              <a:t>A</a:t>
            </a:r>
          </a:p>
        </p:txBody>
      </p:sp>
      <p:sp>
        <p:nvSpPr>
          <p:cNvPr id="10" name="TextBox 9"/>
          <p:cNvSpPr txBox="1"/>
          <p:nvPr/>
        </p:nvSpPr>
        <p:spPr>
          <a:xfrm>
            <a:off x="1508760" y="320040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Team on Postgres already</a:t>
            </a:r>
          </a:p>
        </p:txBody>
      </p:sp>
      <p:sp>
        <p:nvSpPr>
          <p:cNvPr id="11" name="Rectangle 10"/>
          <p:cNvSpPr/>
          <p:nvPr/>
        </p:nvSpPr>
        <p:spPr>
          <a:xfrm>
            <a:off x="6263640" y="320040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46520" y="347472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3474720"/>
            <a:ext cx="594360" cy="594360"/>
          </a:xfrm>
          <a:prstGeom prst="rect">
            <a:avLst/>
          </a:prstGeom>
          <a:noFill/>
        </p:spPr>
        <p:txBody>
          <a:bodyPr wrap="square" lIns="0" rIns="0" tIns="0" bIns="0" anchor="ctr">
            <a:spAutoFit/>
          </a:bodyPr>
          <a:lstStyle/>
          <a:p>
            <a:pPr algn="ctr"/>
            <a:r>
              <a:rPr sz="1800" b="1" i="0">
                <a:solidFill>
                  <a:srgbClr val="2C5244"/>
                </a:solidFill>
                <a:latin typeface="Georgia"/>
              </a:rPr>
              <a:t>B</a:t>
            </a:r>
          </a:p>
        </p:txBody>
      </p:sp>
      <p:sp>
        <p:nvSpPr>
          <p:cNvPr id="14" name="TextBox 13"/>
          <p:cNvSpPr txBox="1"/>
          <p:nvPr/>
        </p:nvSpPr>
        <p:spPr>
          <a:xfrm>
            <a:off x="7223760" y="320040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Always</a:t>
            </a:r>
          </a:p>
        </p:txBody>
      </p:sp>
      <p:sp>
        <p:nvSpPr>
          <p:cNvPr id="15" name="Rectangle 14"/>
          <p:cNvSpPr/>
          <p:nvPr/>
        </p:nvSpPr>
        <p:spPr>
          <a:xfrm>
            <a:off x="548640" y="452628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31520" y="480060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800600"/>
            <a:ext cx="594360" cy="594360"/>
          </a:xfrm>
          <a:prstGeom prst="rect">
            <a:avLst/>
          </a:prstGeom>
          <a:noFill/>
        </p:spPr>
        <p:txBody>
          <a:bodyPr wrap="square" lIns="0" rIns="0" tIns="0" bIns="0" anchor="ctr">
            <a:spAutoFit/>
          </a:bodyPr>
          <a:lstStyle/>
          <a:p>
            <a:pPr algn="ctr"/>
            <a:r>
              <a:rPr sz="1800" b="1" i="0">
                <a:solidFill>
                  <a:srgbClr val="2C5244"/>
                </a:solidFill>
                <a:latin typeface="Georgia"/>
              </a:rPr>
              <a:t>C</a:t>
            </a:r>
          </a:p>
        </p:txBody>
      </p:sp>
      <p:sp>
        <p:nvSpPr>
          <p:cNvPr id="18" name="TextBox 17"/>
          <p:cNvSpPr txBox="1"/>
          <p:nvPr/>
        </p:nvSpPr>
        <p:spPr>
          <a:xfrm>
            <a:off x="1508760" y="452628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Never</a:t>
            </a:r>
          </a:p>
        </p:txBody>
      </p:sp>
      <p:sp>
        <p:nvSpPr>
          <p:cNvPr id="19" name="Rectangle 18"/>
          <p:cNvSpPr/>
          <p:nvPr/>
        </p:nvSpPr>
        <p:spPr>
          <a:xfrm>
            <a:off x="6263640" y="452628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446520" y="480060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4800600"/>
            <a:ext cx="594360" cy="594360"/>
          </a:xfrm>
          <a:prstGeom prst="rect">
            <a:avLst/>
          </a:prstGeom>
          <a:noFill/>
        </p:spPr>
        <p:txBody>
          <a:bodyPr wrap="square" lIns="0" rIns="0" tIns="0" bIns="0" anchor="ctr">
            <a:spAutoFit/>
          </a:bodyPr>
          <a:lstStyle/>
          <a:p>
            <a:pPr algn="ctr"/>
            <a:r>
              <a:rPr sz="1800" b="1" i="0">
                <a:solidFill>
                  <a:srgbClr val="2C5244"/>
                </a:solidFill>
                <a:latin typeface="Georgia"/>
              </a:rPr>
              <a:t>D</a:t>
            </a:r>
          </a:p>
        </p:txBody>
      </p:sp>
      <p:sp>
        <p:nvSpPr>
          <p:cNvPr id="22" name="TextBox 21"/>
          <p:cNvSpPr txBox="1"/>
          <p:nvPr/>
        </p:nvSpPr>
        <p:spPr>
          <a:xfrm>
            <a:off x="7223760" y="452628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Images only</a:t>
            </a:r>
          </a:p>
        </p:txBody>
      </p:sp>
      <p:sp>
        <p:nvSpPr>
          <p:cNvPr id="23" name="TextBox 22"/>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24" name="TextBox 23"/>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Q2</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ANSWER   ·   QUESTION 2  OF  3</a:t>
            </a:r>
          </a:p>
        </p:txBody>
      </p:sp>
      <p:sp>
        <p:nvSpPr>
          <p:cNvPr id="6" name="TextBox 5"/>
          <p:cNvSpPr txBox="1"/>
          <p:nvPr/>
        </p:nvSpPr>
        <p:spPr>
          <a:xfrm>
            <a:off x="548640" y="1463040"/>
            <a:ext cx="11064240" cy="914400"/>
          </a:xfrm>
          <a:prstGeom prst="rect">
            <a:avLst/>
          </a:prstGeom>
          <a:noFill/>
        </p:spPr>
        <p:txBody>
          <a:bodyPr wrap="square" lIns="0" rIns="0" tIns="0" bIns="0" anchor="t">
            <a:spAutoFit/>
          </a:bodyPr>
          <a:lstStyle/>
          <a:p>
            <a:pPr algn="l">
              <a:lnSpc>
                <a:spcPct val="130000"/>
              </a:lnSpc>
            </a:pPr>
            <a:r>
              <a:rPr sz="1800" b="1" i="1">
                <a:solidFill>
                  <a:srgbClr val="FFFFFF"/>
                </a:solidFill>
                <a:latin typeface="Georgia"/>
              </a:rPr>
              <a:t>pgvector sweet spot:</a:t>
            </a:r>
          </a:p>
        </p:txBody>
      </p:sp>
      <p:sp>
        <p:nvSpPr>
          <p:cNvPr id="7" name="Rectangle 6"/>
          <p:cNvSpPr/>
          <p:nvPr/>
        </p:nvSpPr>
        <p:spPr>
          <a:xfrm>
            <a:off x="548640" y="2743200"/>
            <a:ext cx="11064240" cy="146304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77240" y="2971800"/>
            <a:ext cx="1005840" cy="100584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971800"/>
            <a:ext cx="1005840" cy="1005840"/>
          </a:xfrm>
          <a:prstGeom prst="rect">
            <a:avLst/>
          </a:prstGeom>
          <a:noFill/>
        </p:spPr>
        <p:txBody>
          <a:bodyPr wrap="square" lIns="0" rIns="0" tIns="0" bIns="0" anchor="ctr">
            <a:spAutoFit/>
          </a:bodyPr>
          <a:lstStyle/>
          <a:p>
            <a:pPr algn="ctr"/>
            <a:r>
              <a:rPr sz="3600" b="1" i="0">
                <a:solidFill>
                  <a:srgbClr val="C5E063"/>
                </a:solidFill>
                <a:latin typeface="Georgia"/>
              </a:rPr>
              <a:t>A</a:t>
            </a:r>
          </a:p>
        </p:txBody>
      </p:sp>
      <p:sp>
        <p:nvSpPr>
          <p:cNvPr id="10" name="TextBox 9"/>
          <p:cNvSpPr txBox="1"/>
          <p:nvPr/>
        </p:nvSpPr>
        <p:spPr>
          <a:xfrm>
            <a:off x="1965960" y="2880360"/>
            <a:ext cx="9509760" cy="365760"/>
          </a:xfrm>
          <a:prstGeom prst="rect">
            <a:avLst/>
          </a:prstGeom>
          <a:noFill/>
        </p:spPr>
        <p:txBody>
          <a:bodyPr wrap="square" lIns="0" rIns="0" tIns="0" bIns="0" anchor="t">
            <a:spAutoFit/>
          </a:bodyPr>
          <a:lstStyle/>
          <a:p>
            <a:pPr algn="l"/>
            <a:r>
              <a:rPr sz="1000" b="1" i="0" spc="500">
                <a:solidFill>
                  <a:srgbClr val="2C5244"/>
                </a:solidFill>
                <a:latin typeface="Calibri"/>
              </a:rPr>
              <a:t>CORRECT  ANSWER</a:t>
            </a:r>
          </a:p>
        </p:txBody>
      </p:sp>
      <p:sp>
        <p:nvSpPr>
          <p:cNvPr id="11" name="TextBox 10"/>
          <p:cNvSpPr txBox="1"/>
          <p:nvPr/>
        </p:nvSpPr>
        <p:spPr>
          <a:xfrm>
            <a:off x="1965960" y="3200400"/>
            <a:ext cx="9509760" cy="914400"/>
          </a:xfrm>
          <a:prstGeom prst="rect">
            <a:avLst/>
          </a:prstGeom>
          <a:noFill/>
        </p:spPr>
        <p:txBody>
          <a:bodyPr wrap="square" lIns="0" rIns="0" tIns="0" bIns="0" anchor="t">
            <a:spAutoFit/>
          </a:bodyPr>
          <a:lstStyle/>
          <a:p>
            <a:pPr algn="l">
              <a:lnSpc>
                <a:spcPct val="125000"/>
              </a:lnSpc>
            </a:pPr>
            <a:r>
              <a:rPr sz="1800" b="1" i="0">
                <a:solidFill>
                  <a:srgbClr val="2C5244"/>
                </a:solidFill>
                <a:latin typeface="Georgia"/>
              </a:rPr>
              <a:t>Team on Postgres already</a:t>
            </a:r>
          </a:p>
        </p:txBody>
      </p:sp>
      <p:sp>
        <p:nvSpPr>
          <p:cNvPr id="12" name="Rectangle 11"/>
          <p:cNvSpPr/>
          <p:nvPr/>
        </p:nvSpPr>
        <p:spPr>
          <a:xfrm>
            <a:off x="548640" y="4526280"/>
            <a:ext cx="11064240" cy="14630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4663440"/>
            <a:ext cx="10607040" cy="274320"/>
          </a:xfrm>
          <a:prstGeom prst="rect">
            <a:avLst/>
          </a:prstGeom>
          <a:noFill/>
        </p:spPr>
        <p:txBody>
          <a:bodyPr wrap="square" lIns="0" rIns="0" tIns="0" bIns="0" anchor="t">
            <a:spAutoFit/>
          </a:bodyPr>
          <a:lstStyle/>
          <a:p>
            <a:pPr algn="l"/>
            <a:r>
              <a:rPr sz="1000" b="1" i="0" spc="500">
                <a:solidFill>
                  <a:srgbClr val="C5E063"/>
                </a:solidFill>
                <a:latin typeface="Calibri"/>
              </a:rPr>
              <a:t>WHY</a:t>
            </a:r>
          </a:p>
        </p:txBody>
      </p:sp>
      <p:sp>
        <p:nvSpPr>
          <p:cNvPr id="14" name="TextBox 13"/>
          <p:cNvSpPr txBox="1"/>
          <p:nvPr/>
        </p:nvSpPr>
        <p:spPr>
          <a:xfrm>
            <a:off x="777240" y="4937760"/>
            <a:ext cx="10607040" cy="1005840"/>
          </a:xfrm>
          <a:prstGeom prst="rect">
            <a:avLst/>
          </a:prstGeom>
          <a:noFill/>
        </p:spPr>
        <p:txBody>
          <a:bodyPr wrap="square" lIns="0" rIns="0" tIns="0" bIns="0" anchor="t">
            <a:spAutoFit/>
          </a:bodyPr>
          <a:lstStyle/>
          <a:p>
            <a:pPr algn="l">
              <a:lnSpc>
                <a:spcPct val="140000"/>
              </a:lnSpc>
            </a:pPr>
            <a:r>
              <a:rPr sz="1200" b="0" i="0">
                <a:solidFill>
                  <a:srgbClr val="FFFFFF"/>
                </a:solidFill>
                <a:latin typeface="Calibri"/>
              </a:rPr>
              <a:t>Zero-ops extension when you already run Postgres</a:t>
            </a:r>
          </a:p>
        </p:txBody>
      </p:sp>
      <p:sp>
        <p:nvSpPr>
          <p:cNvPr id="15" name="TextBox 14"/>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16" name="TextBox 15"/>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A2</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KNOWLEDGE CHECK   ·   QUESTION 3  OF  3</a:t>
            </a:r>
          </a:p>
        </p:txBody>
      </p:sp>
      <p:sp>
        <p:nvSpPr>
          <p:cNvPr id="6" name="TextBox 5"/>
          <p:cNvSpPr txBox="1"/>
          <p:nvPr/>
        </p:nvSpPr>
        <p:spPr>
          <a:xfrm>
            <a:off x="548640" y="1463040"/>
            <a:ext cx="11064240" cy="1371600"/>
          </a:xfrm>
          <a:prstGeom prst="rect">
            <a:avLst/>
          </a:prstGeom>
          <a:noFill/>
        </p:spPr>
        <p:txBody>
          <a:bodyPr wrap="square" lIns="0" rIns="0" tIns="0" bIns="0" anchor="t">
            <a:spAutoFit/>
          </a:bodyPr>
          <a:lstStyle/>
          <a:p>
            <a:pPr algn="l">
              <a:lnSpc>
                <a:spcPct val="130000"/>
              </a:lnSpc>
            </a:pPr>
            <a:r>
              <a:rPr sz="2200" b="1" i="0">
                <a:solidFill>
                  <a:srgbClr val="FFFFFF"/>
                </a:solidFill>
                <a:latin typeface="Georgia"/>
              </a:rPr>
              <a:t>Hybrid search combines:</a:t>
            </a:r>
          </a:p>
        </p:txBody>
      </p:sp>
      <p:sp>
        <p:nvSpPr>
          <p:cNvPr id="7" name="Rectangle 6"/>
          <p:cNvSpPr/>
          <p:nvPr/>
        </p:nvSpPr>
        <p:spPr>
          <a:xfrm>
            <a:off x="548640" y="320040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347472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3474720"/>
            <a:ext cx="594360" cy="594360"/>
          </a:xfrm>
          <a:prstGeom prst="rect">
            <a:avLst/>
          </a:prstGeom>
          <a:noFill/>
        </p:spPr>
        <p:txBody>
          <a:bodyPr wrap="square" lIns="0" rIns="0" tIns="0" bIns="0" anchor="ctr">
            <a:spAutoFit/>
          </a:bodyPr>
          <a:lstStyle/>
          <a:p>
            <a:pPr algn="ctr"/>
            <a:r>
              <a:rPr sz="1800" b="1" i="0">
                <a:solidFill>
                  <a:srgbClr val="2C5244"/>
                </a:solidFill>
                <a:latin typeface="Georgia"/>
              </a:rPr>
              <a:t>A</a:t>
            </a:r>
          </a:p>
        </p:txBody>
      </p:sp>
      <p:sp>
        <p:nvSpPr>
          <p:cNvPr id="10" name="TextBox 9"/>
          <p:cNvSpPr txBox="1"/>
          <p:nvPr/>
        </p:nvSpPr>
        <p:spPr>
          <a:xfrm>
            <a:off x="1508760" y="320040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Two models</a:t>
            </a:r>
          </a:p>
        </p:txBody>
      </p:sp>
      <p:sp>
        <p:nvSpPr>
          <p:cNvPr id="11" name="Rectangle 10"/>
          <p:cNvSpPr/>
          <p:nvPr/>
        </p:nvSpPr>
        <p:spPr>
          <a:xfrm>
            <a:off x="6263640" y="320040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446520" y="347472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3474720"/>
            <a:ext cx="594360" cy="594360"/>
          </a:xfrm>
          <a:prstGeom prst="rect">
            <a:avLst/>
          </a:prstGeom>
          <a:noFill/>
        </p:spPr>
        <p:txBody>
          <a:bodyPr wrap="square" lIns="0" rIns="0" tIns="0" bIns="0" anchor="ctr">
            <a:spAutoFit/>
          </a:bodyPr>
          <a:lstStyle/>
          <a:p>
            <a:pPr algn="ctr"/>
            <a:r>
              <a:rPr sz="1800" b="1" i="0">
                <a:solidFill>
                  <a:srgbClr val="2C5244"/>
                </a:solidFill>
                <a:latin typeface="Georgia"/>
              </a:rPr>
              <a:t>B</a:t>
            </a:r>
          </a:p>
        </p:txBody>
      </p:sp>
      <p:sp>
        <p:nvSpPr>
          <p:cNvPr id="14" name="TextBox 13"/>
          <p:cNvSpPr txBox="1"/>
          <p:nvPr/>
        </p:nvSpPr>
        <p:spPr>
          <a:xfrm>
            <a:off x="7223760" y="320040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Dense + BM25</a:t>
            </a:r>
          </a:p>
        </p:txBody>
      </p:sp>
      <p:sp>
        <p:nvSpPr>
          <p:cNvPr id="15" name="Rectangle 14"/>
          <p:cNvSpPr/>
          <p:nvPr/>
        </p:nvSpPr>
        <p:spPr>
          <a:xfrm>
            <a:off x="548640" y="452628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31520" y="480060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800600"/>
            <a:ext cx="594360" cy="594360"/>
          </a:xfrm>
          <a:prstGeom prst="rect">
            <a:avLst/>
          </a:prstGeom>
          <a:noFill/>
        </p:spPr>
        <p:txBody>
          <a:bodyPr wrap="square" lIns="0" rIns="0" tIns="0" bIns="0" anchor="ctr">
            <a:spAutoFit/>
          </a:bodyPr>
          <a:lstStyle/>
          <a:p>
            <a:pPr algn="ctr"/>
            <a:r>
              <a:rPr sz="1800" b="1" i="0">
                <a:solidFill>
                  <a:srgbClr val="2C5244"/>
                </a:solidFill>
                <a:latin typeface="Georgia"/>
              </a:rPr>
              <a:t>C</a:t>
            </a:r>
          </a:p>
        </p:txBody>
      </p:sp>
      <p:sp>
        <p:nvSpPr>
          <p:cNvPr id="18" name="TextBox 17"/>
          <p:cNvSpPr txBox="1"/>
          <p:nvPr/>
        </p:nvSpPr>
        <p:spPr>
          <a:xfrm>
            <a:off x="1508760" y="452628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SQL + Mongo</a:t>
            </a:r>
          </a:p>
        </p:txBody>
      </p:sp>
      <p:sp>
        <p:nvSpPr>
          <p:cNvPr id="19" name="Rectangle 18"/>
          <p:cNvSpPr/>
          <p:nvPr/>
        </p:nvSpPr>
        <p:spPr>
          <a:xfrm>
            <a:off x="6263640" y="4526280"/>
            <a:ext cx="5349240" cy="11430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446520" y="4800600"/>
            <a:ext cx="594360" cy="5943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4800600"/>
            <a:ext cx="594360" cy="594360"/>
          </a:xfrm>
          <a:prstGeom prst="rect">
            <a:avLst/>
          </a:prstGeom>
          <a:noFill/>
        </p:spPr>
        <p:txBody>
          <a:bodyPr wrap="square" lIns="0" rIns="0" tIns="0" bIns="0" anchor="ctr">
            <a:spAutoFit/>
          </a:bodyPr>
          <a:lstStyle/>
          <a:p>
            <a:pPr algn="ctr"/>
            <a:r>
              <a:rPr sz="1800" b="1" i="0">
                <a:solidFill>
                  <a:srgbClr val="2C5244"/>
                </a:solidFill>
                <a:latin typeface="Georgia"/>
              </a:rPr>
              <a:t>D</a:t>
            </a:r>
          </a:p>
        </p:txBody>
      </p:sp>
      <p:sp>
        <p:nvSpPr>
          <p:cNvPr id="22" name="TextBox 21"/>
          <p:cNvSpPr txBox="1"/>
          <p:nvPr/>
        </p:nvSpPr>
        <p:spPr>
          <a:xfrm>
            <a:off x="7223760" y="4526280"/>
            <a:ext cx="4206240" cy="11430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None</a:t>
            </a:r>
          </a:p>
        </p:txBody>
      </p:sp>
      <p:sp>
        <p:nvSpPr>
          <p:cNvPr id="23" name="TextBox 22"/>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24" name="TextBox 23"/>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Q3</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ANSWER   ·   QUESTION 3  OF  3</a:t>
            </a:r>
          </a:p>
        </p:txBody>
      </p:sp>
      <p:sp>
        <p:nvSpPr>
          <p:cNvPr id="6" name="TextBox 5"/>
          <p:cNvSpPr txBox="1"/>
          <p:nvPr/>
        </p:nvSpPr>
        <p:spPr>
          <a:xfrm>
            <a:off x="548640" y="1463040"/>
            <a:ext cx="11064240" cy="914400"/>
          </a:xfrm>
          <a:prstGeom prst="rect">
            <a:avLst/>
          </a:prstGeom>
          <a:noFill/>
        </p:spPr>
        <p:txBody>
          <a:bodyPr wrap="square" lIns="0" rIns="0" tIns="0" bIns="0" anchor="t">
            <a:spAutoFit/>
          </a:bodyPr>
          <a:lstStyle/>
          <a:p>
            <a:pPr algn="l">
              <a:lnSpc>
                <a:spcPct val="130000"/>
              </a:lnSpc>
            </a:pPr>
            <a:r>
              <a:rPr sz="1800" b="1" i="1">
                <a:solidFill>
                  <a:srgbClr val="FFFFFF"/>
                </a:solidFill>
                <a:latin typeface="Georgia"/>
              </a:rPr>
              <a:t>Hybrid search combines:</a:t>
            </a:r>
          </a:p>
        </p:txBody>
      </p:sp>
      <p:sp>
        <p:nvSpPr>
          <p:cNvPr id="7" name="Rectangle 6"/>
          <p:cNvSpPr/>
          <p:nvPr/>
        </p:nvSpPr>
        <p:spPr>
          <a:xfrm>
            <a:off x="548640" y="2743200"/>
            <a:ext cx="11064240" cy="146304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77240" y="2971800"/>
            <a:ext cx="1005840" cy="100584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2971800"/>
            <a:ext cx="1005840" cy="1005840"/>
          </a:xfrm>
          <a:prstGeom prst="rect">
            <a:avLst/>
          </a:prstGeom>
          <a:noFill/>
        </p:spPr>
        <p:txBody>
          <a:bodyPr wrap="square" lIns="0" rIns="0" tIns="0" bIns="0" anchor="ctr">
            <a:spAutoFit/>
          </a:bodyPr>
          <a:lstStyle/>
          <a:p>
            <a:pPr algn="ctr"/>
            <a:r>
              <a:rPr sz="3600" b="1" i="0">
                <a:solidFill>
                  <a:srgbClr val="C5E063"/>
                </a:solidFill>
                <a:latin typeface="Georgia"/>
              </a:rPr>
              <a:t>B</a:t>
            </a:r>
          </a:p>
        </p:txBody>
      </p:sp>
      <p:sp>
        <p:nvSpPr>
          <p:cNvPr id="10" name="TextBox 9"/>
          <p:cNvSpPr txBox="1"/>
          <p:nvPr/>
        </p:nvSpPr>
        <p:spPr>
          <a:xfrm>
            <a:off x="1965960" y="2880360"/>
            <a:ext cx="9509760" cy="365760"/>
          </a:xfrm>
          <a:prstGeom prst="rect">
            <a:avLst/>
          </a:prstGeom>
          <a:noFill/>
        </p:spPr>
        <p:txBody>
          <a:bodyPr wrap="square" lIns="0" rIns="0" tIns="0" bIns="0" anchor="t">
            <a:spAutoFit/>
          </a:bodyPr>
          <a:lstStyle/>
          <a:p>
            <a:pPr algn="l"/>
            <a:r>
              <a:rPr sz="1000" b="1" i="0" spc="500">
                <a:solidFill>
                  <a:srgbClr val="2C5244"/>
                </a:solidFill>
                <a:latin typeface="Calibri"/>
              </a:rPr>
              <a:t>CORRECT  ANSWER</a:t>
            </a:r>
          </a:p>
        </p:txBody>
      </p:sp>
      <p:sp>
        <p:nvSpPr>
          <p:cNvPr id="11" name="TextBox 10"/>
          <p:cNvSpPr txBox="1"/>
          <p:nvPr/>
        </p:nvSpPr>
        <p:spPr>
          <a:xfrm>
            <a:off x="1965960" y="3200400"/>
            <a:ext cx="9509760" cy="914400"/>
          </a:xfrm>
          <a:prstGeom prst="rect">
            <a:avLst/>
          </a:prstGeom>
          <a:noFill/>
        </p:spPr>
        <p:txBody>
          <a:bodyPr wrap="square" lIns="0" rIns="0" tIns="0" bIns="0" anchor="t">
            <a:spAutoFit/>
          </a:bodyPr>
          <a:lstStyle/>
          <a:p>
            <a:pPr algn="l">
              <a:lnSpc>
                <a:spcPct val="125000"/>
              </a:lnSpc>
            </a:pPr>
            <a:r>
              <a:rPr sz="1800" b="1" i="0">
                <a:solidFill>
                  <a:srgbClr val="2C5244"/>
                </a:solidFill>
                <a:latin typeface="Georgia"/>
              </a:rPr>
              <a:t>Dense + BM25</a:t>
            </a:r>
          </a:p>
        </p:txBody>
      </p:sp>
      <p:sp>
        <p:nvSpPr>
          <p:cNvPr id="12" name="Rectangle 11"/>
          <p:cNvSpPr/>
          <p:nvPr/>
        </p:nvSpPr>
        <p:spPr>
          <a:xfrm>
            <a:off x="548640" y="4526280"/>
            <a:ext cx="11064240" cy="146304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4663440"/>
            <a:ext cx="10607040" cy="274320"/>
          </a:xfrm>
          <a:prstGeom prst="rect">
            <a:avLst/>
          </a:prstGeom>
          <a:noFill/>
        </p:spPr>
        <p:txBody>
          <a:bodyPr wrap="square" lIns="0" rIns="0" tIns="0" bIns="0" anchor="t">
            <a:spAutoFit/>
          </a:bodyPr>
          <a:lstStyle/>
          <a:p>
            <a:pPr algn="l"/>
            <a:r>
              <a:rPr sz="1000" b="1" i="0" spc="500">
                <a:solidFill>
                  <a:srgbClr val="C5E063"/>
                </a:solidFill>
                <a:latin typeface="Calibri"/>
              </a:rPr>
              <a:t>WHY</a:t>
            </a:r>
          </a:p>
        </p:txBody>
      </p:sp>
      <p:sp>
        <p:nvSpPr>
          <p:cNvPr id="14" name="TextBox 13"/>
          <p:cNvSpPr txBox="1"/>
          <p:nvPr/>
        </p:nvSpPr>
        <p:spPr>
          <a:xfrm>
            <a:off x="777240" y="4937760"/>
            <a:ext cx="10607040" cy="1005840"/>
          </a:xfrm>
          <a:prstGeom prst="rect">
            <a:avLst/>
          </a:prstGeom>
          <a:noFill/>
        </p:spPr>
        <p:txBody>
          <a:bodyPr wrap="square" lIns="0" rIns="0" tIns="0" bIns="0" anchor="t">
            <a:spAutoFit/>
          </a:bodyPr>
          <a:lstStyle/>
          <a:p>
            <a:pPr algn="l">
              <a:lnSpc>
                <a:spcPct val="140000"/>
              </a:lnSpc>
            </a:pPr>
            <a:r>
              <a:rPr sz="1200" b="0" i="0">
                <a:solidFill>
                  <a:srgbClr val="FFFFFF"/>
                </a:solidFill>
                <a:latin typeface="Calibri"/>
              </a:rPr>
              <a:t>Dense vectors + sparse keyword search unioned + reranked</a:t>
            </a:r>
          </a:p>
        </p:txBody>
      </p:sp>
      <p:sp>
        <p:nvSpPr>
          <p:cNvPr id="15" name="TextBox 14"/>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16" name="TextBox 15"/>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A3</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A352B"/>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1 min</a:t>
            </a:r>
          </a:p>
        </p:txBody>
      </p:sp>
      <p:sp>
        <p:nvSpPr>
          <p:cNvPr id="5" name="TextBox 4"/>
          <p:cNvSpPr txBox="1"/>
          <p:nvPr/>
        </p:nvSpPr>
        <p:spPr>
          <a:xfrm>
            <a:off x="274320" y="1371600"/>
            <a:ext cx="5120640" cy="4389120"/>
          </a:xfrm>
          <a:prstGeom prst="rect">
            <a:avLst/>
          </a:prstGeom>
          <a:noFill/>
        </p:spPr>
        <p:txBody>
          <a:bodyPr wrap="square" lIns="0" rIns="0" tIns="0" bIns="0" anchor="t">
            <a:spAutoFit/>
          </a:bodyPr>
          <a:lstStyle/>
          <a:p>
            <a:pPr algn="l"/>
            <a:r>
              <a:rPr sz="20000" b="1" i="0">
                <a:solidFill>
                  <a:srgbClr val="C5E063"/>
                </a:solidFill>
                <a:latin typeface="Georgia"/>
              </a:rPr>
              <a:t>04</a:t>
            </a:r>
          </a:p>
        </p:txBody>
      </p:sp>
      <p:sp>
        <p:nvSpPr>
          <p:cNvPr id="6" name="TextBox 5"/>
          <p:cNvSpPr txBox="1"/>
          <p:nvPr/>
        </p:nvSpPr>
        <p:spPr>
          <a:xfrm>
            <a:off x="5486400" y="2103120"/>
            <a:ext cx="6400800" cy="365760"/>
          </a:xfrm>
          <a:prstGeom prst="rect">
            <a:avLst/>
          </a:prstGeom>
          <a:noFill/>
        </p:spPr>
        <p:txBody>
          <a:bodyPr wrap="square" lIns="0" rIns="0" tIns="0" bIns="0" anchor="t">
            <a:spAutoFit/>
          </a:bodyPr>
          <a:lstStyle/>
          <a:p>
            <a:pPr algn="l"/>
            <a:r>
              <a:rPr sz="1100" b="1" i="0" spc="600">
                <a:solidFill>
                  <a:srgbClr val="C5E063"/>
                </a:solidFill>
                <a:latin typeface="Calibri"/>
              </a:rPr>
              <a:t>PART 4  OF  4</a:t>
            </a:r>
          </a:p>
        </p:txBody>
      </p:sp>
      <p:sp>
        <p:nvSpPr>
          <p:cNvPr id="7" name="TextBox 6"/>
          <p:cNvSpPr txBox="1"/>
          <p:nvPr/>
        </p:nvSpPr>
        <p:spPr>
          <a:xfrm>
            <a:off x="5486400" y="2606040"/>
            <a:ext cx="6400800" cy="1280160"/>
          </a:xfrm>
          <a:prstGeom prst="rect">
            <a:avLst/>
          </a:prstGeom>
          <a:noFill/>
        </p:spPr>
        <p:txBody>
          <a:bodyPr wrap="square" lIns="0" rIns="0" tIns="0" bIns="0" anchor="t">
            <a:spAutoFit/>
          </a:bodyPr>
          <a:lstStyle/>
          <a:p>
            <a:pPr algn="l"/>
            <a:r>
              <a:rPr sz="3600" b="1" i="0">
                <a:solidFill>
                  <a:srgbClr val="FFFFFF"/>
                </a:solidFill>
                <a:latin typeface="Georgia"/>
              </a:rPr>
              <a:t>Apply and close</a:t>
            </a:r>
          </a:p>
        </p:txBody>
      </p:sp>
      <p:sp>
        <p:nvSpPr>
          <p:cNvPr id="8" name="Rectangle 7"/>
          <p:cNvSpPr/>
          <p:nvPr/>
        </p:nvSpPr>
        <p:spPr>
          <a:xfrm>
            <a:off x="5486400" y="4160520"/>
            <a:ext cx="457200" cy="4572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0" y="4343400"/>
            <a:ext cx="6400800" cy="1828800"/>
          </a:xfrm>
          <a:prstGeom prst="rect">
            <a:avLst/>
          </a:prstGeom>
          <a:noFill/>
        </p:spPr>
        <p:txBody>
          <a:bodyPr wrap="square" lIns="0" rIns="0" tIns="0" bIns="0" anchor="t">
            <a:spAutoFit/>
          </a:bodyPr>
          <a:lstStyle/>
          <a:p>
            <a:pPr algn="l">
              <a:lnSpc>
                <a:spcPct val="140000"/>
              </a:lnSpc>
            </a:pPr>
            <a:r>
              <a:rPr sz="1300" b="0" i="0">
                <a:solidFill>
                  <a:srgbClr val="E5E7EB"/>
                </a:solidFill>
                <a:latin typeface="Calibri"/>
              </a:rPr>
              <a:t>One thing to remember. One thing to ship this week.</a:t>
            </a:r>
          </a:p>
        </p:txBody>
      </p:sp>
      <p:sp>
        <p:nvSpPr>
          <p:cNvPr id="10" name="TextBox 9"/>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11" name="TextBox 10"/>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PART 4</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2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SUMMARY</a:t>
            </a:r>
          </a:p>
        </p:txBody>
      </p:sp>
      <p:sp>
        <p:nvSpPr>
          <p:cNvPr id="6" name="TextBox 5"/>
          <p:cNvSpPr txBox="1"/>
          <p:nvPr/>
        </p:nvSpPr>
        <p:spPr>
          <a:xfrm>
            <a:off x="548640" y="1463040"/>
            <a:ext cx="10972800" cy="1097280"/>
          </a:xfrm>
          <a:prstGeom prst="rect">
            <a:avLst/>
          </a:prstGeom>
          <a:noFill/>
        </p:spPr>
        <p:txBody>
          <a:bodyPr wrap="square" lIns="0" rIns="0" tIns="0" bIns="0" anchor="t">
            <a:spAutoFit/>
          </a:bodyPr>
          <a:lstStyle/>
          <a:p>
            <a:pPr algn="l"/>
            <a:r>
              <a:rPr sz="2800" b="0" i="0">
                <a:solidFill>
                  <a:srgbClr val="FFFFFF"/>
                </a:solidFill>
                <a:latin typeface="Georgia"/>
              </a:rPr>
              <a:t>Five sentences to remember</a:t>
            </a:r>
          </a:p>
        </p:txBody>
      </p:sp>
      <p:sp>
        <p:nvSpPr>
          <p:cNvPr id="7" name="TextBox 6"/>
          <p:cNvSpPr txBox="1"/>
          <p:nvPr/>
        </p:nvSpPr>
        <p:spPr>
          <a:xfrm>
            <a:off x="548640" y="2286000"/>
            <a:ext cx="10972800" cy="914400"/>
          </a:xfrm>
          <a:prstGeom prst="rect">
            <a:avLst/>
          </a:prstGeom>
          <a:noFill/>
        </p:spPr>
        <p:txBody>
          <a:bodyPr wrap="square" lIns="0" rIns="0" tIns="0" bIns="0" anchor="t">
            <a:spAutoFit/>
          </a:bodyPr>
          <a:lstStyle/>
          <a:p>
            <a:pPr algn="l">
              <a:lnSpc>
                <a:spcPct val="125000"/>
              </a:lnSpc>
            </a:pPr>
            <a:r>
              <a:rPr sz="1400" b="0" i="0">
                <a:solidFill>
                  <a:srgbClr val="E5E7EB"/>
                </a:solidFill>
                <a:latin typeface="Calibri"/>
              </a:rPr>
              <a:t>If you remember nothing else from this lesson, remember these five lines.</a:t>
            </a:r>
          </a:p>
        </p:txBody>
      </p:sp>
      <p:sp>
        <p:nvSpPr>
          <p:cNvPr id="8" name="TextBox 7"/>
          <p:cNvSpPr txBox="1"/>
          <p:nvPr/>
        </p:nvSpPr>
        <p:spPr>
          <a:xfrm>
            <a:off x="548640" y="3154680"/>
            <a:ext cx="548640" cy="502920"/>
          </a:xfrm>
          <a:prstGeom prst="rect">
            <a:avLst/>
          </a:prstGeom>
          <a:noFill/>
        </p:spPr>
        <p:txBody>
          <a:bodyPr wrap="square" lIns="0" rIns="0" tIns="0" bIns="0" anchor="ctr">
            <a:spAutoFit/>
          </a:bodyPr>
          <a:lstStyle/>
          <a:p>
            <a:pPr algn="l"/>
            <a:r>
              <a:rPr sz="2800" b="1" i="0">
                <a:solidFill>
                  <a:srgbClr val="C5E063"/>
                </a:solidFill>
                <a:latin typeface="Georgia"/>
              </a:rPr>
              <a:t>1</a:t>
            </a:r>
          </a:p>
        </p:txBody>
      </p:sp>
      <p:sp>
        <p:nvSpPr>
          <p:cNvPr id="9" name="TextBox 8"/>
          <p:cNvSpPr txBox="1"/>
          <p:nvPr/>
        </p:nvSpPr>
        <p:spPr>
          <a:xfrm>
            <a:off x="1143000" y="3154680"/>
            <a:ext cx="10515600" cy="502920"/>
          </a:xfrm>
          <a:prstGeom prst="rect">
            <a:avLst/>
          </a:prstGeom>
          <a:noFill/>
        </p:spPr>
        <p:txBody>
          <a:bodyPr wrap="square" lIns="0" rIns="0" tIns="0" bIns="0" anchor="ctr">
            <a:spAutoFit/>
          </a:bodyPr>
          <a:lstStyle/>
          <a:p>
            <a:pPr algn="l">
              <a:lnSpc>
                <a:spcPct val="130000"/>
              </a:lnSpc>
            </a:pPr>
            <a:r>
              <a:rPr sz="1400" b="0" i="0">
                <a:solidFill>
                  <a:srgbClr val="FFFFFF"/>
                </a:solidFill>
                <a:latin typeface="Calibri"/>
              </a:rPr>
              <a:t>Pick the right tool — never the loudest one.</a:t>
            </a:r>
          </a:p>
        </p:txBody>
      </p:sp>
      <p:sp>
        <p:nvSpPr>
          <p:cNvPr id="10" name="TextBox 9"/>
          <p:cNvSpPr txBox="1"/>
          <p:nvPr/>
        </p:nvSpPr>
        <p:spPr>
          <a:xfrm>
            <a:off x="548640" y="3749040"/>
            <a:ext cx="548640" cy="502920"/>
          </a:xfrm>
          <a:prstGeom prst="rect">
            <a:avLst/>
          </a:prstGeom>
          <a:noFill/>
        </p:spPr>
        <p:txBody>
          <a:bodyPr wrap="square" lIns="0" rIns="0" tIns="0" bIns="0" anchor="ctr">
            <a:spAutoFit/>
          </a:bodyPr>
          <a:lstStyle/>
          <a:p>
            <a:pPr algn="l"/>
            <a:r>
              <a:rPr sz="2800" b="1" i="0">
                <a:solidFill>
                  <a:srgbClr val="C5E063"/>
                </a:solidFill>
                <a:latin typeface="Georgia"/>
              </a:rPr>
              <a:t>2</a:t>
            </a:r>
          </a:p>
        </p:txBody>
      </p:sp>
      <p:sp>
        <p:nvSpPr>
          <p:cNvPr id="11" name="TextBox 10"/>
          <p:cNvSpPr txBox="1"/>
          <p:nvPr/>
        </p:nvSpPr>
        <p:spPr>
          <a:xfrm>
            <a:off x="1143000" y="3749040"/>
            <a:ext cx="10515600" cy="502920"/>
          </a:xfrm>
          <a:prstGeom prst="rect">
            <a:avLst/>
          </a:prstGeom>
          <a:noFill/>
        </p:spPr>
        <p:txBody>
          <a:bodyPr wrap="square" lIns="0" rIns="0" tIns="0" bIns="0" anchor="ctr">
            <a:spAutoFit/>
          </a:bodyPr>
          <a:lstStyle/>
          <a:p>
            <a:pPr algn="l">
              <a:lnSpc>
                <a:spcPct val="130000"/>
              </a:lnSpc>
            </a:pPr>
            <a:r>
              <a:rPr sz="1400" b="0" i="0">
                <a:solidFill>
                  <a:srgbClr val="FFFFFF"/>
                </a:solidFill>
                <a:latin typeface="Calibri"/>
              </a:rPr>
              <a:t>Practice the framework on a real example.</a:t>
            </a:r>
          </a:p>
        </p:txBody>
      </p:sp>
      <p:sp>
        <p:nvSpPr>
          <p:cNvPr id="12" name="TextBox 11"/>
          <p:cNvSpPr txBox="1"/>
          <p:nvPr/>
        </p:nvSpPr>
        <p:spPr>
          <a:xfrm>
            <a:off x="548640" y="4343400"/>
            <a:ext cx="548640" cy="502920"/>
          </a:xfrm>
          <a:prstGeom prst="rect">
            <a:avLst/>
          </a:prstGeom>
          <a:noFill/>
        </p:spPr>
        <p:txBody>
          <a:bodyPr wrap="square" lIns="0" rIns="0" tIns="0" bIns="0" anchor="ctr">
            <a:spAutoFit/>
          </a:bodyPr>
          <a:lstStyle/>
          <a:p>
            <a:pPr algn="l"/>
            <a:r>
              <a:rPr sz="2800" b="1" i="0">
                <a:solidFill>
                  <a:srgbClr val="C5E063"/>
                </a:solidFill>
                <a:latin typeface="Georgia"/>
              </a:rPr>
              <a:t>3</a:t>
            </a:r>
          </a:p>
        </p:txBody>
      </p:sp>
      <p:sp>
        <p:nvSpPr>
          <p:cNvPr id="13" name="TextBox 12"/>
          <p:cNvSpPr txBox="1"/>
          <p:nvPr/>
        </p:nvSpPr>
        <p:spPr>
          <a:xfrm>
            <a:off x="1143000" y="4343400"/>
            <a:ext cx="10515600" cy="502920"/>
          </a:xfrm>
          <a:prstGeom prst="rect">
            <a:avLst/>
          </a:prstGeom>
          <a:noFill/>
        </p:spPr>
        <p:txBody>
          <a:bodyPr wrap="square" lIns="0" rIns="0" tIns="0" bIns="0" anchor="ctr">
            <a:spAutoFit/>
          </a:bodyPr>
          <a:lstStyle/>
          <a:p>
            <a:pPr algn="l">
              <a:lnSpc>
                <a:spcPct val="130000"/>
              </a:lnSpc>
            </a:pPr>
            <a:r>
              <a:rPr sz="1400" b="0" i="0">
                <a:solidFill>
                  <a:srgbClr val="FFFFFF"/>
                </a:solidFill>
                <a:latin typeface="Calibri"/>
              </a:rPr>
              <a:t>Watch for the three classic pitfalls.</a:t>
            </a:r>
          </a:p>
        </p:txBody>
      </p:sp>
      <p:sp>
        <p:nvSpPr>
          <p:cNvPr id="14" name="TextBox 13"/>
          <p:cNvSpPr txBox="1"/>
          <p:nvPr/>
        </p:nvSpPr>
        <p:spPr>
          <a:xfrm>
            <a:off x="548640" y="4937760"/>
            <a:ext cx="548640" cy="502920"/>
          </a:xfrm>
          <a:prstGeom prst="rect">
            <a:avLst/>
          </a:prstGeom>
          <a:noFill/>
        </p:spPr>
        <p:txBody>
          <a:bodyPr wrap="square" lIns="0" rIns="0" tIns="0" bIns="0" anchor="ctr">
            <a:spAutoFit/>
          </a:bodyPr>
          <a:lstStyle/>
          <a:p>
            <a:pPr algn="l"/>
            <a:r>
              <a:rPr sz="2800" b="1" i="0">
                <a:solidFill>
                  <a:srgbClr val="C5E063"/>
                </a:solidFill>
                <a:latin typeface="Georgia"/>
              </a:rPr>
              <a:t>4</a:t>
            </a:r>
          </a:p>
        </p:txBody>
      </p:sp>
      <p:sp>
        <p:nvSpPr>
          <p:cNvPr id="15" name="TextBox 14"/>
          <p:cNvSpPr txBox="1"/>
          <p:nvPr/>
        </p:nvSpPr>
        <p:spPr>
          <a:xfrm>
            <a:off x="1143000" y="4937760"/>
            <a:ext cx="10515600" cy="502920"/>
          </a:xfrm>
          <a:prstGeom prst="rect">
            <a:avLst/>
          </a:prstGeom>
          <a:noFill/>
        </p:spPr>
        <p:txBody>
          <a:bodyPr wrap="square" lIns="0" rIns="0" tIns="0" bIns="0" anchor="ctr">
            <a:spAutoFit/>
          </a:bodyPr>
          <a:lstStyle/>
          <a:p>
            <a:pPr algn="l">
              <a:lnSpc>
                <a:spcPct val="130000"/>
              </a:lnSpc>
            </a:pPr>
            <a:r>
              <a:rPr sz="1400" b="0" i="0">
                <a:solidFill>
                  <a:srgbClr val="FFFFFF"/>
                </a:solidFill>
                <a:latin typeface="Calibri"/>
              </a:rPr>
              <a:t>Document your decision in one sentence.</a:t>
            </a:r>
          </a:p>
        </p:txBody>
      </p:sp>
      <p:sp>
        <p:nvSpPr>
          <p:cNvPr id="16" name="TextBox 15"/>
          <p:cNvSpPr txBox="1"/>
          <p:nvPr/>
        </p:nvSpPr>
        <p:spPr>
          <a:xfrm>
            <a:off x="548640" y="5532120"/>
            <a:ext cx="548640" cy="502920"/>
          </a:xfrm>
          <a:prstGeom prst="rect">
            <a:avLst/>
          </a:prstGeom>
          <a:noFill/>
        </p:spPr>
        <p:txBody>
          <a:bodyPr wrap="square" lIns="0" rIns="0" tIns="0" bIns="0" anchor="ctr">
            <a:spAutoFit/>
          </a:bodyPr>
          <a:lstStyle/>
          <a:p>
            <a:pPr algn="l"/>
            <a:r>
              <a:rPr sz="2800" b="1" i="0">
                <a:solidFill>
                  <a:srgbClr val="C5E063"/>
                </a:solidFill>
                <a:latin typeface="Georgia"/>
              </a:rPr>
              <a:t>5</a:t>
            </a:r>
          </a:p>
        </p:txBody>
      </p:sp>
      <p:sp>
        <p:nvSpPr>
          <p:cNvPr id="17" name="TextBox 16"/>
          <p:cNvSpPr txBox="1"/>
          <p:nvPr/>
        </p:nvSpPr>
        <p:spPr>
          <a:xfrm>
            <a:off x="1143000" y="5532120"/>
            <a:ext cx="10515600" cy="502920"/>
          </a:xfrm>
          <a:prstGeom prst="rect">
            <a:avLst/>
          </a:prstGeom>
          <a:noFill/>
        </p:spPr>
        <p:txBody>
          <a:bodyPr wrap="square" lIns="0" rIns="0" tIns="0" bIns="0" anchor="ctr">
            <a:spAutoFit/>
          </a:bodyPr>
          <a:lstStyle/>
          <a:p>
            <a:pPr algn="l">
              <a:lnSpc>
                <a:spcPct val="130000"/>
              </a:lnSpc>
            </a:pPr>
            <a:r>
              <a:rPr sz="1400" b="0" i="0">
                <a:solidFill>
                  <a:srgbClr val="FFFFFF"/>
                </a:solidFill>
                <a:latin typeface="Calibri"/>
              </a:rPr>
              <a:t>Carry the discipline forward to the next lesson.</a:t>
            </a:r>
          </a:p>
        </p:txBody>
      </p:sp>
      <p:sp>
        <p:nvSpPr>
          <p:cNvPr id="18" name="TextBox 17"/>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19" name="TextBox 18"/>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SUMMARY</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BF5"/>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2C5244"/>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0F1F1A"/>
                </a:solidFill>
                <a:latin typeface="Calibri"/>
              </a:rPr>
              <a:t>WEEK 1   /   LESSON 5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0F766E"/>
                </a:solidFill>
                <a:latin typeface="Calibri"/>
              </a:rPr>
              <a:t>WORKED  EXAMPLE</a:t>
            </a:r>
          </a:p>
        </p:txBody>
      </p:sp>
      <p:sp>
        <p:nvSpPr>
          <p:cNvPr id="6" name="TextBox 5"/>
          <p:cNvSpPr txBox="1"/>
          <p:nvPr/>
        </p:nvSpPr>
        <p:spPr>
          <a:xfrm>
            <a:off x="548640" y="1463040"/>
            <a:ext cx="10972800" cy="1097280"/>
          </a:xfrm>
          <a:prstGeom prst="rect">
            <a:avLst/>
          </a:prstGeom>
          <a:noFill/>
        </p:spPr>
        <p:txBody>
          <a:bodyPr wrap="square" lIns="0" rIns="0" tIns="0" bIns="0" anchor="t">
            <a:spAutoFit/>
          </a:bodyPr>
          <a:lstStyle/>
          <a:p>
            <a:pPr algn="l"/>
            <a:r>
              <a:rPr sz="2800" b="0" i="0">
                <a:solidFill>
                  <a:srgbClr val="0F1F1A"/>
                </a:solidFill>
                <a:latin typeface="Georgia"/>
              </a:rPr>
              <a:t>How this lesson plays out in one real Indian context</a:t>
            </a:r>
          </a:p>
        </p:txBody>
      </p:sp>
      <p:sp>
        <p:nvSpPr>
          <p:cNvPr id="7" name="Rectangle 6"/>
          <p:cNvSpPr/>
          <p:nvPr/>
        </p:nvSpPr>
        <p:spPr>
          <a:xfrm>
            <a:off x="548640" y="2468880"/>
            <a:ext cx="6858000" cy="2194560"/>
          </a:xfrm>
          <a:prstGeom prst="rect">
            <a:avLst/>
          </a:prstGeom>
          <a:solidFill>
            <a:srgbClr val="FFFFFF"/>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606040"/>
            <a:ext cx="6400800" cy="274320"/>
          </a:xfrm>
          <a:prstGeom prst="rect">
            <a:avLst/>
          </a:prstGeom>
          <a:noFill/>
        </p:spPr>
        <p:txBody>
          <a:bodyPr wrap="square" lIns="0" rIns="0" tIns="0" bIns="0" anchor="t">
            <a:spAutoFit/>
          </a:bodyPr>
          <a:lstStyle/>
          <a:p>
            <a:pPr algn="l"/>
            <a:r>
              <a:rPr sz="1000" b="1" i="0" spc="500">
                <a:solidFill>
                  <a:srgbClr val="0F766E"/>
                </a:solidFill>
                <a:latin typeface="Calibri"/>
              </a:rPr>
              <a:t>THE  SCENARIO</a:t>
            </a:r>
          </a:p>
        </p:txBody>
      </p:sp>
      <p:sp>
        <p:nvSpPr>
          <p:cNvPr id="9" name="TextBox 8"/>
          <p:cNvSpPr txBox="1"/>
          <p:nvPr/>
        </p:nvSpPr>
        <p:spPr>
          <a:xfrm>
            <a:off x="777240" y="2926080"/>
            <a:ext cx="6400800" cy="1691640"/>
          </a:xfrm>
          <a:prstGeom prst="rect">
            <a:avLst/>
          </a:prstGeom>
          <a:noFill/>
        </p:spPr>
        <p:txBody>
          <a:bodyPr wrap="square" lIns="0" rIns="0" tIns="0" bIns="0" anchor="t">
            <a:spAutoFit/>
          </a:bodyPr>
          <a:lstStyle/>
          <a:p>
            <a:pPr algn="l">
              <a:lnSpc>
                <a:spcPct val="140000"/>
              </a:lnSpc>
            </a:pPr>
            <a:r>
              <a:rPr sz="1200" b="0" i="0">
                <a:solidFill>
                  <a:srgbClr val="0F1F1A"/>
                </a:solidFill>
                <a:latin typeface="Calibri"/>
              </a:rPr>
              <a:t>Same meaning → nearby vectors.
Cosine similarity scores closeness.
Works on text, images, audio, code.
text-embedding-3-small: 1536 dims, ₹0.02 per 1M tokens.
EXAMPLE
1536 dim
The "shape" of a concept in compressed form.</a:t>
            </a:r>
          </a:p>
        </p:txBody>
      </p:sp>
      <p:sp>
        <p:nvSpPr>
          <p:cNvPr id="10" name="Rectangle 9"/>
          <p:cNvSpPr/>
          <p:nvPr/>
        </p:nvSpPr>
        <p:spPr>
          <a:xfrm>
            <a:off x="548640" y="4800600"/>
            <a:ext cx="6858000" cy="1325880"/>
          </a:xfrm>
          <a:prstGeom prst="rect">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4937760"/>
            <a:ext cx="6400800" cy="274320"/>
          </a:xfrm>
          <a:prstGeom prst="rect">
            <a:avLst/>
          </a:prstGeom>
          <a:noFill/>
        </p:spPr>
        <p:txBody>
          <a:bodyPr wrap="square" lIns="0" rIns="0" tIns="0" bIns="0" anchor="t">
            <a:spAutoFit/>
          </a:bodyPr>
          <a:lstStyle/>
          <a:p>
            <a:pPr algn="l"/>
            <a:r>
              <a:rPr sz="1000" b="1" i="0" spc="500">
                <a:solidFill>
                  <a:srgbClr val="C5E063"/>
                </a:solidFill>
                <a:latin typeface="Calibri"/>
              </a:rPr>
              <a:t>THE  TAKEAWAY</a:t>
            </a:r>
          </a:p>
        </p:txBody>
      </p:sp>
      <p:sp>
        <p:nvSpPr>
          <p:cNvPr id="12" name="TextBox 11"/>
          <p:cNvSpPr txBox="1"/>
          <p:nvPr/>
        </p:nvSpPr>
        <p:spPr>
          <a:xfrm>
            <a:off x="777240" y="5212080"/>
            <a:ext cx="6400800" cy="868680"/>
          </a:xfrm>
          <a:prstGeom prst="rect">
            <a:avLst/>
          </a:prstGeom>
          <a:noFill/>
        </p:spPr>
        <p:txBody>
          <a:bodyPr wrap="square" lIns="0" rIns="0" tIns="0" bIns="0" anchor="t">
            <a:spAutoFit/>
          </a:bodyPr>
          <a:lstStyle/>
          <a:p>
            <a:pPr algn="l">
              <a:lnSpc>
                <a:spcPct val="135000"/>
              </a:lnSpc>
            </a:pPr>
            <a:r>
              <a:rPr sz="1400" b="0" i="1">
                <a:solidFill>
                  <a:srgbClr val="FFFFFF"/>
                </a:solidFill>
                <a:latin typeface="Georgia"/>
              </a:rPr>
              <a:t>The right tool, applied to the right problem, beats the loudest idea every time.</a:t>
            </a:r>
          </a:p>
        </p:txBody>
      </p:sp>
      <p:sp>
        <p:nvSpPr>
          <p:cNvPr id="13" name="Rectangle 12"/>
          <p:cNvSpPr/>
          <p:nvPr/>
        </p:nvSpPr>
        <p:spPr>
          <a:xfrm>
            <a:off x="7635240" y="2468880"/>
            <a:ext cx="3977639" cy="3657600"/>
          </a:xfrm>
          <a:prstGeom prst="rect">
            <a:avLst/>
          </a:prstGeom>
          <a:solidFill>
            <a:srgbClr val="F1F4EC"/>
          </a:solidFill>
          <a:ln w="6350">
            <a:solidFill>
              <a:srgbClr val="A6C2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63840" y="2606040"/>
            <a:ext cx="3520440" cy="274320"/>
          </a:xfrm>
          <a:prstGeom prst="rect">
            <a:avLst/>
          </a:prstGeom>
          <a:noFill/>
        </p:spPr>
        <p:txBody>
          <a:bodyPr wrap="square" lIns="0" rIns="0" tIns="0" bIns="0" anchor="t">
            <a:spAutoFit/>
          </a:bodyPr>
          <a:lstStyle/>
          <a:p>
            <a:pPr algn="l"/>
            <a:r>
              <a:rPr sz="1000" b="1" i="0" spc="500">
                <a:solidFill>
                  <a:srgbClr val="0F766E"/>
                </a:solidFill>
                <a:latin typeface="Calibri"/>
              </a:rPr>
              <a:t>WHAT  TO  NOTICE</a:t>
            </a:r>
          </a:p>
        </p:txBody>
      </p:sp>
      <p:sp>
        <p:nvSpPr>
          <p:cNvPr id="15" name="Oval 14"/>
          <p:cNvSpPr/>
          <p:nvPr/>
        </p:nvSpPr>
        <p:spPr>
          <a:xfrm>
            <a:off x="7863840" y="2971800"/>
            <a:ext cx="411480" cy="41148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63840" y="2971800"/>
            <a:ext cx="411480" cy="411480"/>
          </a:xfrm>
          <a:prstGeom prst="rect">
            <a:avLst/>
          </a:prstGeom>
          <a:noFill/>
        </p:spPr>
        <p:txBody>
          <a:bodyPr wrap="square" lIns="0" rIns="0" tIns="0" bIns="0" anchor="ctr">
            <a:spAutoFit/>
          </a:bodyPr>
          <a:lstStyle/>
          <a:p>
            <a:pPr algn="ctr"/>
            <a:r>
              <a:rPr sz="1400" b="1" i="0">
                <a:solidFill>
                  <a:srgbClr val="C5E063"/>
                </a:solidFill>
                <a:latin typeface="Georgia"/>
              </a:rPr>
              <a:t>1</a:t>
            </a:r>
          </a:p>
        </p:txBody>
      </p:sp>
      <p:sp>
        <p:nvSpPr>
          <p:cNvPr id="17" name="TextBox 16"/>
          <p:cNvSpPr txBox="1"/>
          <p:nvPr/>
        </p:nvSpPr>
        <p:spPr>
          <a:xfrm>
            <a:off x="8366760" y="2971800"/>
            <a:ext cx="3154680" cy="640080"/>
          </a:xfrm>
          <a:prstGeom prst="rect">
            <a:avLst/>
          </a:prstGeom>
          <a:noFill/>
        </p:spPr>
        <p:txBody>
          <a:bodyPr wrap="square" lIns="0" rIns="0" tIns="0" bIns="0" anchor="ctr">
            <a:spAutoFit/>
          </a:bodyPr>
          <a:lstStyle/>
          <a:p>
            <a:pPr algn="l">
              <a:lnSpc>
                <a:spcPct val="130000"/>
              </a:lnSpc>
            </a:pPr>
            <a:r>
              <a:rPr sz="1100" b="0" i="0">
                <a:solidFill>
                  <a:srgbClr val="0F1F1A"/>
                </a:solidFill>
                <a:latin typeface="Calibri"/>
              </a:rPr>
              <a:t>Embeddings — dense...</a:t>
            </a:r>
          </a:p>
        </p:txBody>
      </p:sp>
      <p:sp>
        <p:nvSpPr>
          <p:cNvPr id="18" name="Oval 17"/>
          <p:cNvSpPr/>
          <p:nvPr/>
        </p:nvSpPr>
        <p:spPr>
          <a:xfrm>
            <a:off x="7863840" y="3749039"/>
            <a:ext cx="411480" cy="41148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63840" y="3749039"/>
            <a:ext cx="411480" cy="411480"/>
          </a:xfrm>
          <a:prstGeom prst="rect">
            <a:avLst/>
          </a:prstGeom>
          <a:noFill/>
        </p:spPr>
        <p:txBody>
          <a:bodyPr wrap="square" lIns="0" rIns="0" tIns="0" bIns="0" anchor="ctr">
            <a:spAutoFit/>
          </a:bodyPr>
          <a:lstStyle/>
          <a:p>
            <a:pPr algn="ctr"/>
            <a:r>
              <a:rPr sz="1400" b="1" i="0">
                <a:solidFill>
                  <a:srgbClr val="C5E063"/>
                </a:solidFill>
                <a:latin typeface="Georgia"/>
              </a:rPr>
              <a:t>2</a:t>
            </a:r>
          </a:p>
        </p:txBody>
      </p:sp>
      <p:sp>
        <p:nvSpPr>
          <p:cNvPr id="20" name="TextBox 19"/>
          <p:cNvSpPr txBox="1"/>
          <p:nvPr/>
        </p:nvSpPr>
        <p:spPr>
          <a:xfrm>
            <a:off x="8366760" y="3749039"/>
            <a:ext cx="3154680" cy="640080"/>
          </a:xfrm>
          <a:prstGeom prst="rect">
            <a:avLst/>
          </a:prstGeom>
          <a:noFill/>
        </p:spPr>
        <p:txBody>
          <a:bodyPr wrap="square" lIns="0" rIns="0" tIns="0" bIns="0" anchor="ctr">
            <a:spAutoFit/>
          </a:bodyPr>
          <a:lstStyle/>
          <a:p>
            <a:pPr algn="l">
              <a:lnSpc>
                <a:spcPct val="130000"/>
              </a:lnSpc>
            </a:pPr>
            <a:r>
              <a:rPr sz="1100" b="0" i="0">
                <a:solidFill>
                  <a:srgbClr val="0F1F1A"/>
                </a:solidFill>
                <a:latin typeface="Calibri"/>
              </a:rPr>
              <a:t>ANN algorithms</a:t>
            </a:r>
          </a:p>
        </p:txBody>
      </p:sp>
      <p:sp>
        <p:nvSpPr>
          <p:cNvPr id="21" name="Oval 20"/>
          <p:cNvSpPr/>
          <p:nvPr/>
        </p:nvSpPr>
        <p:spPr>
          <a:xfrm>
            <a:off x="7863840" y="4526280"/>
            <a:ext cx="411480" cy="41148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863840" y="4526280"/>
            <a:ext cx="411480" cy="411480"/>
          </a:xfrm>
          <a:prstGeom prst="rect">
            <a:avLst/>
          </a:prstGeom>
          <a:noFill/>
        </p:spPr>
        <p:txBody>
          <a:bodyPr wrap="square" lIns="0" rIns="0" tIns="0" bIns="0" anchor="ctr">
            <a:spAutoFit/>
          </a:bodyPr>
          <a:lstStyle/>
          <a:p>
            <a:pPr algn="ctr"/>
            <a:r>
              <a:rPr sz="1400" b="1" i="0">
                <a:solidFill>
                  <a:srgbClr val="C5E063"/>
                </a:solidFill>
                <a:latin typeface="Georgia"/>
              </a:rPr>
              <a:t>3</a:t>
            </a:r>
          </a:p>
        </p:txBody>
      </p:sp>
      <p:sp>
        <p:nvSpPr>
          <p:cNvPr id="23" name="TextBox 22"/>
          <p:cNvSpPr txBox="1"/>
          <p:nvPr/>
        </p:nvSpPr>
        <p:spPr>
          <a:xfrm>
            <a:off x="8366760" y="4526280"/>
            <a:ext cx="3154680" cy="640080"/>
          </a:xfrm>
          <a:prstGeom prst="rect">
            <a:avLst/>
          </a:prstGeom>
          <a:noFill/>
        </p:spPr>
        <p:txBody>
          <a:bodyPr wrap="square" lIns="0" rIns="0" tIns="0" bIns="0" anchor="ctr">
            <a:spAutoFit/>
          </a:bodyPr>
          <a:lstStyle/>
          <a:p>
            <a:pPr algn="l">
              <a:lnSpc>
                <a:spcPct val="130000"/>
              </a:lnSpc>
            </a:pPr>
            <a:r>
              <a:rPr sz="1100" b="0" i="0">
                <a:solidFill>
                  <a:srgbClr val="0F1F1A"/>
                </a:solidFill>
                <a:latin typeface="Calibri"/>
              </a:rPr>
              <a:t>2026 vector-DB landscape</a:t>
            </a:r>
          </a:p>
        </p:txBody>
      </p:sp>
      <p:sp>
        <p:nvSpPr>
          <p:cNvPr id="24" name="Oval 23"/>
          <p:cNvSpPr/>
          <p:nvPr/>
        </p:nvSpPr>
        <p:spPr>
          <a:xfrm>
            <a:off x="7863840" y="5303520"/>
            <a:ext cx="411480" cy="411480"/>
          </a:xfrm>
          <a:prstGeom prst="ellipse">
            <a:avLst/>
          </a:prstGeom>
          <a:solidFill>
            <a:srgbClr val="2C52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863840" y="5303520"/>
            <a:ext cx="411480" cy="411480"/>
          </a:xfrm>
          <a:prstGeom prst="rect">
            <a:avLst/>
          </a:prstGeom>
          <a:noFill/>
        </p:spPr>
        <p:txBody>
          <a:bodyPr wrap="square" lIns="0" rIns="0" tIns="0" bIns="0" anchor="ctr">
            <a:spAutoFit/>
          </a:bodyPr>
          <a:lstStyle/>
          <a:p>
            <a:pPr algn="ctr"/>
            <a:r>
              <a:rPr sz="1400" b="1" i="0">
                <a:solidFill>
                  <a:srgbClr val="C5E063"/>
                </a:solidFill>
                <a:latin typeface="Georgia"/>
              </a:rPr>
              <a:t>4</a:t>
            </a:r>
          </a:p>
        </p:txBody>
      </p:sp>
      <p:sp>
        <p:nvSpPr>
          <p:cNvPr id="26" name="TextBox 25"/>
          <p:cNvSpPr txBox="1"/>
          <p:nvPr/>
        </p:nvSpPr>
        <p:spPr>
          <a:xfrm>
            <a:off x="8366760" y="5303520"/>
            <a:ext cx="3154680" cy="640080"/>
          </a:xfrm>
          <a:prstGeom prst="rect">
            <a:avLst/>
          </a:prstGeom>
          <a:noFill/>
        </p:spPr>
        <p:txBody>
          <a:bodyPr wrap="square" lIns="0" rIns="0" tIns="0" bIns="0" anchor="ctr">
            <a:spAutoFit/>
          </a:bodyPr>
          <a:lstStyle/>
          <a:p>
            <a:pPr algn="l">
              <a:lnSpc>
                <a:spcPct val="130000"/>
              </a:lnSpc>
            </a:pPr>
            <a:r>
              <a:rPr sz="1100" b="0" i="0">
                <a:solidFill>
                  <a:srgbClr val="0F1F1A"/>
                </a:solidFill>
                <a:latin typeface="Calibri"/>
              </a:rPr>
              <a:t>Metadata filters + hybrid...</a:t>
            </a:r>
          </a:p>
        </p:txBody>
      </p:sp>
      <p:sp>
        <p:nvSpPr>
          <p:cNvPr id="27" name="TextBox 26"/>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475569"/>
                </a:solidFill>
                <a:latin typeface="Calibri"/>
              </a:rPr>
              <a:t>AI  LEARNING  HUB   ·   LESSON 5 OF 7</a:t>
            </a:r>
          </a:p>
        </p:txBody>
      </p:sp>
      <p:sp>
        <p:nvSpPr>
          <p:cNvPr id="28" name="TextBox 27"/>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475569"/>
                </a:solidFill>
                <a:latin typeface="Calibri"/>
              </a:rPr>
              <a:t>EXAMPLE</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par>
                    <p:cTn id="118" fill="hold">
                      <p:stCondLst>
                        <p:cond delay="indefinite"/>
                        <p:cond evt="onBegin" delay="0">
                          <p:tn val="2"/>
                        </p:cond>
                      </p:stCondLst>
                      <p:childTnLst>
                        <p:par>
                          <p:cTn id="119" fill="hold">
                            <p:stCondLst>
                              <p:cond delay="0"/>
                            </p:stCondLst>
                            <p:childTnLst>
                              <p:par>
                                <p:cTn id="120" presetID="10" presetClass="entr" presetSubtype="0" fill="hold" grpId="0" nodeType="afterEffect">
                                  <p:stCondLst>
                                    <p:cond delay="18"/>
                                  </p:stCondLst>
                                  <p:childTnLst>
                                    <p:set>
                                      <p:cBhvr>
                                        <p:cTn id="121" dur="1" fill="hold">
                                          <p:stCondLst>
                                            <p:cond delay="0"/>
                                          </p:stCondLst>
                                        </p:cTn>
                                        <p:tgtEl>
                                          <p:spTgt spid="25"/>
                                        </p:tgtEl>
                                        <p:attrNameLst>
                                          <p:attrName>style.visibility</p:attrName>
                                        </p:attrNameLst>
                                      </p:cBhvr>
                                      <p:to>
                                        <p:strVal val="visible"/>
                                      </p:to>
                                    </p:set>
                                    <p:anim calcmode="lin" valueType="num">
                                      <p:cBhvr additive="base">
                                        <p:cTn id="122" dur="150" fill="hold"/>
                                        <p:tgtEl>
                                          <p:spTgt spid="25"/>
                                        </p:tgtEl>
                                        <p:attrNameLst>
                                          <p:attrName>style.opacity</p:attrName>
                                        </p:attrNameLst>
                                      </p:cBhvr>
                                      <p:tavLst>
                                        <p:tav tm="0">
                                          <p:val>
                                            <p:fltVal val="0"/>
                                          </p:val>
                                        </p:tav>
                                        <p:tav tm="100000">
                                          <p:val>
                                            <p:fltVal val="1"/>
                                          </p:val>
                                        </p:tav>
                                      </p:tavLst>
                                    </p:anim>
                                  </p:childTnLst>
                                </p:cTn>
                              </p:par>
                            </p:childTnLst>
                          </p:cTn>
                        </p:par>
                      </p:childTnLst>
                    </p:cTn>
                  </p:par>
                  <p:par>
                    <p:cTn id="123" fill="hold">
                      <p:stCondLst>
                        <p:cond delay="indefinite"/>
                        <p:cond evt="onBegin" delay="0">
                          <p:tn val="2"/>
                        </p:cond>
                      </p:stCondLst>
                      <p:childTnLst>
                        <p:par>
                          <p:cTn id="124" fill="hold">
                            <p:stCondLst>
                              <p:cond delay="0"/>
                            </p:stCondLst>
                            <p:childTnLst>
                              <p:par>
                                <p:cTn id="125" presetID="10" presetClass="entr" presetSubtype="0" fill="hold" grpId="0" nodeType="afterEffect">
                                  <p:stCondLst>
                                    <p:cond delay="18"/>
                                  </p:stCondLst>
                                  <p:childTnLst>
                                    <p:set>
                                      <p:cBhvr>
                                        <p:cTn id="126" dur="1" fill="hold">
                                          <p:stCondLst>
                                            <p:cond delay="0"/>
                                          </p:stCondLst>
                                        </p:cTn>
                                        <p:tgtEl>
                                          <p:spTgt spid="26"/>
                                        </p:tgtEl>
                                        <p:attrNameLst>
                                          <p:attrName>style.visibility</p:attrName>
                                        </p:attrNameLst>
                                      </p:cBhvr>
                                      <p:to>
                                        <p:strVal val="visible"/>
                                      </p:to>
                                    </p:set>
                                    <p:anim calcmode="lin" valueType="num">
                                      <p:cBhvr additive="base">
                                        <p:cTn id="127" dur="150" fill="hold"/>
                                        <p:tgtEl>
                                          <p:spTgt spid="26"/>
                                        </p:tgtEl>
                                        <p:attrNameLst>
                                          <p:attrName>style.opacity</p:attrName>
                                        </p:attrNameLst>
                                      </p:cBhvr>
                                      <p:tavLst>
                                        <p:tav tm="0">
                                          <p:val>
                                            <p:fltVal val="0"/>
                                          </p:val>
                                        </p:tav>
                                        <p:tav tm="100000">
                                          <p:val>
                                            <p:fltVal val="1"/>
                                          </p:val>
                                        </p:tav>
                                      </p:tavLst>
                                    </p:anim>
                                  </p:childTnLst>
                                </p:cTn>
                              </p:par>
                            </p:childTnLst>
                          </p:cTn>
                        </p:par>
                      </p:childTnLst>
                    </p:cTn>
                  </p:par>
                  <p:par>
                    <p:cTn id="128" fill="hold">
                      <p:stCondLst>
                        <p:cond delay="indefinite"/>
                        <p:cond evt="onBegin" delay="0">
                          <p:tn val="2"/>
                        </p:cond>
                      </p:stCondLst>
                      <p:childTnLst>
                        <p:par>
                          <p:cTn id="129" fill="hold">
                            <p:stCondLst>
                              <p:cond delay="0"/>
                            </p:stCondLst>
                            <p:childTnLst>
                              <p:par>
                                <p:cTn id="130" presetID="10" presetClass="entr" presetSubtype="0" fill="hold" grpId="0" nodeType="afterEffect">
                                  <p:stCondLst>
                                    <p:cond delay="18"/>
                                  </p:stCondLst>
                                  <p:childTnLst>
                                    <p:set>
                                      <p:cBhvr>
                                        <p:cTn id="131" dur="1" fill="hold">
                                          <p:stCondLst>
                                            <p:cond delay="0"/>
                                          </p:stCondLst>
                                        </p:cTn>
                                        <p:tgtEl>
                                          <p:spTgt spid="27"/>
                                        </p:tgtEl>
                                        <p:attrNameLst>
                                          <p:attrName>style.visibility</p:attrName>
                                        </p:attrNameLst>
                                      </p:cBhvr>
                                      <p:to>
                                        <p:strVal val="visible"/>
                                      </p:to>
                                    </p:set>
                                    <p:anim calcmode="lin" valueType="num">
                                      <p:cBhvr additive="base">
                                        <p:cTn id="132" dur="150" fill="hold"/>
                                        <p:tgtEl>
                                          <p:spTgt spid="27"/>
                                        </p:tgtEl>
                                        <p:attrNameLst>
                                          <p:attrName>style.opacity</p:attrName>
                                        </p:attrNameLst>
                                      </p:cBhvr>
                                      <p:tavLst>
                                        <p:tav tm="0">
                                          <p:val>
                                            <p:fltVal val="0"/>
                                          </p:val>
                                        </p:tav>
                                        <p:tav tm="100000">
                                          <p:val>
                                            <p:fltVal val="1"/>
                                          </p:val>
                                        </p:tav>
                                      </p:tavLst>
                                    </p:anim>
                                  </p:childTnLst>
                                </p:cTn>
                              </p:par>
                            </p:childTnLst>
                          </p:cTn>
                        </p:par>
                      </p:childTnLst>
                    </p:cTn>
                  </p:par>
                  <p:par>
                    <p:cTn id="133" fill="hold">
                      <p:stCondLst>
                        <p:cond delay="indefinite"/>
                        <p:cond evt="onBegin" delay="0">
                          <p:tn val="2"/>
                        </p:cond>
                      </p:stCondLst>
                      <p:childTnLst>
                        <p:par>
                          <p:cTn id="134" fill="hold">
                            <p:stCondLst>
                              <p:cond delay="0"/>
                            </p:stCondLst>
                            <p:childTnLst>
                              <p:par>
                                <p:cTn id="135" presetID="10" presetClass="entr" presetSubtype="0" fill="hold" grpId="0" nodeType="afterEffect">
                                  <p:stCondLst>
                                    <p:cond delay="18"/>
                                  </p:stCondLst>
                                  <p:childTnLst>
                                    <p:set>
                                      <p:cBhvr>
                                        <p:cTn id="136" dur="1" fill="hold">
                                          <p:stCondLst>
                                            <p:cond delay="0"/>
                                          </p:stCondLst>
                                        </p:cTn>
                                        <p:tgtEl>
                                          <p:spTgt spid="28"/>
                                        </p:tgtEl>
                                        <p:attrNameLst>
                                          <p:attrName>style.visibility</p:attrName>
                                        </p:attrNameLst>
                                      </p:cBhvr>
                                      <p:to>
                                        <p:strVal val="visible"/>
                                      </p:to>
                                    </p:set>
                                    <p:anim calcmode="lin" valueType="num">
                                      <p:cBhvr additive="base">
                                        <p:cTn id="137" dur="150" fill="hold"/>
                                        <p:tgtEl>
                                          <p:spTgt spid="28"/>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3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APPLY  IT  →  ASSIGNMENT</a:t>
            </a:r>
          </a:p>
        </p:txBody>
      </p:sp>
      <p:sp>
        <p:nvSpPr>
          <p:cNvPr id="6" name="TextBox 5"/>
          <p:cNvSpPr txBox="1"/>
          <p:nvPr/>
        </p:nvSpPr>
        <p:spPr>
          <a:xfrm>
            <a:off x="548640" y="1463040"/>
            <a:ext cx="10972800" cy="1097280"/>
          </a:xfrm>
          <a:prstGeom prst="rect">
            <a:avLst/>
          </a:prstGeom>
          <a:noFill/>
        </p:spPr>
        <p:txBody>
          <a:bodyPr wrap="square" lIns="0" rIns="0" tIns="0" bIns="0" anchor="t">
            <a:spAutoFit/>
          </a:bodyPr>
          <a:lstStyle/>
          <a:p>
            <a:pPr algn="l"/>
            <a:r>
              <a:rPr sz="2800" b="0" i="0">
                <a:solidFill>
                  <a:srgbClr val="FFFFFF"/>
                </a:solidFill>
                <a:latin typeface="Georgia"/>
              </a:rPr>
              <a:t>The vector DB is a search index.</a:t>
            </a:r>
          </a:p>
        </p:txBody>
      </p:sp>
      <p:sp>
        <p:nvSpPr>
          <p:cNvPr id="7" name="TextBox 6"/>
          <p:cNvSpPr txBox="1"/>
          <p:nvPr/>
        </p:nvSpPr>
        <p:spPr>
          <a:xfrm>
            <a:off x="548640" y="2331720"/>
            <a:ext cx="10972800" cy="914400"/>
          </a:xfrm>
          <a:prstGeom prst="rect">
            <a:avLst/>
          </a:prstGeom>
          <a:noFill/>
        </p:spPr>
        <p:txBody>
          <a:bodyPr wrap="square" lIns="0" rIns="0" tIns="0" bIns="0" anchor="t">
            <a:spAutoFit/>
          </a:bodyPr>
          <a:lstStyle/>
          <a:p>
            <a:pPr algn="l">
              <a:lnSpc>
                <a:spcPct val="125000"/>
              </a:lnSpc>
            </a:pPr>
            <a:r>
              <a:rPr sz="1400" b="0" i="0">
                <a:solidFill>
                  <a:srgbClr val="E5E7EB"/>
                </a:solidFill>
                <a:latin typeface="Calibri"/>
              </a:rPr>
              <a:t>"Everything you already know about search indexes still applies."</a:t>
            </a:r>
          </a:p>
        </p:txBody>
      </p:sp>
      <p:sp>
        <p:nvSpPr>
          <p:cNvPr id="8" name="Rectangle 7"/>
          <p:cNvSpPr/>
          <p:nvPr/>
        </p:nvSpPr>
        <p:spPr>
          <a:xfrm>
            <a:off x="548640" y="3383280"/>
            <a:ext cx="6858000" cy="2743200"/>
          </a:xfrm>
          <a:prstGeom prst="rect">
            <a:avLst/>
          </a:prstGeom>
          <a:solidFill>
            <a:srgbClr val="1A352B"/>
          </a:solidFill>
          <a:ln w="6350">
            <a:solidFill>
              <a:srgbClr val="C5E06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520440"/>
            <a:ext cx="6400800" cy="274320"/>
          </a:xfrm>
          <a:prstGeom prst="rect">
            <a:avLst/>
          </a:prstGeom>
          <a:noFill/>
        </p:spPr>
        <p:txBody>
          <a:bodyPr wrap="square" lIns="0" rIns="0" tIns="0" bIns="0" anchor="t">
            <a:spAutoFit/>
          </a:bodyPr>
          <a:lstStyle/>
          <a:p>
            <a:pPr algn="l"/>
            <a:r>
              <a:rPr sz="1000" b="1" i="0" spc="500">
                <a:solidFill>
                  <a:srgbClr val="C5E063"/>
                </a:solidFill>
                <a:latin typeface="Calibri"/>
              </a:rPr>
              <a:t>DELIVERABLES</a:t>
            </a:r>
          </a:p>
        </p:txBody>
      </p:sp>
      <p:sp>
        <p:nvSpPr>
          <p:cNvPr id="10" name="Oval 9"/>
          <p:cNvSpPr/>
          <p:nvPr/>
        </p:nvSpPr>
        <p:spPr>
          <a:xfrm>
            <a:off x="868680" y="3950208"/>
            <a:ext cx="118872" cy="118872"/>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3840480"/>
            <a:ext cx="6126480" cy="365760"/>
          </a:xfrm>
          <a:prstGeom prst="rect">
            <a:avLst/>
          </a:prstGeom>
          <a:noFill/>
        </p:spPr>
        <p:txBody>
          <a:bodyPr wrap="square" lIns="0" rIns="0" tIns="0" bIns="0" anchor="ctr">
            <a:spAutoFit/>
          </a:bodyPr>
          <a:lstStyle/>
          <a:p>
            <a:pPr algn="l">
              <a:lnSpc>
                <a:spcPct val="130000"/>
              </a:lnSpc>
            </a:pPr>
            <a:r>
              <a:rPr sz="1200" b="0" i="0">
                <a:solidFill>
                  <a:srgbClr val="FFFFFF"/>
                </a:solidFill>
                <a:latin typeface="Calibri"/>
              </a:rPr>
              <a:t>NEXT</a:t>
            </a:r>
          </a:p>
        </p:txBody>
      </p:sp>
      <p:sp>
        <p:nvSpPr>
          <p:cNvPr id="12" name="Oval 11"/>
          <p:cNvSpPr/>
          <p:nvPr/>
        </p:nvSpPr>
        <p:spPr>
          <a:xfrm>
            <a:off x="868680" y="4361688"/>
            <a:ext cx="118872" cy="118872"/>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4251960"/>
            <a:ext cx="6126480" cy="365760"/>
          </a:xfrm>
          <a:prstGeom prst="rect">
            <a:avLst/>
          </a:prstGeom>
          <a:noFill/>
        </p:spPr>
        <p:txBody>
          <a:bodyPr wrap="square" lIns="0" rIns="0" tIns="0" bIns="0" anchor="ctr">
            <a:spAutoFit/>
          </a:bodyPr>
          <a:lstStyle/>
          <a:p>
            <a:pPr algn="l">
              <a:lnSpc>
                <a:spcPct val="130000"/>
              </a:lnSpc>
            </a:pPr>
            <a:r>
              <a:rPr sz="1200" b="0" i="0">
                <a:solidFill>
                  <a:srgbClr val="FFFFFF"/>
                </a:solidFill>
                <a:latin typeface="Calibri"/>
              </a:rPr>
              <a:t>Lesson 5 — Building AI Agents.</a:t>
            </a:r>
          </a:p>
        </p:txBody>
      </p:sp>
      <p:sp>
        <p:nvSpPr>
          <p:cNvPr id="14" name="Oval 13"/>
          <p:cNvSpPr/>
          <p:nvPr/>
        </p:nvSpPr>
        <p:spPr>
          <a:xfrm>
            <a:off x="868680" y="4773168"/>
            <a:ext cx="118872" cy="118872"/>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97280" y="4663440"/>
            <a:ext cx="6126480" cy="365760"/>
          </a:xfrm>
          <a:prstGeom prst="rect">
            <a:avLst/>
          </a:prstGeom>
          <a:noFill/>
        </p:spPr>
        <p:txBody>
          <a:bodyPr wrap="square" lIns="0" rIns="0" tIns="0" bIns="0" anchor="ctr">
            <a:spAutoFit/>
          </a:bodyPr>
          <a:lstStyle/>
          <a:p>
            <a:pPr algn="l">
              <a:lnSpc>
                <a:spcPct val="130000"/>
              </a:lnSpc>
            </a:pPr>
            <a:r>
              <a:rPr sz="1200" b="0" i="0">
                <a:solidFill>
                  <a:srgbClr val="FFFFFF"/>
                </a:solidFill>
                <a:latin typeface="Calibri"/>
              </a:rPr>
              <a:t>Document one decision you made because of this lesson.</a:t>
            </a:r>
          </a:p>
        </p:txBody>
      </p:sp>
      <p:sp>
        <p:nvSpPr>
          <p:cNvPr id="16" name="Oval 15"/>
          <p:cNvSpPr/>
          <p:nvPr/>
        </p:nvSpPr>
        <p:spPr>
          <a:xfrm>
            <a:off x="868680" y="5184648"/>
            <a:ext cx="118872" cy="118872"/>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5074920"/>
            <a:ext cx="6126480" cy="365760"/>
          </a:xfrm>
          <a:prstGeom prst="rect">
            <a:avLst/>
          </a:prstGeom>
          <a:noFill/>
        </p:spPr>
        <p:txBody>
          <a:bodyPr wrap="square" lIns="0" rIns="0" tIns="0" bIns="0" anchor="ctr">
            <a:spAutoFit/>
          </a:bodyPr>
          <a:lstStyle/>
          <a:p>
            <a:pPr algn="l">
              <a:lnSpc>
                <a:spcPct val="130000"/>
              </a:lnSpc>
            </a:pPr>
            <a:r>
              <a:rPr sz="1200" b="0" i="0">
                <a:solidFill>
                  <a:srgbClr val="FFFFFF"/>
                </a:solidFill>
                <a:latin typeface="Calibri"/>
              </a:rPr>
              <a:t>Document one decision you made because of this lesson.</a:t>
            </a:r>
          </a:p>
        </p:txBody>
      </p:sp>
      <p:sp>
        <p:nvSpPr>
          <p:cNvPr id="18" name="Rectangle 17"/>
          <p:cNvSpPr/>
          <p:nvPr/>
        </p:nvSpPr>
        <p:spPr>
          <a:xfrm>
            <a:off x="7635240" y="3383280"/>
            <a:ext cx="3977639" cy="2743200"/>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63840" y="3520440"/>
            <a:ext cx="3520440" cy="274320"/>
          </a:xfrm>
          <a:prstGeom prst="rect">
            <a:avLst/>
          </a:prstGeom>
          <a:noFill/>
        </p:spPr>
        <p:txBody>
          <a:bodyPr wrap="square" lIns="0" rIns="0" tIns="0" bIns="0" anchor="t">
            <a:spAutoFit/>
          </a:bodyPr>
          <a:lstStyle/>
          <a:p>
            <a:pPr algn="l"/>
            <a:r>
              <a:rPr sz="1000" b="1" i="0" spc="500">
                <a:solidFill>
                  <a:srgbClr val="2C5244"/>
                </a:solidFill>
                <a:latin typeface="Calibri"/>
              </a:rPr>
              <a:t>WHAT 'GOOD' LOOKS LIKE</a:t>
            </a:r>
          </a:p>
        </p:txBody>
      </p:sp>
      <p:sp>
        <p:nvSpPr>
          <p:cNvPr id="20" name="TextBox 19"/>
          <p:cNvSpPr txBox="1"/>
          <p:nvPr/>
        </p:nvSpPr>
        <p:spPr>
          <a:xfrm>
            <a:off x="7863840" y="3840480"/>
            <a:ext cx="3520440" cy="2194560"/>
          </a:xfrm>
          <a:prstGeom prst="rect">
            <a:avLst/>
          </a:prstGeom>
          <a:noFill/>
        </p:spPr>
        <p:txBody>
          <a:bodyPr wrap="square" lIns="0" rIns="0" tIns="0" bIns="0" anchor="t">
            <a:spAutoFit/>
          </a:bodyPr>
          <a:lstStyle/>
          <a:p>
            <a:pPr algn="l">
              <a:lnSpc>
                <a:spcPct val="140000"/>
              </a:lnSpc>
            </a:pPr>
            <a:r>
              <a:rPr sz="1400" b="0" i="1">
                <a:solidFill>
                  <a:srgbClr val="2C5244"/>
                </a:solidFill>
                <a:latin typeface="Georgia"/>
              </a:rPr>
              <a:t/>
            </a:r>
          </a:p>
        </p:txBody>
      </p:sp>
      <p:sp>
        <p:nvSpPr>
          <p:cNvPr id="21" name="TextBox 20"/>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22" name="TextBox 21"/>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APPLY</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A352B"/>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1 min</a:t>
            </a:r>
          </a:p>
        </p:txBody>
      </p:sp>
      <p:sp>
        <p:nvSpPr>
          <p:cNvPr id="5" name="TextBox 4"/>
          <p:cNvSpPr txBox="1"/>
          <p:nvPr/>
        </p:nvSpPr>
        <p:spPr>
          <a:xfrm>
            <a:off x="548640" y="118872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ONE  THING  TO  REMEMBER</a:t>
            </a:r>
          </a:p>
        </p:txBody>
      </p:sp>
      <p:sp>
        <p:nvSpPr>
          <p:cNvPr id="6" name="TextBox 5"/>
          <p:cNvSpPr txBox="1"/>
          <p:nvPr/>
        </p:nvSpPr>
        <p:spPr>
          <a:xfrm>
            <a:off x="548640" y="2286000"/>
            <a:ext cx="548640" cy="548640"/>
          </a:xfrm>
          <a:prstGeom prst="rect">
            <a:avLst/>
          </a:prstGeom>
          <a:noFill/>
        </p:spPr>
        <p:txBody>
          <a:bodyPr wrap="square" lIns="0" rIns="0" tIns="0" bIns="0" anchor="ctr">
            <a:spAutoFit/>
          </a:bodyPr>
          <a:lstStyle/>
          <a:p>
            <a:pPr algn="l"/>
            <a:r>
              <a:rPr sz="12000" b="1" i="0">
                <a:solidFill>
                  <a:srgbClr val="C5E063"/>
                </a:solidFill>
                <a:latin typeface="Georgia"/>
              </a:rPr>
              <a:t>“</a:t>
            </a:r>
          </a:p>
        </p:txBody>
      </p:sp>
      <p:sp>
        <p:nvSpPr>
          <p:cNvPr id="7" name="TextBox 6"/>
          <p:cNvSpPr txBox="1"/>
          <p:nvPr/>
        </p:nvSpPr>
        <p:spPr>
          <a:xfrm>
            <a:off x="1097280" y="2468880"/>
            <a:ext cx="10515600" cy="2743200"/>
          </a:xfrm>
          <a:prstGeom prst="rect">
            <a:avLst/>
          </a:prstGeom>
          <a:noFill/>
        </p:spPr>
        <p:txBody>
          <a:bodyPr wrap="square" lIns="0" rIns="0" tIns="0" bIns="0" anchor="t">
            <a:spAutoFit/>
          </a:bodyPr>
          <a:lstStyle/>
          <a:p>
            <a:pPr algn="l">
              <a:lnSpc>
                <a:spcPct val="140000"/>
              </a:lnSpc>
            </a:pPr>
            <a:r>
              <a:rPr sz="3000" b="0" i="1">
                <a:solidFill>
                  <a:srgbClr val="FFFFFF"/>
                </a:solidFill>
                <a:latin typeface="Georgia"/>
              </a:rPr>
              <a:t>Knowing the right tool is half the battle. Doing the small thing today is the other half.</a:t>
            </a:r>
          </a:p>
        </p:txBody>
      </p:sp>
      <p:sp>
        <p:nvSpPr>
          <p:cNvPr id="8" name="TextBox 7"/>
          <p:cNvSpPr txBox="1"/>
          <p:nvPr/>
        </p:nvSpPr>
        <p:spPr>
          <a:xfrm>
            <a:off x="1097280" y="5303520"/>
            <a:ext cx="10515600" cy="365760"/>
          </a:xfrm>
          <a:prstGeom prst="rect">
            <a:avLst/>
          </a:prstGeom>
          <a:noFill/>
        </p:spPr>
        <p:txBody>
          <a:bodyPr wrap="square" lIns="0" rIns="0" tIns="0" bIns="0" anchor="t">
            <a:spAutoFit/>
          </a:bodyPr>
          <a:lstStyle/>
          <a:p>
            <a:pPr algn="l"/>
            <a:r>
              <a:rPr sz="1200" b="1" i="0" spc="400">
                <a:solidFill>
                  <a:srgbClr val="C5E063"/>
                </a:solidFill>
                <a:latin typeface="Calibri"/>
              </a:rPr>
              <a:t>—  AI Learning Hub</a:t>
            </a:r>
          </a:p>
        </p:txBody>
      </p:sp>
      <p:sp>
        <p:nvSpPr>
          <p:cNvPr id="9" name="TextBox 8"/>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10" name="TextBox 9"/>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BIG IDEA</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2C5244"/>
        </a:solidFill>
        <a:effectLst/>
      </p:bgPr>
    </p:bg>
    <p:spTree>
      <p:nvGrpSpPr>
        <p:cNvPr id="1" name=""/>
        <p:cNvGrpSpPr/>
        <p:nvPr/>
      </p:nvGrpSpPr>
      <p:grpSpPr/>
      <p:sp>
        <p:nvSpPr>
          <p:cNvPr id="2" name="Rectangle 1"/>
          <p:cNvSpPr/>
          <p:nvPr/>
        </p:nvSpPr>
        <p:spPr>
          <a:xfrm>
            <a:off x="0" y="0"/>
            <a:ext cx="12191695" cy="123444"/>
          </a:xfrm>
          <a:prstGeom prst="rect">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7315200" cy="274320"/>
          </a:xfrm>
          <a:prstGeom prst="rect">
            <a:avLst/>
          </a:prstGeom>
          <a:noFill/>
        </p:spPr>
        <p:txBody>
          <a:bodyPr wrap="square" lIns="0" rIns="0" tIns="0" bIns="0" anchor="t">
            <a:spAutoFit/>
          </a:bodyPr>
          <a:lstStyle/>
          <a:p>
            <a:pPr algn="l"/>
            <a:r>
              <a:rPr sz="1000" b="1" i="0" spc="600">
                <a:solidFill>
                  <a:srgbClr val="C5E063"/>
                </a:solidFill>
                <a:latin typeface="Calibri"/>
              </a:rPr>
              <a:t>AI  LEARNING  HUB</a:t>
            </a:r>
          </a:p>
        </p:txBody>
      </p:sp>
      <p:sp>
        <p:nvSpPr>
          <p:cNvPr id="4" name="TextBox 3"/>
          <p:cNvSpPr txBox="1"/>
          <p:nvPr/>
        </p:nvSpPr>
        <p:spPr>
          <a:xfrm>
            <a:off x="548640" y="603504"/>
            <a:ext cx="9144000" cy="274320"/>
          </a:xfrm>
          <a:prstGeom prst="rect">
            <a:avLst/>
          </a:prstGeom>
          <a:noFill/>
        </p:spPr>
        <p:txBody>
          <a:bodyPr wrap="square" lIns="0" rIns="0" tIns="0" bIns="0" anchor="t">
            <a:spAutoFit/>
          </a:bodyPr>
          <a:lstStyle/>
          <a:p>
            <a:pPr algn="l"/>
            <a:r>
              <a:rPr sz="900" b="1" i="0" spc="400">
                <a:solidFill>
                  <a:srgbClr val="FFFFFF"/>
                </a:solidFill>
                <a:latin typeface="Calibri"/>
              </a:rPr>
              <a:t>WEEK 1   /   LESSON 5   /   1 min</a:t>
            </a:r>
          </a:p>
        </p:txBody>
      </p:sp>
      <p:sp>
        <p:nvSpPr>
          <p:cNvPr id="5" name="TextBox 4"/>
          <p:cNvSpPr txBox="1"/>
          <p:nvPr/>
        </p:nvSpPr>
        <p:spPr>
          <a:xfrm>
            <a:off x="548640" y="1143000"/>
            <a:ext cx="7315200" cy="274320"/>
          </a:xfrm>
          <a:prstGeom prst="rect">
            <a:avLst/>
          </a:prstGeom>
          <a:noFill/>
        </p:spPr>
        <p:txBody>
          <a:bodyPr wrap="square" lIns="0" rIns="0" tIns="0" bIns="0" anchor="t">
            <a:spAutoFit/>
          </a:bodyPr>
          <a:lstStyle/>
          <a:p>
            <a:pPr algn="l"/>
            <a:r>
              <a:rPr sz="1000" b="1" i="0" spc="500">
                <a:solidFill>
                  <a:srgbClr val="C5E063"/>
                </a:solidFill>
                <a:latin typeface="Calibri"/>
              </a:rPr>
              <a:t>END OF LESSON 5</a:t>
            </a:r>
          </a:p>
        </p:txBody>
      </p:sp>
      <p:sp>
        <p:nvSpPr>
          <p:cNvPr id="6" name="TextBox 5"/>
          <p:cNvSpPr txBox="1"/>
          <p:nvPr/>
        </p:nvSpPr>
        <p:spPr>
          <a:xfrm>
            <a:off x="548640" y="1417320"/>
            <a:ext cx="10515600" cy="1097280"/>
          </a:xfrm>
          <a:prstGeom prst="rect">
            <a:avLst/>
          </a:prstGeom>
          <a:noFill/>
        </p:spPr>
        <p:txBody>
          <a:bodyPr wrap="square" lIns="0" rIns="0" tIns="0" bIns="0" anchor="t">
            <a:spAutoFit/>
          </a:bodyPr>
          <a:lstStyle/>
          <a:p>
            <a:pPr algn="l"/>
            <a:r>
              <a:rPr sz="3400" b="0" i="0">
                <a:solidFill>
                  <a:srgbClr val="FFFFFF"/>
                </a:solidFill>
                <a:latin typeface="Georgia"/>
              </a:rPr>
              <a:t>What you can now do</a:t>
            </a:r>
          </a:p>
        </p:txBody>
      </p:sp>
      <p:sp>
        <p:nvSpPr>
          <p:cNvPr id="7" name="TextBox 6"/>
          <p:cNvSpPr txBox="1"/>
          <p:nvPr/>
        </p:nvSpPr>
        <p:spPr>
          <a:xfrm>
            <a:off x="548640" y="2240280"/>
            <a:ext cx="10515600" cy="914400"/>
          </a:xfrm>
          <a:prstGeom prst="rect">
            <a:avLst/>
          </a:prstGeom>
          <a:noFill/>
        </p:spPr>
        <p:txBody>
          <a:bodyPr wrap="square" lIns="0" rIns="0" tIns="0" bIns="0" anchor="t">
            <a:spAutoFit/>
          </a:bodyPr>
          <a:lstStyle/>
          <a:p>
            <a:pPr algn="l">
              <a:lnSpc>
                <a:spcPct val="125000"/>
              </a:lnSpc>
            </a:pPr>
            <a:r>
              <a:rPr sz="1400" b="0" i="0">
                <a:solidFill>
                  <a:srgbClr val="E5E7EB"/>
                </a:solidFill>
                <a:latin typeface="Calibri"/>
              </a:rPr>
              <a:t>Each one of these is now part of your working vocabulary.</a:t>
            </a:r>
          </a:p>
        </p:txBody>
      </p:sp>
      <p:sp>
        <p:nvSpPr>
          <p:cNvPr id="8" name="Oval 7"/>
          <p:cNvSpPr/>
          <p:nvPr/>
        </p:nvSpPr>
        <p:spPr>
          <a:xfrm>
            <a:off x="640080" y="3017520"/>
            <a:ext cx="365760" cy="3657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3017520"/>
            <a:ext cx="365760" cy="365760"/>
          </a:xfrm>
          <a:prstGeom prst="rect">
            <a:avLst/>
          </a:prstGeom>
          <a:noFill/>
        </p:spPr>
        <p:txBody>
          <a:bodyPr wrap="square" lIns="0" rIns="0" tIns="0" bIns="0" anchor="ctr">
            <a:spAutoFit/>
          </a:bodyPr>
          <a:lstStyle/>
          <a:p>
            <a:pPr algn="ctr"/>
            <a:r>
              <a:rPr sz="1400" b="1" i="0">
                <a:solidFill>
                  <a:srgbClr val="2C5244"/>
                </a:solidFill>
                <a:latin typeface="Georgia"/>
              </a:rPr>
              <a:t>1</a:t>
            </a:r>
          </a:p>
        </p:txBody>
      </p:sp>
      <p:sp>
        <p:nvSpPr>
          <p:cNvPr id="10" name="TextBox 9"/>
          <p:cNvSpPr txBox="1"/>
          <p:nvPr/>
        </p:nvSpPr>
        <p:spPr>
          <a:xfrm>
            <a:off x="1188720" y="3017520"/>
            <a:ext cx="10424160" cy="4572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Pick the right tool — never the loudest one.</a:t>
            </a:r>
          </a:p>
        </p:txBody>
      </p:sp>
      <p:sp>
        <p:nvSpPr>
          <p:cNvPr id="11" name="Oval 10"/>
          <p:cNvSpPr/>
          <p:nvPr/>
        </p:nvSpPr>
        <p:spPr>
          <a:xfrm>
            <a:off x="640080" y="3520440"/>
            <a:ext cx="365760" cy="3657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3520440"/>
            <a:ext cx="365760" cy="365760"/>
          </a:xfrm>
          <a:prstGeom prst="rect">
            <a:avLst/>
          </a:prstGeom>
          <a:noFill/>
        </p:spPr>
        <p:txBody>
          <a:bodyPr wrap="square" lIns="0" rIns="0" tIns="0" bIns="0" anchor="ctr">
            <a:spAutoFit/>
          </a:bodyPr>
          <a:lstStyle/>
          <a:p>
            <a:pPr algn="ctr"/>
            <a:r>
              <a:rPr sz="1400" b="1" i="0">
                <a:solidFill>
                  <a:srgbClr val="2C5244"/>
                </a:solidFill>
                <a:latin typeface="Georgia"/>
              </a:rPr>
              <a:t>2</a:t>
            </a:r>
          </a:p>
        </p:txBody>
      </p:sp>
      <p:sp>
        <p:nvSpPr>
          <p:cNvPr id="13" name="TextBox 12"/>
          <p:cNvSpPr txBox="1"/>
          <p:nvPr/>
        </p:nvSpPr>
        <p:spPr>
          <a:xfrm>
            <a:off x="1188720" y="3520440"/>
            <a:ext cx="10424160" cy="4572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Practice the framework on a real example.</a:t>
            </a:r>
          </a:p>
        </p:txBody>
      </p:sp>
      <p:sp>
        <p:nvSpPr>
          <p:cNvPr id="14" name="Oval 13"/>
          <p:cNvSpPr/>
          <p:nvPr/>
        </p:nvSpPr>
        <p:spPr>
          <a:xfrm>
            <a:off x="640080" y="4023360"/>
            <a:ext cx="365760" cy="3657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4023360"/>
            <a:ext cx="365760" cy="365760"/>
          </a:xfrm>
          <a:prstGeom prst="rect">
            <a:avLst/>
          </a:prstGeom>
          <a:noFill/>
        </p:spPr>
        <p:txBody>
          <a:bodyPr wrap="square" lIns="0" rIns="0" tIns="0" bIns="0" anchor="ctr">
            <a:spAutoFit/>
          </a:bodyPr>
          <a:lstStyle/>
          <a:p>
            <a:pPr algn="ctr"/>
            <a:r>
              <a:rPr sz="1400" b="1" i="0">
                <a:solidFill>
                  <a:srgbClr val="2C5244"/>
                </a:solidFill>
                <a:latin typeface="Georgia"/>
              </a:rPr>
              <a:t>3</a:t>
            </a:r>
          </a:p>
        </p:txBody>
      </p:sp>
      <p:sp>
        <p:nvSpPr>
          <p:cNvPr id="16" name="TextBox 15"/>
          <p:cNvSpPr txBox="1"/>
          <p:nvPr/>
        </p:nvSpPr>
        <p:spPr>
          <a:xfrm>
            <a:off x="1188720" y="4023360"/>
            <a:ext cx="10424160" cy="4572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Watch for the three classic pitfalls.</a:t>
            </a:r>
          </a:p>
        </p:txBody>
      </p:sp>
      <p:sp>
        <p:nvSpPr>
          <p:cNvPr id="17" name="Oval 16"/>
          <p:cNvSpPr/>
          <p:nvPr/>
        </p:nvSpPr>
        <p:spPr>
          <a:xfrm>
            <a:off x="640080" y="4526280"/>
            <a:ext cx="365760" cy="3657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4526280"/>
            <a:ext cx="365760" cy="365760"/>
          </a:xfrm>
          <a:prstGeom prst="rect">
            <a:avLst/>
          </a:prstGeom>
          <a:noFill/>
        </p:spPr>
        <p:txBody>
          <a:bodyPr wrap="square" lIns="0" rIns="0" tIns="0" bIns="0" anchor="ctr">
            <a:spAutoFit/>
          </a:bodyPr>
          <a:lstStyle/>
          <a:p>
            <a:pPr algn="ctr"/>
            <a:r>
              <a:rPr sz="1400" b="1" i="0">
                <a:solidFill>
                  <a:srgbClr val="2C5244"/>
                </a:solidFill>
                <a:latin typeface="Georgia"/>
              </a:rPr>
              <a:t>4</a:t>
            </a:r>
          </a:p>
        </p:txBody>
      </p:sp>
      <p:sp>
        <p:nvSpPr>
          <p:cNvPr id="19" name="TextBox 18"/>
          <p:cNvSpPr txBox="1"/>
          <p:nvPr/>
        </p:nvSpPr>
        <p:spPr>
          <a:xfrm>
            <a:off x="1188720" y="4526280"/>
            <a:ext cx="10424160" cy="4572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Document your decision in one sentence.</a:t>
            </a:r>
          </a:p>
        </p:txBody>
      </p:sp>
      <p:sp>
        <p:nvSpPr>
          <p:cNvPr id="20" name="Oval 19"/>
          <p:cNvSpPr/>
          <p:nvPr/>
        </p:nvSpPr>
        <p:spPr>
          <a:xfrm>
            <a:off x="640080" y="5029200"/>
            <a:ext cx="365760" cy="365760"/>
          </a:xfrm>
          <a:prstGeom prst="ellipse">
            <a:avLst/>
          </a:prstGeom>
          <a:solidFill>
            <a:srgbClr val="C5E0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5029200"/>
            <a:ext cx="365760" cy="365760"/>
          </a:xfrm>
          <a:prstGeom prst="rect">
            <a:avLst/>
          </a:prstGeom>
          <a:noFill/>
        </p:spPr>
        <p:txBody>
          <a:bodyPr wrap="square" lIns="0" rIns="0" tIns="0" bIns="0" anchor="ctr">
            <a:spAutoFit/>
          </a:bodyPr>
          <a:lstStyle/>
          <a:p>
            <a:pPr algn="ctr"/>
            <a:r>
              <a:rPr sz="1400" b="1" i="0">
                <a:solidFill>
                  <a:srgbClr val="2C5244"/>
                </a:solidFill>
                <a:latin typeface="Georgia"/>
              </a:rPr>
              <a:t>5</a:t>
            </a:r>
          </a:p>
        </p:txBody>
      </p:sp>
      <p:sp>
        <p:nvSpPr>
          <p:cNvPr id="22" name="TextBox 21"/>
          <p:cNvSpPr txBox="1"/>
          <p:nvPr/>
        </p:nvSpPr>
        <p:spPr>
          <a:xfrm>
            <a:off x="1188720" y="5029200"/>
            <a:ext cx="10424160" cy="457200"/>
          </a:xfrm>
          <a:prstGeom prst="rect">
            <a:avLst/>
          </a:prstGeom>
          <a:noFill/>
        </p:spPr>
        <p:txBody>
          <a:bodyPr wrap="square" lIns="0" rIns="0" tIns="0" bIns="0" anchor="ctr">
            <a:spAutoFit/>
          </a:bodyPr>
          <a:lstStyle/>
          <a:p>
            <a:pPr algn="l">
              <a:lnSpc>
                <a:spcPct val="130000"/>
              </a:lnSpc>
            </a:pPr>
            <a:r>
              <a:rPr sz="1300" b="0" i="0">
                <a:solidFill>
                  <a:srgbClr val="FFFFFF"/>
                </a:solidFill>
                <a:latin typeface="Calibri"/>
              </a:rPr>
              <a:t>Carry the discipline forward to the next lesson.</a:t>
            </a:r>
          </a:p>
        </p:txBody>
      </p:sp>
      <p:sp>
        <p:nvSpPr>
          <p:cNvPr id="23" name="TextBox 22"/>
          <p:cNvSpPr txBox="1"/>
          <p:nvPr/>
        </p:nvSpPr>
        <p:spPr>
          <a:xfrm>
            <a:off x="548640" y="6446520"/>
            <a:ext cx="6400800" cy="274320"/>
          </a:xfrm>
          <a:prstGeom prst="rect">
            <a:avLst/>
          </a:prstGeom>
          <a:noFill/>
        </p:spPr>
        <p:txBody>
          <a:bodyPr wrap="square" lIns="0" rIns="0" tIns="0" bIns="0" anchor="t">
            <a:spAutoFit/>
          </a:bodyPr>
          <a:lstStyle/>
          <a:p>
            <a:pPr algn="l"/>
            <a:r>
              <a:rPr sz="800" b="1" i="0" spc="400">
                <a:solidFill>
                  <a:srgbClr val="B7C9BD"/>
                </a:solidFill>
                <a:latin typeface="Calibri"/>
              </a:rPr>
              <a:t>AI  LEARNING  HUB   ·   LESSON 5 OF 7</a:t>
            </a:r>
          </a:p>
        </p:txBody>
      </p:sp>
      <p:sp>
        <p:nvSpPr>
          <p:cNvPr id="24" name="TextBox 23"/>
          <p:cNvSpPr txBox="1"/>
          <p:nvPr/>
        </p:nvSpPr>
        <p:spPr>
          <a:xfrm>
            <a:off x="6400800" y="6446520"/>
            <a:ext cx="5212080" cy="274320"/>
          </a:xfrm>
          <a:prstGeom prst="rect">
            <a:avLst/>
          </a:prstGeom>
          <a:noFill/>
        </p:spPr>
        <p:txBody>
          <a:bodyPr wrap="square" lIns="0" rIns="0" tIns="0" bIns="0" anchor="t">
            <a:spAutoFit/>
          </a:bodyPr>
          <a:lstStyle/>
          <a:p>
            <a:pPr algn="r"/>
            <a:r>
              <a:rPr sz="800" b="1" i="0" spc="400">
                <a:solidFill>
                  <a:srgbClr val="B7C9BD"/>
                </a:solidFill>
                <a:latin typeface="Calibri"/>
              </a:rPr>
              <a:t>WRAP</a:t>
            </a: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4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50" fill="hold"/>
                                        <p:tgtEl>
                                          <p:spTgt spid="2"/>
                                        </p:tgtEl>
                                        <p:attrNameLst>
                                          <p:attrName>style.opacity</p:attrName>
                                        </p:attrNameLst>
                                      </p:cBhvr>
                                      <p:tavLst>
                                        <p:tav tm="0">
                                          <p:val>
                                            <p:fltVal val="0"/>
                                          </p:val>
                                        </p:tav>
                                        <p:tav tm="100000">
                                          <p:val>
                                            <p:fltVal val="1"/>
                                          </p:val>
                                        </p:tav>
                                      </p:tavLst>
                                    </p:anim>
                                  </p:childTnLst>
                                </p:cTn>
                              </p:par>
                            </p:childTnLst>
                          </p:cTn>
                        </p:par>
                      </p:childTnLst>
                    </p:cTn>
                  </p:par>
                  <p:par>
                    <p:cTn id="8" fill="hold">
                      <p:stCondLst>
                        <p:cond delay="indefinite"/>
                        <p:cond evt="onBegin" delay="0">
                          <p:tn val="2"/>
                        </p:cond>
                      </p:stCondLst>
                      <p:childTnLst>
                        <p:par>
                          <p:cTn id="9" fill="hold">
                            <p:stCondLst>
                              <p:cond delay="0"/>
                            </p:stCondLst>
                            <p:childTnLst>
                              <p:par>
                                <p:cTn id="10" presetID="10" presetClass="entr" presetSubtype="0" fill="hold" grpId="0" nodeType="afterEffect">
                                  <p:stCondLst>
                                    <p:cond delay="18"/>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150" fill="hold"/>
                                        <p:tgtEl>
                                          <p:spTgt spid="3"/>
                                        </p:tgtEl>
                                        <p:attrNameLst>
                                          <p:attrName>style.opacity</p:attrName>
                                        </p:attrNameLst>
                                      </p:cBhvr>
                                      <p:tavLst>
                                        <p:tav tm="0">
                                          <p:val>
                                            <p:fltVal val="0"/>
                                          </p:val>
                                        </p:tav>
                                        <p:tav tm="100000">
                                          <p:val>
                                            <p:fltVal val="1"/>
                                          </p:val>
                                        </p:tav>
                                      </p:tavLst>
                                    </p:anim>
                                  </p:childTnLst>
                                </p:cTn>
                              </p:par>
                            </p:childTnLst>
                          </p:cTn>
                        </p:par>
                      </p:childTnLst>
                    </p:cTn>
                  </p:par>
                  <p:par>
                    <p:cTn id="13" fill="hold">
                      <p:stCondLst>
                        <p:cond delay="indefinite"/>
                        <p:cond evt="onBegin" delay="0">
                          <p:tn val="2"/>
                        </p:cond>
                      </p:stCondLst>
                      <p:childTnLst>
                        <p:par>
                          <p:cTn id="14" fill="hold">
                            <p:stCondLst>
                              <p:cond delay="0"/>
                            </p:stCondLst>
                            <p:childTnLst>
                              <p:par>
                                <p:cTn id="15" presetID="10" presetClass="entr" presetSubtype="0" fill="hold" grpId="0" nodeType="afterEffect">
                                  <p:stCondLst>
                                    <p:cond delay="18"/>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150" fill="hold"/>
                                        <p:tgtEl>
                                          <p:spTgt spid="4"/>
                                        </p:tgtEl>
                                        <p:attrNameLst>
                                          <p:attrName>style.opacity</p:attrName>
                                        </p:attrNameLst>
                                      </p:cBhvr>
                                      <p:tavLst>
                                        <p:tav tm="0">
                                          <p:val>
                                            <p:fltVal val="0"/>
                                          </p:val>
                                        </p:tav>
                                        <p:tav tm="100000">
                                          <p:val>
                                            <p:fltVal val="1"/>
                                          </p:val>
                                        </p:tav>
                                      </p:tavLst>
                                    </p:anim>
                                  </p:childTnLst>
                                </p:cTn>
                              </p:par>
                            </p:childTnLst>
                          </p:cTn>
                        </p:par>
                      </p:childTnLst>
                    </p:cTn>
                  </p:par>
                  <p:par>
                    <p:cTn id="18" fill="hold">
                      <p:stCondLst>
                        <p:cond delay="indefinite"/>
                        <p:cond evt="onBegin" delay="0">
                          <p:tn val="2"/>
                        </p:cond>
                      </p:stCondLst>
                      <p:childTnLst>
                        <p:par>
                          <p:cTn id="19" fill="hold">
                            <p:stCondLst>
                              <p:cond delay="0"/>
                            </p:stCondLst>
                            <p:childTnLst>
                              <p:par>
                                <p:cTn id="20" presetID="10" presetClass="entr" presetSubtype="0" fill="hold" grpId="0" nodeType="afterEffect">
                                  <p:stCondLst>
                                    <p:cond delay="18"/>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150" fill="hold"/>
                                        <p:tgtEl>
                                          <p:spTgt spid="5"/>
                                        </p:tgtEl>
                                        <p:attrNameLst>
                                          <p:attrName>style.opacity</p:attrName>
                                        </p:attrNameLst>
                                      </p:cBhvr>
                                      <p:tavLst>
                                        <p:tav tm="0">
                                          <p:val>
                                            <p:fltVal val="0"/>
                                          </p:val>
                                        </p:tav>
                                        <p:tav tm="100000">
                                          <p:val>
                                            <p:fltVal val="1"/>
                                          </p:val>
                                        </p:tav>
                                      </p:tavLst>
                                    </p:anim>
                                  </p:childTnLst>
                                </p:cTn>
                              </p:par>
                            </p:childTnLst>
                          </p:cTn>
                        </p:par>
                      </p:childTnLst>
                    </p:cTn>
                  </p:par>
                  <p:par>
                    <p:cTn id="23" fill="hold">
                      <p:stCondLst>
                        <p:cond delay="indefinite"/>
                        <p:cond evt="onBegin" delay="0">
                          <p:tn val="2"/>
                        </p:cond>
                      </p:stCondLst>
                      <p:childTnLst>
                        <p:par>
                          <p:cTn id="24" fill="hold">
                            <p:stCondLst>
                              <p:cond delay="0"/>
                            </p:stCondLst>
                            <p:childTnLst>
                              <p:par>
                                <p:cTn id="25" presetID="10" presetClass="entr" presetSubtype="0" fill="hold" grpId="0" nodeType="afterEffect">
                                  <p:stCondLst>
                                    <p:cond delay="18"/>
                                  </p:stCondLst>
                                  <p:childTnLst>
                                    <p:set>
                                      <p:cBhvr>
                                        <p:cTn id="26" dur="1" fill="hold">
                                          <p:stCondLst>
                                            <p:cond delay="0"/>
                                          </p:stCondLst>
                                        </p:cTn>
                                        <p:tgtEl>
                                          <p:spTgt spid="6"/>
                                        </p:tgtEl>
                                        <p:attrNameLst>
                                          <p:attrName>style.visibility</p:attrName>
                                        </p:attrNameLst>
                                      </p:cBhvr>
                                      <p:to>
                                        <p:strVal val="visible"/>
                                      </p:to>
                                    </p:set>
                                    <p:anim calcmode="lin" valueType="num">
                                      <p:cBhvr additive="base">
                                        <p:cTn id="27" dur="150" fill="hold"/>
                                        <p:tgtEl>
                                          <p:spTgt spid="6"/>
                                        </p:tgtEl>
                                        <p:attrNameLst>
                                          <p:attrName>style.opacity</p:attrName>
                                        </p:attrNameLst>
                                      </p:cBhvr>
                                      <p:tavLst>
                                        <p:tav tm="0">
                                          <p:val>
                                            <p:fltVal val="0"/>
                                          </p:val>
                                        </p:tav>
                                        <p:tav tm="100000">
                                          <p:val>
                                            <p:fltVal val="1"/>
                                          </p:val>
                                        </p:tav>
                                      </p:tavLst>
                                    </p:anim>
                                  </p:childTnLst>
                                </p:cTn>
                              </p:par>
                            </p:childTnLst>
                          </p:cTn>
                        </p:par>
                      </p:childTnLst>
                    </p:cTn>
                  </p:par>
                  <p:par>
                    <p:cTn id="28" fill="hold">
                      <p:stCondLst>
                        <p:cond delay="indefinite"/>
                        <p:cond evt="onBegin" delay="0">
                          <p:tn val="2"/>
                        </p:cond>
                      </p:stCondLst>
                      <p:childTnLst>
                        <p:par>
                          <p:cTn id="29" fill="hold">
                            <p:stCondLst>
                              <p:cond delay="0"/>
                            </p:stCondLst>
                            <p:childTnLst>
                              <p:par>
                                <p:cTn id="30" presetID="10" presetClass="entr" presetSubtype="0" fill="hold" grpId="0" nodeType="afterEffect">
                                  <p:stCondLst>
                                    <p:cond delay="18"/>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150" fill="hold"/>
                                        <p:tgtEl>
                                          <p:spTgt spid="7"/>
                                        </p:tgtEl>
                                        <p:attrNameLst>
                                          <p:attrName>style.opacity</p:attrName>
                                        </p:attrNameLst>
                                      </p:cBhvr>
                                      <p:tavLst>
                                        <p:tav tm="0">
                                          <p:val>
                                            <p:fltVal val="0"/>
                                          </p:val>
                                        </p:tav>
                                        <p:tav tm="100000">
                                          <p:val>
                                            <p:fltVal val="1"/>
                                          </p:val>
                                        </p:tav>
                                      </p:tavLst>
                                    </p:anim>
                                  </p:childTnLst>
                                </p:cTn>
                              </p:par>
                            </p:childTnLst>
                          </p:cTn>
                        </p:par>
                      </p:childTnLst>
                    </p:cTn>
                  </p:par>
                  <p:par>
                    <p:cTn id="33" fill="hold">
                      <p:stCondLst>
                        <p:cond delay="indefinite"/>
                        <p:cond evt="onBegin" delay="0">
                          <p:tn val="2"/>
                        </p:cond>
                      </p:stCondLst>
                      <p:childTnLst>
                        <p:par>
                          <p:cTn id="34" fill="hold">
                            <p:stCondLst>
                              <p:cond delay="0"/>
                            </p:stCondLst>
                            <p:childTnLst>
                              <p:par>
                                <p:cTn id="35" presetID="10" presetClass="entr" presetSubtype="0" fill="hold" grpId="0" nodeType="afterEffect">
                                  <p:stCondLst>
                                    <p:cond delay="18"/>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150" fill="hold"/>
                                        <p:tgtEl>
                                          <p:spTgt spid="8"/>
                                        </p:tgtEl>
                                        <p:attrNameLst>
                                          <p:attrName>style.opacity</p:attrName>
                                        </p:attrNameLst>
                                      </p:cBhvr>
                                      <p:tavLst>
                                        <p:tav tm="0">
                                          <p:val>
                                            <p:fltVal val="0"/>
                                          </p:val>
                                        </p:tav>
                                        <p:tav tm="100000">
                                          <p:val>
                                            <p:fltVal val="1"/>
                                          </p:val>
                                        </p:tav>
                                      </p:tavLst>
                                    </p:anim>
                                  </p:childTnLst>
                                </p:cTn>
                              </p:par>
                            </p:childTnLst>
                          </p:cTn>
                        </p:par>
                      </p:childTnLst>
                    </p:cTn>
                  </p:par>
                  <p:par>
                    <p:cTn id="38" fill="hold">
                      <p:stCondLst>
                        <p:cond delay="indefinite"/>
                        <p:cond evt="onBegin" delay="0">
                          <p:tn val="2"/>
                        </p:cond>
                      </p:stCondLst>
                      <p:childTnLst>
                        <p:par>
                          <p:cTn id="39" fill="hold">
                            <p:stCondLst>
                              <p:cond delay="0"/>
                            </p:stCondLst>
                            <p:childTnLst>
                              <p:par>
                                <p:cTn id="40" presetID="10" presetClass="entr" presetSubtype="0" fill="hold" grpId="0" nodeType="afterEffect">
                                  <p:stCondLst>
                                    <p:cond delay="18"/>
                                  </p:stCondLst>
                                  <p:childTnLst>
                                    <p:set>
                                      <p:cBhvr>
                                        <p:cTn id="41" dur="1" fill="hold">
                                          <p:stCondLst>
                                            <p:cond delay="0"/>
                                          </p:stCondLst>
                                        </p:cTn>
                                        <p:tgtEl>
                                          <p:spTgt spid="9"/>
                                        </p:tgtEl>
                                        <p:attrNameLst>
                                          <p:attrName>style.visibility</p:attrName>
                                        </p:attrNameLst>
                                      </p:cBhvr>
                                      <p:to>
                                        <p:strVal val="visible"/>
                                      </p:to>
                                    </p:set>
                                    <p:anim calcmode="lin" valueType="num">
                                      <p:cBhvr additive="base">
                                        <p:cTn id="42" dur="150" fill="hold"/>
                                        <p:tgtEl>
                                          <p:spTgt spid="9"/>
                                        </p:tgtEl>
                                        <p:attrNameLst>
                                          <p:attrName>style.opacity</p:attrName>
                                        </p:attrNameLst>
                                      </p:cBhvr>
                                      <p:tavLst>
                                        <p:tav tm="0">
                                          <p:val>
                                            <p:fltVal val="0"/>
                                          </p:val>
                                        </p:tav>
                                        <p:tav tm="100000">
                                          <p:val>
                                            <p:fltVal val="1"/>
                                          </p:val>
                                        </p:tav>
                                      </p:tavLst>
                                    </p:anim>
                                  </p:childTnLst>
                                </p:cTn>
                              </p:par>
                            </p:childTnLst>
                          </p:cTn>
                        </p:par>
                      </p:childTnLst>
                    </p:cTn>
                  </p:par>
                  <p:par>
                    <p:cTn id="43" fill="hold">
                      <p:stCondLst>
                        <p:cond delay="indefinite"/>
                        <p:cond evt="onBegin" delay="0">
                          <p:tn val="2"/>
                        </p:cond>
                      </p:stCondLst>
                      <p:childTnLst>
                        <p:par>
                          <p:cTn id="44" fill="hold">
                            <p:stCondLst>
                              <p:cond delay="0"/>
                            </p:stCondLst>
                            <p:childTnLst>
                              <p:par>
                                <p:cTn id="45" presetID="10" presetClass="entr" presetSubtype="0" fill="hold" grpId="0" nodeType="afterEffect">
                                  <p:stCondLst>
                                    <p:cond delay="18"/>
                                  </p:stCondLst>
                                  <p:childTnLst>
                                    <p:set>
                                      <p:cBhvr>
                                        <p:cTn id="46" dur="1" fill="hold">
                                          <p:stCondLst>
                                            <p:cond delay="0"/>
                                          </p:stCondLst>
                                        </p:cTn>
                                        <p:tgtEl>
                                          <p:spTgt spid="10"/>
                                        </p:tgtEl>
                                        <p:attrNameLst>
                                          <p:attrName>style.visibility</p:attrName>
                                        </p:attrNameLst>
                                      </p:cBhvr>
                                      <p:to>
                                        <p:strVal val="visible"/>
                                      </p:to>
                                    </p:set>
                                    <p:anim calcmode="lin" valueType="num">
                                      <p:cBhvr additive="base">
                                        <p:cTn id="47" dur="150" fill="hold"/>
                                        <p:tgtEl>
                                          <p:spTgt spid="10"/>
                                        </p:tgtEl>
                                        <p:attrNameLst>
                                          <p:attrName>style.opacity</p:attrName>
                                        </p:attrNameLst>
                                      </p:cBhvr>
                                      <p:tavLst>
                                        <p:tav tm="0">
                                          <p:val>
                                            <p:fltVal val="0"/>
                                          </p:val>
                                        </p:tav>
                                        <p:tav tm="100000">
                                          <p:val>
                                            <p:fltVal val="1"/>
                                          </p:val>
                                        </p:tav>
                                      </p:tavLst>
                                    </p:anim>
                                  </p:childTnLst>
                                </p:cTn>
                              </p:par>
                            </p:childTnLst>
                          </p:cTn>
                        </p:par>
                      </p:childTnLst>
                    </p:cTn>
                  </p:par>
                  <p:par>
                    <p:cTn id="48" fill="hold">
                      <p:stCondLst>
                        <p:cond delay="indefinite"/>
                        <p:cond evt="onBegin" delay="0">
                          <p:tn val="2"/>
                        </p:cond>
                      </p:stCondLst>
                      <p:childTnLst>
                        <p:par>
                          <p:cTn id="49" fill="hold">
                            <p:stCondLst>
                              <p:cond delay="0"/>
                            </p:stCondLst>
                            <p:childTnLst>
                              <p:par>
                                <p:cTn id="50" presetID="10" presetClass="entr" presetSubtype="0" fill="hold" grpId="0" nodeType="afterEffect">
                                  <p:stCondLst>
                                    <p:cond delay="18"/>
                                  </p:stCondLst>
                                  <p:childTnLst>
                                    <p:set>
                                      <p:cBhvr>
                                        <p:cTn id="51" dur="1" fill="hold">
                                          <p:stCondLst>
                                            <p:cond delay="0"/>
                                          </p:stCondLst>
                                        </p:cTn>
                                        <p:tgtEl>
                                          <p:spTgt spid="11"/>
                                        </p:tgtEl>
                                        <p:attrNameLst>
                                          <p:attrName>style.visibility</p:attrName>
                                        </p:attrNameLst>
                                      </p:cBhvr>
                                      <p:to>
                                        <p:strVal val="visible"/>
                                      </p:to>
                                    </p:set>
                                    <p:anim calcmode="lin" valueType="num">
                                      <p:cBhvr additive="base">
                                        <p:cTn id="52" dur="150" fill="hold"/>
                                        <p:tgtEl>
                                          <p:spTgt spid="11"/>
                                        </p:tgtEl>
                                        <p:attrNameLst>
                                          <p:attrName>style.opacity</p:attrName>
                                        </p:attrNameLst>
                                      </p:cBhvr>
                                      <p:tavLst>
                                        <p:tav tm="0">
                                          <p:val>
                                            <p:fltVal val="0"/>
                                          </p:val>
                                        </p:tav>
                                        <p:tav tm="100000">
                                          <p:val>
                                            <p:fltVal val="1"/>
                                          </p:val>
                                        </p:tav>
                                      </p:tavLst>
                                    </p:anim>
                                  </p:childTnLst>
                                </p:cTn>
                              </p:par>
                            </p:childTnLst>
                          </p:cTn>
                        </p:par>
                      </p:childTnLst>
                    </p:cTn>
                  </p:par>
                  <p:par>
                    <p:cTn id="53" fill="hold">
                      <p:stCondLst>
                        <p:cond delay="indefinite"/>
                        <p:cond evt="onBegin" delay="0">
                          <p:tn val="2"/>
                        </p:cond>
                      </p:stCondLst>
                      <p:childTnLst>
                        <p:par>
                          <p:cTn id="54" fill="hold">
                            <p:stCondLst>
                              <p:cond delay="0"/>
                            </p:stCondLst>
                            <p:childTnLst>
                              <p:par>
                                <p:cTn id="55" presetID="10" presetClass="entr" presetSubtype="0" fill="hold" grpId="0" nodeType="afterEffect">
                                  <p:stCondLst>
                                    <p:cond delay="18"/>
                                  </p:stCondLst>
                                  <p:childTnLst>
                                    <p:set>
                                      <p:cBhvr>
                                        <p:cTn id="56" dur="1" fill="hold">
                                          <p:stCondLst>
                                            <p:cond delay="0"/>
                                          </p:stCondLst>
                                        </p:cTn>
                                        <p:tgtEl>
                                          <p:spTgt spid="12"/>
                                        </p:tgtEl>
                                        <p:attrNameLst>
                                          <p:attrName>style.visibility</p:attrName>
                                        </p:attrNameLst>
                                      </p:cBhvr>
                                      <p:to>
                                        <p:strVal val="visible"/>
                                      </p:to>
                                    </p:set>
                                    <p:anim calcmode="lin" valueType="num">
                                      <p:cBhvr additive="base">
                                        <p:cTn id="57" dur="150" fill="hold"/>
                                        <p:tgtEl>
                                          <p:spTgt spid="12"/>
                                        </p:tgtEl>
                                        <p:attrNameLst>
                                          <p:attrName>style.opacity</p:attrName>
                                        </p:attrNameLst>
                                      </p:cBhvr>
                                      <p:tavLst>
                                        <p:tav tm="0">
                                          <p:val>
                                            <p:fltVal val="0"/>
                                          </p:val>
                                        </p:tav>
                                        <p:tav tm="100000">
                                          <p:val>
                                            <p:fltVal val="1"/>
                                          </p:val>
                                        </p:tav>
                                      </p:tavLst>
                                    </p:anim>
                                  </p:childTnLst>
                                </p:cTn>
                              </p:par>
                            </p:childTnLst>
                          </p:cTn>
                        </p:par>
                      </p:childTnLst>
                    </p:cTn>
                  </p:par>
                  <p:par>
                    <p:cTn id="58" fill="hold">
                      <p:stCondLst>
                        <p:cond delay="indefinite"/>
                        <p:cond evt="onBegin" delay="0">
                          <p:tn val="2"/>
                        </p:cond>
                      </p:stCondLst>
                      <p:childTnLst>
                        <p:par>
                          <p:cTn id="59" fill="hold">
                            <p:stCondLst>
                              <p:cond delay="0"/>
                            </p:stCondLst>
                            <p:childTnLst>
                              <p:par>
                                <p:cTn id="60" presetID="10" presetClass="entr" presetSubtype="0" fill="hold" grpId="0" nodeType="afterEffect">
                                  <p:stCondLst>
                                    <p:cond delay="18"/>
                                  </p:stCondLst>
                                  <p:childTnLst>
                                    <p:set>
                                      <p:cBhvr>
                                        <p:cTn id="61" dur="1" fill="hold">
                                          <p:stCondLst>
                                            <p:cond delay="0"/>
                                          </p:stCondLst>
                                        </p:cTn>
                                        <p:tgtEl>
                                          <p:spTgt spid="13"/>
                                        </p:tgtEl>
                                        <p:attrNameLst>
                                          <p:attrName>style.visibility</p:attrName>
                                        </p:attrNameLst>
                                      </p:cBhvr>
                                      <p:to>
                                        <p:strVal val="visible"/>
                                      </p:to>
                                    </p:set>
                                    <p:anim calcmode="lin" valueType="num">
                                      <p:cBhvr additive="base">
                                        <p:cTn id="62" dur="150" fill="hold"/>
                                        <p:tgtEl>
                                          <p:spTgt spid="13"/>
                                        </p:tgtEl>
                                        <p:attrNameLst>
                                          <p:attrName>style.opacity</p:attrName>
                                        </p:attrNameLst>
                                      </p:cBhvr>
                                      <p:tavLst>
                                        <p:tav tm="0">
                                          <p:val>
                                            <p:fltVal val="0"/>
                                          </p:val>
                                        </p:tav>
                                        <p:tav tm="100000">
                                          <p:val>
                                            <p:fltVal val="1"/>
                                          </p:val>
                                        </p:tav>
                                      </p:tavLst>
                                    </p:anim>
                                  </p:childTnLst>
                                </p:cTn>
                              </p:par>
                            </p:childTnLst>
                          </p:cTn>
                        </p:par>
                      </p:childTnLst>
                    </p:cTn>
                  </p:par>
                  <p:par>
                    <p:cTn id="63" fill="hold">
                      <p:stCondLst>
                        <p:cond delay="indefinite"/>
                        <p:cond evt="onBegin" delay="0">
                          <p:tn val="2"/>
                        </p:cond>
                      </p:stCondLst>
                      <p:childTnLst>
                        <p:par>
                          <p:cTn id="64" fill="hold">
                            <p:stCondLst>
                              <p:cond delay="0"/>
                            </p:stCondLst>
                            <p:childTnLst>
                              <p:par>
                                <p:cTn id="65" presetID="10" presetClass="entr" presetSubtype="0" fill="hold" grpId="0" nodeType="afterEffect">
                                  <p:stCondLst>
                                    <p:cond delay="18"/>
                                  </p:stCondLst>
                                  <p:childTnLst>
                                    <p:set>
                                      <p:cBhvr>
                                        <p:cTn id="66" dur="1" fill="hold">
                                          <p:stCondLst>
                                            <p:cond delay="0"/>
                                          </p:stCondLst>
                                        </p:cTn>
                                        <p:tgtEl>
                                          <p:spTgt spid="14"/>
                                        </p:tgtEl>
                                        <p:attrNameLst>
                                          <p:attrName>style.visibility</p:attrName>
                                        </p:attrNameLst>
                                      </p:cBhvr>
                                      <p:to>
                                        <p:strVal val="visible"/>
                                      </p:to>
                                    </p:set>
                                    <p:anim calcmode="lin" valueType="num">
                                      <p:cBhvr additive="base">
                                        <p:cTn id="67" dur="150" fill="hold"/>
                                        <p:tgtEl>
                                          <p:spTgt spid="14"/>
                                        </p:tgtEl>
                                        <p:attrNameLst>
                                          <p:attrName>style.opacity</p:attrName>
                                        </p:attrNameLst>
                                      </p:cBhvr>
                                      <p:tavLst>
                                        <p:tav tm="0">
                                          <p:val>
                                            <p:fltVal val="0"/>
                                          </p:val>
                                        </p:tav>
                                        <p:tav tm="100000">
                                          <p:val>
                                            <p:fltVal val="1"/>
                                          </p:val>
                                        </p:tav>
                                      </p:tavLst>
                                    </p:anim>
                                  </p:childTnLst>
                                </p:cTn>
                              </p:par>
                            </p:childTnLst>
                          </p:cTn>
                        </p:par>
                      </p:childTnLst>
                    </p:cTn>
                  </p:par>
                  <p:par>
                    <p:cTn id="68" fill="hold">
                      <p:stCondLst>
                        <p:cond delay="indefinite"/>
                        <p:cond evt="onBegin" delay="0">
                          <p:tn val="2"/>
                        </p:cond>
                      </p:stCondLst>
                      <p:childTnLst>
                        <p:par>
                          <p:cTn id="69" fill="hold">
                            <p:stCondLst>
                              <p:cond delay="0"/>
                            </p:stCondLst>
                            <p:childTnLst>
                              <p:par>
                                <p:cTn id="70" presetID="10" presetClass="entr" presetSubtype="0" fill="hold" grpId="0" nodeType="afterEffect">
                                  <p:stCondLst>
                                    <p:cond delay="18"/>
                                  </p:stCondLst>
                                  <p:childTnLst>
                                    <p:set>
                                      <p:cBhvr>
                                        <p:cTn id="71" dur="1" fill="hold">
                                          <p:stCondLst>
                                            <p:cond delay="0"/>
                                          </p:stCondLst>
                                        </p:cTn>
                                        <p:tgtEl>
                                          <p:spTgt spid="15"/>
                                        </p:tgtEl>
                                        <p:attrNameLst>
                                          <p:attrName>style.visibility</p:attrName>
                                        </p:attrNameLst>
                                      </p:cBhvr>
                                      <p:to>
                                        <p:strVal val="visible"/>
                                      </p:to>
                                    </p:set>
                                    <p:anim calcmode="lin" valueType="num">
                                      <p:cBhvr additive="base">
                                        <p:cTn id="72" dur="150" fill="hold"/>
                                        <p:tgtEl>
                                          <p:spTgt spid="15"/>
                                        </p:tgtEl>
                                        <p:attrNameLst>
                                          <p:attrName>style.opacity</p:attrName>
                                        </p:attrNameLst>
                                      </p:cBhvr>
                                      <p:tavLst>
                                        <p:tav tm="0">
                                          <p:val>
                                            <p:fltVal val="0"/>
                                          </p:val>
                                        </p:tav>
                                        <p:tav tm="100000">
                                          <p:val>
                                            <p:fltVal val="1"/>
                                          </p:val>
                                        </p:tav>
                                      </p:tavLst>
                                    </p:anim>
                                  </p:childTnLst>
                                </p:cTn>
                              </p:par>
                            </p:childTnLst>
                          </p:cTn>
                        </p:par>
                      </p:childTnLst>
                    </p:cTn>
                  </p:par>
                  <p:par>
                    <p:cTn id="73" fill="hold">
                      <p:stCondLst>
                        <p:cond delay="indefinite"/>
                        <p:cond evt="onBegin" delay="0">
                          <p:tn val="2"/>
                        </p:cond>
                      </p:stCondLst>
                      <p:childTnLst>
                        <p:par>
                          <p:cTn id="74" fill="hold">
                            <p:stCondLst>
                              <p:cond delay="0"/>
                            </p:stCondLst>
                            <p:childTnLst>
                              <p:par>
                                <p:cTn id="75" presetID="10" presetClass="entr" presetSubtype="0" fill="hold" grpId="0" nodeType="afterEffect">
                                  <p:stCondLst>
                                    <p:cond delay="18"/>
                                  </p:stCondLst>
                                  <p:childTnLst>
                                    <p:set>
                                      <p:cBhvr>
                                        <p:cTn id="76" dur="1" fill="hold">
                                          <p:stCondLst>
                                            <p:cond delay="0"/>
                                          </p:stCondLst>
                                        </p:cTn>
                                        <p:tgtEl>
                                          <p:spTgt spid="16"/>
                                        </p:tgtEl>
                                        <p:attrNameLst>
                                          <p:attrName>style.visibility</p:attrName>
                                        </p:attrNameLst>
                                      </p:cBhvr>
                                      <p:to>
                                        <p:strVal val="visible"/>
                                      </p:to>
                                    </p:set>
                                    <p:anim calcmode="lin" valueType="num">
                                      <p:cBhvr additive="base">
                                        <p:cTn id="77" dur="150" fill="hold"/>
                                        <p:tgtEl>
                                          <p:spTgt spid="16"/>
                                        </p:tgtEl>
                                        <p:attrNameLst>
                                          <p:attrName>style.opacity</p:attrName>
                                        </p:attrNameLst>
                                      </p:cBhvr>
                                      <p:tavLst>
                                        <p:tav tm="0">
                                          <p:val>
                                            <p:fltVal val="0"/>
                                          </p:val>
                                        </p:tav>
                                        <p:tav tm="100000">
                                          <p:val>
                                            <p:fltVal val="1"/>
                                          </p:val>
                                        </p:tav>
                                      </p:tavLst>
                                    </p:anim>
                                  </p:childTnLst>
                                </p:cTn>
                              </p:par>
                            </p:childTnLst>
                          </p:cTn>
                        </p:par>
                      </p:childTnLst>
                    </p:cTn>
                  </p:par>
                  <p:par>
                    <p:cTn id="78" fill="hold">
                      <p:stCondLst>
                        <p:cond delay="indefinite"/>
                        <p:cond evt="onBegin" delay="0">
                          <p:tn val="2"/>
                        </p:cond>
                      </p:stCondLst>
                      <p:childTnLst>
                        <p:par>
                          <p:cTn id="79" fill="hold">
                            <p:stCondLst>
                              <p:cond delay="0"/>
                            </p:stCondLst>
                            <p:childTnLst>
                              <p:par>
                                <p:cTn id="80" presetID="10" presetClass="entr" presetSubtype="0" fill="hold" grpId="0" nodeType="afterEffect">
                                  <p:stCondLst>
                                    <p:cond delay="18"/>
                                  </p:stCondLst>
                                  <p:childTnLst>
                                    <p:set>
                                      <p:cBhvr>
                                        <p:cTn id="81" dur="1" fill="hold">
                                          <p:stCondLst>
                                            <p:cond delay="0"/>
                                          </p:stCondLst>
                                        </p:cTn>
                                        <p:tgtEl>
                                          <p:spTgt spid="17"/>
                                        </p:tgtEl>
                                        <p:attrNameLst>
                                          <p:attrName>style.visibility</p:attrName>
                                        </p:attrNameLst>
                                      </p:cBhvr>
                                      <p:to>
                                        <p:strVal val="visible"/>
                                      </p:to>
                                    </p:set>
                                    <p:anim calcmode="lin" valueType="num">
                                      <p:cBhvr additive="base">
                                        <p:cTn id="82" dur="150" fill="hold"/>
                                        <p:tgtEl>
                                          <p:spTgt spid="17"/>
                                        </p:tgtEl>
                                        <p:attrNameLst>
                                          <p:attrName>style.opacity</p:attrName>
                                        </p:attrNameLst>
                                      </p:cBhvr>
                                      <p:tavLst>
                                        <p:tav tm="0">
                                          <p:val>
                                            <p:fltVal val="0"/>
                                          </p:val>
                                        </p:tav>
                                        <p:tav tm="100000">
                                          <p:val>
                                            <p:fltVal val="1"/>
                                          </p:val>
                                        </p:tav>
                                      </p:tavLst>
                                    </p:anim>
                                  </p:childTnLst>
                                </p:cTn>
                              </p:par>
                            </p:childTnLst>
                          </p:cTn>
                        </p:par>
                      </p:childTnLst>
                    </p:cTn>
                  </p:par>
                  <p:par>
                    <p:cTn id="83" fill="hold">
                      <p:stCondLst>
                        <p:cond delay="indefinite"/>
                        <p:cond evt="onBegin" delay="0">
                          <p:tn val="2"/>
                        </p:cond>
                      </p:stCondLst>
                      <p:childTnLst>
                        <p:par>
                          <p:cTn id="84" fill="hold">
                            <p:stCondLst>
                              <p:cond delay="0"/>
                            </p:stCondLst>
                            <p:childTnLst>
                              <p:par>
                                <p:cTn id="85" presetID="10" presetClass="entr" presetSubtype="0" fill="hold" grpId="0" nodeType="afterEffect">
                                  <p:stCondLst>
                                    <p:cond delay="18"/>
                                  </p:stCondLst>
                                  <p:childTnLst>
                                    <p:set>
                                      <p:cBhvr>
                                        <p:cTn id="86" dur="1" fill="hold">
                                          <p:stCondLst>
                                            <p:cond delay="0"/>
                                          </p:stCondLst>
                                        </p:cTn>
                                        <p:tgtEl>
                                          <p:spTgt spid="18"/>
                                        </p:tgtEl>
                                        <p:attrNameLst>
                                          <p:attrName>style.visibility</p:attrName>
                                        </p:attrNameLst>
                                      </p:cBhvr>
                                      <p:to>
                                        <p:strVal val="visible"/>
                                      </p:to>
                                    </p:set>
                                    <p:anim calcmode="lin" valueType="num">
                                      <p:cBhvr additive="base">
                                        <p:cTn id="87" dur="150" fill="hold"/>
                                        <p:tgtEl>
                                          <p:spTgt spid="18"/>
                                        </p:tgtEl>
                                        <p:attrNameLst>
                                          <p:attrName>style.opacity</p:attrName>
                                        </p:attrNameLst>
                                      </p:cBhvr>
                                      <p:tavLst>
                                        <p:tav tm="0">
                                          <p:val>
                                            <p:fltVal val="0"/>
                                          </p:val>
                                        </p:tav>
                                        <p:tav tm="100000">
                                          <p:val>
                                            <p:fltVal val="1"/>
                                          </p:val>
                                        </p:tav>
                                      </p:tavLst>
                                    </p:anim>
                                  </p:childTnLst>
                                </p:cTn>
                              </p:par>
                            </p:childTnLst>
                          </p:cTn>
                        </p:par>
                      </p:childTnLst>
                    </p:cTn>
                  </p:par>
                  <p:par>
                    <p:cTn id="88" fill="hold">
                      <p:stCondLst>
                        <p:cond delay="indefinite"/>
                        <p:cond evt="onBegin" delay="0">
                          <p:tn val="2"/>
                        </p:cond>
                      </p:stCondLst>
                      <p:childTnLst>
                        <p:par>
                          <p:cTn id="89" fill="hold">
                            <p:stCondLst>
                              <p:cond delay="0"/>
                            </p:stCondLst>
                            <p:childTnLst>
                              <p:par>
                                <p:cTn id="90" presetID="10" presetClass="entr" presetSubtype="0" fill="hold" grpId="0" nodeType="afterEffect">
                                  <p:stCondLst>
                                    <p:cond delay="18"/>
                                  </p:stCondLst>
                                  <p:childTnLst>
                                    <p:set>
                                      <p:cBhvr>
                                        <p:cTn id="91" dur="1" fill="hold">
                                          <p:stCondLst>
                                            <p:cond delay="0"/>
                                          </p:stCondLst>
                                        </p:cTn>
                                        <p:tgtEl>
                                          <p:spTgt spid="19"/>
                                        </p:tgtEl>
                                        <p:attrNameLst>
                                          <p:attrName>style.visibility</p:attrName>
                                        </p:attrNameLst>
                                      </p:cBhvr>
                                      <p:to>
                                        <p:strVal val="visible"/>
                                      </p:to>
                                    </p:set>
                                    <p:anim calcmode="lin" valueType="num">
                                      <p:cBhvr additive="base">
                                        <p:cTn id="92" dur="150" fill="hold"/>
                                        <p:tgtEl>
                                          <p:spTgt spid="19"/>
                                        </p:tgtEl>
                                        <p:attrNameLst>
                                          <p:attrName>style.opacity</p:attrName>
                                        </p:attrNameLst>
                                      </p:cBhvr>
                                      <p:tavLst>
                                        <p:tav tm="0">
                                          <p:val>
                                            <p:fltVal val="0"/>
                                          </p:val>
                                        </p:tav>
                                        <p:tav tm="100000">
                                          <p:val>
                                            <p:fltVal val="1"/>
                                          </p:val>
                                        </p:tav>
                                      </p:tavLst>
                                    </p:anim>
                                  </p:childTnLst>
                                </p:cTn>
                              </p:par>
                            </p:childTnLst>
                          </p:cTn>
                        </p:par>
                      </p:childTnLst>
                    </p:cTn>
                  </p:par>
                  <p:par>
                    <p:cTn id="93" fill="hold">
                      <p:stCondLst>
                        <p:cond delay="indefinite"/>
                        <p:cond evt="onBegin" delay="0">
                          <p:tn val="2"/>
                        </p:cond>
                      </p:stCondLst>
                      <p:childTnLst>
                        <p:par>
                          <p:cTn id="94" fill="hold">
                            <p:stCondLst>
                              <p:cond delay="0"/>
                            </p:stCondLst>
                            <p:childTnLst>
                              <p:par>
                                <p:cTn id="95" presetID="10" presetClass="entr" presetSubtype="0" fill="hold" grpId="0" nodeType="afterEffect">
                                  <p:stCondLst>
                                    <p:cond delay="18"/>
                                  </p:stCondLst>
                                  <p:childTnLst>
                                    <p:set>
                                      <p:cBhvr>
                                        <p:cTn id="96" dur="1" fill="hold">
                                          <p:stCondLst>
                                            <p:cond delay="0"/>
                                          </p:stCondLst>
                                        </p:cTn>
                                        <p:tgtEl>
                                          <p:spTgt spid="20"/>
                                        </p:tgtEl>
                                        <p:attrNameLst>
                                          <p:attrName>style.visibility</p:attrName>
                                        </p:attrNameLst>
                                      </p:cBhvr>
                                      <p:to>
                                        <p:strVal val="visible"/>
                                      </p:to>
                                    </p:set>
                                    <p:anim calcmode="lin" valueType="num">
                                      <p:cBhvr additive="base">
                                        <p:cTn id="97" dur="150" fill="hold"/>
                                        <p:tgtEl>
                                          <p:spTgt spid="20"/>
                                        </p:tgtEl>
                                        <p:attrNameLst>
                                          <p:attrName>style.opacity</p:attrName>
                                        </p:attrNameLst>
                                      </p:cBhvr>
                                      <p:tavLst>
                                        <p:tav tm="0">
                                          <p:val>
                                            <p:fltVal val="0"/>
                                          </p:val>
                                        </p:tav>
                                        <p:tav tm="100000">
                                          <p:val>
                                            <p:fltVal val="1"/>
                                          </p:val>
                                        </p:tav>
                                      </p:tavLst>
                                    </p:anim>
                                  </p:childTnLst>
                                </p:cTn>
                              </p:par>
                            </p:childTnLst>
                          </p:cTn>
                        </p:par>
                      </p:childTnLst>
                    </p:cTn>
                  </p:par>
                  <p:par>
                    <p:cTn id="98" fill="hold">
                      <p:stCondLst>
                        <p:cond delay="indefinite"/>
                        <p:cond evt="onBegin" delay="0">
                          <p:tn val="2"/>
                        </p:cond>
                      </p:stCondLst>
                      <p:childTnLst>
                        <p:par>
                          <p:cTn id="99" fill="hold">
                            <p:stCondLst>
                              <p:cond delay="0"/>
                            </p:stCondLst>
                            <p:childTnLst>
                              <p:par>
                                <p:cTn id="100" presetID="10" presetClass="entr" presetSubtype="0" fill="hold" grpId="0" nodeType="afterEffect">
                                  <p:stCondLst>
                                    <p:cond delay="18"/>
                                  </p:stCondLst>
                                  <p:childTnLst>
                                    <p:set>
                                      <p:cBhvr>
                                        <p:cTn id="101" dur="1" fill="hold">
                                          <p:stCondLst>
                                            <p:cond delay="0"/>
                                          </p:stCondLst>
                                        </p:cTn>
                                        <p:tgtEl>
                                          <p:spTgt spid="21"/>
                                        </p:tgtEl>
                                        <p:attrNameLst>
                                          <p:attrName>style.visibility</p:attrName>
                                        </p:attrNameLst>
                                      </p:cBhvr>
                                      <p:to>
                                        <p:strVal val="visible"/>
                                      </p:to>
                                    </p:set>
                                    <p:anim calcmode="lin" valueType="num">
                                      <p:cBhvr additive="base">
                                        <p:cTn id="102" dur="150" fill="hold"/>
                                        <p:tgtEl>
                                          <p:spTgt spid="21"/>
                                        </p:tgtEl>
                                        <p:attrNameLst>
                                          <p:attrName>style.opacity</p:attrName>
                                        </p:attrNameLst>
                                      </p:cBhvr>
                                      <p:tavLst>
                                        <p:tav tm="0">
                                          <p:val>
                                            <p:fltVal val="0"/>
                                          </p:val>
                                        </p:tav>
                                        <p:tav tm="100000">
                                          <p:val>
                                            <p:fltVal val="1"/>
                                          </p:val>
                                        </p:tav>
                                      </p:tavLst>
                                    </p:anim>
                                  </p:childTnLst>
                                </p:cTn>
                              </p:par>
                            </p:childTnLst>
                          </p:cTn>
                        </p:par>
                      </p:childTnLst>
                    </p:cTn>
                  </p:par>
                  <p:par>
                    <p:cTn id="103" fill="hold">
                      <p:stCondLst>
                        <p:cond delay="indefinite"/>
                        <p:cond evt="onBegin" delay="0">
                          <p:tn val="2"/>
                        </p:cond>
                      </p:stCondLst>
                      <p:childTnLst>
                        <p:par>
                          <p:cTn id="104" fill="hold">
                            <p:stCondLst>
                              <p:cond delay="0"/>
                            </p:stCondLst>
                            <p:childTnLst>
                              <p:par>
                                <p:cTn id="105" presetID="10" presetClass="entr" presetSubtype="0" fill="hold" grpId="0" nodeType="afterEffect">
                                  <p:stCondLst>
                                    <p:cond delay="18"/>
                                  </p:stCondLst>
                                  <p:childTnLst>
                                    <p:set>
                                      <p:cBhvr>
                                        <p:cTn id="106" dur="1" fill="hold">
                                          <p:stCondLst>
                                            <p:cond delay="0"/>
                                          </p:stCondLst>
                                        </p:cTn>
                                        <p:tgtEl>
                                          <p:spTgt spid="22"/>
                                        </p:tgtEl>
                                        <p:attrNameLst>
                                          <p:attrName>style.visibility</p:attrName>
                                        </p:attrNameLst>
                                      </p:cBhvr>
                                      <p:to>
                                        <p:strVal val="visible"/>
                                      </p:to>
                                    </p:set>
                                    <p:anim calcmode="lin" valueType="num">
                                      <p:cBhvr additive="base">
                                        <p:cTn id="107" dur="150" fill="hold"/>
                                        <p:tgtEl>
                                          <p:spTgt spid="22"/>
                                        </p:tgtEl>
                                        <p:attrNameLst>
                                          <p:attrName>style.opacity</p:attrName>
                                        </p:attrNameLst>
                                      </p:cBhvr>
                                      <p:tavLst>
                                        <p:tav tm="0">
                                          <p:val>
                                            <p:fltVal val="0"/>
                                          </p:val>
                                        </p:tav>
                                        <p:tav tm="100000">
                                          <p:val>
                                            <p:fltVal val="1"/>
                                          </p:val>
                                        </p:tav>
                                      </p:tavLst>
                                    </p:anim>
                                  </p:childTnLst>
                                </p:cTn>
                              </p:par>
                            </p:childTnLst>
                          </p:cTn>
                        </p:par>
                      </p:childTnLst>
                    </p:cTn>
                  </p:par>
                  <p:par>
                    <p:cTn id="108" fill="hold">
                      <p:stCondLst>
                        <p:cond delay="indefinite"/>
                        <p:cond evt="onBegin" delay="0">
                          <p:tn val="2"/>
                        </p:cond>
                      </p:stCondLst>
                      <p:childTnLst>
                        <p:par>
                          <p:cTn id="109" fill="hold">
                            <p:stCondLst>
                              <p:cond delay="0"/>
                            </p:stCondLst>
                            <p:childTnLst>
                              <p:par>
                                <p:cTn id="110" presetID="10" presetClass="entr" presetSubtype="0" fill="hold" grpId="0" nodeType="afterEffect">
                                  <p:stCondLst>
                                    <p:cond delay="18"/>
                                  </p:stCondLst>
                                  <p:childTnLst>
                                    <p:set>
                                      <p:cBhvr>
                                        <p:cTn id="111" dur="1" fill="hold">
                                          <p:stCondLst>
                                            <p:cond delay="0"/>
                                          </p:stCondLst>
                                        </p:cTn>
                                        <p:tgtEl>
                                          <p:spTgt spid="23"/>
                                        </p:tgtEl>
                                        <p:attrNameLst>
                                          <p:attrName>style.visibility</p:attrName>
                                        </p:attrNameLst>
                                      </p:cBhvr>
                                      <p:to>
                                        <p:strVal val="visible"/>
                                      </p:to>
                                    </p:set>
                                    <p:anim calcmode="lin" valueType="num">
                                      <p:cBhvr additive="base">
                                        <p:cTn id="112" dur="150" fill="hold"/>
                                        <p:tgtEl>
                                          <p:spTgt spid="23"/>
                                        </p:tgtEl>
                                        <p:attrNameLst>
                                          <p:attrName>style.opacity</p:attrName>
                                        </p:attrNameLst>
                                      </p:cBhvr>
                                      <p:tavLst>
                                        <p:tav tm="0">
                                          <p:val>
                                            <p:fltVal val="0"/>
                                          </p:val>
                                        </p:tav>
                                        <p:tav tm="100000">
                                          <p:val>
                                            <p:fltVal val="1"/>
                                          </p:val>
                                        </p:tav>
                                      </p:tavLst>
                                    </p:anim>
                                  </p:childTnLst>
                                </p:cTn>
                              </p:par>
                            </p:childTnLst>
                          </p:cTn>
                        </p:par>
                      </p:childTnLst>
                    </p:cTn>
                  </p:par>
                  <p:par>
                    <p:cTn id="113" fill="hold">
                      <p:stCondLst>
                        <p:cond delay="indefinite"/>
                        <p:cond evt="onBegin" delay="0">
                          <p:tn val="2"/>
                        </p:cond>
                      </p:stCondLst>
                      <p:childTnLst>
                        <p:par>
                          <p:cTn id="114" fill="hold">
                            <p:stCondLst>
                              <p:cond delay="0"/>
                            </p:stCondLst>
                            <p:childTnLst>
                              <p:par>
                                <p:cTn id="115" presetID="10" presetClass="entr" presetSubtype="0" fill="hold" grpId="0" nodeType="afterEffect">
                                  <p:stCondLst>
                                    <p:cond delay="18"/>
                                  </p:stCondLst>
                                  <p:childTnLst>
                                    <p:set>
                                      <p:cBhvr>
                                        <p:cTn id="116" dur="1" fill="hold">
                                          <p:stCondLst>
                                            <p:cond delay="0"/>
                                          </p:stCondLst>
                                        </p:cTn>
                                        <p:tgtEl>
                                          <p:spTgt spid="24"/>
                                        </p:tgtEl>
                                        <p:attrNameLst>
                                          <p:attrName>style.visibility</p:attrName>
                                        </p:attrNameLst>
                                      </p:cBhvr>
                                      <p:to>
                                        <p:strVal val="visible"/>
                                      </p:to>
                                    </p:set>
                                    <p:anim calcmode="lin" valueType="num">
                                      <p:cBhvr additive="base">
                                        <p:cTn id="117" dur="150" fill="hold"/>
                                        <p:tgtEl>
                                          <p:spTgt spid="24"/>
                                        </p:tgtEl>
                                        <p:attrNameLst>
                                          <p:attrName>style.opacity</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