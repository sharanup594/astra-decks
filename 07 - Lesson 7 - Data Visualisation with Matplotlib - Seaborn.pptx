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 panose="02040502050405020303"/>
              </a:rPr>
              <a:t>L7</a:t>
            </a:r>
            <a:endParaRPr sz="4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WHAT'S INSIDE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640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01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43800" y="278892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Matplotlib's anatomy — figure, axes, artists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640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02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43800" y="3383279"/>
            <a:ext cx="4480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Four core chart types — line, bar, scatter, hist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640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03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43800" y="3977639"/>
            <a:ext cx="4480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Seaborn — statistical plots, less code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640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04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43800" y="4572000"/>
            <a:ext cx="4480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Customisation — titles, labels, colours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640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05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43800" y="5166359"/>
            <a:ext cx="4480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Saving publication-ready figures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1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WEEK 2   /   LESSON 7   /   50 MINUTES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Georgia" panose="02040502050405020303"/>
              </a:rPr>
              <a:t>Data Visualisation</a:t>
            </a:r>
            <a:endParaRPr sz="4000" b="1" i="0">
              <a:solidFill>
                <a:srgbClr val="FFFFFF"/>
              </a:solidFill>
              <a:latin typeface="Georgia" panose="02040502050405020303"/>
            </a:endParaRP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Georgia" panose="02040502050405020303"/>
              </a:rPr>
              <a:t>with Matplotlib &amp; Seaborn</a:t>
            </a:r>
            <a:endParaRPr sz="4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A chart that needs explaining has already failed. By the end of this lesson, every plot you ship will land in five seconds — title, axes, units, and the one insight a human came for.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COVER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C5244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0F1F1A"/>
                </a:solidFill>
                <a:latin typeface="Calibri" panose="020F0502020204030204"/>
              </a:rPr>
              <a:t>WEEK 2   /   LESSON 7   /   2 min</a:t>
            </a:r>
            <a:endParaRPr sz="900" b="1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 panose="020F0502020204030204"/>
              </a:rPr>
              <a:t>WHY  THIS  LESSON  MATTERS</a:t>
            </a:r>
            <a:endParaRPr sz="1000" b="1" i="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0F1F1A"/>
                </a:solidFill>
                <a:latin typeface="Georgia" panose="02040502050405020303"/>
              </a:rPr>
              <a:t>Numbers in a table convince no one. Charts decide meetings.</a:t>
            </a:r>
            <a:endParaRPr sz="3400" b="0" i="0">
              <a:solidFill>
                <a:srgbClr val="0F1F1A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6896" cy="210312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2139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C5E063"/>
                </a:solidFill>
                <a:latin typeface="Calibri" panose="020F0502020204030204"/>
              </a:rPr>
              <a:t>WHY</a:t>
            </a:r>
            <a:endParaRPr sz="9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213969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 panose="02040502050405020303"/>
              </a:rPr>
              <a:t>Real</a:t>
            </a:r>
            <a:endParaRPr sz="28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2139696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E5E7EB"/>
                </a:solidFill>
                <a:latin typeface="Calibri" panose="020F0502020204030204"/>
              </a:rPr>
              <a:t>The chart is the deliverable — not the notebook.</a:t>
            </a:r>
            <a:endParaRPr sz="10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74136" y="3200400"/>
            <a:ext cx="2596896" cy="210312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3383280"/>
            <a:ext cx="2139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C5E063"/>
                </a:solidFill>
                <a:latin typeface="Calibri" panose="020F0502020204030204"/>
              </a:rPr>
              <a:t>SCALE</a:t>
            </a:r>
            <a:endParaRPr sz="9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02736" y="3657600"/>
            <a:ext cx="213969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 panose="02040502050405020303"/>
              </a:rPr>
              <a:t>Daily</a:t>
            </a:r>
            <a:endParaRPr sz="28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02736" y="4434840"/>
            <a:ext cx="2139696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E5E7EB"/>
                </a:solidFill>
                <a:latin typeface="Calibri" panose="020F0502020204030204"/>
              </a:rPr>
              <a:t>Analysts ship 5–10 plots a day across standups and decks.</a:t>
            </a:r>
            <a:endParaRPr sz="10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9631" y="3200400"/>
            <a:ext cx="2596896" cy="210312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3383280"/>
            <a:ext cx="2139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C5E063"/>
                </a:solidFill>
                <a:latin typeface="Calibri" panose="020F0502020204030204"/>
              </a:rPr>
              <a:t>SPEED</a:t>
            </a:r>
            <a:endParaRPr sz="9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28231" y="3657600"/>
            <a:ext cx="213969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 panose="02040502050405020303"/>
              </a:rPr>
              <a:t>Now</a:t>
            </a:r>
            <a:endParaRPr sz="28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28231" y="4434840"/>
            <a:ext cx="2139696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E5E7EB"/>
                </a:solidFill>
                <a:latin typeface="Calibri" panose="020F0502020204030204"/>
              </a:rPr>
              <a:t>Matplotlib + Seaborn cover 90% of what you'll plot for years.</a:t>
            </a:r>
            <a:endParaRPr sz="10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25128" y="3200400"/>
            <a:ext cx="2596896" cy="210312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3383280"/>
            <a:ext cx="21396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C5E063"/>
                </a:solidFill>
                <a:latin typeface="Calibri" panose="020F0502020204030204"/>
              </a:rPr>
              <a:t>IMPACT</a:t>
            </a:r>
            <a:endParaRPr sz="9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53728" y="3657600"/>
            <a:ext cx="2139696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 panose="02040502050405020303"/>
              </a:rPr>
              <a:t>Yours</a:t>
            </a:r>
            <a:endParaRPr sz="28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53728" y="4434840"/>
            <a:ext cx="2139696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E5E7EB"/>
                </a:solidFill>
                <a:latin typeface="Calibri" panose="020F0502020204030204"/>
              </a:rPr>
              <a:t>A clear chart on slide 3 wins the room before slide 4 loads.</a:t>
            </a:r>
            <a:endParaRPr sz="10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Calibri" panose="020F0502020204030204"/>
              </a:rPr>
              <a:t>HOOK</a:t>
            </a:r>
            <a:endParaRPr sz="800" b="1" i="0">
              <a:solidFill>
                <a:srgbClr val="47556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C5244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0F1F1A"/>
                </a:solidFill>
                <a:latin typeface="Calibri" panose="020F0502020204030204"/>
              </a:rPr>
              <a:t>WEEK 2   /   LESSON 7   /   2 min</a:t>
            </a:r>
            <a:endParaRPr sz="900" b="1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 panose="020F0502020204030204"/>
              </a:rPr>
              <a:t>LEARNING OUTCOMES</a:t>
            </a:r>
            <a:endParaRPr sz="1000" b="1" i="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 panose="02040502050405020303"/>
              </a:rPr>
              <a:t>By the end of this lesson, you will be able to —</a:t>
            </a:r>
            <a:endParaRPr sz="2800" b="0" i="0">
              <a:solidFill>
                <a:srgbClr val="0F1F1A"/>
              </a:solidFill>
              <a:latin typeface="Georgia" panose="02040502050405020303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1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Explain Matplotlib's figure–axes mental model in one sentence.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2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Build line, bar, scatter, and histogram plots from any DataFrame.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3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Pick the right Seaborn plot for a statistical question.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4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Add titles, axis labels, and legends so a stranger understands the chart.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5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Save figures at the right size and DPI for slides, reports, and web.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Calibri" panose="020F0502020204030204"/>
              </a:rPr>
              <a:t>OUTCOMES</a:t>
            </a:r>
            <a:endParaRPr sz="800" b="1" i="0">
              <a:solidFill>
                <a:srgbClr val="47556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1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AGENDA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 panose="02040502050405020303"/>
              </a:rPr>
              <a:t>What we'll cover today</a:t>
            </a:r>
            <a:endParaRPr sz="34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Four short parts. Each one builds on the last.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33472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6272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C5E063"/>
                </a:solidFill>
                <a:latin typeface="Georgia" panose="02040502050405020303"/>
              </a:rPr>
              <a:t>01</a:t>
            </a:r>
            <a:endParaRPr sz="32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217627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Georgia" panose="02040502050405020303"/>
              </a:rPr>
              <a:t>The Matplotlib mental model</a:t>
            </a:r>
            <a:endParaRPr sz="15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62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Figure → Axes → plot. The only model you need.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33472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6272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C5E063"/>
                </a:solidFill>
                <a:latin typeface="Georgia" panose="02040502050405020303"/>
              </a:rPr>
              <a:t>02</a:t>
            </a:r>
            <a:endParaRPr sz="32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39"/>
            <a:ext cx="217627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Georgia" panose="02040502050405020303"/>
              </a:rPr>
              <a:t>Four core charts</a:t>
            </a:r>
            <a:endParaRPr sz="15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62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Line, bar, scatter, histogram — when to use which.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33472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6272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C5E063"/>
                </a:solidFill>
                <a:latin typeface="Georgia" panose="02040502050405020303"/>
              </a:rPr>
              <a:t>03</a:t>
            </a:r>
            <a:endParaRPr sz="32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39"/>
            <a:ext cx="217627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Georgia" panose="02040502050405020303"/>
              </a:rPr>
              <a:t>Seaborn for stats</a:t>
            </a:r>
            <a:endParaRPr sz="15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62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boxplot, violin, heatmap, pairplot.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33472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6272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C5E063"/>
                </a:solidFill>
                <a:latin typeface="Georgia" panose="02040502050405020303"/>
              </a:rPr>
              <a:t>04</a:t>
            </a:r>
            <a:endParaRPr sz="32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39"/>
            <a:ext cx="217627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Georgia" panose="02040502050405020303"/>
              </a:rPr>
              <a:t>Polish &amp; save</a:t>
            </a:r>
            <a:endParaRPr sz="15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62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Titles, labels, colours, DPI.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AGENDA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1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 panose="02040502050405020303"/>
              </a:rPr>
              <a:t>01</a:t>
            </a:r>
            <a:endParaRPr sz="20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C5E063"/>
                </a:solidFill>
                <a:latin typeface="Calibri" panose="020F0502020204030204"/>
              </a:rPr>
              <a:t>PART 1  OF  4</a:t>
            </a:r>
            <a:endParaRPr sz="11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 panose="02040502050405020303"/>
              </a:rPr>
              <a:t>The Matplotlib mental model</a:t>
            </a:r>
            <a:endParaRPr sz="3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Every plot is a Figure that holds Axes. The Axes is where the chart actually lives. Master those two words and the rest is recipe.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PART 1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3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CONCEPT 1  OF  4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FFFFFF"/>
                </a:solidFill>
                <a:latin typeface="Georgia" panose="02040502050405020303"/>
              </a:rPr>
              <a:t>Figure, Axes, and the recipe behind every plot</a:t>
            </a:r>
            <a:endParaRPr sz="26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import matplotlib.pyplot as plt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fig, ax = plt.subplots(figsize=(8, 5))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ax.plot(df['month'], df['orders'])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ax.set_title('Monthly orders, FY24')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ax.set_xlabel('Month');  ax.set_ylabel('Orders')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plt.show()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Figure = the canvas.  Axes = the chart inside it.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DEFINITION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39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 panose="02040502050405020303"/>
              </a:rPr>
              <a:t>Figure &amp; Axes</a:t>
            </a:r>
            <a:endParaRPr sz="22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0" y="3200400"/>
            <a:ext cx="374903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7EB"/>
                </a:solidFill>
                <a:latin typeface="Calibri" panose="020F0502020204030204"/>
              </a:rPr>
              <a:t>Figure is the page. Axes is the chart drawn on the page. Almost every Matplotlib call is a method on an Axes object.</a:t>
            </a:r>
            <a:endParaRPr sz="12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89520" y="484632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983480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C5E063"/>
                </a:solidFill>
                <a:latin typeface="Calibri" panose="020F0502020204030204"/>
              </a:rPr>
              <a:t>EXAMPLE</a:t>
            </a:r>
            <a:endParaRPr sz="9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5257800"/>
            <a:ext cx="374903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Always start with fig, ax = plt.subplots(). Never use the global pyplot state in production code.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P1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3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CONCEPT 2  OF  4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FFFFFF"/>
                </a:solidFill>
                <a:latin typeface="Georgia" panose="02040502050405020303"/>
              </a:rPr>
              <a:t>Four core chart types — pick by question, not data type</a:t>
            </a:r>
            <a:endParaRPr sz="26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ax.plot(x, y)        →  trend over time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ax.bar(cats, vals)   →  compare across categories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ax.scatter(x, y)     →  relationship between two variables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ax.hist(values, bins=30)  →  distribution of one variable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The question decides the chart. The data type just enables it.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KEY  POINTS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635240" y="2468879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Line — change over time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635240" y="3291839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017520"/>
            <a:ext cx="34747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Bar — compare categories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635240" y="4114800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840480"/>
            <a:ext cx="34747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Scatter — two-variable relationship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635240" y="4937759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663440"/>
            <a:ext cx="34747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Histogram — distribution shape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P2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3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CONCEPT 3  OF  4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FFFFFF"/>
                </a:solidFill>
                <a:latin typeface="Georgia" panose="02040502050405020303"/>
              </a:rPr>
              <a:t>Seaborn — statistical plots in one line</a:t>
            </a:r>
            <a:endParaRPr sz="26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import seaborn as sns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sns.boxplot(data=df, x='city', y='price')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sns.histplot(df, x='price', hue='category', kde=True)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sns.heatmap(df.corr(numeric_only=True), annot=True)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sns.pairplot(df, hue='segment')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Pandas DataFrame in. Statistical chart out. No loops needed.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DEFINITION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39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 panose="02040502050405020303"/>
              </a:rPr>
              <a:t>Seaborn</a:t>
            </a:r>
            <a:endParaRPr sz="22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0" y="3200400"/>
            <a:ext cx="374903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5E7EB"/>
                </a:solidFill>
                <a:latin typeface="Calibri" panose="020F0502020204030204"/>
              </a:rPr>
              <a:t>A high-level wrapper over Matplotlib. Built for statistical charts from tidy DataFrames — categorical splits, distributions, correlations.</a:t>
            </a:r>
            <a:endParaRPr sz="12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89520" y="484632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983480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C5E063"/>
                </a:solidFill>
                <a:latin typeface="Calibri" panose="020F0502020204030204"/>
              </a:rPr>
              <a:t>EXAMPLE</a:t>
            </a:r>
            <a:endParaRPr sz="9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5257800"/>
            <a:ext cx="3749039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Seaborn for stats; Matplotlib for fine control. They compose — every Seaborn call returns an Axes you can keep editing.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P3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3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CONCEPT 4  OF  4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FFFFFF"/>
                </a:solidFill>
                <a:latin typeface="Georgia" panose="02040502050405020303"/>
              </a:rPr>
              <a:t>Polish — a chart a stranger can read in 5 seconds</a:t>
            </a:r>
            <a:endParaRPr sz="26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474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ax.set_title('Avg basket size by city, Q1 FY25')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ax.set_xlabel('City');  ax.set_ylabel('₹ per order')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ax.legend(title='Segment', loc='upper right')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sns.set_theme(style='whitegrid', palette='deep')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fig.savefig('out.png', dpi=150, bbox_inches='tight')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  <a:p>
            <a:pPr algn="l">
              <a:lnSpc>
                <a:spcPct val="145000"/>
              </a:lnSpc>
            </a:p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Title answers 'what?'. Axes answer 'in what units?'.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KEY  POINTS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635240" y="2468879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Title = the one-sentence takeaway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635240" y="3291839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017520"/>
            <a:ext cx="34747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Axis labels must include units (₹, %, count)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635240" y="4114800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840480"/>
            <a:ext cx="34747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Limit to 5 colours; never red/green together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635240" y="4937759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663440"/>
            <a:ext cx="34747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Save at 150 DPI, tight bbox, PNG for slides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P4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1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 panose="02040502050405020303"/>
              </a:rPr>
              <a:t>02</a:t>
            </a:r>
            <a:endParaRPr sz="20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C5E063"/>
                </a:solidFill>
                <a:latin typeface="Calibri" panose="020F0502020204030204"/>
              </a:rPr>
              <a:t>PART 2  OF  4</a:t>
            </a:r>
            <a:endParaRPr sz="11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 panose="02040502050405020303"/>
              </a:rPr>
              <a:t>Engage and reflect</a:t>
            </a:r>
            <a:endParaRPr sz="3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Pause. Pick up the dataset you cleaned in Lesson 4 and turn one question into one chart that a non-analyst would understand.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PART 2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6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2C5244"/>
                </a:solidFill>
                <a:latin typeface="Calibri" panose="020F0502020204030204"/>
              </a:rPr>
              <a:t>✦  THINK · PAIR · SHARE</a:t>
            </a:r>
            <a:endParaRPr sz="1000" b="1" i="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ACTIVITY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FFFFFF"/>
                </a:solidFill>
                <a:latin typeface="Georgia" panose="02040502050405020303"/>
              </a:rPr>
              <a:t>Three plots from one DataFrame</a:t>
            </a:r>
            <a:endParaRPr sz="26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PROMPT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Calibri" panose="020F0502020204030204"/>
              </a:rPr>
              <a:t>Open the cleaned e-commerce DataFrame from Lesson 4. Pick three questions a CFO would ask, then build the smallest chart that answers each. One Matplotlib, one Seaborn, one customised. Five minutes. No defaults — every chart must have a title and labelled axes.</a:t>
            </a:r>
            <a:endParaRPr sz="14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HOW TO RUN IT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 panose="02040502050405020303"/>
              </a:rPr>
              <a:t>1</a:t>
            </a:r>
            <a:endParaRPr sz="11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3920" y="3227832"/>
            <a:ext cx="30175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Think (1 min) — write three CFO questions.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 panose="02040502050405020303"/>
              </a:rPr>
              <a:t>2</a:t>
            </a:r>
            <a:endParaRPr sz="11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0" y="3867912"/>
            <a:ext cx="30175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Plot (3 min) — one chart per question.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 panose="02040502050405020303"/>
              </a:rPr>
              <a:t>3</a:t>
            </a:r>
            <a:endParaRPr sz="11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0" y="4507992"/>
            <a:ext cx="30175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Pair (1 min) — can your partner read it cold?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 panose="02040502050405020303"/>
              </a:rPr>
              <a:t>4</a:t>
            </a:r>
            <a:endParaRPr sz="11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3920" y="5148072"/>
            <a:ext cx="30175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Share — one team posts their best plot.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ACTIVITY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C5244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0F1F1A"/>
                </a:solidFill>
                <a:latin typeface="Calibri" panose="020F0502020204030204"/>
              </a:rPr>
              <a:t>WEEK 2   /   LESSON 7   /   2 min</a:t>
            </a:r>
            <a:endParaRPr sz="900" b="1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 panose="020F0502020204030204"/>
              </a:rPr>
              <a:t>REFLECT  &amp;  APPLY</a:t>
            </a:r>
            <a:endParaRPr sz="1000" b="1" i="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 panose="02040502050405020303"/>
              </a:rPr>
              <a:t>Three questions before you close this lesson</a:t>
            </a:r>
            <a:endParaRPr sz="2800" b="0" i="0">
              <a:solidFill>
                <a:srgbClr val="0F1F1A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F1F1A"/>
                </a:solidFill>
                <a:latin typeface="Calibri" panose="020F0502020204030204"/>
              </a:rPr>
              <a:t>60 seconds each. Answer honestly — there's no scoreboard here.</a:t>
            </a:r>
            <a:endParaRPr sz="14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Q1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Which of your last three charts at work could a stranger read in five seconds?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Q2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When did a chart default — bin width, colour, axis range — mislead a decision?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Q3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What's the one chart you'll redraw tomorrow with the labels you skipped last time?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Calibri" panose="020F0502020204030204"/>
              </a:rPr>
              <a:t>REFLECT</a:t>
            </a:r>
            <a:endParaRPr sz="800" b="1" i="0">
              <a:solidFill>
                <a:srgbClr val="47556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1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 panose="02040502050405020303"/>
              </a:rPr>
              <a:t>03</a:t>
            </a:r>
            <a:endParaRPr sz="20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C5E063"/>
                </a:solidFill>
                <a:latin typeface="Calibri" panose="020F0502020204030204"/>
              </a:rPr>
              <a:t>PART 3  OF  4</a:t>
            </a:r>
            <a:endParaRPr sz="11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 panose="02040502050405020303"/>
              </a:rPr>
              <a:t>Knowledge check</a:t>
            </a:r>
            <a:endParaRPr sz="3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Three short questions. One minute each. No googling.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PART 3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2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KNOWLEDGE CHECK   ·   QUESTION 1  OF  3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 panose="02040502050405020303"/>
              </a:rPr>
              <a:t>Which object holds the actual chart in Matplotlib?</a:t>
            </a:r>
            <a:endParaRPr sz="22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A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Figure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B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23759" y="320040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Axes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C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Canvas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59" y="452628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Plot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Q1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2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ANSWER   ·   QUESTION 1  OF  3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 panose="02040502050405020303"/>
              </a:rPr>
              <a:t>Which object holds the actual chart in Matplotlib?</a:t>
            </a:r>
            <a:endParaRPr sz="2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200" b="1" i="0">
                <a:solidFill>
                  <a:srgbClr val="2C5244"/>
                </a:solidFill>
                <a:latin typeface="Georgia" panose="02040502050405020303"/>
              </a:rPr>
              <a:t>B</a:t>
            </a:r>
            <a:endParaRPr sz="32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CORRECT  ANSWER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 panose="02040502050405020303"/>
              </a:rPr>
              <a:t>Axes</a:t>
            </a:r>
            <a:endParaRPr sz="2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WHY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Figure is the page; Axes is the chart drawn on it. Almost every chart-editing method (set_title, set_xlabel, plot) belongs to an Axes.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A1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2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KNOWLEDGE CHECK   ·   QUESTION 2  OF  3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 panose="02040502050405020303"/>
              </a:rPr>
              <a:t>You want to see the distribution of order values. The right chart is:</a:t>
            </a:r>
            <a:endParaRPr sz="22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A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Line plot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B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23759" y="320040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Bar chart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C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Histogram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59" y="452628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Pie chart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Q2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2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ANSWER   ·   QUESTION 2  OF  3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 panose="02040502050405020303"/>
              </a:rPr>
              <a:t>You want to see the distribution of order values. The right chart is:</a:t>
            </a:r>
            <a:endParaRPr sz="2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200" b="1" i="0">
                <a:solidFill>
                  <a:srgbClr val="2C5244"/>
                </a:solidFill>
                <a:latin typeface="Georgia" panose="02040502050405020303"/>
              </a:rPr>
              <a:t>C</a:t>
            </a:r>
            <a:endParaRPr sz="32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CORRECT  ANSWER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 panose="02040502050405020303"/>
              </a:rPr>
              <a:t>Histogram</a:t>
            </a:r>
            <a:endParaRPr sz="2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WHY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Histograms bucket a continuous variable into bins and show the shape of the distribution — skew, peaks, outliers — in one glance.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A2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2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KNOWLEDGE CHECK   ·   QUESTION 3  OF  3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 panose="02040502050405020303"/>
              </a:rPr>
              <a:t>Quickest way to compare a numeric variable across categories with median + outliers:</a:t>
            </a:r>
            <a:endParaRPr sz="22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A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sns.boxplot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B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23759" y="320040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sns.heatmap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C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sns.scatterplot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59" y="4526280"/>
            <a:ext cx="42062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ax.bar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Q3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2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ANSWER   ·   QUESTION 3  OF  3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 panose="02040502050405020303"/>
              </a:rPr>
              <a:t>Quickest way to compare a numeric variable across categories with median + outliers:</a:t>
            </a:r>
            <a:endParaRPr sz="2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200" b="1" i="0">
                <a:solidFill>
                  <a:srgbClr val="2C5244"/>
                </a:solidFill>
                <a:latin typeface="Georgia" panose="02040502050405020303"/>
              </a:rPr>
              <a:t>A</a:t>
            </a:r>
            <a:endParaRPr sz="32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CORRECT  ANSWER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 panose="02040502050405020303"/>
              </a:rPr>
              <a:t>sns.boxplot</a:t>
            </a:r>
            <a:endParaRPr sz="2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WHY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boxplot shows the median, IQR, whiskers, and outliers per category in one Seaborn call — exactly the comparison a category-vs-numeric question needs.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A3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1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 panose="02040502050405020303"/>
              </a:rPr>
              <a:t>04</a:t>
            </a:r>
            <a:endParaRPr sz="20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C5E063"/>
                </a:solidFill>
                <a:latin typeface="Calibri" panose="020F0502020204030204"/>
              </a:rPr>
              <a:t>PART 4  OF  4</a:t>
            </a:r>
            <a:endParaRPr sz="11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 panose="02040502050405020303"/>
              </a:rPr>
              <a:t>Apply and close</a:t>
            </a:r>
            <a:endParaRPr sz="3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One thing to remember. One thing to ship this week. The chart that goes on slide 3 of your next deck.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PART 4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2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SUMMARY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 panose="02040502050405020303"/>
              </a:rPr>
              <a:t>Five sentences to remember</a:t>
            </a:r>
            <a:endParaRPr sz="28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If you remember nothing else from this lesson, remember these five lines.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 panose="02040502050405020303"/>
              </a:rPr>
              <a:t>1</a:t>
            </a:r>
            <a:endParaRPr sz="28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Figure is the page; Axes is the chart — that's the whole mental model.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 panose="02040502050405020303"/>
              </a:rPr>
              <a:t>2</a:t>
            </a:r>
            <a:endParaRPr sz="28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Pick the chart by the question — line, bar, scatter, histogram each answer a different one.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 panose="02040502050405020303"/>
              </a:rPr>
              <a:t>3</a:t>
            </a:r>
            <a:endParaRPr sz="28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Seaborn for statistical patterns; Matplotlib for fine control. They compose.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 panose="02040502050405020303"/>
              </a:rPr>
              <a:t>4</a:t>
            </a:r>
            <a:endParaRPr sz="28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Title, axis labels, units — never optional. The chart must read in five seconds.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 panose="02040502050405020303"/>
              </a:rPr>
              <a:t>5</a:t>
            </a:r>
            <a:endParaRPr sz="28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Save at 150 DPI with bbox_inches='tight' for slide-ready figures.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SUMMARY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C5244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0F1F1A"/>
                </a:solidFill>
                <a:latin typeface="Calibri" panose="020F0502020204030204"/>
              </a:rPr>
              <a:t>WEEK 2   /   LESSON 7   /   3 min</a:t>
            </a:r>
            <a:endParaRPr sz="900" b="1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 panose="020F0502020204030204"/>
              </a:rPr>
              <a:t>WORKED  EXAMPLE</a:t>
            </a:r>
            <a:endParaRPr sz="1000" b="1" i="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 panose="02040502050405020303"/>
              </a:rPr>
              <a:t>An Indian e-commerce dashboard in four charts</a:t>
            </a:r>
            <a:endParaRPr sz="2800" b="0" i="0">
              <a:solidFill>
                <a:srgbClr val="0F1F1A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 panose="020F0502020204030204"/>
              </a:rPr>
              <a:t>THE  SCENARIO</a:t>
            </a:r>
            <a:endParaRPr sz="1000" b="1" i="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F1F1A"/>
                </a:solidFill>
                <a:latin typeface="Calibri" panose="020F0502020204030204"/>
              </a:rPr>
              <a:t>fig, axes = plt.subplots(2, 2, figsize=(10, 7))</a:t>
            </a:r>
            <a:endParaRPr sz="1200" b="0" i="0">
              <a:solidFill>
                <a:srgbClr val="0F1F1A"/>
              </a:solidFill>
              <a:latin typeface="Calibri" panose="020F0502020204030204"/>
            </a:endParaRP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F1F1A"/>
                </a:solidFill>
                <a:latin typeface="Calibri" panose="020F0502020204030204"/>
              </a:rPr>
              <a:t>axes[0,0].plot(df['month'], df['orders'])    # trend</a:t>
            </a:r>
            <a:endParaRPr sz="1200" b="0" i="0">
              <a:solidFill>
                <a:srgbClr val="0F1F1A"/>
              </a:solidFill>
              <a:latin typeface="Calibri" panose="020F0502020204030204"/>
            </a:endParaRP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F1F1A"/>
                </a:solidFill>
                <a:latin typeface="Calibri" panose="020F0502020204030204"/>
              </a:rPr>
              <a:t>axes[0,1].bar(top5.index, top5.values)       # top categories</a:t>
            </a:r>
            <a:endParaRPr sz="1200" b="0" i="0">
              <a:solidFill>
                <a:srgbClr val="0F1F1A"/>
              </a:solidFill>
              <a:latin typeface="Calibri" panose="020F0502020204030204"/>
            </a:endParaRP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F1F1A"/>
                </a:solidFill>
                <a:latin typeface="Calibri" panose="020F0502020204030204"/>
              </a:rPr>
              <a:t>sns.histplot(df['price'], bins=40, ax=axes[1,0])  # distribution</a:t>
            </a:r>
            <a:endParaRPr sz="1200" b="0" i="0">
              <a:solidFill>
                <a:srgbClr val="0F1F1A"/>
              </a:solidFill>
              <a:latin typeface="Calibri" panose="020F0502020204030204"/>
            </a:endParaRP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F1F1A"/>
                </a:solidFill>
                <a:latin typeface="Calibri" panose="020F0502020204030204"/>
              </a:rPr>
              <a:t>sns.scatterplot(data=df, x='price', y='rating', ax=axes[1,1])</a:t>
            </a:r>
            <a:endParaRPr sz="12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THE  TAKEAWAY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FFFFFF"/>
                </a:solidFill>
                <a:latin typeface="Georgia" panose="02040502050405020303"/>
              </a:rPr>
              <a:t>"Four charts on one page — and a CFO reads them in under a minute."</a:t>
            </a:r>
            <a:endParaRPr sz="1400" b="0" i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 panose="020F0502020204030204"/>
              </a:rPr>
              <a:t>WHAT  TO  NOTICE</a:t>
            </a:r>
            <a:endParaRPr sz="1000" b="1" i="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 panose="02040502050405020303"/>
              </a:rPr>
              <a:t>1</a:t>
            </a:r>
            <a:endParaRPr sz="14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F1A"/>
                </a:solidFill>
                <a:latin typeface="Calibri" panose="020F0502020204030204"/>
              </a:rPr>
              <a:t>Line — orders climb after Diwali</a:t>
            </a:r>
            <a:endParaRPr sz="11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 panose="02040502050405020303"/>
              </a:rPr>
              <a:t>2</a:t>
            </a:r>
            <a:endParaRPr sz="14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F1A"/>
                </a:solidFill>
                <a:latin typeface="Calibri" panose="020F0502020204030204"/>
              </a:rPr>
              <a:t>Bar — fashion + electronics own 60%</a:t>
            </a:r>
            <a:endParaRPr sz="11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 panose="02040502050405020303"/>
              </a:rPr>
              <a:t>3</a:t>
            </a:r>
            <a:endParaRPr sz="14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F1A"/>
                </a:solidFill>
                <a:latin typeface="Calibri" panose="020F0502020204030204"/>
              </a:rPr>
              <a:t>Hist — price skews to ₹500–₹1500</a:t>
            </a:r>
            <a:endParaRPr sz="11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 panose="02040502050405020303"/>
              </a:rPr>
              <a:t>4</a:t>
            </a:r>
            <a:endParaRPr sz="14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F1A"/>
                </a:solidFill>
                <a:latin typeface="Calibri" panose="020F0502020204030204"/>
              </a:rPr>
              <a:t>Scatter — no link between price &amp; rating</a:t>
            </a:r>
            <a:endParaRPr sz="11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475569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Calibri" panose="020F0502020204030204"/>
              </a:rPr>
              <a:t>EXAMPLE</a:t>
            </a:r>
            <a:endParaRPr sz="800" b="1" i="0">
              <a:solidFill>
                <a:srgbClr val="47556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3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APPLY  IT  →  ASSIGNMENT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 panose="02040502050405020303"/>
              </a:rPr>
              <a:t>Mini assignment — a four-chart e-commerce snapshot</a:t>
            </a:r>
            <a:endParaRPr sz="28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Take the cleaned DataFrame from Lesson 4. Build a 2×2 figure: trend, top categories, price distribution, and price-vs-rating scatter.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DELIVERABLES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68680" y="4023360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6126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Use plt.subplots(2, 2, figsize=(10, 7)).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68680" y="4480560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6126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Title + labelled axes + units on every panel.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68680" y="4937760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00600"/>
            <a:ext cx="6126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One Seaborn chart, three Matplotlib charts.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68680" y="5394960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6126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Save as PNG at dpi=150, bbox_inches='tight'.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C5244"/>
                </a:solidFill>
                <a:latin typeface="Calibri" panose="020F0502020204030204"/>
              </a:rPr>
              <a:t>WHAT 'GOOD' LOOKS LIKE</a:t>
            </a:r>
            <a:endParaRPr sz="1000" b="1" i="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2C5244"/>
                </a:solidFill>
                <a:latin typeface="Georgia" panose="02040502050405020303"/>
              </a:rPr>
              <a:t>One PNG. A non-analyst on your team can answer "how is the business doing?" in 60 seconds — without you in the room.</a:t>
            </a:r>
            <a:endParaRPr sz="1400" b="0" i="1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APPLY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1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ONE  THING  TO  REMEMBER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28016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 panose="02040502050405020303"/>
              </a:rPr>
              <a:t>“</a:t>
            </a:r>
            <a:endParaRPr sz="1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96696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FFFFFF"/>
                </a:solidFill>
                <a:latin typeface="Georgia" panose="02040502050405020303"/>
              </a:rPr>
              <a:t>A chart that needs explaining</a:t>
            </a:r>
            <a:endParaRPr sz="4400" b="0" i="0">
              <a:solidFill>
                <a:srgbClr val="FFFFFF"/>
              </a:solidFill>
              <a:latin typeface="Georgia" panose="02040502050405020303"/>
            </a:endParaRPr>
          </a:p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FFFFFF"/>
                </a:solidFill>
                <a:latin typeface="Georgia" panose="02040502050405020303"/>
              </a:rPr>
              <a:t>has already failed.</a:t>
            </a:r>
            <a:endParaRPr sz="44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0"/>
            <a:ext cx="9966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5E063"/>
                </a:solidFill>
                <a:latin typeface="Calibri" panose="020F0502020204030204"/>
              </a:rPr>
              <a:t>—  AI Learning Hub</a:t>
            </a:r>
            <a:endParaRPr sz="12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BIG IDEA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WEEK 2   /   LESSON 7   /   1 min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C5E063"/>
                </a:solidFill>
                <a:latin typeface="Calibri" panose="020F0502020204030204"/>
              </a:rPr>
              <a:t>END OF LESSON 7</a:t>
            </a:r>
            <a:endParaRPr sz="10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 panose="02040502050405020303"/>
              </a:rPr>
              <a:t>What you can now do</a:t>
            </a:r>
            <a:endParaRPr sz="34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Each one of these is now part of your working vocabulary.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1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Build a chart with fig, ax = plt.subplots() — no global state.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40080" y="3520439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39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2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39"/>
            <a:ext cx="10424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Pick line / bar / scatter / hist by the question, not the data type.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3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Drop a Seaborn one-liner when the question is statistical.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4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Ship a chart a stranger reads in five seconds.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5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Save figures at 150 DPI for slides and reports.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C5E063"/>
                </a:solidFill>
                <a:latin typeface="Calibri" panose="020F0502020204030204"/>
              </a:rPr>
              <a:t>NEXT  →   Capstone Project — Indian E-commerce Wrangling. All four formats, one analysis, one dashboard. 90 min.</a:t>
            </a:r>
            <a:endParaRPr sz="1100" b="1" i="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AI  LEARNING  HUB   ·   LESSON 7 OF 7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 i="0">
                <a:solidFill>
                  <a:srgbClr val="B7C9BD"/>
                </a:solidFill>
                <a:latin typeface="Calibri" panose="020F0502020204030204"/>
              </a:rPr>
              <a:t>WRAP</a:t>
            </a:r>
            <a:endParaRPr sz="800" b="1" i="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10773</Words>
  <Application>WPS Presentation</Application>
  <PresentationFormat>On-screen Show (4:3)</PresentationFormat>
  <Paragraphs>699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SimSun</vt:lpstr>
      <vt:lpstr>Wingdings</vt:lpstr>
      <vt:lpstr>Arial</vt:lpstr>
      <vt:lpstr>Georgia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raj.k</cp:lastModifiedBy>
  <cp:revision>2</cp:revision>
  <dcterms:created xsi:type="dcterms:W3CDTF">2013-01-27T09:14:00Z</dcterms:created>
  <dcterms:modified xsi:type="dcterms:W3CDTF">2026-05-28T12:30:42Z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CD0DA9A9809B416587E44FDB859980FA_13</vt:lpwstr>
  </property>
  <property fmtid="{D5CDD505-2E9C-101B-9397-08002B2CF9AE}" pid="3" name="KSOProductBuildVer">
    <vt:lpwstr>1033-12.1.0.26372</vt:lpwstr>
  </property>
</Properties>
</file>