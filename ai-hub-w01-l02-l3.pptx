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her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0"/>
            <a:ext cx="57908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0" y="0"/>
            <a:ext cx="5790895" cy="6858000"/>
          </a:xfrm>
          <a:prstGeom prst="rect">
            <a:avLst/>
          </a:prstGeom>
          <a:solidFill>
            <a:srgbClr val="1A352B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2C5244"/>
                </a:solidFill>
                <a:latin typeface="Georgia"/>
              </a:rPr>
              <a:t>L3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22860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WHAT'S INSIDE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74320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274320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The Python object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333756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333756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Six essential data types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93192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393192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Mutability &amp; naming rules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52628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452628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Early-return conditionals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512064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512064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Pythonic loops &amp; comprehensions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7665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FFFFF"/>
                </a:solidFill>
                <a:latin typeface="Calibri"/>
              </a:rPr>
              <a:t>WEEK 1   /   LESSON 3   /   60 MINUTES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508760"/>
            <a:ext cx="640080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Georgia"/>
              </a:rPr>
              <a:t>Python Programming Essentials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160520"/>
            <a:ext cx="64008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E5E7EB"/>
                </a:solidFill>
                <a:latin typeface="Calibri"/>
              </a:rPr>
              <a:t>The mental model behind 90% of production AI code. Variables as labels, six core types, the early-return pattern, and Pythonic loops — taught from the inside out, so the language stops surprising you and starts obeying you.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COVER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3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WHY  PYTHON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0F1F1A"/>
                </a:solidFill>
                <a:latin typeface="Georgia"/>
              </a:rPr>
              <a:t>90% of production AI is Python — for one quiet reason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697480"/>
            <a:ext cx="457200" cy="45720"/>
          </a:xfrm>
          <a:prstGeom prst="rect">
            <a:avLst/>
          </a:prstGeom>
          <a:solidFill>
            <a:srgbClr val="A6C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PRODUCTION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90%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Of production AI workloads run on Python somewhere in the stack.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7185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0045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DATA STRUCTURES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45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045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Core types are enough to build almost anything you need.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506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366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NAMES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366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labels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366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Not boxes — once you see this, the language obeys you.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827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4687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READABILITY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4687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5x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4687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Pythonic loops are roughly five times shorter than C-style ones.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HOOK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3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LEARNING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By the end of this lesson, you will be able to —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Declare and use Python's six core data types confidently.</a:t>
            </a:r>
          </a:p>
        </p:txBody>
      </p:sp>
      <p:sp>
        <p:nvSpPr>
          <p:cNvPr id="10" name="Oval 9"/>
          <p:cNvSpPr/>
          <p:nvPr/>
        </p:nvSpPr>
        <p:spPr>
          <a:xfrm>
            <a:off x="608076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Explain how dynamic + strong typing actually works.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Pick the right data structure for any small problem.</a:t>
            </a:r>
          </a:p>
        </p:txBody>
      </p:sp>
      <p:sp>
        <p:nvSpPr>
          <p:cNvPr id="16" name="Oval 15"/>
          <p:cNvSpPr/>
          <p:nvPr/>
        </p:nvSpPr>
        <p:spPr>
          <a:xfrm>
            <a:off x="608076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Write conditionals using the early-return pattern.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452628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48056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Convert C-style loops into Pythonic iteration.</a:t>
            </a:r>
          </a:p>
        </p:txBody>
      </p:sp>
      <p:sp>
        <p:nvSpPr>
          <p:cNvPr id="22" name="Oval 21"/>
          <p:cNvSpPr/>
          <p:nvPr/>
        </p:nvSpPr>
        <p:spPr>
          <a:xfrm>
            <a:off x="6080760" y="452628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8076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448056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Use list, dict, and set comprehensions correctly.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OUTCOMES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latin typeface="Georgia"/>
              </a:rPr>
              <a:t>What we'll cover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Short, sequenced parts. Each one builds on the last.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The object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Why every variable is a label, and every value is an object — the mental shift that fixes everything.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6042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902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902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Types &amp; structures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902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Six core types, the difference between mutable and immutable, and how to choose between list, dict and set.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Early-return logic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Senior code avoids long if/elif chains. We'll learn the pattern that replaces them.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8398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1258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258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Pythonic loops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258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Iterate over the *thing*, not the index. Comprehensions, enumerate, zip — and when each one is the right call.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AGENDA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1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The object model — labels, not boxes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The single mental shift that makes Python feel native, not foreign.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CORE  IDEA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Variables are luggage tags, not storage boxes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In C or Java, a variable is a labelled box that holds a value. Change the value, you change what's in the box.
In Python, a variable is a luggage tag stuck onto an object. The object lives somewhere; the tag just points to it. Multiple tags can point to the same suitcase. Moving a tag does not move the suitcase.
Once you see this, half the surprises in Python disappear.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2194560"/>
          </a:xfrm>
          <a:prstGeom prst="rect">
            <a:avLst/>
          </a:prstGeom>
          <a:solidFill>
            <a:srgbClr val="224036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OLD MENTAL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eorgia"/>
              </a:rPr>
              <a:t>x = 7  (the box)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2651760"/>
            <a:ext cx="37490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x is a box that holds 7. y = x copies the contents into a new box. They are independent.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3794760"/>
            <a:ext cx="4297680" cy="2194560"/>
          </a:xfrm>
          <a:prstGeom prst="rect">
            <a:avLst/>
          </a:prstGeom>
          <a:solidFill>
            <a:srgbClr val="1A352B"/>
          </a:solidFill>
          <a:ln w="6350">
            <a:solidFill>
              <a:srgbClr val="DCEC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406908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PYTHON ACTUALLY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443484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eorgia"/>
              </a:rPr>
              <a:t>x = 7  (the tag)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5029200"/>
            <a:ext cx="37490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x is a tag stuck onto the integer 7. y = x adds a second tag onto the *same* 7. Both names see one object.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OBJECT MODEL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DEMO   ·   IT'S  ALL  LABELS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Georgia"/>
              </a:rPr>
              <a:t>A two-line demo that explains 80% of beginner confusion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E5E7EB"/>
                </a:solidFill>
                <a:latin typeface="Calibri"/>
              </a:rPr>
              <a:t>Run these lines in your head before you run them in Python. Then run them, and notice that you were right.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926080"/>
            <a:ext cx="11064240" cy="29260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01752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C5E063"/>
                </a:solidFill>
                <a:latin typeface="Consolas"/>
              </a:rPr>
              <a:t>&gt;&gt;&gt;  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91840"/>
            <a:ext cx="1060704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DCEC9B"/>
                </a:solidFill>
                <a:latin typeface="Consolas"/>
              </a:rPr>
              <a:t>x = 7
y = x        # y now also tags 7
x = 8        # x re-tags 8.  y still tags 7
print(x)     # 8
print(y)     # 7   (it never changed)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C5E063"/>
                </a:solidFill>
                <a:latin typeface="Calibri"/>
              </a:rPr>
              <a:t>→  Names are labels. Labels move. Objects don't.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DEMO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2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Six types, three structures, one pattern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The six data types you'll touch every day, and how to pick between list, dict and set in 10 seconds.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THE  SIX  CORE  TYPES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Master these six and 90% of Python is yours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Memorise the example column. Each one is short on purpose — that is exactly how a senior engineer thinks about types.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971800"/>
            <a:ext cx="3566160" cy="15544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960" y="3246120"/>
            <a:ext cx="457200" cy="45720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2461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C5E063"/>
                </a:solidFill>
                <a:latin typeface="Calibri"/>
              </a:rPr>
              <a:t>#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264408"/>
            <a:ext cx="2651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493008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Georgia"/>
              </a:rPr>
              <a:t>Whole numbers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88620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x = 7   ·   age = 24   ·   count = 0
Unlimited size in Python — no overflow.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2971800"/>
            <a:ext cx="3566160" cy="15544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72000" y="3246120"/>
            <a:ext cx="457200" cy="45720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32461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C5E063"/>
                </a:solidFill>
                <a:latin typeface="Calibri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3264408"/>
            <a:ext cx="2651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FLOAT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3493008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Georgia"/>
              </a:rPr>
              <a:t>Decimal numbers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88620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price = 9.99   ·   pi = 3.1416
64-bit double under the hood. Beware == on floats.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2971800"/>
            <a:ext cx="3566160" cy="15544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321040" y="3246120"/>
            <a:ext cx="457200" cy="45720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32461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C5E063"/>
                </a:solidFill>
                <a:latin typeface="Calibri"/>
              </a:rPr>
              <a:t>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3264408"/>
            <a:ext cx="2651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STR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0" y="3493008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Georgia"/>
              </a:rPr>
              <a:t>Text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388620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name = "Anita"   ·   city = 'Pune'
Immutable — every edit creates a new object.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663440"/>
            <a:ext cx="3566160" cy="15544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2960" y="4937760"/>
            <a:ext cx="457200" cy="45720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49377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C5E063"/>
                </a:solidFill>
                <a:latin typeface="Calibr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4956048"/>
            <a:ext cx="2651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BOOL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5184648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Georgia"/>
              </a:rPr>
              <a:t>True / False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57784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is_open = True   ·   alive = False
Technically subclass of int — True == 1.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97680" y="4663440"/>
            <a:ext cx="3566160" cy="15544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572000" y="4937760"/>
            <a:ext cx="457200" cy="45720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0" y="49377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C5E063"/>
                </a:solidFill>
                <a:latin typeface="Calibri"/>
              </a:rPr>
              <a:t>[]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40" y="4956048"/>
            <a:ext cx="2651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LIST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20640" y="5184648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Georgia"/>
              </a:rPr>
              <a:t>Ordered, mutable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557784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nums = [1, 2, 3]   ·   names = []
Index it, append, sort, slice.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46720" y="4663440"/>
            <a:ext cx="3566160" cy="15544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321040" y="4937760"/>
            <a:ext cx="457200" cy="45720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21040" y="49377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C5E063"/>
                </a:solidFill>
                <a:latin typeface="Calibri"/>
              </a:rPr>
              <a:t>{}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69680" y="4956048"/>
            <a:ext cx="2651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DICT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69680" y="5184648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Georgia"/>
              </a:rPr>
              <a:t>Key-value map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1040" y="557784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u = {'name': 'Ravi', 'age': 24}
O(1) lookup by key. Workhorse of real Python.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TYPES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1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" dur="1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1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2" dur="1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1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2" dur="1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7" dur="1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2" dur="1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7" dur="1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2" dur="1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7" dur="1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2" dur="1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7" dur="1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2" dur="1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7" dur="1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2" dur="1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7" dur="1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2" dur="1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MUTABILITY 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Mutable vs. immutable — the bug-source most beginners miss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Some types can be changed in place. Others can't. The difference quietly decides what your code does when two names point at the same object.
Lists, dicts, sets — mutable. You can edit them.
int, float, str, tuple, frozenset — immutable. Any 'change' actually creates a brand new object.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WHEN  IT  BITES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Default arguments: never use def f(x=[]).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Sharing a list across two names — edits one, breaks the other.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Hashable keys: only immutable types can be dict keys.</a:t>
            </a:r>
          </a:p>
        </p:txBody>
      </p:sp>
      <p:sp>
        <p:nvSpPr>
          <p:cNvPr id="16" name="Oval 15"/>
          <p:cNvSpPr/>
          <p:nvPr/>
        </p:nvSpPr>
        <p:spPr>
          <a:xfrm>
            <a:off x="7635240" y="4498848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4334256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Equality vs identity: == is value, is is the same object.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MUTABILITY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3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QUICK  REFERENCE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List, dict or set — pick in ten seconds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475569"/>
                </a:solidFill>
                <a:latin typeface="Calibri"/>
              </a:rPr>
              <a:t>Most real Python is one of these three. Reach for them in the order shown — only fall back when the simpler one fails.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154680"/>
            <a:ext cx="2351151" cy="45720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154680"/>
            <a:ext cx="235115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spc="400">
                <a:solidFill>
                  <a:srgbClr val="C5E063"/>
                </a:solidFill>
                <a:latin typeface="Calibri"/>
              </a:rPr>
              <a:t>Pick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99791" y="3154680"/>
            <a:ext cx="2904362" cy="45720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99791" y="3154680"/>
            <a:ext cx="290436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spc="400">
                <a:solidFill>
                  <a:srgbClr val="C5E063"/>
                </a:solidFill>
                <a:latin typeface="Calibri"/>
              </a:rPr>
              <a:t>When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04154" y="3154680"/>
            <a:ext cx="2904362" cy="45720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04154" y="3154680"/>
            <a:ext cx="290436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spc="400">
                <a:solidFill>
                  <a:srgbClr val="C5E063"/>
                </a:solidFill>
                <a:latin typeface="Calibri"/>
              </a:rPr>
              <a:t>Lookup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08517" y="3154680"/>
            <a:ext cx="2904362" cy="45720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08517" y="3154680"/>
            <a:ext cx="290436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spc="400">
                <a:solidFill>
                  <a:srgbClr val="C5E063"/>
                </a:solidFill>
                <a:latin typeface="Calibri"/>
              </a:rPr>
              <a:t>Order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611880"/>
            <a:ext cx="2351151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611880"/>
            <a:ext cx="2076831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C5244"/>
                </a:solidFill>
                <a:latin typeface="Calibri"/>
              </a:rPr>
              <a:t>LIST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99791" y="3611880"/>
            <a:ext cx="290436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91231" y="3611880"/>
            <a:ext cx="272148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You need order, duplicates allowed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04154" y="3611880"/>
            <a:ext cx="290436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95594" y="3611880"/>
            <a:ext cx="272148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O(n)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08517" y="3611880"/>
            <a:ext cx="290436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99957" y="3611880"/>
            <a:ext cx="272148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Insertion order kept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114800"/>
            <a:ext cx="2351151" cy="502920"/>
          </a:xfrm>
          <a:prstGeom prst="rect">
            <a:avLst/>
          </a:prstGeom>
          <a:solidFill>
            <a:srgbClr val="F1F4EC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114800"/>
            <a:ext cx="2076831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C5244"/>
                </a:solidFill>
                <a:latin typeface="Calibri"/>
              </a:rPr>
              <a:t>DICT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99791" y="4114800"/>
            <a:ext cx="2904362" cy="502920"/>
          </a:xfrm>
          <a:prstGeom prst="rect">
            <a:avLst/>
          </a:prstGeom>
          <a:solidFill>
            <a:srgbClr val="F1F4EC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91231" y="4114800"/>
            <a:ext cx="272148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You need fast lookup by a key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04154" y="4114800"/>
            <a:ext cx="2904362" cy="502920"/>
          </a:xfrm>
          <a:prstGeom prst="rect">
            <a:avLst/>
          </a:prstGeom>
          <a:solidFill>
            <a:srgbClr val="F1F4EC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95594" y="4114800"/>
            <a:ext cx="272148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O(1)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708517" y="4114800"/>
            <a:ext cx="2904362" cy="502920"/>
          </a:xfrm>
          <a:prstGeom prst="rect">
            <a:avLst/>
          </a:prstGeom>
          <a:solidFill>
            <a:srgbClr val="F1F4EC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99957" y="4114800"/>
            <a:ext cx="272148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Insertion order kept (3.7+)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617720"/>
            <a:ext cx="2351151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4617720"/>
            <a:ext cx="2076831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C5244"/>
                </a:solidFill>
                <a:latin typeface="Calibri"/>
              </a:rPr>
              <a:t>SET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99791" y="4617720"/>
            <a:ext cx="290436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991231" y="4617720"/>
            <a:ext cx="272148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You only need uniqueness or membership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804154" y="4617720"/>
            <a:ext cx="290436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895594" y="4617720"/>
            <a:ext cx="272148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O(1)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708517" y="4617720"/>
            <a:ext cx="290436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99957" y="4617720"/>
            <a:ext cx="272148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Unordered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5120640"/>
            <a:ext cx="2351151" cy="502920"/>
          </a:xfrm>
          <a:prstGeom prst="rect">
            <a:avLst/>
          </a:prstGeom>
          <a:solidFill>
            <a:srgbClr val="F1F4EC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" y="5120640"/>
            <a:ext cx="2076831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C5244"/>
                </a:solidFill>
                <a:latin typeface="Calibri"/>
              </a:rPr>
              <a:t>TUPLE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899791" y="5120640"/>
            <a:ext cx="2904362" cy="502920"/>
          </a:xfrm>
          <a:prstGeom prst="rect">
            <a:avLst/>
          </a:prstGeom>
          <a:solidFill>
            <a:srgbClr val="F1F4EC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991231" y="5120640"/>
            <a:ext cx="272148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You need a fixed, immutable record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804154" y="5120640"/>
            <a:ext cx="2904362" cy="502920"/>
          </a:xfrm>
          <a:prstGeom prst="rect">
            <a:avLst/>
          </a:prstGeom>
          <a:solidFill>
            <a:srgbClr val="F1F4EC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895594" y="5120640"/>
            <a:ext cx="272148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O(n)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708517" y="5120640"/>
            <a:ext cx="2904362" cy="502920"/>
          </a:xfrm>
          <a:prstGeom prst="rect">
            <a:avLst/>
          </a:prstGeom>
          <a:solidFill>
            <a:srgbClr val="F1F4EC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799957" y="5120640"/>
            <a:ext cx="272148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Insertion order kept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AT A GLANCE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1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" dur="1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1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2" dur="1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1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2" dur="1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7" dur="1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2" dur="1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7" dur="1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2" dur="1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7" dur="1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2" dur="1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7" dur="1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2" dur="1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7" dur="1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2" dur="1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7" dur="1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2" dur="1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7" dur="1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2" dur="1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7" dur="1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2" dur="1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3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The early-return pattern — exit clearly, exit early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The single biggest readability win in real Python code.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THE  PATTERN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Georgia"/>
              </a:rPr>
              <a:t>Senior Python returns early. Beginner Python nests forever.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E5E7EB"/>
                </a:solidFill>
                <a:latin typeface="Calibri"/>
              </a:rPr>
              <a:t>Same logic, two styles. The right-hand version is what you'll see in every well-reviewed pull request.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926080"/>
            <a:ext cx="11064240" cy="29260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01752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C5E063"/>
                </a:solidFill>
                <a:latin typeface="Consolas"/>
              </a:rPr>
              <a:t>&gt;&gt;&gt;  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91840"/>
            <a:ext cx="1060704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DCEC9B"/>
                </a:solidFill>
                <a:latin typeface="Consolas"/>
              </a:rPr>
              <a:t># Beginner: nested if/elif/else
def role(user):
    if user.active:
        if user.is_admin:
            return 'admin'
        else:
            return 'member'
    else:
        return 'inactive'
# Senior: guard clauses + early return
def role(user):
    if not user.active:  return 'inactive'
    if user.is_admin:    return 'admin'
    return 'member'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C5E063"/>
                </a:solidFill>
                <a:latin typeface="Calibri"/>
              </a:rPr>
              <a:t>→  Read top to bottom. No mental stack to maintain. No final 'else'.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EARLY-RETURN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4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Pythonic loops — iterate over the thing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The looping habits that separate readable code from C-with-Python-syntax.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LOOP  IDIOMS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Georgia"/>
              </a:rPr>
              <a:t>Three patterns to memorise — they cover almost everything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E5E7EB"/>
                </a:solidFill>
                <a:latin typeface="Calibri"/>
              </a:rPr>
              <a:t>enumerate when you need the index, zip for parallel iteration, and a list comprehension for the simple transform.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926080"/>
            <a:ext cx="11064240" cy="29260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01752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C5E063"/>
                </a:solidFill>
                <a:latin typeface="Consolas"/>
              </a:rPr>
              <a:t>&gt;&gt;&gt;  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91840"/>
            <a:ext cx="1060704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DCEC9B"/>
                </a:solidFill>
                <a:latin typeface="Consolas"/>
              </a:rPr>
              <a:t>names  = ['Anita', 'Ravi', 'Priya']
scores = [88, 76, 91]
# 1. enumerate — index AND value
for i, n in enumerate(names):
    print(i, n)
# 2. zip — two lists in lockstep
for n, s in zip(names, scores):
    print(n, '→', s)
# 3. comprehension — transform &amp; filter
passing = [n for n, s in zip(names, scores) if s &gt;= 80]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C5E063"/>
                </a:solidFill>
                <a:latin typeface="Calibri"/>
              </a:rPr>
              <a:t>→  If you need range() and an index var, look again — there is usually a better way.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LOOPS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3 min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2377440" cy="365760"/>
          </a:xfrm>
          <a:prstGeom prst="round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500">
                <a:solidFill>
                  <a:srgbClr val="2C5244"/>
                </a:solidFill>
                <a:latin typeface="Calibri"/>
              </a:rPr>
              <a:t>✦  THINK · PAIR · SHARE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12070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ACTIVITY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Georgia"/>
              </a:rPr>
              <a:t>Spot the loop — refactor it on paper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743200"/>
            <a:ext cx="7040880" cy="33832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649224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1">
                <a:solidFill>
                  <a:srgbClr val="FFFFFF"/>
                </a:solidFill>
                <a:latin typeface="Calibri"/>
              </a:rPr>
              <a:t>Below is real-world C-style Python. Rewrite it the Pythonic way in your notebook — one line if you can.
    total = 0
    for i in range(len(prices)):
        if prices[i] &gt; 100:
            total += prices[i]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18120" y="2743200"/>
            <a:ext cx="3794760" cy="3383280"/>
          </a:xfrm>
          <a:prstGeom prst="rect">
            <a:avLst/>
          </a:prstGeom>
          <a:solidFill>
            <a:srgbClr val="224036"/>
          </a:solidFill>
          <a:ln w="6350">
            <a:solidFill>
              <a:srgbClr val="DCEC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29260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HOW TO RUN IT</a:t>
            </a:r>
          </a:p>
        </p:txBody>
      </p:sp>
      <p:sp>
        <p:nvSpPr>
          <p:cNvPr id="14" name="Oval 13"/>
          <p:cNvSpPr/>
          <p:nvPr/>
        </p:nvSpPr>
        <p:spPr>
          <a:xfrm>
            <a:off x="8092440" y="324612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324612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24612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60s solo — write the rewrite in your notebook.</a:t>
            </a:r>
          </a:p>
        </p:txBody>
      </p:sp>
      <p:sp>
        <p:nvSpPr>
          <p:cNvPr id="17" name="Oval 16"/>
          <p:cNvSpPr/>
          <p:nvPr/>
        </p:nvSpPr>
        <p:spPr>
          <a:xfrm>
            <a:off x="8092440" y="388620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388620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88620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60s with a partner — compare the two versions.</a:t>
            </a:r>
          </a:p>
        </p:txBody>
      </p:sp>
      <p:sp>
        <p:nvSpPr>
          <p:cNvPr id="20" name="Oval 19"/>
          <p:cNvSpPr/>
          <p:nvPr/>
        </p:nvSpPr>
        <p:spPr>
          <a:xfrm>
            <a:off x="8092440" y="452627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452627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52627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60s share-out — one team reads its version aloud.</a:t>
            </a:r>
          </a:p>
        </p:txBody>
      </p:sp>
      <p:sp>
        <p:nvSpPr>
          <p:cNvPr id="23" name="Oval 22"/>
          <p:cNvSpPr/>
          <p:nvPr/>
        </p:nvSpPr>
        <p:spPr>
          <a:xfrm>
            <a:off x="8092440" y="516635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2440" y="516635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516635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30s reveal — instructor shows the canonical answer.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ACTIVITY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3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WORKED 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Cleaning a CSV of student scores — the Pythonic walkthrough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468880"/>
            <a:ext cx="68580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060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THE  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26080"/>
            <a:ext cx="640080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F1F1A"/>
                </a:solidFill>
                <a:latin typeface="Calibri"/>
              </a:rPr>
              <a:t>You receive a list of 250 student records as dicts: each has a 'name', a list of scores, and a flag for 'active'. You need the average score for active students whose average is at least 75. A junior engineer writes 18 lines with three for loops and a boolean accumulator.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800600"/>
            <a:ext cx="6858000" cy="132588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9377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THE  TAKEAWAY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212080"/>
            <a:ext cx="6400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1">
                <a:solidFill>
                  <a:srgbClr val="FFFFFF"/>
                </a:solidFill>
                <a:latin typeface="Georgia"/>
              </a:rPr>
              <a:t>The Pythonic version is three lines: a comprehension to compute averages, a filter to keep the qualifying ones, then sum/len for the headline number — and it is faster too.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35240" y="2468880"/>
            <a:ext cx="3977639" cy="3657600"/>
          </a:xfrm>
          <a:prstGeom prst="rect">
            <a:avLst/>
          </a:prstGeom>
          <a:solidFill>
            <a:srgbClr val="F1F4EC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6060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WHAT  TO  NOTICE</a:t>
            </a:r>
          </a:p>
        </p:txBody>
      </p:sp>
      <p:sp>
        <p:nvSpPr>
          <p:cNvPr id="15" name="Oval 14"/>
          <p:cNvSpPr/>
          <p:nvPr/>
        </p:nvSpPr>
        <p:spPr>
          <a:xfrm>
            <a:off x="7863840" y="297180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29718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97180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Use a comprehension when the loop is just a transform + filter.</a:t>
            </a:r>
          </a:p>
        </p:txBody>
      </p:sp>
      <p:sp>
        <p:nvSpPr>
          <p:cNvPr id="18" name="Oval 17"/>
          <p:cNvSpPr/>
          <p:nvPr/>
        </p:nvSpPr>
        <p:spPr>
          <a:xfrm>
            <a:off x="7863840" y="3749039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749039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3749039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Iterate over the dicts directly — never over indices.</a:t>
            </a:r>
          </a:p>
        </p:txBody>
      </p:sp>
      <p:sp>
        <p:nvSpPr>
          <p:cNvPr id="21" name="Oval 20"/>
          <p:cNvSpPr/>
          <p:nvPr/>
        </p:nvSpPr>
        <p:spPr>
          <a:xfrm>
            <a:off x="7863840" y="452628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452628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Use sum() / len() over an explicit accumulator.</a:t>
            </a:r>
          </a:p>
        </p:txBody>
      </p:sp>
      <p:sp>
        <p:nvSpPr>
          <p:cNvPr id="24" name="Oval 23"/>
          <p:cNvSpPr/>
          <p:nvPr/>
        </p:nvSpPr>
        <p:spPr>
          <a:xfrm>
            <a:off x="7863840" y="530352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0" y="53035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530352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If a loop crosses 7 lines, pause — usually it can be flatter.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EXAMPLE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1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x = [1, 2, 3]  ·  y = x  ·  x.append(4). What is y?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[1, 2, 3] — y is a copy, unaffected by changes to 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[1, 2, 3, 4] — y and x are two names for the same list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Raises TypeError — you can't append to a list assigned to two names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[4] — only the latest change survives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x = [1, 2, 3]  ·  y = x  ·  x.append(4). What is y?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[1, 2, 3, 4] — y and x tag the same list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Assignment never copies in Python. y = x just adds a second luggage tag to the existing list. Mutating the list through one name shows up through the other. To get an independent copy use list(x) or x[:].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You need to look up a user's role 100,000 times by their email address. Which structure is right?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List of (email, role) tuples — straightforward and ordered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Set of email strings — guarantees uniqueness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Dict mapping email → role — O(1) lookup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Tuple of dicts — immutable for safety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You need to look up a user's role 100,000 times by their email address. Which structure is right?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Dict mapping email → role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Lookup-by-key is the canonical use case for a dict — O(1) per call. The list version is O(n) per lookup, which makes 100,000 calls explode by a factor of (n × 100,000). The set has no values to return; the tuple-of-dicts loses the speed advantage.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3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REFLECT  &amp;  APPLY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Three questions before you close this lesson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475569"/>
                </a:solidFill>
                <a:latin typeface="Calibri"/>
              </a:rPr>
              <a:t>Spend 60 seconds on each. Write the answers down — no scrolling, no shortcuts.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20040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Which type — list, dict or set — do you reach for too often? Which one too rarely?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16052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16052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Look at any function in your last code: would the early-return pattern make it shorter?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12064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12064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Find one for-loop you wrote this week and rewrite it as a comprehension. Did it get clearer or murkier?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REFLECT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APPLY  IT  →  ASSIGNMENT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Refactor a 30-line script into Pythonic code — keep behaviour identical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Take any 30-line Python script you've written before (or one we'll share). Refactor it without changing what it does — apply early returns, eliminate range(len()), and replace at least one loop with a comprehension. Submit a before-and-after diff.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383280"/>
            <a:ext cx="6858000" cy="27432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5204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DELIVERABLES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95020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84048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Original script + refactored script in two files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436168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25196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Diff comment summarising every change in one line each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77316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66344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Before/after line count — refactored should be at most 60% of the original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518464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07492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Proof the behaviour is identical — same inputs, same outputs</a:t>
            </a:r>
          </a:p>
        </p:txBody>
      </p:sp>
      <p:sp>
        <p:nvSpPr>
          <p:cNvPr id="18" name="Oval 17"/>
          <p:cNvSpPr/>
          <p:nvPr/>
        </p:nvSpPr>
        <p:spPr>
          <a:xfrm>
            <a:off x="868680" y="559612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48640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One paragraph: which change made the biggest readability gain?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35240" y="3383280"/>
            <a:ext cx="3977639" cy="274320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0" y="35204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WHAT 'GOOD' LOOKS LIKE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3840480"/>
            <a:ext cx="35204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1">
                <a:solidFill>
                  <a:srgbClr val="2C5244"/>
                </a:solidFill>
                <a:latin typeface="Georgia"/>
              </a:rPr>
              <a:t>A great submission is the same script — only shorter, flatter and more honest about what it actually does. Behaviour identical. Cognitive load halved.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APPLY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Five sentences to remember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If you remember nothing else from this lesson, remember these five lines.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5468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15468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Python names are labels — they never own the object they point to.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4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74904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Six core types do almost everything: int, float, str, bool, list, dict.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4340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34340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Mutability decides what happens when two names point at the same thing.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3776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93776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Early returns beat nested if/else for everything except trivial branches.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53212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53212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Iterate over the thing, not the index — and reach for comprehensions when the loop is just a transform.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SUMMARY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END OF LESSON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Georgia"/>
              </a:rPr>
              <a:t>What you can now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Each one of these is now part of your working vocabulary.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01752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0175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Reach for the right one of Python's six core types without thinking.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52044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5204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52044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Predict whether two names share state before you run the code.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02336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233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02336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Pick list, dict or set in under ten seconds for any small problem.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52628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5262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52628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Replace nested conditionals with the early-return pattern on demand.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502920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0292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02920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Convert any C-style loop to its Pythonic equivalent in one rewrite.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669280"/>
            <a:ext cx="11064240" cy="502920"/>
          </a:xfrm>
          <a:prstGeom prst="roundRect">
            <a:avLst/>
          </a:prstGeom>
          <a:solidFill>
            <a:srgbClr val="224036"/>
          </a:solidFill>
          <a:ln w="9525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66928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400">
                <a:solidFill>
                  <a:srgbClr val="C5E063"/>
                </a:solidFill>
                <a:latin typeface="Calibri"/>
              </a:rPr>
              <a:t>NEXT  →   LESSON 4 — Functions, Modules &amp; Clean Code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WRAP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