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pic>
        <p:nvPicPr>
          <p:cNvPr id="2" name="Picture 1" descr="cover_hero.jpeg"/>
          <p:cNvPicPr>
            <a:picLocks noChangeAspect="1"/>
          </p:cNvPicPr>
          <p:nvPr/>
        </p:nvPicPr>
        <p:blipFill>
          <a:blip r:embed="rId2"/>
          <a:stretch>
            <a:fillRect/>
          </a:stretch>
        </p:blipFill>
        <p:spPr>
          <a:xfrm>
            <a:off x="6400800" y="0"/>
            <a:ext cx="5790895" cy="6858000"/>
          </a:xfrm>
          <a:prstGeom prst="rect">
            <a:avLst/>
          </a:prstGeom>
        </p:spPr>
      </p:pic>
      <p:sp>
        <p:nvSpPr>
          <p:cNvPr id="3" name="Rectangle 2"/>
          <p:cNvSpPr/>
          <p:nvPr/>
        </p:nvSpPr>
        <p:spPr>
          <a:xfrm>
            <a:off x="6400800" y="0"/>
            <a:ext cx="5790895" cy="6858000"/>
          </a:xfrm>
          <a:prstGeom prst="rect">
            <a:avLst/>
          </a:prstGeom>
          <a:solidFill>
            <a:srgbClr val="1A352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0" y="502920"/>
            <a:ext cx="1188720" cy="1188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0" y="502920"/>
            <a:ext cx="1188720" cy="1188720"/>
          </a:xfrm>
          <a:prstGeom prst="rect">
            <a:avLst/>
          </a:prstGeom>
          <a:noFill/>
        </p:spPr>
        <p:txBody>
          <a:bodyPr wrap="square" lIns="0" rIns="0" tIns="0" bIns="0" anchor="ctr">
            <a:spAutoFit/>
          </a:bodyPr>
          <a:lstStyle/>
          <a:p>
            <a:pPr algn="ctr"/>
            <a:r>
              <a:rPr sz="4400" b="1" i="0">
                <a:solidFill>
                  <a:srgbClr val="2C5244"/>
                </a:solidFill>
                <a:latin typeface="Georgia"/>
              </a:rPr>
              <a:t>L4</a:t>
            </a:r>
          </a:p>
        </p:txBody>
      </p:sp>
      <p:sp>
        <p:nvSpPr>
          <p:cNvPr id="6" name="TextBox 5"/>
          <p:cNvSpPr txBox="1"/>
          <p:nvPr/>
        </p:nvSpPr>
        <p:spPr>
          <a:xfrm>
            <a:off x="6858000" y="2286000"/>
            <a:ext cx="4572000" cy="274320"/>
          </a:xfrm>
          <a:prstGeom prst="rect">
            <a:avLst/>
          </a:prstGeom>
          <a:noFill/>
        </p:spPr>
        <p:txBody>
          <a:bodyPr wrap="square" lIns="0" rIns="0" tIns="0" bIns="0" anchor="t">
            <a:spAutoFit/>
          </a:bodyPr>
          <a:lstStyle/>
          <a:p>
            <a:pPr algn="l"/>
            <a:r>
              <a:rPr sz="1000" b="1" i="0" spc="500">
                <a:solidFill>
                  <a:srgbClr val="C5E063"/>
                </a:solidFill>
                <a:latin typeface="Calibri"/>
              </a:rPr>
              <a:t>WHAT'S INSIDE</a:t>
            </a:r>
          </a:p>
        </p:txBody>
      </p:sp>
      <p:sp>
        <p:nvSpPr>
          <p:cNvPr id="7" name="TextBox 6"/>
          <p:cNvSpPr txBox="1"/>
          <p:nvPr/>
        </p:nvSpPr>
        <p:spPr>
          <a:xfrm>
            <a:off x="6858000" y="2743200"/>
            <a:ext cx="365760" cy="457200"/>
          </a:xfrm>
          <a:prstGeom prst="rect">
            <a:avLst/>
          </a:prstGeom>
          <a:noFill/>
        </p:spPr>
        <p:txBody>
          <a:bodyPr wrap="square" lIns="0" rIns="0" tIns="0" bIns="0" anchor="ctr">
            <a:spAutoFit/>
          </a:bodyPr>
          <a:lstStyle/>
          <a:p>
            <a:pPr algn="l"/>
            <a:r>
              <a:rPr sz="2000" b="1" i="0">
                <a:solidFill>
                  <a:srgbClr val="C5E063"/>
                </a:solidFill>
                <a:latin typeface="Georgia"/>
              </a:rPr>
              <a:t>01</a:t>
            </a:r>
          </a:p>
        </p:txBody>
      </p:sp>
      <p:sp>
        <p:nvSpPr>
          <p:cNvPr id="8" name="TextBox 7"/>
          <p:cNvSpPr txBox="1"/>
          <p:nvPr/>
        </p:nvSpPr>
        <p:spPr>
          <a:xfrm>
            <a:off x="7360920" y="2743200"/>
            <a:ext cx="4663440" cy="502920"/>
          </a:xfrm>
          <a:prstGeom prst="rect">
            <a:avLst/>
          </a:prstGeom>
          <a:noFill/>
        </p:spPr>
        <p:txBody>
          <a:bodyPr wrap="square" lIns="0" rIns="0" tIns="0" bIns="0" anchor="ctr">
            <a:spAutoFit/>
          </a:bodyPr>
          <a:lstStyle/>
          <a:p>
            <a:pPr algn="l"/>
            <a:r>
              <a:rPr sz="1200" b="0" i="0">
                <a:solidFill>
                  <a:srgbClr val="FFFFFF"/>
                </a:solidFill>
                <a:latin typeface="Calibri"/>
              </a:rPr>
              <a:t>4 major communities</a:t>
            </a:r>
          </a:p>
        </p:txBody>
      </p:sp>
      <p:sp>
        <p:nvSpPr>
          <p:cNvPr id="9" name="TextBox 8"/>
          <p:cNvSpPr txBox="1"/>
          <p:nvPr/>
        </p:nvSpPr>
        <p:spPr>
          <a:xfrm>
            <a:off x="6858000" y="3337560"/>
            <a:ext cx="365760" cy="457200"/>
          </a:xfrm>
          <a:prstGeom prst="rect">
            <a:avLst/>
          </a:prstGeom>
          <a:noFill/>
        </p:spPr>
        <p:txBody>
          <a:bodyPr wrap="square" lIns="0" rIns="0" tIns="0" bIns="0" anchor="ctr">
            <a:spAutoFit/>
          </a:bodyPr>
          <a:lstStyle/>
          <a:p>
            <a:pPr algn="l"/>
            <a:r>
              <a:rPr sz="2000" b="1" i="0">
                <a:solidFill>
                  <a:srgbClr val="C5E063"/>
                </a:solidFill>
                <a:latin typeface="Georgia"/>
              </a:rPr>
              <a:t>02</a:t>
            </a:r>
          </a:p>
        </p:txBody>
      </p:sp>
      <p:sp>
        <p:nvSpPr>
          <p:cNvPr id="10" name="TextBox 9"/>
          <p:cNvSpPr txBox="1"/>
          <p:nvPr/>
        </p:nvSpPr>
        <p:spPr>
          <a:xfrm>
            <a:off x="7360920" y="3337560"/>
            <a:ext cx="4663440" cy="502920"/>
          </a:xfrm>
          <a:prstGeom prst="rect">
            <a:avLst/>
          </a:prstGeom>
          <a:noFill/>
        </p:spPr>
        <p:txBody>
          <a:bodyPr wrap="square" lIns="0" rIns="0" tIns="0" bIns="0" anchor="ctr">
            <a:spAutoFit/>
          </a:bodyPr>
          <a:lstStyle/>
          <a:p>
            <a:pPr algn="l"/>
            <a:r>
              <a:rPr sz="1200" b="0" i="0">
                <a:solidFill>
                  <a:srgbClr val="FFFFFF"/>
                </a:solidFill>
                <a:latin typeface="Calibri"/>
              </a:rPr>
              <a:t>Contributor ladder</a:t>
            </a:r>
          </a:p>
        </p:txBody>
      </p:sp>
      <p:sp>
        <p:nvSpPr>
          <p:cNvPr id="11" name="TextBox 10"/>
          <p:cNvSpPr txBox="1"/>
          <p:nvPr/>
        </p:nvSpPr>
        <p:spPr>
          <a:xfrm>
            <a:off x="6858000" y="3931920"/>
            <a:ext cx="365760" cy="457200"/>
          </a:xfrm>
          <a:prstGeom prst="rect">
            <a:avLst/>
          </a:prstGeom>
          <a:noFill/>
        </p:spPr>
        <p:txBody>
          <a:bodyPr wrap="square" lIns="0" rIns="0" tIns="0" bIns="0" anchor="ctr">
            <a:spAutoFit/>
          </a:bodyPr>
          <a:lstStyle/>
          <a:p>
            <a:pPr algn="l"/>
            <a:r>
              <a:rPr sz="2000" b="1" i="0">
                <a:solidFill>
                  <a:srgbClr val="C5E063"/>
                </a:solidFill>
                <a:latin typeface="Georgia"/>
              </a:rPr>
              <a:t>03</a:t>
            </a:r>
          </a:p>
        </p:txBody>
      </p:sp>
      <p:sp>
        <p:nvSpPr>
          <p:cNvPr id="12" name="TextBox 11"/>
          <p:cNvSpPr txBox="1"/>
          <p:nvPr/>
        </p:nvSpPr>
        <p:spPr>
          <a:xfrm>
            <a:off x="7360920" y="3931920"/>
            <a:ext cx="4663440" cy="502920"/>
          </a:xfrm>
          <a:prstGeom prst="rect">
            <a:avLst/>
          </a:prstGeom>
          <a:noFill/>
        </p:spPr>
        <p:txBody>
          <a:bodyPr wrap="square" lIns="0" rIns="0" tIns="0" bIns="0" anchor="ctr">
            <a:spAutoFit/>
          </a:bodyPr>
          <a:lstStyle/>
          <a:p>
            <a:pPr algn="l"/>
            <a:r>
              <a:rPr sz="1200" b="0" i="0">
                <a:solidFill>
                  <a:srgbClr val="FFFFFF"/>
                </a:solidFill>
                <a:latin typeface="Calibri"/>
              </a:rPr>
              <a:t>Healthy vs toxic OSS</a:t>
            </a:r>
          </a:p>
        </p:txBody>
      </p:sp>
      <p:sp>
        <p:nvSpPr>
          <p:cNvPr id="13" name="TextBox 12"/>
          <p:cNvSpPr txBox="1"/>
          <p:nvPr/>
        </p:nvSpPr>
        <p:spPr>
          <a:xfrm>
            <a:off x="6858000" y="4526280"/>
            <a:ext cx="365760" cy="457200"/>
          </a:xfrm>
          <a:prstGeom prst="rect">
            <a:avLst/>
          </a:prstGeom>
          <a:noFill/>
        </p:spPr>
        <p:txBody>
          <a:bodyPr wrap="square" lIns="0" rIns="0" tIns="0" bIns="0" anchor="ctr">
            <a:spAutoFit/>
          </a:bodyPr>
          <a:lstStyle/>
          <a:p>
            <a:pPr algn="l"/>
            <a:r>
              <a:rPr sz="2000" b="1" i="0">
                <a:solidFill>
                  <a:srgbClr val="C5E063"/>
                </a:solidFill>
                <a:latin typeface="Georgia"/>
              </a:rPr>
              <a:t>04</a:t>
            </a:r>
          </a:p>
        </p:txBody>
      </p:sp>
      <p:sp>
        <p:nvSpPr>
          <p:cNvPr id="14" name="TextBox 13"/>
          <p:cNvSpPr txBox="1"/>
          <p:nvPr/>
        </p:nvSpPr>
        <p:spPr>
          <a:xfrm>
            <a:off x="7360920" y="4526280"/>
            <a:ext cx="4663440" cy="502920"/>
          </a:xfrm>
          <a:prstGeom prst="rect">
            <a:avLst/>
          </a:prstGeom>
          <a:noFill/>
        </p:spPr>
        <p:txBody>
          <a:bodyPr wrap="square" lIns="0" rIns="0" tIns="0" bIns="0" anchor="ctr">
            <a:spAutoFit/>
          </a:bodyPr>
          <a:lstStyle/>
          <a:p>
            <a:pPr algn="l"/>
            <a:r>
              <a:rPr sz="1200" b="0" i="0">
                <a:solidFill>
                  <a:srgbClr val="FFFFFF"/>
                </a:solidFill>
                <a:latin typeface="Calibri"/>
              </a:rPr>
              <a:t>8-week reputation plan</a:t>
            </a:r>
          </a:p>
        </p:txBody>
      </p:sp>
      <p:sp>
        <p:nvSpPr>
          <p:cNvPr id="15" name="TextBox 14"/>
          <p:cNvSpPr txBox="1"/>
          <p:nvPr/>
        </p:nvSpPr>
        <p:spPr>
          <a:xfrm>
            <a:off x="6858000" y="5120640"/>
            <a:ext cx="365760" cy="457200"/>
          </a:xfrm>
          <a:prstGeom prst="rect">
            <a:avLst/>
          </a:prstGeom>
          <a:noFill/>
        </p:spPr>
        <p:txBody>
          <a:bodyPr wrap="square" lIns="0" rIns="0" tIns="0" bIns="0" anchor="ctr">
            <a:spAutoFit/>
          </a:bodyPr>
          <a:lstStyle/>
          <a:p>
            <a:pPr algn="l"/>
            <a:r>
              <a:rPr sz="2000" b="1" i="0">
                <a:solidFill>
                  <a:srgbClr val="C5E063"/>
                </a:solidFill>
                <a:latin typeface="Georgia"/>
              </a:rPr>
              <a:t>05</a:t>
            </a:r>
          </a:p>
        </p:txBody>
      </p:sp>
      <p:sp>
        <p:nvSpPr>
          <p:cNvPr id="16" name="TextBox 15"/>
          <p:cNvSpPr txBox="1"/>
          <p:nvPr/>
        </p:nvSpPr>
        <p:spPr>
          <a:xfrm>
            <a:off x="7360920" y="5120640"/>
            <a:ext cx="4663440" cy="502920"/>
          </a:xfrm>
          <a:prstGeom prst="rect">
            <a:avLst/>
          </a:prstGeom>
          <a:noFill/>
        </p:spPr>
        <p:txBody>
          <a:bodyPr wrap="square" lIns="0" rIns="0" tIns="0" bIns="0" anchor="ctr">
            <a:spAutoFit/>
          </a:bodyPr>
          <a:lstStyle/>
          <a:p>
            <a:pPr algn="l"/>
            <a:r>
              <a:rPr sz="1200" b="0" i="0">
                <a:solidFill>
                  <a:srgbClr val="FFFFFF"/>
                </a:solidFill>
                <a:latin typeface="Calibri"/>
              </a:rPr>
              <a:t>India-specific OSS wins</a:t>
            </a:r>
          </a:p>
        </p:txBody>
      </p:sp>
      <p:sp>
        <p:nvSpPr>
          <p:cNvPr id="17" name="Rectangle 16"/>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29184"/>
            <a:ext cx="7315200" cy="274320"/>
          </a:xfrm>
          <a:prstGeom prst="rect">
            <a:avLst/>
          </a:prstGeom>
          <a:noFill/>
        </p:spPr>
        <p:txBody>
          <a:bodyPr wrap="square" lIns="0" rIns="0" tIns="0" bIns="0" anchor="t">
            <a:spAutoFit/>
          </a:bodyPr>
          <a:lstStyle/>
          <a:p>
            <a:pPr algn="l"/>
            <a:r>
              <a:rPr sz="1100" b="1" i="0" spc="600">
                <a:solidFill>
                  <a:srgbClr val="C5E063"/>
                </a:solidFill>
                <a:latin typeface="Calibri"/>
              </a:rPr>
              <a:t>AI  LEARNING  HUB</a:t>
            </a:r>
          </a:p>
        </p:txBody>
      </p:sp>
      <p:sp>
        <p:nvSpPr>
          <p:cNvPr id="19" name="TextBox 18"/>
          <p:cNvSpPr txBox="1"/>
          <p:nvPr/>
        </p:nvSpPr>
        <p:spPr>
          <a:xfrm>
            <a:off x="548640" y="676656"/>
            <a:ext cx="7315200" cy="274320"/>
          </a:xfrm>
          <a:prstGeom prst="rect">
            <a:avLst/>
          </a:prstGeom>
          <a:noFill/>
        </p:spPr>
        <p:txBody>
          <a:bodyPr wrap="square" lIns="0" rIns="0" tIns="0" bIns="0" anchor="t">
            <a:spAutoFit/>
          </a:bodyPr>
          <a:lstStyle/>
          <a:p>
            <a:pPr algn="l"/>
            <a:r>
              <a:rPr sz="1000" b="1" i="0" spc="400">
                <a:solidFill>
                  <a:srgbClr val="FFFFFF"/>
                </a:solidFill>
                <a:latin typeface="Calibri"/>
              </a:rPr>
              <a:t>WEEK 11   /   LESSON 4   /   50 MINUTES</a:t>
            </a:r>
          </a:p>
        </p:txBody>
      </p:sp>
      <p:sp>
        <p:nvSpPr>
          <p:cNvPr id="20" name="TextBox 19"/>
          <p:cNvSpPr txBox="1"/>
          <p:nvPr/>
        </p:nvSpPr>
        <p:spPr>
          <a:xfrm>
            <a:off x="548640" y="1508760"/>
            <a:ext cx="6400800" cy="2468880"/>
          </a:xfrm>
          <a:prstGeom prst="rect">
            <a:avLst/>
          </a:prstGeom>
          <a:noFill/>
        </p:spPr>
        <p:txBody>
          <a:bodyPr wrap="square" lIns="0" rIns="0" tIns="0" bIns="0" anchor="t">
            <a:spAutoFit/>
          </a:bodyPr>
          <a:lstStyle/>
          <a:p>
            <a:pPr algn="l">
              <a:lnSpc>
                <a:spcPct val="105000"/>
              </a:lnSpc>
            </a:pPr>
            <a:r>
              <a:rPr sz="4000" b="1" i="0">
                <a:solidFill>
                  <a:srgbClr val="FFFFFF"/>
                </a:solidFill>
                <a:latin typeface="Georgia"/>
              </a:rPr>
              <a:t>Hugging Face · PyTorch · LangChain · vLLM</a:t>
            </a:r>
          </a:p>
        </p:txBody>
      </p:sp>
      <p:sp>
        <p:nvSpPr>
          <p:cNvPr id="21" name="TextBox 20"/>
          <p:cNvSpPr txBox="1"/>
          <p:nvPr/>
        </p:nvSpPr>
        <p:spPr>
          <a:xfrm>
            <a:off x="548640" y="4160520"/>
            <a:ext cx="6400800" cy="1554480"/>
          </a:xfrm>
          <a:prstGeom prst="rect">
            <a:avLst/>
          </a:prstGeom>
          <a:noFill/>
        </p:spPr>
        <p:txBody>
          <a:bodyPr wrap="square" lIns="0" rIns="0" tIns="0" bIns="0" anchor="t">
            <a:spAutoFit/>
          </a:bodyPr>
          <a:lstStyle/>
          <a:p>
            <a:pPr algn="l">
              <a:lnSpc>
                <a:spcPct val="140000"/>
              </a:lnSpc>
            </a:pPr>
            <a:r>
              <a:rPr sz="1200" b="0" i="0">
                <a:solidFill>
                  <a:srgbClr val="E5E7EB"/>
                </a:solidFill>
                <a:latin typeface="Calibri"/>
              </a:rPr>
              <a:t>OSS is public evidence no interview can fake. India has exceptional OSS contributors, but many learners never start because they don't know where. This lesson is the map.
Which OSS repo have you actually installed this year?</a:t>
            </a:r>
          </a:p>
        </p:txBody>
      </p:sp>
      <p:sp>
        <p:nvSpPr>
          <p:cNvPr id="22" name="TextBox 21"/>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4 OF 7</a:t>
            </a:r>
          </a:p>
        </p:txBody>
      </p:sp>
      <p:sp>
        <p:nvSpPr>
          <p:cNvPr id="23" name="TextBox 22"/>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COVER</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11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WHY  THIS  LESSON  MATTERS</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3400" b="0" i="0">
                <a:solidFill>
                  <a:srgbClr val="0F1F1A"/>
                </a:solidFill>
                <a:latin typeface="Georgia"/>
              </a:rPr>
              <a:t>One merged PR on Hugging Face has opened more Indian doors than a year at many jobs.</a:t>
            </a:r>
          </a:p>
        </p:txBody>
      </p:sp>
      <p:sp>
        <p:nvSpPr>
          <p:cNvPr id="7" name="Rectangle 6"/>
          <p:cNvSpPr/>
          <p:nvPr/>
        </p:nvSpPr>
        <p:spPr>
          <a:xfrm>
            <a:off x="548640" y="2697480"/>
            <a:ext cx="457200" cy="45720"/>
          </a:xfrm>
          <a:prstGeom prst="rect">
            <a:avLst/>
          </a:prstGeom>
          <a:solidFill>
            <a:srgbClr val="A6C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WHY</a:t>
            </a:r>
          </a:p>
        </p:txBody>
      </p:sp>
      <p:sp>
        <p:nvSpPr>
          <p:cNvPr id="10" name="TextBox 9"/>
          <p:cNvSpPr txBox="1"/>
          <p:nvPr/>
        </p:nvSpPr>
        <p:spPr>
          <a:xfrm>
            <a:off x="77724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Real</a:t>
            </a:r>
          </a:p>
        </p:txBody>
      </p:sp>
      <p:sp>
        <p:nvSpPr>
          <p:cNvPr id="11" name="TextBox 10"/>
          <p:cNvSpPr txBox="1"/>
          <p:nvPr/>
        </p:nvSpPr>
        <p:spPr>
          <a:xfrm>
            <a:off x="77724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12" name="Rectangle 11"/>
          <p:cNvSpPr/>
          <p:nvPr/>
        </p:nvSpPr>
        <p:spPr>
          <a:xfrm>
            <a:off x="337185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045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SCALE</a:t>
            </a:r>
          </a:p>
        </p:txBody>
      </p:sp>
      <p:sp>
        <p:nvSpPr>
          <p:cNvPr id="14" name="TextBox 13"/>
          <p:cNvSpPr txBox="1"/>
          <p:nvPr/>
        </p:nvSpPr>
        <p:spPr>
          <a:xfrm>
            <a:off x="360045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Today</a:t>
            </a:r>
          </a:p>
        </p:txBody>
      </p:sp>
      <p:sp>
        <p:nvSpPr>
          <p:cNvPr id="15" name="TextBox 14"/>
          <p:cNvSpPr txBox="1"/>
          <p:nvPr/>
        </p:nvSpPr>
        <p:spPr>
          <a:xfrm>
            <a:off x="360045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16" name="Rectangle 15"/>
          <p:cNvSpPr/>
          <p:nvPr/>
        </p:nvSpPr>
        <p:spPr>
          <a:xfrm>
            <a:off x="619506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366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SPEED</a:t>
            </a:r>
          </a:p>
        </p:txBody>
      </p:sp>
      <p:sp>
        <p:nvSpPr>
          <p:cNvPr id="18" name="TextBox 17"/>
          <p:cNvSpPr txBox="1"/>
          <p:nvPr/>
        </p:nvSpPr>
        <p:spPr>
          <a:xfrm>
            <a:off x="642366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Now</a:t>
            </a:r>
          </a:p>
        </p:txBody>
      </p:sp>
      <p:sp>
        <p:nvSpPr>
          <p:cNvPr id="19" name="TextBox 18"/>
          <p:cNvSpPr txBox="1"/>
          <p:nvPr/>
        </p:nvSpPr>
        <p:spPr>
          <a:xfrm>
            <a:off x="642366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20" name="Rectangle 19"/>
          <p:cNvSpPr/>
          <p:nvPr/>
        </p:nvSpPr>
        <p:spPr>
          <a:xfrm>
            <a:off x="901827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4687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IMPACT</a:t>
            </a:r>
          </a:p>
        </p:txBody>
      </p:sp>
      <p:sp>
        <p:nvSpPr>
          <p:cNvPr id="22" name="TextBox 21"/>
          <p:cNvSpPr txBox="1"/>
          <p:nvPr/>
        </p:nvSpPr>
        <p:spPr>
          <a:xfrm>
            <a:off x="924687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Yours</a:t>
            </a:r>
          </a:p>
        </p:txBody>
      </p:sp>
      <p:sp>
        <p:nvSpPr>
          <p:cNvPr id="23" name="TextBox 22"/>
          <p:cNvSpPr txBox="1"/>
          <p:nvPr/>
        </p:nvSpPr>
        <p:spPr>
          <a:xfrm>
            <a:off x="924687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24" name="TextBox 2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11 OF 7</a:t>
            </a:r>
          </a:p>
        </p:txBody>
      </p:sp>
      <p:sp>
        <p:nvSpPr>
          <p:cNvPr id="25" name="TextBox 2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HOOK</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11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LEARNING OUTCOMES</a:t>
            </a:r>
          </a:p>
        </p:txBody>
      </p:sp>
      <p:sp>
        <p:nvSpPr>
          <p:cNvPr id="6" name="TextBox 5"/>
          <p:cNvSpPr txBox="1"/>
          <p:nvPr/>
        </p:nvSpPr>
        <p:spPr>
          <a:xfrm>
            <a:off x="548640" y="1463040"/>
            <a:ext cx="10058400" cy="1097280"/>
          </a:xfrm>
          <a:prstGeom prst="rect">
            <a:avLst/>
          </a:prstGeom>
          <a:noFill/>
        </p:spPr>
        <p:txBody>
          <a:bodyPr wrap="square" lIns="0" rIns="0" tIns="0" bIns="0" anchor="t">
            <a:spAutoFit/>
          </a:bodyPr>
          <a:lstStyle/>
          <a:p>
            <a:pPr algn="l"/>
            <a:r>
              <a:rPr sz="2800" b="0" i="0">
                <a:solidFill>
                  <a:srgbClr val="0F1F1A"/>
                </a:solidFill>
                <a:latin typeface="Georgia"/>
              </a:rPr>
              <a:t>By the end of this lesson, you will be able to —</a:t>
            </a:r>
          </a:p>
        </p:txBody>
      </p:sp>
      <p:sp>
        <p:nvSpPr>
          <p:cNvPr id="7" name="Oval 6"/>
          <p:cNvSpPr/>
          <p:nvPr/>
        </p:nvSpPr>
        <p:spPr>
          <a:xfrm>
            <a:off x="548640" y="278892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788920"/>
            <a:ext cx="411480" cy="411480"/>
          </a:xfrm>
          <a:prstGeom prst="rect">
            <a:avLst/>
          </a:prstGeom>
          <a:noFill/>
        </p:spPr>
        <p:txBody>
          <a:bodyPr wrap="square" lIns="0" rIns="0" tIns="0" bIns="0" anchor="ctr">
            <a:spAutoFit/>
          </a:bodyPr>
          <a:lstStyle/>
          <a:p>
            <a:pPr algn="ctr"/>
            <a:r>
              <a:rPr sz="1400" b="1" i="0">
                <a:solidFill>
                  <a:srgbClr val="2C5244"/>
                </a:solidFill>
                <a:latin typeface="Georgia"/>
              </a:rPr>
              <a:t>1</a:t>
            </a:r>
          </a:p>
        </p:txBody>
      </p:sp>
      <p:sp>
        <p:nvSpPr>
          <p:cNvPr id="9" name="TextBox 8"/>
          <p:cNvSpPr txBox="1"/>
          <p:nvPr/>
        </p:nvSpPr>
        <p:spPr>
          <a:xfrm>
            <a:off x="1097280" y="274320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4 major AI OSS communities.</a:t>
            </a:r>
          </a:p>
        </p:txBody>
      </p:sp>
      <p:sp>
        <p:nvSpPr>
          <p:cNvPr id="10" name="Oval 9"/>
          <p:cNvSpPr/>
          <p:nvPr/>
        </p:nvSpPr>
        <p:spPr>
          <a:xfrm>
            <a:off x="6080760" y="278892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2788920"/>
            <a:ext cx="411480" cy="411480"/>
          </a:xfrm>
          <a:prstGeom prst="rect">
            <a:avLst/>
          </a:prstGeom>
          <a:noFill/>
        </p:spPr>
        <p:txBody>
          <a:bodyPr wrap="square" lIns="0" rIns="0" tIns="0" bIns="0" anchor="ctr">
            <a:spAutoFit/>
          </a:bodyPr>
          <a:lstStyle/>
          <a:p>
            <a:pPr algn="ctr"/>
            <a:r>
              <a:rPr sz="1400" b="1" i="0">
                <a:solidFill>
                  <a:srgbClr val="2C5244"/>
                </a:solidFill>
                <a:latin typeface="Georgia"/>
              </a:rPr>
              <a:t>2</a:t>
            </a:r>
          </a:p>
        </p:txBody>
      </p:sp>
      <p:sp>
        <p:nvSpPr>
          <p:cNvPr id="12" name="TextBox 11"/>
          <p:cNvSpPr txBox="1"/>
          <p:nvPr/>
        </p:nvSpPr>
        <p:spPr>
          <a:xfrm>
            <a:off x="6629400" y="274320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Contributor ladder (5 levels).</a:t>
            </a:r>
          </a:p>
        </p:txBody>
      </p:sp>
      <p:sp>
        <p:nvSpPr>
          <p:cNvPr id="13" name="Oval 12"/>
          <p:cNvSpPr/>
          <p:nvPr/>
        </p:nvSpPr>
        <p:spPr>
          <a:xfrm>
            <a:off x="548640" y="365760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411480" cy="411480"/>
          </a:xfrm>
          <a:prstGeom prst="rect">
            <a:avLst/>
          </a:prstGeom>
          <a:noFill/>
        </p:spPr>
        <p:txBody>
          <a:bodyPr wrap="square" lIns="0" rIns="0" tIns="0" bIns="0" anchor="ctr">
            <a:spAutoFit/>
          </a:bodyPr>
          <a:lstStyle/>
          <a:p>
            <a:pPr algn="ctr"/>
            <a:r>
              <a:rPr sz="1400" b="1" i="0">
                <a:solidFill>
                  <a:srgbClr val="2C5244"/>
                </a:solidFill>
                <a:latin typeface="Georgia"/>
              </a:rPr>
              <a:t>3</a:t>
            </a:r>
          </a:p>
        </p:txBody>
      </p:sp>
      <p:sp>
        <p:nvSpPr>
          <p:cNvPr id="15" name="TextBox 14"/>
          <p:cNvSpPr txBox="1"/>
          <p:nvPr/>
        </p:nvSpPr>
        <p:spPr>
          <a:xfrm>
            <a:off x="1097280" y="361188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Healthy vs toxic OSS signals.</a:t>
            </a:r>
          </a:p>
        </p:txBody>
      </p:sp>
      <p:sp>
        <p:nvSpPr>
          <p:cNvPr id="16" name="Oval 15"/>
          <p:cNvSpPr/>
          <p:nvPr/>
        </p:nvSpPr>
        <p:spPr>
          <a:xfrm>
            <a:off x="6080760" y="365760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80760" y="3657600"/>
            <a:ext cx="411480" cy="411480"/>
          </a:xfrm>
          <a:prstGeom prst="rect">
            <a:avLst/>
          </a:prstGeom>
          <a:noFill/>
        </p:spPr>
        <p:txBody>
          <a:bodyPr wrap="square" lIns="0" rIns="0" tIns="0" bIns="0" anchor="ctr">
            <a:spAutoFit/>
          </a:bodyPr>
          <a:lstStyle/>
          <a:p>
            <a:pPr algn="ctr"/>
            <a:r>
              <a:rPr sz="1400" b="1" i="0">
                <a:solidFill>
                  <a:srgbClr val="2C5244"/>
                </a:solidFill>
                <a:latin typeface="Georgia"/>
              </a:rPr>
              <a:t>4</a:t>
            </a:r>
          </a:p>
        </p:txBody>
      </p:sp>
      <p:sp>
        <p:nvSpPr>
          <p:cNvPr id="18" name="TextBox 17"/>
          <p:cNvSpPr txBox="1"/>
          <p:nvPr/>
        </p:nvSpPr>
        <p:spPr>
          <a:xfrm>
            <a:off x="6629400" y="361188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Find a "good-first-issue".</a:t>
            </a:r>
          </a:p>
        </p:txBody>
      </p:sp>
      <p:sp>
        <p:nvSpPr>
          <p:cNvPr id="19" name="Oval 18"/>
          <p:cNvSpPr/>
          <p:nvPr/>
        </p:nvSpPr>
        <p:spPr>
          <a:xfrm>
            <a:off x="548640" y="452628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80"/>
            <a:ext cx="411480" cy="411480"/>
          </a:xfrm>
          <a:prstGeom prst="rect">
            <a:avLst/>
          </a:prstGeom>
          <a:noFill/>
        </p:spPr>
        <p:txBody>
          <a:bodyPr wrap="square" lIns="0" rIns="0" tIns="0" bIns="0" anchor="ctr">
            <a:spAutoFit/>
          </a:bodyPr>
          <a:lstStyle/>
          <a:p>
            <a:pPr algn="ctr"/>
            <a:r>
              <a:rPr sz="1400" b="1" i="0">
                <a:solidFill>
                  <a:srgbClr val="2C5244"/>
                </a:solidFill>
                <a:latin typeface="Georgia"/>
              </a:rPr>
              <a:t>5</a:t>
            </a:r>
          </a:p>
        </p:txBody>
      </p:sp>
      <p:sp>
        <p:nvSpPr>
          <p:cNvPr id="21" name="TextBox 20"/>
          <p:cNvSpPr txBox="1"/>
          <p:nvPr/>
        </p:nvSpPr>
        <p:spPr>
          <a:xfrm>
            <a:off x="1097280" y="448056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An 8-week reputation plan.</a:t>
            </a:r>
          </a:p>
        </p:txBody>
      </p:sp>
      <p:sp>
        <p:nvSpPr>
          <p:cNvPr id="22" name="TextBox 21"/>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11 OF 7</a:t>
            </a:r>
          </a:p>
        </p:txBody>
      </p:sp>
      <p:sp>
        <p:nvSpPr>
          <p:cNvPr id="23" name="TextBox 22"/>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OUTCOMES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11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AGENDA</a:t>
            </a:r>
          </a:p>
        </p:txBody>
      </p:sp>
      <p:sp>
        <p:nvSpPr>
          <p:cNvPr id="6" name="TextBox 5"/>
          <p:cNvSpPr txBox="1"/>
          <p:nvPr/>
        </p:nvSpPr>
        <p:spPr>
          <a:xfrm>
            <a:off x="548640" y="1463040"/>
            <a:ext cx="10058400" cy="1097280"/>
          </a:xfrm>
          <a:prstGeom prst="rect">
            <a:avLst/>
          </a:prstGeom>
          <a:noFill/>
        </p:spPr>
        <p:txBody>
          <a:bodyPr wrap="square" lIns="0" rIns="0" tIns="0" bIns="0" anchor="t">
            <a:spAutoFit/>
          </a:bodyPr>
          <a:lstStyle/>
          <a:p>
            <a:pPr algn="l"/>
            <a:r>
              <a:rPr sz="3000" b="0" i="0">
                <a:solidFill>
                  <a:srgbClr val="FFFFFF"/>
                </a:solidFill>
                <a:latin typeface="Georgia"/>
              </a:rPr>
              <a:t>What we'll cover today</a:t>
            </a:r>
          </a:p>
        </p:txBody>
      </p:sp>
      <p:sp>
        <p:nvSpPr>
          <p:cNvPr id="7" name="TextBox 6"/>
          <p:cNvSpPr txBox="1"/>
          <p:nvPr/>
        </p:nvSpPr>
        <p:spPr>
          <a:xfrm>
            <a:off x="548640" y="2286000"/>
            <a:ext cx="100584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Short, sequenced parts. Each one builds on the last.</a:t>
            </a:r>
          </a:p>
        </p:txBody>
      </p:sp>
      <p:sp>
        <p:nvSpPr>
          <p:cNvPr id="8" name="Rectangle 7"/>
          <p:cNvSpPr/>
          <p:nvPr/>
        </p:nvSpPr>
        <p:spPr>
          <a:xfrm>
            <a:off x="54864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01</a:t>
            </a:r>
          </a:p>
        </p:txBody>
      </p:sp>
      <p:sp>
        <p:nvSpPr>
          <p:cNvPr id="10" name="TextBox 9"/>
          <p:cNvSpPr txBox="1"/>
          <p:nvPr/>
        </p:nvSpPr>
        <p:spPr>
          <a:xfrm>
            <a:off x="77724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4 major communities</a:t>
            </a:r>
          </a:p>
        </p:txBody>
      </p:sp>
      <p:sp>
        <p:nvSpPr>
          <p:cNvPr id="11" name="TextBox 10"/>
          <p:cNvSpPr txBox="1"/>
          <p:nvPr/>
        </p:nvSpPr>
        <p:spPr>
          <a:xfrm>
            <a:off x="77724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Key concept of this lesson.</a:t>
            </a:r>
          </a:p>
        </p:txBody>
      </p:sp>
      <p:sp>
        <p:nvSpPr>
          <p:cNvPr id="12" name="Rectangle 11"/>
          <p:cNvSpPr/>
          <p:nvPr/>
        </p:nvSpPr>
        <p:spPr>
          <a:xfrm>
            <a:off x="336042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8902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02</a:t>
            </a:r>
          </a:p>
        </p:txBody>
      </p:sp>
      <p:sp>
        <p:nvSpPr>
          <p:cNvPr id="14" name="TextBox 13"/>
          <p:cNvSpPr txBox="1"/>
          <p:nvPr/>
        </p:nvSpPr>
        <p:spPr>
          <a:xfrm>
            <a:off x="358902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Contributor ladder</a:t>
            </a:r>
          </a:p>
        </p:txBody>
      </p:sp>
      <p:sp>
        <p:nvSpPr>
          <p:cNvPr id="15" name="TextBox 14"/>
          <p:cNvSpPr txBox="1"/>
          <p:nvPr/>
        </p:nvSpPr>
        <p:spPr>
          <a:xfrm>
            <a:off x="358902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5 levels</a:t>
            </a:r>
          </a:p>
        </p:txBody>
      </p:sp>
      <p:sp>
        <p:nvSpPr>
          <p:cNvPr id="16" name="Rectangle 15"/>
          <p:cNvSpPr/>
          <p:nvPr/>
        </p:nvSpPr>
        <p:spPr>
          <a:xfrm>
            <a:off x="617220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03</a:t>
            </a:r>
          </a:p>
        </p:txBody>
      </p:sp>
      <p:sp>
        <p:nvSpPr>
          <p:cNvPr id="18" name="TextBox 17"/>
          <p:cNvSpPr txBox="1"/>
          <p:nvPr/>
        </p:nvSpPr>
        <p:spPr>
          <a:xfrm>
            <a:off x="640080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Healthy vs toxic OSS</a:t>
            </a:r>
          </a:p>
        </p:txBody>
      </p:sp>
      <p:sp>
        <p:nvSpPr>
          <p:cNvPr id="19" name="TextBox 18"/>
          <p:cNvSpPr txBox="1"/>
          <p:nvPr/>
        </p:nvSpPr>
        <p:spPr>
          <a:xfrm>
            <a:off x="640080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Key concept of this lesson.</a:t>
            </a:r>
          </a:p>
        </p:txBody>
      </p:sp>
      <p:sp>
        <p:nvSpPr>
          <p:cNvPr id="20" name="Rectangle 19"/>
          <p:cNvSpPr/>
          <p:nvPr/>
        </p:nvSpPr>
        <p:spPr>
          <a:xfrm>
            <a:off x="898398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1258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04</a:t>
            </a:r>
          </a:p>
        </p:txBody>
      </p:sp>
      <p:sp>
        <p:nvSpPr>
          <p:cNvPr id="22" name="TextBox 21"/>
          <p:cNvSpPr txBox="1"/>
          <p:nvPr/>
        </p:nvSpPr>
        <p:spPr>
          <a:xfrm>
            <a:off x="921258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8-week reputation plan</a:t>
            </a:r>
          </a:p>
        </p:txBody>
      </p:sp>
      <p:sp>
        <p:nvSpPr>
          <p:cNvPr id="23" name="TextBox 22"/>
          <p:cNvSpPr txBox="1"/>
          <p:nvPr/>
        </p:nvSpPr>
        <p:spPr>
          <a:xfrm>
            <a:off x="921258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Invest narrow, win deep</a:t>
            </a:r>
          </a:p>
        </p:txBody>
      </p:sp>
      <p:sp>
        <p:nvSpPr>
          <p:cNvPr id="24" name="TextBox 2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11 OF 7</a:t>
            </a:r>
          </a:p>
        </p:txBody>
      </p:sp>
      <p:sp>
        <p:nvSpPr>
          <p:cNvPr id="25" name="TextBox 2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AGENDA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11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01</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1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4 major communities</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Key concept of this lesson.</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11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11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1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4 major communities</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A core idea you'll use throughout this lesson.</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DEFINITION</a:t>
            </a:r>
          </a:p>
        </p:txBody>
      </p:sp>
      <p:sp>
        <p:nvSpPr>
          <p:cNvPr id="10" name="TextBox 9"/>
          <p:cNvSpPr txBox="1"/>
          <p:nvPr/>
        </p:nvSpPr>
        <p:spPr>
          <a:xfrm>
            <a:off x="7589520" y="2057400"/>
            <a:ext cx="3749040" cy="1188720"/>
          </a:xfrm>
          <a:prstGeom prst="rect">
            <a:avLst/>
          </a:prstGeom>
          <a:noFill/>
        </p:spPr>
        <p:txBody>
          <a:bodyPr wrap="square" lIns="0" rIns="0" tIns="0" bIns="0" anchor="t">
            <a:spAutoFit/>
          </a:bodyPr>
          <a:lstStyle/>
          <a:p>
            <a:pPr algn="l"/>
            <a:r>
              <a:rPr sz="2400" b="1" i="0">
                <a:solidFill>
                  <a:srgbClr val="FFFFFF"/>
                </a:solidFill>
                <a:latin typeface="Georgia"/>
              </a:rPr>
              <a:t>4 major communities</a:t>
            </a:r>
          </a:p>
        </p:txBody>
      </p:sp>
      <p:sp>
        <p:nvSpPr>
          <p:cNvPr id="11" name="TextBox 10"/>
          <p:cNvSpPr txBox="1"/>
          <p:nvPr/>
        </p:nvSpPr>
        <p:spPr>
          <a:xfrm>
            <a:off x="7589520" y="3246120"/>
            <a:ext cx="3749040" cy="13716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
            </a:r>
          </a:p>
        </p:txBody>
      </p:sp>
      <p:sp>
        <p:nvSpPr>
          <p:cNvPr id="12" name="Rectangle 11"/>
          <p:cNvSpPr/>
          <p:nvPr/>
        </p:nvSpPr>
        <p:spPr>
          <a:xfrm>
            <a:off x="7589520" y="4892040"/>
            <a:ext cx="365760" cy="36576"/>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5029200"/>
            <a:ext cx="3749040" cy="274320"/>
          </a:xfrm>
          <a:prstGeom prst="rect">
            <a:avLst/>
          </a:prstGeom>
          <a:noFill/>
        </p:spPr>
        <p:txBody>
          <a:bodyPr wrap="square" lIns="0" rIns="0" tIns="0" bIns="0" anchor="t">
            <a:spAutoFit/>
          </a:bodyPr>
          <a:lstStyle/>
          <a:p>
            <a:pPr algn="l"/>
            <a:r>
              <a:rPr sz="900" b="1" i="0" spc="500">
                <a:solidFill>
                  <a:srgbClr val="C5E063"/>
                </a:solidFill>
                <a:latin typeface="Calibri"/>
              </a:rPr>
              <a:t>EXAMPLE</a:t>
            </a:r>
          </a:p>
        </p:txBody>
      </p:sp>
      <p:sp>
        <p:nvSpPr>
          <p:cNvPr id="14" name="TextBox 13"/>
          <p:cNvSpPr txBox="1"/>
          <p:nvPr/>
        </p:nvSpPr>
        <p:spPr>
          <a:xfrm>
            <a:off x="7589520" y="5303520"/>
            <a:ext cx="3749040" cy="548640"/>
          </a:xfrm>
          <a:prstGeom prst="rect">
            <a:avLst/>
          </a:prstGeom>
          <a:noFill/>
        </p:spPr>
        <p:txBody>
          <a:bodyPr wrap="square" lIns="0" rIns="0" tIns="0" bIns="0" anchor="t">
            <a:spAutoFit/>
          </a:bodyPr>
          <a:lstStyle/>
          <a:p>
            <a:pPr algn="l">
              <a:lnSpc>
                <a:spcPct val="135000"/>
              </a:lnSpc>
            </a:pPr>
            <a:r>
              <a:rPr sz="1100" b="0" i="1">
                <a:solidFill>
                  <a:srgbClr val="FFFFFF"/>
                </a:solidFill>
                <a:latin typeface="Calibri"/>
              </a:rPr>
              <a:t>Real-world example: applies directly to Indian industry contexts.</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11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11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2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Contributor ladder</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Level 0 — Lurker.
Level 1 — Issue commenter.
Level 2 — First PR (docs / examples).
Level 3 — Recurring contributor.
Level 4 — Maintainer / reviewer.
LADDER
0 → 4
Plan the next level, not level 4.</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KEY  POINTS</a:t>
            </a:r>
          </a:p>
        </p:txBody>
      </p:sp>
      <p:sp>
        <p:nvSpPr>
          <p:cNvPr id="10" name="Oval 9"/>
          <p:cNvSpPr/>
          <p:nvPr/>
        </p:nvSpPr>
        <p:spPr>
          <a:xfrm>
            <a:off x="7635240" y="2359152"/>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2194560"/>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Level 0 — Lurker</a:t>
            </a:r>
          </a:p>
        </p:txBody>
      </p:sp>
      <p:sp>
        <p:nvSpPr>
          <p:cNvPr id="12" name="Oval 11"/>
          <p:cNvSpPr/>
          <p:nvPr/>
        </p:nvSpPr>
        <p:spPr>
          <a:xfrm>
            <a:off x="7635240" y="3072384"/>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2907792"/>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Level 1 — Issue commenter</a:t>
            </a:r>
          </a:p>
        </p:txBody>
      </p:sp>
      <p:sp>
        <p:nvSpPr>
          <p:cNvPr id="14" name="Oval 13"/>
          <p:cNvSpPr/>
          <p:nvPr/>
        </p:nvSpPr>
        <p:spPr>
          <a:xfrm>
            <a:off x="7635240" y="3785616"/>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3621024"/>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Level 2 — First PR (docs / examples)</a:t>
            </a:r>
          </a:p>
        </p:txBody>
      </p:sp>
      <p:sp>
        <p:nvSpPr>
          <p:cNvPr id="16" name="Oval 15"/>
          <p:cNvSpPr/>
          <p:nvPr/>
        </p:nvSpPr>
        <p:spPr>
          <a:xfrm>
            <a:off x="7635240" y="4498848"/>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4334256"/>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Level 3 — Recurring contributor</a:t>
            </a:r>
          </a:p>
        </p:txBody>
      </p:sp>
      <p:sp>
        <p:nvSpPr>
          <p:cNvPr id="18" name="TextBox 17"/>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11 OF 7</a:t>
            </a:r>
          </a:p>
        </p:txBody>
      </p:sp>
      <p:sp>
        <p:nvSpPr>
          <p:cNvPr id="19" name="TextBox 18"/>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11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3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Healthy vs toxic OSS</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A core idea you'll use throughout this lesson.</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DEFINITION</a:t>
            </a:r>
          </a:p>
        </p:txBody>
      </p:sp>
      <p:sp>
        <p:nvSpPr>
          <p:cNvPr id="10" name="TextBox 9"/>
          <p:cNvSpPr txBox="1"/>
          <p:nvPr/>
        </p:nvSpPr>
        <p:spPr>
          <a:xfrm>
            <a:off x="7589520" y="2057400"/>
            <a:ext cx="3749040" cy="1188720"/>
          </a:xfrm>
          <a:prstGeom prst="rect">
            <a:avLst/>
          </a:prstGeom>
          <a:noFill/>
        </p:spPr>
        <p:txBody>
          <a:bodyPr wrap="square" lIns="0" rIns="0" tIns="0" bIns="0" anchor="t">
            <a:spAutoFit/>
          </a:bodyPr>
          <a:lstStyle/>
          <a:p>
            <a:pPr algn="l"/>
            <a:r>
              <a:rPr sz="2400" b="1" i="0">
                <a:solidFill>
                  <a:srgbClr val="FFFFFF"/>
                </a:solidFill>
                <a:latin typeface="Georgia"/>
              </a:rPr>
              <a:t>Healthy vs toxic OSS</a:t>
            </a:r>
          </a:p>
        </p:txBody>
      </p:sp>
      <p:sp>
        <p:nvSpPr>
          <p:cNvPr id="11" name="TextBox 10"/>
          <p:cNvSpPr txBox="1"/>
          <p:nvPr/>
        </p:nvSpPr>
        <p:spPr>
          <a:xfrm>
            <a:off x="7589520" y="3246120"/>
            <a:ext cx="3749040" cy="13716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
            </a:r>
          </a:p>
        </p:txBody>
      </p:sp>
      <p:sp>
        <p:nvSpPr>
          <p:cNvPr id="12" name="Rectangle 11"/>
          <p:cNvSpPr/>
          <p:nvPr/>
        </p:nvSpPr>
        <p:spPr>
          <a:xfrm>
            <a:off x="7589520" y="4892040"/>
            <a:ext cx="365760" cy="36576"/>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5029200"/>
            <a:ext cx="3749040" cy="274320"/>
          </a:xfrm>
          <a:prstGeom prst="rect">
            <a:avLst/>
          </a:prstGeom>
          <a:noFill/>
        </p:spPr>
        <p:txBody>
          <a:bodyPr wrap="square" lIns="0" rIns="0" tIns="0" bIns="0" anchor="t">
            <a:spAutoFit/>
          </a:bodyPr>
          <a:lstStyle/>
          <a:p>
            <a:pPr algn="l"/>
            <a:r>
              <a:rPr sz="900" b="1" i="0" spc="500">
                <a:solidFill>
                  <a:srgbClr val="C5E063"/>
                </a:solidFill>
                <a:latin typeface="Calibri"/>
              </a:rPr>
              <a:t>EXAMPLE</a:t>
            </a:r>
          </a:p>
        </p:txBody>
      </p:sp>
      <p:sp>
        <p:nvSpPr>
          <p:cNvPr id="14" name="TextBox 13"/>
          <p:cNvSpPr txBox="1"/>
          <p:nvPr/>
        </p:nvSpPr>
        <p:spPr>
          <a:xfrm>
            <a:off x="7589520" y="5303520"/>
            <a:ext cx="3749040" cy="548640"/>
          </a:xfrm>
          <a:prstGeom prst="rect">
            <a:avLst/>
          </a:prstGeom>
          <a:noFill/>
        </p:spPr>
        <p:txBody>
          <a:bodyPr wrap="square" lIns="0" rIns="0" tIns="0" bIns="0" anchor="t">
            <a:spAutoFit/>
          </a:bodyPr>
          <a:lstStyle/>
          <a:p>
            <a:pPr algn="l">
              <a:lnSpc>
                <a:spcPct val="135000"/>
              </a:lnSpc>
            </a:pPr>
            <a:r>
              <a:rPr sz="1100" b="0" i="1">
                <a:solidFill>
                  <a:srgbClr val="FFFFFF"/>
                </a:solidFill>
                <a:latin typeface="Calibri"/>
              </a:rPr>
              <a:t>Real-world example: applies directly to Indian industry contexts.</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11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11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4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8-week reputation plan</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Pick 1 project + camp for 8 weeks.
Start: docs typo → example → small feature.
Post on LinkedIn + forum after each merge.
Build a public OSS log.
PLAN
1 × 8 wk
Depth &gt; breadth.</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KEY  POINTS</a:t>
            </a:r>
          </a:p>
        </p:txBody>
      </p:sp>
      <p:sp>
        <p:nvSpPr>
          <p:cNvPr id="10" name="Oval 9"/>
          <p:cNvSpPr/>
          <p:nvPr/>
        </p:nvSpPr>
        <p:spPr>
          <a:xfrm>
            <a:off x="7635240" y="2359152"/>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2194560"/>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Pick 1 project + camp for 8 weeks</a:t>
            </a:r>
          </a:p>
        </p:txBody>
      </p:sp>
      <p:sp>
        <p:nvSpPr>
          <p:cNvPr id="12" name="Oval 11"/>
          <p:cNvSpPr/>
          <p:nvPr/>
        </p:nvSpPr>
        <p:spPr>
          <a:xfrm>
            <a:off x="7635240" y="3072384"/>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2907792"/>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Start: docs typo → example → small feature</a:t>
            </a:r>
          </a:p>
        </p:txBody>
      </p:sp>
      <p:sp>
        <p:nvSpPr>
          <p:cNvPr id="14" name="Oval 13"/>
          <p:cNvSpPr/>
          <p:nvPr/>
        </p:nvSpPr>
        <p:spPr>
          <a:xfrm>
            <a:off x="7635240" y="3785616"/>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3621024"/>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Post on LinkedIn + forum after each merge</a:t>
            </a:r>
          </a:p>
        </p:txBody>
      </p:sp>
      <p:sp>
        <p:nvSpPr>
          <p:cNvPr id="16" name="Oval 15"/>
          <p:cNvSpPr/>
          <p:nvPr/>
        </p:nvSpPr>
        <p:spPr>
          <a:xfrm>
            <a:off x="7635240" y="4498848"/>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4334256"/>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Build a public OSS log</a:t>
            </a:r>
          </a:p>
        </p:txBody>
      </p:sp>
      <p:sp>
        <p:nvSpPr>
          <p:cNvPr id="18" name="TextBox 17"/>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11 OF 7</a:t>
            </a:r>
          </a:p>
        </p:txBody>
      </p:sp>
      <p:sp>
        <p:nvSpPr>
          <p:cNvPr id="19" name="TextBox 18"/>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11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02</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2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Engage and reflect</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Pause, talk, and connect what you just learned to your own work.</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11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11   /   3 min</a:t>
            </a:r>
          </a:p>
        </p:txBody>
      </p:sp>
      <p:sp>
        <p:nvSpPr>
          <p:cNvPr id="5" name="Rounded Rectangle 4"/>
          <p:cNvSpPr/>
          <p:nvPr/>
        </p:nvSpPr>
        <p:spPr>
          <a:xfrm>
            <a:off x="548640" y="1143000"/>
            <a:ext cx="2377440" cy="365760"/>
          </a:xfrm>
          <a:prstGeom prst="round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43000"/>
            <a:ext cx="2377440" cy="365760"/>
          </a:xfrm>
          <a:prstGeom prst="rect">
            <a:avLst/>
          </a:prstGeom>
          <a:noFill/>
        </p:spPr>
        <p:txBody>
          <a:bodyPr wrap="square" lIns="0" rIns="0" tIns="0" bIns="0" anchor="ctr">
            <a:spAutoFit/>
          </a:bodyPr>
          <a:lstStyle/>
          <a:p>
            <a:pPr algn="ctr"/>
            <a:r>
              <a:rPr sz="1000" b="1" i="0" spc="500">
                <a:solidFill>
                  <a:srgbClr val="2C5244"/>
                </a:solidFill>
                <a:latin typeface="Calibri"/>
              </a:rPr>
              <a:t>✦  THINK · PAIR · SHARE</a:t>
            </a:r>
          </a:p>
        </p:txBody>
      </p:sp>
      <p:sp>
        <p:nvSpPr>
          <p:cNvPr id="7" name="TextBox 6"/>
          <p:cNvSpPr txBox="1"/>
          <p:nvPr/>
        </p:nvSpPr>
        <p:spPr>
          <a:xfrm>
            <a:off x="3063240" y="1207008"/>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ACTIVITY</a:t>
            </a:r>
          </a:p>
        </p:txBody>
      </p:sp>
      <p:sp>
        <p:nvSpPr>
          <p:cNvPr id="8" name="TextBox 7"/>
          <p:cNvSpPr txBox="1"/>
          <p:nvPr/>
        </p:nvSpPr>
        <p:spPr>
          <a:xfrm>
            <a:off x="548640" y="1691640"/>
            <a:ext cx="10972800" cy="1097280"/>
          </a:xfrm>
          <a:prstGeom prst="rect">
            <a:avLst/>
          </a:prstGeom>
          <a:noFill/>
        </p:spPr>
        <p:txBody>
          <a:bodyPr wrap="square" lIns="0" rIns="0" tIns="0" bIns="0" anchor="t">
            <a:spAutoFit/>
          </a:bodyPr>
          <a:lstStyle/>
          <a:p>
            <a:pPr algn="l"/>
            <a:r>
              <a:rPr sz="2600" b="0" i="0">
                <a:solidFill>
                  <a:srgbClr val="FFFFFF"/>
                </a:solidFill>
                <a:latin typeface="Georgia"/>
              </a:rPr>
              <a:t>Pick YOUR 8-week home</a:t>
            </a:r>
          </a:p>
        </p:txBody>
      </p:sp>
      <p:sp>
        <p:nvSpPr>
          <p:cNvPr id="9" name="Rectangle 8"/>
          <p:cNvSpPr/>
          <p:nvPr/>
        </p:nvSpPr>
        <p:spPr>
          <a:xfrm>
            <a:off x="548640" y="2743200"/>
            <a:ext cx="7040880" cy="33832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926080"/>
            <a:ext cx="6492240" cy="274320"/>
          </a:xfrm>
          <a:prstGeom prst="rect">
            <a:avLst/>
          </a:prstGeom>
          <a:noFill/>
        </p:spPr>
        <p:txBody>
          <a:bodyPr wrap="square" lIns="0" rIns="0" tIns="0" bIns="0" anchor="t">
            <a:spAutoFit/>
          </a:bodyPr>
          <a:lstStyle/>
          <a:p>
            <a:pPr algn="l"/>
            <a:r>
              <a:rPr sz="1000" b="1" i="0" spc="500">
                <a:solidFill>
                  <a:srgbClr val="C5E063"/>
                </a:solidFill>
                <a:latin typeface="Calibri"/>
              </a:rPr>
              <a:t>PROMPT</a:t>
            </a:r>
          </a:p>
        </p:txBody>
      </p:sp>
      <p:sp>
        <p:nvSpPr>
          <p:cNvPr id="11" name="TextBox 10"/>
          <p:cNvSpPr txBox="1"/>
          <p:nvPr/>
        </p:nvSpPr>
        <p:spPr>
          <a:xfrm>
            <a:off x="822960" y="3246120"/>
            <a:ext cx="6492240" cy="2743200"/>
          </a:xfrm>
          <a:prstGeom prst="rect">
            <a:avLst/>
          </a:prstGeom>
          <a:noFill/>
        </p:spPr>
        <p:txBody>
          <a:bodyPr wrap="square" lIns="0" rIns="0" tIns="0" bIns="0" anchor="t">
            <a:spAutoFit/>
          </a:bodyPr>
          <a:lstStyle/>
          <a:p>
            <a:pPr algn="l">
              <a:lnSpc>
                <a:spcPct val="145000"/>
              </a:lnSpc>
            </a:pPr>
            <a:r>
              <a:rPr sz="1400" b="0" i="1">
                <a:solidFill>
                  <a:srgbClr val="FFFFFF"/>
                </a:solidFill>
                <a:latin typeface="Calibri"/>
              </a:rPr>
              <a:t>Apply the four concepts above to one real example from your own week.</a:t>
            </a:r>
          </a:p>
        </p:txBody>
      </p:sp>
      <p:sp>
        <p:nvSpPr>
          <p:cNvPr id="12" name="Rectangle 11"/>
          <p:cNvSpPr/>
          <p:nvPr/>
        </p:nvSpPr>
        <p:spPr>
          <a:xfrm>
            <a:off x="7818120" y="2743200"/>
            <a:ext cx="3794760" cy="3383280"/>
          </a:xfrm>
          <a:prstGeom prst="rect">
            <a:avLst/>
          </a:prstGeom>
          <a:solidFill>
            <a:srgbClr val="224036"/>
          </a:solidFill>
          <a:ln w="6350">
            <a:solidFill>
              <a:srgbClr val="DCEC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2926080"/>
            <a:ext cx="3291840" cy="274320"/>
          </a:xfrm>
          <a:prstGeom prst="rect">
            <a:avLst/>
          </a:prstGeom>
          <a:noFill/>
        </p:spPr>
        <p:txBody>
          <a:bodyPr wrap="square" lIns="0" rIns="0" tIns="0" bIns="0" anchor="t">
            <a:spAutoFit/>
          </a:bodyPr>
          <a:lstStyle/>
          <a:p>
            <a:pPr algn="l"/>
            <a:r>
              <a:rPr sz="1000" b="1" i="0" spc="500">
                <a:solidFill>
                  <a:srgbClr val="C5E063"/>
                </a:solidFill>
                <a:latin typeface="Calibri"/>
              </a:rPr>
              <a:t>HOW TO RUN IT</a:t>
            </a:r>
          </a:p>
        </p:txBody>
      </p:sp>
      <p:sp>
        <p:nvSpPr>
          <p:cNvPr id="14" name="Oval 13"/>
          <p:cNvSpPr/>
          <p:nvPr/>
        </p:nvSpPr>
        <p:spPr>
          <a:xfrm>
            <a:off x="8092440" y="3246120"/>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3246120"/>
            <a:ext cx="292608" cy="292608"/>
          </a:xfrm>
          <a:prstGeom prst="rect">
            <a:avLst/>
          </a:prstGeom>
          <a:noFill/>
        </p:spPr>
        <p:txBody>
          <a:bodyPr wrap="square" lIns="0" rIns="0" tIns="0" bIns="0" anchor="ctr">
            <a:spAutoFit/>
          </a:bodyPr>
          <a:lstStyle/>
          <a:p>
            <a:pPr algn="ctr"/>
            <a:r>
              <a:rPr sz="1100" b="1" i="0">
                <a:solidFill>
                  <a:srgbClr val="2C5244"/>
                </a:solidFill>
                <a:latin typeface="Georgia"/>
              </a:rPr>
              <a:t>1</a:t>
            </a:r>
          </a:p>
        </p:txBody>
      </p:sp>
      <p:sp>
        <p:nvSpPr>
          <p:cNvPr id="16" name="TextBox 15"/>
          <p:cNvSpPr txBox="1"/>
          <p:nvPr/>
        </p:nvSpPr>
        <p:spPr>
          <a:xfrm>
            <a:off x="8503920" y="3246120"/>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
            </a:r>
          </a:p>
        </p:txBody>
      </p:sp>
      <p:sp>
        <p:nvSpPr>
          <p:cNvPr id="17" name="Oval 16"/>
          <p:cNvSpPr/>
          <p:nvPr/>
        </p:nvSpPr>
        <p:spPr>
          <a:xfrm>
            <a:off x="8092440" y="3886200"/>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2440" y="3886200"/>
            <a:ext cx="292608" cy="292608"/>
          </a:xfrm>
          <a:prstGeom prst="rect">
            <a:avLst/>
          </a:prstGeom>
          <a:noFill/>
        </p:spPr>
        <p:txBody>
          <a:bodyPr wrap="square" lIns="0" rIns="0" tIns="0" bIns="0" anchor="ctr">
            <a:spAutoFit/>
          </a:bodyPr>
          <a:lstStyle/>
          <a:p>
            <a:pPr algn="ctr"/>
            <a:r>
              <a:rPr sz="1100" b="1" i="0">
                <a:solidFill>
                  <a:srgbClr val="2C5244"/>
                </a:solidFill>
                <a:latin typeface="Georgia"/>
              </a:rPr>
              <a:t>2</a:t>
            </a:r>
          </a:p>
        </p:txBody>
      </p:sp>
      <p:sp>
        <p:nvSpPr>
          <p:cNvPr id="19" name="TextBox 18"/>
          <p:cNvSpPr txBox="1"/>
          <p:nvPr/>
        </p:nvSpPr>
        <p:spPr>
          <a:xfrm>
            <a:off x="8503920" y="3886200"/>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
            </a:r>
          </a:p>
        </p:txBody>
      </p:sp>
      <p:sp>
        <p:nvSpPr>
          <p:cNvPr id="20" name="Oval 19"/>
          <p:cNvSpPr/>
          <p:nvPr/>
        </p:nvSpPr>
        <p:spPr>
          <a:xfrm>
            <a:off x="8092440" y="4526279"/>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92440" y="4526279"/>
            <a:ext cx="292608" cy="292608"/>
          </a:xfrm>
          <a:prstGeom prst="rect">
            <a:avLst/>
          </a:prstGeom>
          <a:noFill/>
        </p:spPr>
        <p:txBody>
          <a:bodyPr wrap="square" lIns="0" rIns="0" tIns="0" bIns="0" anchor="ctr">
            <a:spAutoFit/>
          </a:bodyPr>
          <a:lstStyle/>
          <a:p>
            <a:pPr algn="ctr"/>
            <a:r>
              <a:rPr sz="1100" b="1" i="0">
                <a:solidFill>
                  <a:srgbClr val="2C5244"/>
                </a:solidFill>
                <a:latin typeface="Georgia"/>
              </a:rPr>
              <a:t>3</a:t>
            </a:r>
          </a:p>
        </p:txBody>
      </p:sp>
      <p:sp>
        <p:nvSpPr>
          <p:cNvPr id="22" name="TextBox 21"/>
          <p:cNvSpPr txBox="1"/>
          <p:nvPr/>
        </p:nvSpPr>
        <p:spPr>
          <a:xfrm>
            <a:off x="8503920" y="4526279"/>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
            </a:r>
          </a:p>
        </p:txBody>
      </p:sp>
      <p:sp>
        <p:nvSpPr>
          <p:cNvPr id="23" name="Oval 22"/>
          <p:cNvSpPr/>
          <p:nvPr/>
        </p:nvSpPr>
        <p:spPr>
          <a:xfrm>
            <a:off x="8092440" y="5166359"/>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92440" y="5166359"/>
            <a:ext cx="292608" cy="292608"/>
          </a:xfrm>
          <a:prstGeom prst="rect">
            <a:avLst/>
          </a:prstGeom>
          <a:noFill/>
        </p:spPr>
        <p:txBody>
          <a:bodyPr wrap="square" lIns="0" rIns="0" tIns="0" bIns="0" anchor="ctr">
            <a:spAutoFit/>
          </a:bodyPr>
          <a:lstStyle/>
          <a:p>
            <a:pPr algn="ctr"/>
            <a:r>
              <a:rPr sz="1100" b="1" i="0">
                <a:solidFill>
                  <a:srgbClr val="2C5244"/>
                </a:solidFill>
                <a:latin typeface="Georgia"/>
              </a:rPr>
              <a:t>4</a:t>
            </a:r>
          </a:p>
        </p:txBody>
      </p:sp>
      <p:sp>
        <p:nvSpPr>
          <p:cNvPr id="25" name="TextBox 24"/>
          <p:cNvSpPr txBox="1"/>
          <p:nvPr/>
        </p:nvSpPr>
        <p:spPr>
          <a:xfrm>
            <a:off x="8503920" y="5166359"/>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Reveal: instructor confirms the canonical answer.</a:t>
            </a:r>
          </a:p>
        </p:txBody>
      </p:sp>
      <p:sp>
        <p:nvSpPr>
          <p:cNvPr id="26" name="TextBox 25"/>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11 OF 7</a:t>
            </a:r>
          </a:p>
        </p:txBody>
      </p:sp>
      <p:sp>
        <p:nvSpPr>
          <p:cNvPr id="27" name="TextBox 26"/>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ACTIVITY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11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REFLECT  &amp;  APPLY</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Three questions before you close this lesson</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475569"/>
                </a:solidFill>
                <a:latin typeface="Calibri"/>
              </a:rPr>
              <a:t>Spend 60 seconds on each. Write the answers down — no scrolling, no shortcuts.</a:t>
            </a:r>
          </a:p>
        </p:txBody>
      </p:sp>
      <p:sp>
        <p:nvSpPr>
          <p:cNvPr id="8" name="Rectangle 7"/>
          <p:cNvSpPr/>
          <p:nvPr/>
        </p:nvSpPr>
        <p:spPr>
          <a:xfrm>
            <a:off x="548640" y="320040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20040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0040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Q1</a:t>
            </a:r>
          </a:p>
        </p:txBody>
      </p:sp>
      <p:sp>
        <p:nvSpPr>
          <p:cNvPr id="11" name="TextBox 10"/>
          <p:cNvSpPr txBox="1"/>
          <p:nvPr/>
        </p:nvSpPr>
        <p:spPr>
          <a:xfrm>
            <a:off x="1554480" y="320040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Which community's vibe fits you?</a:t>
            </a:r>
          </a:p>
        </p:txBody>
      </p:sp>
      <p:sp>
        <p:nvSpPr>
          <p:cNvPr id="12" name="Rectangle 11"/>
          <p:cNvSpPr/>
          <p:nvPr/>
        </p:nvSpPr>
        <p:spPr>
          <a:xfrm>
            <a:off x="548640" y="416052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16052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16052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Q2</a:t>
            </a:r>
          </a:p>
        </p:txBody>
      </p:sp>
      <p:sp>
        <p:nvSpPr>
          <p:cNvPr id="15" name="TextBox 14"/>
          <p:cNvSpPr txBox="1"/>
          <p:nvPr/>
        </p:nvSpPr>
        <p:spPr>
          <a:xfrm>
            <a:off x="1554480" y="416052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What's stopping you from commenting today?</a:t>
            </a:r>
          </a:p>
        </p:txBody>
      </p:sp>
      <p:sp>
        <p:nvSpPr>
          <p:cNvPr id="16" name="Rectangle 15"/>
          <p:cNvSpPr/>
          <p:nvPr/>
        </p:nvSpPr>
        <p:spPr>
          <a:xfrm>
            <a:off x="548640" y="512064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512064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12064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Q3</a:t>
            </a:r>
          </a:p>
        </p:txBody>
      </p:sp>
      <p:sp>
        <p:nvSpPr>
          <p:cNvPr id="19" name="TextBox 18"/>
          <p:cNvSpPr txBox="1"/>
          <p:nvPr/>
        </p:nvSpPr>
        <p:spPr>
          <a:xfrm>
            <a:off x="1554480" y="512064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Who on that maintainer list could mentor you?</a:t>
            </a:r>
          </a:p>
        </p:txBody>
      </p:sp>
      <p:sp>
        <p:nvSpPr>
          <p:cNvPr id="20" name="TextBox 1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11 OF 7</a:t>
            </a:r>
          </a:p>
        </p:txBody>
      </p:sp>
      <p:sp>
        <p:nvSpPr>
          <p:cNvPr id="21" name="TextBox 2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REFLECT</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11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03</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3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Knowledge check</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Three short questions. One minute each. Honest answers only.</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11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11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1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Hugging Face best first issue:</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GPU driver</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Docs/model cards</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Kernel</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Random</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11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11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1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Hugging Face best first issue:</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Docs/model cards</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Docs are the gentle entry</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11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11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2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Number of ladder levels:</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B</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D</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None</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(no option)</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11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11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2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Number of ladder levels:</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D</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0 through 4</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11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11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3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Toxic signal:</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Stale PRs + gatekeeping</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Kind reviews</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Good labels</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Many maintainers</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11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11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3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Toxic signal:</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A</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Stale PRs + gatekeeping</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Stale + gatekeeping</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11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11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04</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4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Apply and close</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One thing to remember. One thing to ship this week.</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11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11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SUMMARY</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FFFFFF"/>
                </a:solidFill>
                <a:latin typeface="Georgia"/>
              </a:rPr>
              <a:t>Five sentences to remember</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If you remember nothing else from this lesson, remember these five lines.</a:t>
            </a:r>
          </a:p>
        </p:txBody>
      </p:sp>
      <p:sp>
        <p:nvSpPr>
          <p:cNvPr id="8" name="TextBox 7"/>
          <p:cNvSpPr txBox="1"/>
          <p:nvPr/>
        </p:nvSpPr>
        <p:spPr>
          <a:xfrm>
            <a:off x="548640" y="3154680"/>
            <a:ext cx="548640" cy="502920"/>
          </a:xfrm>
          <a:prstGeom prst="rect">
            <a:avLst/>
          </a:prstGeom>
          <a:noFill/>
        </p:spPr>
        <p:txBody>
          <a:bodyPr wrap="square" lIns="0" rIns="0" tIns="0" bIns="0" anchor="ctr">
            <a:spAutoFit/>
          </a:bodyPr>
          <a:lstStyle/>
          <a:p>
            <a:pPr algn="l"/>
            <a:r>
              <a:rPr sz="2800" b="1" i="0">
                <a:solidFill>
                  <a:srgbClr val="C5E063"/>
                </a:solidFill>
                <a:latin typeface="Georgia"/>
              </a:rPr>
              <a:t>1</a:t>
            </a:r>
          </a:p>
        </p:txBody>
      </p:sp>
      <p:sp>
        <p:nvSpPr>
          <p:cNvPr id="9" name="TextBox 8"/>
          <p:cNvSpPr txBox="1"/>
          <p:nvPr/>
        </p:nvSpPr>
        <p:spPr>
          <a:xfrm>
            <a:off x="1143000" y="315468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Pick the right tool — never the loudest one.</a:t>
            </a:r>
          </a:p>
        </p:txBody>
      </p:sp>
      <p:sp>
        <p:nvSpPr>
          <p:cNvPr id="10" name="TextBox 9"/>
          <p:cNvSpPr txBox="1"/>
          <p:nvPr/>
        </p:nvSpPr>
        <p:spPr>
          <a:xfrm>
            <a:off x="548640" y="3749040"/>
            <a:ext cx="548640" cy="502920"/>
          </a:xfrm>
          <a:prstGeom prst="rect">
            <a:avLst/>
          </a:prstGeom>
          <a:noFill/>
        </p:spPr>
        <p:txBody>
          <a:bodyPr wrap="square" lIns="0" rIns="0" tIns="0" bIns="0" anchor="ctr">
            <a:spAutoFit/>
          </a:bodyPr>
          <a:lstStyle/>
          <a:p>
            <a:pPr algn="l"/>
            <a:r>
              <a:rPr sz="2800" b="1" i="0">
                <a:solidFill>
                  <a:srgbClr val="C5E063"/>
                </a:solidFill>
                <a:latin typeface="Georgia"/>
              </a:rPr>
              <a:t>2</a:t>
            </a:r>
          </a:p>
        </p:txBody>
      </p:sp>
      <p:sp>
        <p:nvSpPr>
          <p:cNvPr id="11" name="TextBox 10"/>
          <p:cNvSpPr txBox="1"/>
          <p:nvPr/>
        </p:nvSpPr>
        <p:spPr>
          <a:xfrm>
            <a:off x="1143000" y="374904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Practice the framework on a real example.</a:t>
            </a:r>
          </a:p>
        </p:txBody>
      </p:sp>
      <p:sp>
        <p:nvSpPr>
          <p:cNvPr id="12" name="TextBox 11"/>
          <p:cNvSpPr txBox="1"/>
          <p:nvPr/>
        </p:nvSpPr>
        <p:spPr>
          <a:xfrm>
            <a:off x="548640" y="4343400"/>
            <a:ext cx="548640" cy="502920"/>
          </a:xfrm>
          <a:prstGeom prst="rect">
            <a:avLst/>
          </a:prstGeom>
          <a:noFill/>
        </p:spPr>
        <p:txBody>
          <a:bodyPr wrap="square" lIns="0" rIns="0" tIns="0" bIns="0" anchor="ctr">
            <a:spAutoFit/>
          </a:bodyPr>
          <a:lstStyle/>
          <a:p>
            <a:pPr algn="l"/>
            <a:r>
              <a:rPr sz="2800" b="1" i="0">
                <a:solidFill>
                  <a:srgbClr val="C5E063"/>
                </a:solidFill>
                <a:latin typeface="Georgia"/>
              </a:rPr>
              <a:t>3</a:t>
            </a:r>
          </a:p>
        </p:txBody>
      </p:sp>
      <p:sp>
        <p:nvSpPr>
          <p:cNvPr id="13" name="TextBox 12"/>
          <p:cNvSpPr txBox="1"/>
          <p:nvPr/>
        </p:nvSpPr>
        <p:spPr>
          <a:xfrm>
            <a:off x="1143000" y="434340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Watch for the three classic pitfalls.</a:t>
            </a:r>
          </a:p>
        </p:txBody>
      </p:sp>
      <p:sp>
        <p:nvSpPr>
          <p:cNvPr id="14" name="TextBox 13"/>
          <p:cNvSpPr txBox="1"/>
          <p:nvPr/>
        </p:nvSpPr>
        <p:spPr>
          <a:xfrm>
            <a:off x="548640" y="4937760"/>
            <a:ext cx="548640" cy="502920"/>
          </a:xfrm>
          <a:prstGeom prst="rect">
            <a:avLst/>
          </a:prstGeom>
          <a:noFill/>
        </p:spPr>
        <p:txBody>
          <a:bodyPr wrap="square" lIns="0" rIns="0" tIns="0" bIns="0" anchor="ctr">
            <a:spAutoFit/>
          </a:bodyPr>
          <a:lstStyle/>
          <a:p>
            <a:pPr algn="l"/>
            <a:r>
              <a:rPr sz="2800" b="1" i="0">
                <a:solidFill>
                  <a:srgbClr val="C5E063"/>
                </a:solidFill>
                <a:latin typeface="Georgia"/>
              </a:rPr>
              <a:t>4</a:t>
            </a:r>
          </a:p>
        </p:txBody>
      </p:sp>
      <p:sp>
        <p:nvSpPr>
          <p:cNvPr id="15" name="TextBox 14"/>
          <p:cNvSpPr txBox="1"/>
          <p:nvPr/>
        </p:nvSpPr>
        <p:spPr>
          <a:xfrm>
            <a:off x="1143000" y="493776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Document your decision in one sentence.</a:t>
            </a:r>
          </a:p>
        </p:txBody>
      </p:sp>
      <p:sp>
        <p:nvSpPr>
          <p:cNvPr id="16" name="TextBox 15"/>
          <p:cNvSpPr txBox="1"/>
          <p:nvPr/>
        </p:nvSpPr>
        <p:spPr>
          <a:xfrm>
            <a:off x="548640" y="5532120"/>
            <a:ext cx="548640" cy="502920"/>
          </a:xfrm>
          <a:prstGeom prst="rect">
            <a:avLst/>
          </a:prstGeom>
          <a:noFill/>
        </p:spPr>
        <p:txBody>
          <a:bodyPr wrap="square" lIns="0" rIns="0" tIns="0" bIns="0" anchor="ctr">
            <a:spAutoFit/>
          </a:bodyPr>
          <a:lstStyle/>
          <a:p>
            <a:pPr algn="l"/>
            <a:r>
              <a:rPr sz="2800" b="1" i="0">
                <a:solidFill>
                  <a:srgbClr val="C5E063"/>
                </a:solidFill>
                <a:latin typeface="Georgia"/>
              </a:rPr>
              <a:t>5</a:t>
            </a:r>
          </a:p>
        </p:txBody>
      </p:sp>
      <p:sp>
        <p:nvSpPr>
          <p:cNvPr id="17" name="TextBox 16"/>
          <p:cNvSpPr txBox="1"/>
          <p:nvPr/>
        </p:nvSpPr>
        <p:spPr>
          <a:xfrm>
            <a:off x="1143000" y="553212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Carry the discipline forward to the next lesson.</a:t>
            </a:r>
          </a:p>
        </p:txBody>
      </p:sp>
      <p:sp>
        <p:nvSpPr>
          <p:cNvPr id="18" name="TextBox 17"/>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11 OF 7</a:t>
            </a:r>
          </a:p>
        </p:txBody>
      </p:sp>
      <p:sp>
        <p:nvSpPr>
          <p:cNvPr id="19" name="TextBox 18"/>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SUMMARY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11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WORKED  EXAMPLE</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How this lesson plays out in one real Indian context</a:t>
            </a:r>
          </a:p>
        </p:txBody>
      </p:sp>
      <p:sp>
        <p:nvSpPr>
          <p:cNvPr id="7" name="Rectangle 6"/>
          <p:cNvSpPr/>
          <p:nvPr/>
        </p:nvSpPr>
        <p:spPr>
          <a:xfrm>
            <a:off x="548640" y="2468880"/>
            <a:ext cx="6858000" cy="21945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06040"/>
            <a:ext cx="6400800" cy="274320"/>
          </a:xfrm>
          <a:prstGeom prst="rect">
            <a:avLst/>
          </a:prstGeom>
          <a:noFill/>
        </p:spPr>
        <p:txBody>
          <a:bodyPr wrap="square" lIns="0" rIns="0" tIns="0" bIns="0" anchor="t">
            <a:spAutoFit/>
          </a:bodyPr>
          <a:lstStyle/>
          <a:p>
            <a:pPr algn="l"/>
            <a:r>
              <a:rPr sz="1000" b="1" i="0" spc="500">
                <a:solidFill>
                  <a:srgbClr val="0F766E"/>
                </a:solidFill>
                <a:latin typeface="Calibri"/>
              </a:rPr>
              <a:t>THE  SCENARIO</a:t>
            </a:r>
          </a:p>
        </p:txBody>
      </p:sp>
      <p:sp>
        <p:nvSpPr>
          <p:cNvPr id="9" name="TextBox 8"/>
          <p:cNvSpPr txBox="1"/>
          <p:nvPr/>
        </p:nvSpPr>
        <p:spPr>
          <a:xfrm>
            <a:off x="777240" y="2926080"/>
            <a:ext cx="6400800" cy="1691640"/>
          </a:xfrm>
          <a:prstGeom prst="rect">
            <a:avLst/>
          </a:prstGeom>
          <a:noFill/>
        </p:spPr>
        <p:txBody>
          <a:bodyPr wrap="square" lIns="0" rIns="0" tIns="0" bIns="0" anchor="t">
            <a:spAutoFit/>
          </a:bodyPr>
          <a:lstStyle/>
          <a:p>
            <a:pPr algn="l">
              <a:lnSpc>
                <a:spcPct val="140000"/>
              </a:lnSpc>
            </a:pPr>
            <a:r>
              <a:rPr sz="1200" b="0" i="0">
                <a:solidFill>
                  <a:srgbClr val="0F1F1A"/>
                </a:solidFill>
                <a:latin typeface="Calibri"/>
              </a:rPr>
              <a:t>A team applies the lesson's main idea to a real workflow — and the results show up within a quarter.</a:t>
            </a:r>
          </a:p>
        </p:txBody>
      </p:sp>
      <p:sp>
        <p:nvSpPr>
          <p:cNvPr id="10" name="Rectangle 9"/>
          <p:cNvSpPr/>
          <p:nvPr/>
        </p:nvSpPr>
        <p:spPr>
          <a:xfrm>
            <a:off x="548640" y="4800600"/>
            <a:ext cx="6858000" cy="132588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937760"/>
            <a:ext cx="6400800" cy="274320"/>
          </a:xfrm>
          <a:prstGeom prst="rect">
            <a:avLst/>
          </a:prstGeom>
          <a:noFill/>
        </p:spPr>
        <p:txBody>
          <a:bodyPr wrap="square" lIns="0" rIns="0" tIns="0" bIns="0" anchor="t">
            <a:spAutoFit/>
          </a:bodyPr>
          <a:lstStyle/>
          <a:p>
            <a:pPr algn="l"/>
            <a:r>
              <a:rPr sz="1000" b="1" i="0" spc="500">
                <a:solidFill>
                  <a:srgbClr val="C5E063"/>
                </a:solidFill>
                <a:latin typeface="Calibri"/>
              </a:rPr>
              <a:t>THE  TAKEAWAY</a:t>
            </a:r>
          </a:p>
        </p:txBody>
      </p:sp>
      <p:sp>
        <p:nvSpPr>
          <p:cNvPr id="12" name="TextBox 11"/>
          <p:cNvSpPr txBox="1"/>
          <p:nvPr/>
        </p:nvSpPr>
        <p:spPr>
          <a:xfrm>
            <a:off x="777240" y="5212080"/>
            <a:ext cx="6400800" cy="868680"/>
          </a:xfrm>
          <a:prstGeom prst="rect">
            <a:avLst/>
          </a:prstGeom>
          <a:noFill/>
        </p:spPr>
        <p:txBody>
          <a:bodyPr wrap="square" lIns="0" rIns="0" tIns="0" bIns="0" anchor="t">
            <a:spAutoFit/>
          </a:bodyPr>
          <a:lstStyle/>
          <a:p>
            <a:pPr algn="l">
              <a:lnSpc>
                <a:spcPct val="135000"/>
              </a:lnSpc>
            </a:pPr>
            <a:r>
              <a:rPr sz="1400" b="0" i="1">
                <a:solidFill>
                  <a:srgbClr val="FFFFFF"/>
                </a:solidFill>
                <a:latin typeface="Georgia"/>
              </a:rPr>
              <a:t>"The Indian AI OSS lane is wide open — you are early."</a:t>
            </a:r>
          </a:p>
        </p:txBody>
      </p:sp>
      <p:sp>
        <p:nvSpPr>
          <p:cNvPr id="13" name="Rectangle 12"/>
          <p:cNvSpPr/>
          <p:nvPr/>
        </p:nvSpPr>
        <p:spPr>
          <a:xfrm>
            <a:off x="7635240" y="2468880"/>
            <a:ext cx="3977639" cy="3657600"/>
          </a:xfrm>
          <a:prstGeom prst="rect">
            <a:avLst/>
          </a:prstGeom>
          <a:solidFill>
            <a:srgbClr val="F1F4EC"/>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0" y="2606040"/>
            <a:ext cx="3520440" cy="274320"/>
          </a:xfrm>
          <a:prstGeom prst="rect">
            <a:avLst/>
          </a:prstGeom>
          <a:noFill/>
        </p:spPr>
        <p:txBody>
          <a:bodyPr wrap="square" lIns="0" rIns="0" tIns="0" bIns="0" anchor="t">
            <a:spAutoFit/>
          </a:bodyPr>
          <a:lstStyle/>
          <a:p>
            <a:pPr algn="l"/>
            <a:r>
              <a:rPr sz="1000" b="1" i="0" spc="500">
                <a:solidFill>
                  <a:srgbClr val="0F766E"/>
                </a:solidFill>
                <a:latin typeface="Calibri"/>
              </a:rPr>
              <a:t>WHAT  TO  NOTICE</a:t>
            </a:r>
          </a:p>
        </p:txBody>
      </p:sp>
      <p:sp>
        <p:nvSpPr>
          <p:cNvPr id="15" name="Oval 14"/>
          <p:cNvSpPr/>
          <p:nvPr/>
        </p:nvSpPr>
        <p:spPr>
          <a:xfrm>
            <a:off x="7863840" y="297180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0" y="2971800"/>
            <a:ext cx="411480" cy="411480"/>
          </a:xfrm>
          <a:prstGeom prst="rect">
            <a:avLst/>
          </a:prstGeom>
          <a:noFill/>
        </p:spPr>
        <p:txBody>
          <a:bodyPr wrap="square" lIns="0" rIns="0" tIns="0" bIns="0" anchor="ctr">
            <a:spAutoFit/>
          </a:bodyPr>
          <a:lstStyle/>
          <a:p>
            <a:pPr algn="ctr"/>
            <a:r>
              <a:rPr sz="1400" b="1" i="0">
                <a:solidFill>
                  <a:srgbClr val="C5E063"/>
                </a:solidFill>
                <a:latin typeface="Georgia"/>
              </a:rPr>
              <a:t>1</a:t>
            </a:r>
          </a:p>
        </p:txBody>
      </p:sp>
      <p:sp>
        <p:nvSpPr>
          <p:cNvPr id="17" name="TextBox 16"/>
          <p:cNvSpPr txBox="1"/>
          <p:nvPr/>
        </p:nvSpPr>
        <p:spPr>
          <a:xfrm>
            <a:off x="8366760" y="297180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4 major communities</a:t>
            </a:r>
          </a:p>
        </p:txBody>
      </p:sp>
      <p:sp>
        <p:nvSpPr>
          <p:cNvPr id="18" name="Oval 17"/>
          <p:cNvSpPr/>
          <p:nvPr/>
        </p:nvSpPr>
        <p:spPr>
          <a:xfrm>
            <a:off x="7863840" y="3749039"/>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749039"/>
            <a:ext cx="411480" cy="411480"/>
          </a:xfrm>
          <a:prstGeom prst="rect">
            <a:avLst/>
          </a:prstGeom>
          <a:noFill/>
        </p:spPr>
        <p:txBody>
          <a:bodyPr wrap="square" lIns="0" rIns="0" tIns="0" bIns="0" anchor="ctr">
            <a:spAutoFit/>
          </a:bodyPr>
          <a:lstStyle/>
          <a:p>
            <a:pPr algn="ctr"/>
            <a:r>
              <a:rPr sz="1400" b="1" i="0">
                <a:solidFill>
                  <a:srgbClr val="C5E063"/>
                </a:solidFill>
                <a:latin typeface="Georgia"/>
              </a:rPr>
              <a:t>2</a:t>
            </a:r>
          </a:p>
        </p:txBody>
      </p:sp>
      <p:sp>
        <p:nvSpPr>
          <p:cNvPr id="20" name="TextBox 19"/>
          <p:cNvSpPr txBox="1"/>
          <p:nvPr/>
        </p:nvSpPr>
        <p:spPr>
          <a:xfrm>
            <a:off x="8366760" y="3749039"/>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Contributor ladder</a:t>
            </a:r>
          </a:p>
        </p:txBody>
      </p:sp>
      <p:sp>
        <p:nvSpPr>
          <p:cNvPr id="21" name="Oval 20"/>
          <p:cNvSpPr/>
          <p:nvPr/>
        </p:nvSpPr>
        <p:spPr>
          <a:xfrm>
            <a:off x="7863840" y="452628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0" y="4526280"/>
            <a:ext cx="411480" cy="411480"/>
          </a:xfrm>
          <a:prstGeom prst="rect">
            <a:avLst/>
          </a:prstGeom>
          <a:noFill/>
        </p:spPr>
        <p:txBody>
          <a:bodyPr wrap="square" lIns="0" rIns="0" tIns="0" bIns="0" anchor="ctr">
            <a:spAutoFit/>
          </a:bodyPr>
          <a:lstStyle/>
          <a:p>
            <a:pPr algn="ctr"/>
            <a:r>
              <a:rPr sz="1400" b="1" i="0">
                <a:solidFill>
                  <a:srgbClr val="C5E063"/>
                </a:solidFill>
                <a:latin typeface="Georgia"/>
              </a:rPr>
              <a:t>3</a:t>
            </a:r>
          </a:p>
        </p:txBody>
      </p:sp>
      <p:sp>
        <p:nvSpPr>
          <p:cNvPr id="23" name="TextBox 22"/>
          <p:cNvSpPr txBox="1"/>
          <p:nvPr/>
        </p:nvSpPr>
        <p:spPr>
          <a:xfrm>
            <a:off x="8366760" y="452628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Healthy vs toxic OSS</a:t>
            </a:r>
          </a:p>
        </p:txBody>
      </p:sp>
      <p:sp>
        <p:nvSpPr>
          <p:cNvPr id="24" name="Oval 23"/>
          <p:cNvSpPr/>
          <p:nvPr/>
        </p:nvSpPr>
        <p:spPr>
          <a:xfrm>
            <a:off x="7863840" y="530352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0" y="5303520"/>
            <a:ext cx="411480" cy="411480"/>
          </a:xfrm>
          <a:prstGeom prst="rect">
            <a:avLst/>
          </a:prstGeom>
          <a:noFill/>
        </p:spPr>
        <p:txBody>
          <a:bodyPr wrap="square" lIns="0" rIns="0" tIns="0" bIns="0" anchor="ctr">
            <a:spAutoFit/>
          </a:bodyPr>
          <a:lstStyle/>
          <a:p>
            <a:pPr algn="ctr"/>
            <a:r>
              <a:rPr sz="1400" b="1" i="0">
                <a:solidFill>
                  <a:srgbClr val="C5E063"/>
                </a:solidFill>
                <a:latin typeface="Georgia"/>
              </a:rPr>
              <a:t>4</a:t>
            </a:r>
          </a:p>
        </p:txBody>
      </p:sp>
      <p:sp>
        <p:nvSpPr>
          <p:cNvPr id="26" name="TextBox 25"/>
          <p:cNvSpPr txBox="1"/>
          <p:nvPr/>
        </p:nvSpPr>
        <p:spPr>
          <a:xfrm>
            <a:off x="8366760" y="530352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8-week reputation plan</a:t>
            </a:r>
          </a:p>
        </p:txBody>
      </p:sp>
      <p:sp>
        <p:nvSpPr>
          <p:cNvPr id="27" name="TextBox 26"/>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11 OF 7</a:t>
            </a:r>
          </a:p>
        </p:txBody>
      </p:sp>
      <p:sp>
        <p:nvSpPr>
          <p:cNvPr id="28" name="TextBox 27"/>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EXAMPLE</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par>
                    <p:cTn id="133" fill="hold">
                      <p:stCondLst>
                        <p:cond delay="indefinite"/>
                        <p:cond evt="onBegin" delay="0">
                          <p:tn val="2"/>
                        </p:cond>
                      </p:stCondLst>
                      <p:childTnLst>
                        <p:par>
                          <p:cTn id="134" fill="hold">
                            <p:stCondLst>
                              <p:cond delay="0"/>
                            </p:stCondLst>
                            <p:childTnLst>
                              <p:par>
                                <p:cTn id="135" presetID="10" presetClass="entr" presetSubtype="0" fill="hold" grpId="0" nodeType="afterEffect">
                                  <p:stCondLst>
                                    <p:cond delay="18"/>
                                  </p:stCondLst>
                                  <p:childTnLst>
                                    <p:set>
                                      <p:cBhvr>
                                        <p:cTn id="136" dur="1" fill="hold">
                                          <p:stCondLst>
                                            <p:cond delay="0"/>
                                          </p:stCondLst>
                                        </p:cTn>
                                        <p:tgtEl>
                                          <p:spTgt spid="28"/>
                                        </p:tgtEl>
                                        <p:attrNameLst>
                                          <p:attrName>style.visibility</p:attrName>
                                        </p:attrNameLst>
                                      </p:cBhvr>
                                      <p:to>
                                        <p:strVal val="visible"/>
                                      </p:to>
                                    </p:set>
                                    <p:anim calcmode="lin" valueType="num">
                                      <p:cBhvr additive="base">
                                        <p:cTn id="137" dur="150" fill="hold"/>
                                        <p:tgtEl>
                                          <p:spTgt spid="28"/>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11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APPLY  IT  →  ASSIGNMENT</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FFFFFF"/>
                </a:solidFill>
                <a:latin typeface="Georgia"/>
              </a:rPr>
              <a:t>OSS plan</a:t>
            </a:r>
          </a:p>
        </p:txBody>
      </p:sp>
      <p:sp>
        <p:nvSpPr>
          <p:cNvPr id="7" name="TextBox 6"/>
          <p:cNvSpPr txBox="1"/>
          <p:nvPr/>
        </p:nvSpPr>
        <p:spPr>
          <a:xfrm>
            <a:off x="548640" y="2331720"/>
            <a:ext cx="109728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Write your 8-week plan.</a:t>
            </a:r>
          </a:p>
        </p:txBody>
      </p:sp>
      <p:sp>
        <p:nvSpPr>
          <p:cNvPr id="8" name="Rectangle 7"/>
          <p:cNvSpPr/>
          <p:nvPr/>
        </p:nvSpPr>
        <p:spPr>
          <a:xfrm>
            <a:off x="548640" y="3383280"/>
            <a:ext cx="6858000" cy="27432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520440"/>
            <a:ext cx="6400800" cy="274320"/>
          </a:xfrm>
          <a:prstGeom prst="rect">
            <a:avLst/>
          </a:prstGeom>
          <a:noFill/>
        </p:spPr>
        <p:txBody>
          <a:bodyPr wrap="square" lIns="0" rIns="0" tIns="0" bIns="0" anchor="t">
            <a:spAutoFit/>
          </a:bodyPr>
          <a:lstStyle/>
          <a:p>
            <a:pPr algn="l"/>
            <a:r>
              <a:rPr sz="1000" b="1" i="0" spc="500">
                <a:solidFill>
                  <a:srgbClr val="C5E063"/>
                </a:solidFill>
                <a:latin typeface="Calibri"/>
              </a:rPr>
              <a:t>DELIVERABLES</a:t>
            </a:r>
          </a:p>
        </p:txBody>
      </p:sp>
      <p:sp>
        <p:nvSpPr>
          <p:cNvPr id="10" name="Oval 9"/>
          <p:cNvSpPr/>
          <p:nvPr/>
        </p:nvSpPr>
        <p:spPr>
          <a:xfrm>
            <a:off x="868680" y="395020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84048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Pick 1 community.</a:t>
            </a:r>
          </a:p>
        </p:txBody>
      </p:sp>
      <p:sp>
        <p:nvSpPr>
          <p:cNvPr id="12" name="Oval 11"/>
          <p:cNvSpPr/>
          <p:nvPr/>
        </p:nvSpPr>
        <p:spPr>
          <a:xfrm>
            <a:off x="868680" y="436168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25196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Find 1 good-first-issue.</a:t>
            </a:r>
          </a:p>
        </p:txBody>
      </p:sp>
      <p:sp>
        <p:nvSpPr>
          <p:cNvPr id="14" name="Oval 13"/>
          <p:cNvSpPr/>
          <p:nvPr/>
        </p:nvSpPr>
        <p:spPr>
          <a:xfrm>
            <a:off x="868680" y="477316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66344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Post plan in forum.</a:t>
            </a:r>
          </a:p>
        </p:txBody>
      </p:sp>
      <p:sp>
        <p:nvSpPr>
          <p:cNvPr id="16" name="Oval 15"/>
          <p:cNvSpPr/>
          <p:nvPr/>
        </p:nvSpPr>
        <p:spPr>
          <a:xfrm>
            <a:off x="868680" y="518464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07492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Document one decision you made because of this lesson.</a:t>
            </a:r>
          </a:p>
        </p:txBody>
      </p:sp>
      <p:sp>
        <p:nvSpPr>
          <p:cNvPr id="18" name="Rectangle 17"/>
          <p:cNvSpPr/>
          <p:nvPr/>
        </p:nvSpPr>
        <p:spPr>
          <a:xfrm>
            <a:off x="7635240" y="3383280"/>
            <a:ext cx="3977639" cy="274320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520440"/>
            <a:ext cx="3520440" cy="274320"/>
          </a:xfrm>
          <a:prstGeom prst="rect">
            <a:avLst/>
          </a:prstGeom>
          <a:noFill/>
        </p:spPr>
        <p:txBody>
          <a:bodyPr wrap="square" lIns="0" rIns="0" tIns="0" bIns="0" anchor="t">
            <a:spAutoFit/>
          </a:bodyPr>
          <a:lstStyle/>
          <a:p>
            <a:pPr algn="l"/>
            <a:r>
              <a:rPr sz="1000" b="1" i="0" spc="500">
                <a:solidFill>
                  <a:srgbClr val="2C5244"/>
                </a:solidFill>
                <a:latin typeface="Calibri"/>
              </a:rPr>
              <a:t>WHAT 'GOOD' LOOKS LIKE</a:t>
            </a:r>
          </a:p>
        </p:txBody>
      </p:sp>
      <p:sp>
        <p:nvSpPr>
          <p:cNvPr id="20" name="TextBox 19"/>
          <p:cNvSpPr txBox="1"/>
          <p:nvPr/>
        </p:nvSpPr>
        <p:spPr>
          <a:xfrm>
            <a:off x="7863840" y="3840480"/>
            <a:ext cx="3520440" cy="2194560"/>
          </a:xfrm>
          <a:prstGeom prst="rect">
            <a:avLst/>
          </a:prstGeom>
          <a:noFill/>
        </p:spPr>
        <p:txBody>
          <a:bodyPr wrap="square" lIns="0" rIns="0" tIns="0" bIns="0" anchor="t">
            <a:spAutoFit/>
          </a:bodyPr>
          <a:lstStyle/>
          <a:p>
            <a:pPr algn="l">
              <a:lnSpc>
                <a:spcPct val="140000"/>
              </a:lnSpc>
            </a:pPr>
            <a:r>
              <a:rPr sz="1400" b="0" i="1">
                <a:solidFill>
                  <a:srgbClr val="2C5244"/>
                </a:solidFill>
                <a:latin typeface="Georgia"/>
              </a:rPr>
              <a:t>Deliverable: Plan on LMS.</a:t>
            </a:r>
          </a:p>
        </p:txBody>
      </p:sp>
      <p:sp>
        <p:nvSpPr>
          <p:cNvPr id="21" name="TextBox 20"/>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11 OF 7</a:t>
            </a:r>
          </a:p>
        </p:txBody>
      </p:sp>
      <p:sp>
        <p:nvSpPr>
          <p:cNvPr id="22" name="TextBox 21"/>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APPLY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11   /   1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ONE  THING  TO  REMEMBER</a:t>
            </a:r>
          </a:p>
        </p:txBody>
      </p:sp>
      <p:sp>
        <p:nvSpPr>
          <p:cNvPr id="6" name="TextBox 5"/>
          <p:cNvSpPr txBox="1"/>
          <p:nvPr/>
        </p:nvSpPr>
        <p:spPr>
          <a:xfrm>
            <a:off x="548640" y="2286000"/>
            <a:ext cx="548640" cy="548640"/>
          </a:xfrm>
          <a:prstGeom prst="rect">
            <a:avLst/>
          </a:prstGeom>
          <a:noFill/>
        </p:spPr>
        <p:txBody>
          <a:bodyPr wrap="square" lIns="0" rIns="0" tIns="0" bIns="0" anchor="ctr">
            <a:spAutoFit/>
          </a:bodyPr>
          <a:lstStyle/>
          <a:p>
            <a:pPr algn="l"/>
            <a:r>
              <a:rPr sz="12000" b="1" i="0">
                <a:solidFill>
                  <a:srgbClr val="C5E063"/>
                </a:solidFill>
                <a:latin typeface="Georgia"/>
              </a:rPr>
              <a:t>“</a:t>
            </a:r>
          </a:p>
        </p:txBody>
      </p:sp>
      <p:sp>
        <p:nvSpPr>
          <p:cNvPr id="7" name="TextBox 6"/>
          <p:cNvSpPr txBox="1"/>
          <p:nvPr/>
        </p:nvSpPr>
        <p:spPr>
          <a:xfrm>
            <a:off x="1097280" y="2468880"/>
            <a:ext cx="10515600" cy="2743200"/>
          </a:xfrm>
          <a:prstGeom prst="rect">
            <a:avLst/>
          </a:prstGeom>
          <a:noFill/>
        </p:spPr>
        <p:txBody>
          <a:bodyPr wrap="square" lIns="0" rIns="0" tIns="0" bIns="0" anchor="t">
            <a:spAutoFit/>
          </a:bodyPr>
          <a:lstStyle/>
          <a:p>
            <a:pPr algn="l">
              <a:lnSpc>
                <a:spcPct val="140000"/>
              </a:lnSpc>
            </a:pPr>
            <a:r>
              <a:rPr sz="3000" b="0" i="1">
                <a:solidFill>
                  <a:srgbClr val="FFFFFF"/>
                </a:solidFill>
                <a:latin typeface="Georgia"/>
              </a:rPr>
              <a:t>"The Indian AI OSS lane is wide open — you are early."</a:t>
            </a:r>
          </a:p>
        </p:txBody>
      </p:sp>
      <p:sp>
        <p:nvSpPr>
          <p:cNvPr id="8" name="TextBox 7"/>
          <p:cNvSpPr txBox="1"/>
          <p:nvPr/>
        </p:nvSpPr>
        <p:spPr>
          <a:xfrm>
            <a:off x="1097280" y="5303520"/>
            <a:ext cx="10515600" cy="365760"/>
          </a:xfrm>
          <a:prstGeom prst="rect">
            <a:avLst/>
          </a:prstGeom>
          <a:noFill/>
        </p:spPr>
        <p:txBody>
          <a:bodyPr wrap="square" lIns="0" rIns="0" tIns="0" bIns="0" anchor="t">
            <a:spAutoFit/>
          </a:bodyPr>
          <a:lstStyle/>
          <a:p>
            <a:pPr algn="l"/>
            <a:r>
              <a:rPr sz="1200" b="1" i="0" spc="400">
                <a:solidFill>
                  <a:srgbClr val="C5E063"/>
                </a:solidFill>
                <a:latin typeface="Calibri"/>
              </a:rPr>
              <a:t>—  AI Learning Hub</a:t>
            </a:r>
          </a:p>
        </p:txBody>
      </p:sp>
      <p:sp>
        <p:nvSpPr>
          <p:cNvPr id="9" name="TextBox 8"/>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11 OF 7</a:t>
            </a:r>
          </a:p>
        </p:txBody>
      </p:sp>
      <p:sp>
        <p:nvSpPr>
          <p:cNvPr id="10" name="TextBox 9"/>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BIG IDEA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11   /   1 min</a:t>
            </a:r>
          </a:p>
        </p:txBody>
      </p:sp>
      <p:sp>
        <p:nvSpPr>
          <p:cNvPr id="5" name="TextBox 4"/>
          <p:cNvSpPr txBox="1"/>
          <p:nvPr/>
        </p:nvSpPr>
        <p:spPr>
          <a:xfrm>
            <a:off x="548640" y="114300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END OF LESSON 11</a:t>
            </a:r>
          </a:p>
        </p:txBody>
      </p:sp>
      <p:sp>
        <p:nvSpPr>
          <p:cNvPr id="6" name="TextBox 5"/>
          <p:cNvSpPr txBox="1"/>
          <p:nvPr/>
        </p:nvSpPr>
        <p:spPr>
          <a:xfrm>
            <a:off x="548640" y="1417320"/>
            <a:ext cx="10515600" cy="1097280"/>
          </a:xfrm>
          <a:prstGeom prst="rect">
            <a:avLst/>
          </a:prstGeom>
          <a:noFill/>
        </p:spPr>
        <p:txBody>
          <a:bodyPr wrap="square" lIns="0" rIns="0" tIns="0" bIns="0" anchor="t">
            <a:spAutoFit/>
          </a:bodyPr>
          <a:lstStyle/>
          <a:p>
            <a:pPr algn="l"/>
            <a:r>
              <a:rPr sz="3400" b="0" i="0">
                <a:solidFill>
                  <a:srgbClr val="FFFFFF"/>
                </a:solidFill>
                <a:latin typeface="Georgia"/>
              </a:rPr>
              <a:t>What you can now do</a:t>
            </a:r>
          </a:p>
        </p:txBody>
      </p:sp>
      <p:sp>
        <p:nvSpPr>
          <p:cNvPr id="7" name="TextBox 6"/>
          <p:cNvSpPr txBox="1"/>
          <p:nvPr/>
        </p:nvSpPr>
        <p:spPr>
          <a:xfrm>
            <a:off x="548640" y="2240280"/>
            <a:ext cx="105156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Each one of these is now part of your working vocabulary.</a:t>
            </a:r>
          </a:p>
        </p:txBody>
      </p:sp>
      <p:sp>
        <p:nvSpPr>
          <p:cNvPr id="8" name="Oval 7"/>
          <p:cNvSpPr/>
          <p:nvPr/>
        </p:nvSpPr>
        <p:spPr>
          <a:xfrm>
            <a:off x="640080" y="301752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017520"/>
            <a:ext cx="365760" cy="365760"/>
          </a:xfrm>
          <a:prstGeom prst="rect">
            <a:avLst/>
          </a:prstGeom>
          <a:noFill/>
        </p:spPr>
        <p:txBody>
          <a:bodyPr wrap="square" lIns="0" rIns="0" tIns="0" bIns="0" anchor="ctr">
            <a:spAutoFit/>
          </a:bodyPr>
          <a:lstStyle/>
          <a:p>
            <a:pPr algn="ctr"/>
            <a:r>
              <a:rPr sz="1400" b="1" i="0">
                <a:solidFill>
                  <a:srgbClr val="2C5244"/>
                </a:solidFill>
                <a:latin typeface="Georgia"/>
              </a:rPr>
              <a:t>1</a:t>
            </a:r>
          </a:p>
        </p:txBody>
      </p:sp>
      <p:sp>
        <p:nvSpPr>
          <p:cNvPr id="10" name="TextBox 9"/>
          <p:cNvSpPr txBox="1"/>
          <p:nvPr/>
        </p:nvSpPr>
        <p:spPr>
          <a:xfrm>
            <a:off x="1188720" y="301752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Pick the right tool — never the loudest one.</a:t>
            </a:r>
          </a:p>
        </p:txBody>
      </p:sp>
      <p:sp>
        <p:nvSpPr>
          <p:cNvPr id="11" name="Oval 10"/>
          <p:cNvSpPr/>
          <p:nvPr/>
        </p:nvSpPr>
        <p:spPr>
          <a:xfrm>
            <a:off x="640080" y="352044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520440"/>
            <a:ext cx="365760" cy="365760"/>
          </a:xfrm>
          <a:prstGeom prst="rect">
            <a:avLst/>
          </a:prstGeom>
          <a:noFill/>
        </p:spPr>
        <p:txBody>
          <a:bodyPr wrap="square" lIns="0" rIns="0" tIns="0" bIns="0" anchor="ctr">
            <a:spAutoFit/>
          </a:bodyPr>
          <a:lstStyle/>
          <a:p>
            <a:pPr algn="ctr"/>
            <a:r>
              <a:rPr sz="1400" b="1" i="0">
                <a:solidFill>
                  <a:srgbClr val="2C5244"/>
                </a:solidFill>
                <a:latin typeface="Georgia"/>
              </a:rPr>
              <a:t>2</a:t>
            </a:r>
          </a:p>
        </p:txBody>
      </p:sp>
      <p:sp>
        <p:nvSpPr>
          <p:cNvPr id="13" name="TextBox 12"/>
          <p:cNvSpPr txBox="1"/>
          <p:nvPr/>
        </p:nvSpPr>
        <p:spPr>
          <a:xfrm>
            <a:off x="1188720" y="352044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Practice the framework on a real example.</a:t>
            </a:r>
          </a:p>
        </p:txBody>
      </p:sp>
      <p:sp>
        <p:nvSpPr>
          <p:cNvPr id="14" name="Oval 13"/>
          <p:cNvSpPr/>
          <p:nvPr/>
        </p:nvSpPr>
        <p:spPr>
          <a:xfrm>
            <a:off x="640080" y="402336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023360"/>
            <a:ext cx="365760" cy="365760"/>
          </a:xfrm>
          <a:prstGeom prst="rect">
            <a:avLst/>
          </a:prstGeom>
          <a:noFill/>
        </p:spPr>
        <p:txBody>
          <a:bodyPr wrap="square" lIns="0" rIns="0" tIns="0" bIns="0" anchor="ctr">
            <a:spAutoFit/>
          </a:bodyPr>
          <a:lstStyle/>
          <a:p>
            <a:pPr algn="ctr"/>
            <a:r>
              <a:rPr sz="1400" b="1" i="0">
                <a:solidFill>
                  <a:srgbClr val="2C5244"/>
                </a:solidFill>
                <a:latin typeface="Georgia"/>
              </a:rPr>
              <a:t>3</a:t>
            </a:r>
          </a:p>
        </p:txBody>
      </p:sp>
      <p:sp>
        <p:nvSpPr>
          <p:cNvPr id="16" name="TextBox 15"/>
          <p:cNvSpPr txBox="1"/>
          <p:nvPr/>
        </p:nvSpPr>
        <p:spPr>
          <a:xfrm>
            <a:off x="1188720" y="402336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Watch for the three classic pitfalls.</a:t>
            </a:r>
          </a:p>
        </p:txBody>
      </p:sp>
      <p:sp>
        <p:nvSpPr>
          <p:cNvPr id="17" name="Oval 16"/>
          <p:cNvSpPr/>
          <p:nvPr/>
        </p:nvSpPr>
        <p:spPr>
          <a:xfrm>
            <a:off x="640080" y="452628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526280"/>
            <a:ext cx="365760" cy="365760"/>
          </a:xfrm>
          <a:prstGeom prst="rect">
            <a:avLst/>
          </a:prstGeom>
          <a:noFill/>
        </p:spPr>
        <p:txBody>
          <a:bodyPr wrap="square" lIns="0" rIns="0" tIns="0" bIns="0" anchor="ctr">
            <a:spAutoFit/>
          </a:bodyPr>
          <a:lstStyle/>
          <a:p>
            <a:pPr algn="ctr"/>
            <a:r>
              <a:rPr sz="1400" b="1" i="0">
                <a:solidFill>
                  <a:srgbClr val="2C5244"/>
                </a:solidFill>
                <a:latin typeface="Georgia"/>
              </a:rPr>
              <a:t>4</a:t>
            </a:r>
          </a:p>
        </p:txBody>
      </p:sp>
      <p:sp>
        <p:nvSpPr>
          <p:cNvPr id="19" name="TextBox 18"/>
          <p:cNvSpPr txBox="1"/>
          <p:nvPr/>
        </p:nvSpPr>
        <p:spPr>
          <a:xfrm>
            <a:off x="1188720" y="452628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Document your decision in one sentence.</a:t>
            </a:r>
          </a:p>
        </p:txBody>
      </p:sp>
      <p:sp>
        <p:nvSpPr>
          <p:cNvPr id="20" name="Oval 19"/>
          <p:cNvSpPr/>
          <p:nvPr/>
        </p:nvSpPr>
        <p:spPr>
          <a:xfrm>
            <a:off x="640080" y="502920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029200"/>
            <a:ext cx="365760" cy="365760"/>
          </a:xfrm>
          <a:prstGeom prst="rect">
            <a:avLst/>
          </a:prstGeom>
          <a:noFill/>
        </p:spPr>
        <p:txBody>
          <a:bodyPr wrap="square" lIns="0" rIns="0" tIns="0" bIns="0" anchor="ctr">
            <a:spAutoFit/>
          </a:bodyPr>
          <a:lstStyle/>
          <a:p>
            <a:pPr algn="ctr"/>
            <a:r>
              <a:rPr sz="1400" b="1" i="0">
                <a:solidFill>
                  <a:srgbClr val="2C5244"/>
                </a:solidFill>
                <a:latin typeface="Georgia"/>
              </a:rPr>
              <a:t>5</a:t>
            </a:r>
          </a:p>
        </p:txBody>
      </p:sp>
      <p:sp>
        <p:nvSpPr>
          <p:cNvPr id="22" name="TextBox 21"/>
          <p:cNvSpPr txBox="1"/>
          <p:nvPr/>
        </p:nvSpPr>
        <p:spPr>
          <a:xfrm>
            <a:off x="1188720" y="502920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Carry the discipline forward to the next lesson.</a:t>
            </a:r>
          </a:p>
        </p:txBody>
      </p:sp>
      <p:sp>
        <p:nvSpPr>
          <p:cNvPr id="23" name="Rounded Rectangle 22"/>
          <p:cNvSpPr/>
          <p:nvPr/>
        </p:nvSpPr>
        <p:spPr>
          <a:xfrm>
            <a:off x="548640" y="5669280"/>
            <a:ext cx="11064240" cy="502920"/>
          </a:xfrm>
          <a:prstGeom prst="roundRect">
            <a:avLst/>
          </a:prstGeom>
          <a:solidFill>
            <a:srgbClr val="224036"/>
          </a:solidFill>
          <a:ln w="9525">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669280"/>
            <a:ext cx="10607040" cy="502920"/>
          </a:xfrm>
          <a:prstGeom prst="rect">
            <a:avLst/>
          </a:prstGeom>
          <a:noFill/>
        </p:spPr>
        <p:txBody>
          <a:bodyPr wrap="square" lIns="0" rIns="0" tIns="0" bIns="0" anchor="ctr">
            <a:spAutoFit/>
          </a:bodyPr>
          <a:lstStyle/>
          <a:p>
            <a:pPr algn="l"/>
            <a:r>
              <a:rPr sz="1100" b="1" i="0" spc="400">
                <a:solidFill>
                  <a:srgbClr val="C5E063"/>
                </a:solidFill>
                <a:latin typeface="Calibri"/>
              </a:rPr>
              <a:t>NEXT  →   Lesson 5 — Contributing in practice.</a:t>
            </a:r>
          </a:p>
        </p:txBody>
      </p:sp>
      <p:sp>
        <p:nvSpPr>
          <p:cNvPr id="25" name="TextBox 2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11 OF 7</a:t>
            </a:r>
          </a:p>
        </p:txBody>
      </p:sp>
      <p:sp>
        <p:nvSpPr>
          <p:cNvPr id="26" name="TextBox 2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WRAP</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