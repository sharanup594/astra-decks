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pic>
        <p:nvPicPr>
          <p:cNvPr id="2" name="Picture 1" descr="cover_hero.jpeg"/>
          <p:cNvPicPr>
            <a:picLocks noChangeAspect="1"/>
          </p:cNvPicPr>
          <p:nvPr/>
        </p:nvPicPr>
        <p:blipFill>
          <a:blip r:embed="rId2"/>
          <a:stretch>
            <a:fillRect/>
          </a:stretch>
        </p:blipFill>
        <p:spPr>
          <a:xfrm>
            <a:off x="6400800" y="0"/>
            <a:ext cx="5790895" cy="6858000"/>
          </a:xfrm>
          <a:prstGeom prst="rect">
            <a:avLst/>
          </a:prstGeom>
        </p:spPr>
      </p:pic>
      <p:sp>
        <p:nvSpPr>
          <p:cNvPr id="3" name="Rectangle 2"/>
          <p:cNvSpPr/>
          <p:nvPr/>
        </p:nvSpPr>
        <p:spPr>
          <a:xfrm>
            <a:off x="6400800" y="0"/>
            <a:ext cx="5790895" cy="6858000"/>
          </a:xfrm>
          <a:prstGeom prst="rect">
            <a:avLst/>
          </a:prstGeom>
          <a:solidFill>
            <a:srgbClr val="1A352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515600" y="502920"/>
            <a:ext cx="1188720" cy="1188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0" y="502920"/>
            <a:ext cx="1188720" cy="1188720"/>
          </a:xfrm>
          <a:prstGeom prst="rect">
            <a:avLst/>
          </a:prstGeom>
          <a:noFill/>
        </p:spPr>
        <p:txBody>
          <a:bodyPr wrap="square" lIns="0" rIns="0" tIns="0" bIns="0" anchor="ctr">
            <a:spAutoFit/>
          </a:bodyPr>
          <a:lstStyle/>
          <a:p>
            <a:pPr algn="ctr"/>
            <a:r>
              <a:rPr sz="4400" b="1" i="0">
                <a:solidFill>
                  <a:srgbClr val="2C5244"/>
                </a:solidFill>
                <a:latin typeface="Georgia"/>
              </a:rPr>
              <a:t>L7</a:t>
            </a:r>
          </a:p>
        </p:txBody>
      </p:sp>
      <p:sp>
        <p:nvSpPr>
          <p:cNvPr id="6" name="TextBox 5"/>
          <p:cNvSpPr txBox="1"/>
          <p:nvPr/>
        </p:nvSpPr>
        <p:spPr>
          <a:xfrm>
            <a:off x="6858000" y="2286000"/>
            <a:ext cx="4572000" cy="274320"/>
          </a:xfrm>
          <a:prstGeom prst="rect">
            <a:avLst/>
          </a:prstGeom>
          <a:noFill/>
        </p:spPr>
        <p:txBody>
          <a:bodyPr wrap="square" lIns="0" rIns="0" tIns="0" bIns="0" anchor="t">
            <a:spAutoFit/>
          </a:bodyPr>
          <a:lstStyle/>
          <a:p>
            <a:pPr algn="l"/>
            <a:r>
              <a:rPr sz="1000" b="1" i="0" spc="500">
                <a:solidFill>
                  <a:srgbClr val="C5E063"/>
                </a:solidFill>
                <a:latin typeface="Calibri"/>
              </a:rPr>
              <a:t>WHAT'S INSIDE</a:t>
            </a:r>
          </a:p>
        </p:txBody>
      </p:sp>
      <p:sp>
        <p:nvSpPr>
          <p:cNvPr id="7" name="TextBox 6"/>
          <p:cNvSpPr txBox="1"/>
          <p:nvPr/>
        </p:nvSpPr>
        <p:spPr>
          <a:xfrm>
            <a:off x="6858000" y="2743200"/>
            <a:ext cx="365760" cy="457200"/>
          </a:xfrm>
          <a:prstGeom prst="rect">
            <a:avLst/>
          </a:prstGeom>
          <a:noFill/>
        </p:spPr>
        <p:txBody>
          <a:bodyPr wrap="square" lIns="0" rIns="0" tIns="0" bIns="0" anchor="ctr">
            <a:spAutoFit/>
          </a:bodyPr>
          <a:lstStyle/>
          <a:p>
            <a:pPr algn="l"/>
            <a:r>
              <a:rPr sz="2000" b="1" i="0">
                <a:solidFill>
                  <a:srgbClr val="C5E063"/>
                </a:solidFill>
                <a:latin typeface="Georgia"/>
              </a:rPr>
              <a:t>01</a:t>
            </a:r>
          </a:p>
        </p:txBody>
      </p:sp>
      <p:sp>
        <p:nvSpPr>
          <p:cNvPr id="8" name="TextBox 7"/>
          <p:cNvSpPr txBox="1"/>
          <p:nvPr/>
        </p:nvSpPr>
        <p:spPr>
          <a:xfrm>
            <a:off x="7360920" y="2743200"/>
            <a:ext cx="4663440" cy="502920"/>
          </a:xfrm>
          <a:prstGeom prst="rect">
            <a:avLst/>
          </a:prstGeom>
          <a:noFill/>
        </p:spPr>
        <p:txBody>
          <a:bodyPr wrap="square" lIns="0" rIns="0" tIns="0" bIns="0" anchor="ctr">
            <a:spAutoFit/>
          </a:bodyPr>
          <a:lstStyle/>
          <a:p>
            <a:pPr algn="l"/>
            <a:r>
              <a:rPr sz="1200" b="0" i="0">
                <a:solidFill>
                  <a:srgbClr val="FFFFFF"/>
                </a:solidFill>
                <a:latin typeface="Calibri"/>
              </a:rPr>
              <a:t>Discovery vs. mining vs. task mining</a:t>
            </a:r>
          </a:p>
        </p:txBody>
      </p:sp>
      <p:sp>
        <p:nvSpPr>
          <p:cNvPr id="9" name="TextBox 8"/>
          <p:cNvSpPr txBox="1"/>
          <p:nvPr/>
        </p:nvSpPr>
        <p:spPr>
          <a:xfrm>
            <a:off x="6858000" y="3337560"/>
            <a:ext cx="365760" cy="457200"/>
          </a:xfrm>
          <a:prstGeom prst="rect">
            <a:avLst/>
          </a:prstGeom>
          <a:noFill/>
        </p:spPr>
        <p:txBody>
          <a:bodyPr wrap="square" lIns="0" rIns="0" tIns="0" bIns="0" anchor="ctr">
            <a:spAutoFit/>
          </a:bodyPr>
          <a:lstStyle/>
          <a:p>
            <a:pPr algn="l"/>
            <a:r>
              <a:rPr sz="2000" b="1" i="0">
                <a:solidFill>
                  <a:srgbClr val="C5E063"/>
                </a:solidFill>
                <a:latin typeface="Georgia"/>
              </a:rPr>
              <a:t>02</a:t>
            </a:r>
          </a:p>
        </p:txBody>
      </p:sp>
      <p:sp>
        <p:nvSpPr>
          <p:cNvPr id="10" name="TextBox 9"/>
          <p:cNvSpPr txBox="1"/>
          <p:nvPr/>
        </p:nvSpPr>
        <p:spPr>
          <a:xfrm>
            <a:off x="7360920" y="3337560"/>
            <a:ext cx="4663440" cy="502920"/>
          </a:xfrm>
          <a:prstGeom prst="rect">
            <a:avLst/>
          </a:prstGeom>
          <a:noFill/>
        </p:spPr>
        <p:txBody>
          <a:bodyPr wrap="square" lIns="0" rIns="0" tIns="0" bIns="0" anchor="ctr">
            <a:spAutoFit/>
          </a:bodyPr>
          <a:lstStyle/>
          <a:p>
            <a:pPr algn="l"/>
            <a:r>
              <a:rPr sz="1200" b="0" i="0">
                <a:solidFill>
                  <a:srgbClr val="FFFFFF"/>
                </a:solidFill>
                <a:latin typeface="Calibri"/>
              </a:rPr>
              <a:t>Gemba — the discipline of looking</a:t>
            </a:r>
          </a:p>
        </p:txBody>
      </p:sp>
      <p:sp>
        <p:nvSpPr>
          <p:cNvPr id="11" name="TextBox 10"/>
          <p:cNvSpPr txBox="1"/>
          <p:nvPr/>
        </p:nvSpPr>
        <p:spPr>
          <a:xfrm>
            <a:off x="6858000" y="3931920"/>
            <a:ext cx="365760" cy="457200"/>
          </a:xfrm>
          <a:prstGeom prst="rect">
            <a:avLst/>
          </a:prstGeom>
          <a:noFill/>
        </p:spPr>
        <p:txBody>
          <a:bodyPr wrap="square" lIns="0" rIns="0" tIns="0" bIns="0" anchor="ctr">
            <a:spAutoFit/>
          </a:bodyPr>
          <a:lstStyle/>
          <a:p>
            <a:pPr algn="l"/>
            <a:r>
              <a:rPr sz="2000" b="1" i="0">
                <a:solidFill>
                  <a:srgbClr val="C5E063"/>
                </a:solidFill>
                <a:latin typeface="Georgia"/>
              </a:rPr>
              <a:t>03</a:t>
            </a:r>
          </a:p>
        </p:txBody>
      </p:sp>
      <p:sp>
        <p:nvSpPr>
          <p:cNvPr id="12" name="TextBox 11"/>
          <p:cNvSpPr txBox="1"/>
          <p:nvPr/>
        </p:nvSpPr>
        <p:spPr>
          <a:xfrm>
            <a:off x="7360920" y="3931920"/>
            <a:ext cx="4663440" cy="502920"/>
          </a:xfrm>
          <a:prstGeom prst="rect">
            <a:avLst/>
          </a:prstGeom>
          <a:noFill/>
        </p:spPr>
        <p:txBody>
          <a:bodyPr wrap="square" lIns="0" rIns="0" tIns="0" bIns="0" anchor="ctr">
            <a:spAutoFit/>
          </a:bodyPr>
          <a:lstStyle/>
          <a:p>
            <a:pPr algn="l"/>
            <a:r>
              <a:rPr sz="1200" b="0" i="0">
                <a:solidFill>
                  <a:srgbClr val="FFFFFF"/>
                </a:solidFill>
                <a:latin typeface="Calibri"/>
              </a:rPr>
              <a:t>SIPOC in 30 minutes</a:t>
            </a:r>
          </a:p>
        </p:txBody>
      </p:sp>
      <p:sp>
        <p:nvSpPr>
          <p:cNvPr id="13" name="TextBox 12"/>
          <p:cNvSpPr txBox="1"/>
          <p:nvPr/>
        </p:nvSpPr>
        <p:spPr>
          <a:xfrm>
            <a:off x="6858000" y="4526280"/>
            <a:ext cx="365760" cy="457200"/>
          </a:xfrm>
          <a:prstGeom prst="rect">
            <a:avLst/>
          </a:prstGeom>
          <a:noFill/>
        </p:spPr>
        <p:txBody>
          <a:bodyPr wrap="square" lIns="0" rIns="0" tIns="0" bIns="0" anchor="ctr">
            <a:spAutoFit/>
          </a:bodyPr>
          <a:lstStyle/>
          <a:p>
            <a:pPr algn="l"/>
            <a:r>
              <a:rPr sz="2000" b="1" i="0">
                <a:solidFill>
                  <a:srgbClr val="C5E063"/>
                </a:solidFill>
                <a:latin typeface="Georgia"/>
              </a:rPr>
              <a:t>04</a:t>
            </a:r>
          </a:p>
        </p:txBody>
      </p:sp>
      <p:sp>
        <p:nvSpPr>
          <p:cNvPr id="14" name="TextBox 13"/>
          <p:cNvSpPr txBox="1"/>
          <p:nvPr/>
        </p:nvSpPr>
        <p:spPr>
          <a:xfrm>
            <a:off x="7360920" y="4526280"/>
            <a:ext cx="4663440" cy="502920"/>
          </a:xfrm>
          <a:prstGeom prst="rect">
            <a:avLst/>
          </a:prstGeom>
          <a:noFill/>
        </p:spPr>
        <p:txBody>
          <a:bodyPr wrap="square" lIns="0" rIns="0" tIns="0" bIns="0" anchor="ctr">
            <a:spAutoFit/>
          </a:bodyPr>
          <a:lstStyle/>
          <a:p>
            <a:pPr algn="l"/>
            <a:r>
              <a:rPr sz="1200" b="0" i="0">
                <a:solidFill>
                  <a:srgbClr val="FFFFFF"/>
                </a:solidFill>
                <a:latin typeface="Calibri"/>
              </a:rPr>
              <a:t>7-lens automatability score</a:t>
            </a:r>
          </a:p>
        </p:txBody>
      </p:sp>
      <p:sp>
        <p:nvSpPr>
          <p:cNvPr id="15" name="TextBox 14"/>
          <p:cNvSpPr txBox="1"/>
          <p:nvPr/>
        </p:nvSpPr>
        <p:spPr>
          <a:xfrm>
            <a:off x="6858000" y="5120640"/>
            <a:ext cx="365760" cy="457200"/>
          </a:xfrm>
          <a:prstGeom prst="rect">
            <a:avLst/>
          </a:prstGeom>
          <a:noFill/>
        </p:spPr>
        <p:txBody>
          <a:bodyPr wrap="square" lIns="0" rIns="0" tIns="0" bIns="0" anchor="ctr">
            <a:spAutoFit/>
          </a:bodyPr>
          <a:lstStyle/>
          <a:p>
            <a:pPr algn="l"/>
            <a:r>
              <a:rPr sz="2000" b="1" i="0">
                <a:solidFill>
                  <a:srgbClr val="C5E063"/>
                </a:solidFill>
                <a:latin typeface="Georgia"/>
              </a:rPr>
              <a:t>05</a:t>
            </a:r>
          </a:p>
        </p:txBody>
      </p:sp>
      <p:sp>
        <p:nvSpPr>
          <p:cNvPr id="16" name="TextBox 15"/>
          <p:cNvSpPr txBox="1"/>
          <p:nvPr/>
        </p:nvSpPr>
        <p:spPr>
          <a:xfrm>
            <a:off x="7360920" y="5120640"/>
            <a:ext cx="4663440" cy="502920"/>
          </a:xfrm>
          <a:prstGeom prst="rect">
            <a:avLst/>
          </a:prstGeom>
          <a:noFill/>
        </p:spPr>
        <p:txBody>
          <a:bodyPr wrap="square" lIns="0" rIns="0" tIns="0" bIns="0" anchor="ctr">
            <a:spAutoFit/>
          </a:bodyPr>
          <a:lstStyle/>
          <a:p>
            <a:pPr algn="l"/>
            <a:r>
              <a:rPr sz="1200" b="0" i="0">
                <a:solidFill>
                  <a:srgbClr val="FFFFFF"/>
                </a:solidFill>
                <a:latin typeface="Calibri"/>
              </a:rPr>
              <a:t>Impact × Feasibility matrix</a:t>
            </a:r>
          </a:p>
        </p:txBody>
      </p:sp>
      <p:sp>
        <p:nvSpPr>
          <p:cNvPr id="17" name="Rectangle 16"/>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329184"/>
            <a:ext cx="7315200" cy="274320"/>
          </a:xfrm>
          <a:prstGeom prst="rect">
            <a:avLst/>
          </a:prstGeom>
          <a:noFill/>
        </p:spPr>
        <p:txBody>
          <a:bodyPr wrap="square" lIns="0" rIns="0" tIns="0" bIns="0" anchor="t">
            <a:spAutoFit/>
          </a:bodyPr>
          <a:lstStyle/>
          <a:p>
            <a:pPr algn="l"/>
            <a:r>
              <a:rPr sz="1100" b="1" i="0" spc="600">
                <a:solidFill>
                  <a:srgbClr val="C5E063"/>
                </a:solidFill>
                <a:latin typeface="Calibri"/>
              </a:rPr>
              <a:t>AI  LEARNING  HUB</a:t>
            </a:r>
          </a:p>
        </p:txBody>
      </p:sp>
      <p:sp>
        <p:nvSpPr>
          <p:cNvPr id="19" name="TextBox 18"/>
          <p:cNvSpPr txBox="1"/>
          <p:nvPr/>
        </p:nvSpPr>
        <p:spPr>
          <a:xfrm>
            <a:off x="548640" y="676656"/>
            <a:ext cx="7315200" cy="274320"/>
          </a:xfrm>
          <a:prstGeom prst="rect">
            <a:avLst/>
          </a:prstGeom>
          <a:noFill/>
        </p:spPr>
        <p:txBody>
          <a:bodyPr wrap="square" lIns="0" rIns="0" tIns="0" bIns="0" anchor="t">
            <a:spAutoFit/>
          </a:bodyPr>
          <a:lstStyle/>
          <a:p>
            <a:pPr algn="l"/>
            <a:r>
              <a:rPr sz="1000" b="1" i="0" spc="400">
                <a:solidFill>
                  <a:srgbClr val="FFFFFF"/>
                </a:solidFill>
                <a:latin typeface="Calibri"/>
              </a:rPr>
              <a:t>WEEK 1   /   LESSON 7   /   60 MINUTES</a:t>
            </a:r>
          </a:p>
        </p:txBody>
      </p:sp>
      <p:sp>
        <p:nvSpPr>
          <p:cNvPr id="20" name="TextBox 19"/>
          <p:cNvSpPr txBox="1"/>
          <p:nvPr/>
        </p:nvSpPr>
        <p:spPr>
          <a:xfrm>
            <a:off x="548640" y="1508760"/>
            <a:ext cx="6400800" cy="2468880"/>
          </a:xfrm>
          <a:prstGeom prst="rect">
            <a:avLst/>
          </a:prstGeom>
          <a:noFill/>
        </p:spPr>
        <p:txBody>
          <a:bodyPr wrap="square" lIns="0" rIns="0" tIns="0" bIns="0" anchor="t">
            <a:spAutoFit/>
          </a:bodyPr>
          <a:lstStyle/>
          <a:p>
            <a:pPr algn="l">
              <a:lnSpc>
                <a:spcPct val="105000"/>
              </a:lnSpc>
            </a:pPr>
            <a:r>
              <a:rPr sz="4000" b="1" i="0">
                <a:solidFill>
                  <a:srgbClr val="FFFFFF"/>
                </a:solidFill>
                <a:latin typeface="Georgia"/>
              </a:rPr>
              <a:t>Process Discovery &amp; Opportunity Analysis</a:t>
            </a:r>
          </a:p>
        </p:txBody>
      </p:sp>
      <p:sp>
        <p:nvSpPr>
          <p:cNvPr id="21" name="TextBox 20"/>
          <p:cNvSpPr txBox="1"/>
          <p:nvPr/>
        </p:nvSpPr>
        <p:spPr>
          <a:xfrm>
            <a:off x="548640" y="4160520"/>
            <a:ext cx="6400800" cy="1554480"/>
          </a:xfrm>
          <a:prstGeom prst="rect">
            <a:avLst/>
          </a:prstGeom>
          <a:noFill/>
        </p:spPr>
        <p:txBody>
          <a:bodyPr wrap="square" lIns="0" rIns="0" tIns="0" bIns="0" anchor="t">
            <a:spAutoFit/>
          </a:bodyPr>
          <a:lstStyle/>
          <a:p>
            <a:pPr algn="l">
              <a:lnSpc>
                <a:spcPct val="140000"/>
              </a:lnSpc>
            </a:pPr>
            <a:r>
              <a:rPr sz="1200" b="0" i="0">
                <a:solidFill>
                  <a:srgbClr val="E5E7EB"/>
                </a:solidFill>
                <a:latin typeface="Calibri"/>
              </a:rPr>
              <a:t>Before you write a single line of automation, you have to *see*. Gemba walks, SIPOC diagrams, the 7-lens automatability checklist, and the Impact × Feasibility matrix — the discipline that turns guesses into fundable opportunities.</a:t>
            </a:r>
          </a:p>
        </p:txBody>
      </p:sp>
      <p:sp>
        <p:nvSpPr>
          <p:cNvPr id="22" name="TextBox 21"/>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7 OF 7</a:t>
            </a:r>
          </a:p>
        </p:txBody>
      </p:sp>
      <p:sp>
        <p:nvSpPr>
          <p:cNvPr id="23" name="TextBox 22"/>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COVER</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BF5"/>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2C5244"/>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0F1F1A"/>
                </a:solidFill>
                <a:latin typeface="Calibri"/>
              </a:rPr>
              <a:t>WEEK 1   /   LESSON 7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0F766E"/>
                </a:solidFill>
                <a:latin typeface="Calibri"/>
              </a:rPr>
              <a:t>WHY  DISCOVERY  FIRST</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3400" b="0" i="0">
                <a:solidFill>
                  <a:srgbClr val="0F1F1A"/>
                </a:solidFill>
                <a:latin typeface="Georgia"/>
              </a:rPr>
              <a:t>₹70 lakh wasted — automating the wrong process</a:t>
            </a:r>
          </a:p>
        </p:txBody>
      </p:sp>
      <p:sp>
        <p:nvSpPr>
          <p:cNvPr id="7" name="Rectangle 6"/>
          <p:cNvSpPr/>
          <p:nvPr/>
        </p:nvSpPr>
        <p:spPr>
          <a:xfrm>
            <a:off x="548640" y="2697480"/>
            <a:ext cx="457200" cy="45720"/>
          </a:xfrm>
          <a:prstGeom prst="rect">
            <a:avLst/>
          </a:prstGeom>
          <a:solidFill>
            <a:srgbClr val="A6C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3200400"/>
            <a:ext cx="2594610" cy="19202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429000"/>
            <a:ext cx="2137410" cy="274320"/>
          </a:xfrm>
          <a:prstGeom prst="rect">
            <a:avLst/>
          </a:prstGeom>
          <a:noFill/>
        </p:spPr>
        <p:txBody>
          <a:bodyPr wrap="square" lIns="0" rIns="0" tIns="0" bIns="0" anchor="t">
            <a:spAutoFit/>
          </a:bodyPr>
          <a:lstStyle/>
          <a:p>
            <a:pPr algn="l"/>
            <a:r>
              <a:rPr sz="900" b="1" i="0" spc="400">
                <a:solidFill>
                  <a:srgbClr val="C5E063"/>
                </a:solidFill>
                <a:latin typeface="Calibri"/>
              </a:rPr>
              <a:t>WASTED BUDGET</a:t>
            </a:r>
          </a:p>
        </p:txBody>
      </p:sp>
      <p:sp>
        <p:nvSpPr>
          <p:cNvPr id="10" name="TextBox 9"/>
          <p:cNvSpPr txBox="1"/>
          <p:nvPr/>
        </p:nvSpPr>
        <p:spPr>
          <a:xfrm>
            <a:off x="777240" y="3749040"/>
            <a:ext cx="2137410" cy="822960"/>
          </a:xfrm>
          <a:prstGeom prst="rect">
            <a:avLst/>
          </a:prstGeom>
          <a:noFill/>
        </p:spPr>
        <p:txBody>
          <a:bodyPr wrap="square" lIns="0" rIns="0" tIns="0" bIns="0" anchor="t">
            <a:spAutoFit/>
          </a:bodyPr>
          <a:lstStyle/>
          <a:p>
            <a:pPr algn="l"/>
            <a:r>
              <a:rPr sz="3000" b="1" i="0">
                <a:solidFill>
                  <a:srgbClr val="FFFFFF"/>
                </a:solidFill>
                <a:latin typeface="Georgia"/>
              </a:rPr>
              <a:t>₹70 L</a:t>
            </a:r>
          </a:p>
        </p:txBody>
      </p:sp>
      <p:sp>
        <p:nvSpPr>
          <p:cNvPr id="11" name="TextBox 10"/>
          <p:cNvSpPr txBox="1"/>
          <p:nvPr/>
        </p:nvSpPr>
        <p:spPr>
          <a:xfrm>
            <a:off x="777240" y="4526280"/>
            <a:ext cx="2137410" cy="548640"/>
          </a:xfrm>
          <a:prstGeom prst="rect">
            <a:avLst/>
          </a:prstGeom>
          <a:noFill/>
        </p:spPr>
        <p:txBody>
          <a:bodyPr wrap="square" lIns="0" rIns="0" tIns="0" bIns="0" anchor="t">
            <a:spAutoFit/>
          </a:bodyPr>
          <a:lstStyle/>
          <a:p>
            <a:pPr algn="l">
              <a:lnSpc>
                <a:spcPct val="125000"/>
              </a:lnSpc>
            </a:pPr>
            <a:r>
              <a:rPr sz="1100" b="0" i="0">
                <a:solidFill>
                  <a:srgbClr val="E5E7EB"/>
                </a:solidFill>
                <a:latin typeface="Calibri"/>
              </a:rPr>
              <a:t>Spent automating processes that didn't actually move the needle.</a:t>
            </a:r>
          </a:p>
        </p:txBody>
      </p:sp>
      <p:sp>
        <p:nvSpPr>
          <p:cNvPr id="12" name="Rectangle 11"/>
          <p:cNvSpPr/>
          <p:nvPr/>
        </p:nvSpPr>
        <p:spPr>
          <a:xfrm>
            <a:off x="3371850" y="3200400"/>
            <a:ext cx="2594610" cy="19202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00450" y="3429000"/>
            <a:ext cx="2137410" cy="274320"/>
          </a:xfrm>
          <a:prstGeom prst="rect">
            <a:avLst/>
          </a:prstGeom>
          <a:noFill/>
        </p:spPr>
        <p:txBody>
          <a:bodyPr wrap="square" lIns="0" rIns="0" tIns="0" bIns="0" anchor="t">
            <a:spAutoFit/>
          </a:bodyPr>
          <a:lstStyle/>
          <a:p>
            <a:pPr algn="l"/>
            <a:r>
              <a:rPr sz="900" b="1" i="0" spc="400">
                <a:solidFill>
                  <a:srgbClr val="C5E063"/>
                </a:solidFill>
                <a:latin typeface="Calibri"/>
              </a:rPr>
              <a:t>CAUSE</a:t>
            </a:r>
          </a:p>
        </p:txBody>
      </p:sp>
      <p:sp>
        <p:nvSpPr>
          <p:cNvPr id="14" name="TextBox 13"/>
          <p:cNvSpPr txBox="1"/>
          <p:nvPr/>
        </p:nvSpPr>
        <p:spPr>
          <a:xfrm>
            <a:off x="3600450" y="3749040"/>
            <a:ext cx="2137410" cy="822960"/>
          </a:xfrm>
          <a:prstGeom prst="rect">
            <a:avLst/>
          </a:prstGeom>
          <a:noFill/>
        </p:spPr>
        <p:txBody>
          <a:bodyPr wrap="square" lIns="0" rIns="0" tIns="0" bIns="0" anchor="t">
            <a:spAutoFit/>
          </a:bodyPr>
          <a:lstStyle/>
          <a:p>
            <a:pPr algn="l"/>
            <a:r>
              <a:rPr sz="3000" b="1" i="0">
                <a:solidFill>
                  <a:srgbClr val="FFFFFF"/>
                </a:solidFill>
                <a:latin typeface="Georgia"/>
              </a:rPr>
              <a:t>Discovery</a:t>
            </a:r>
          </a:p>
        </p:txBody>
      </p:sp>
      <p:sp>
        <p:nvSpPr>
          <p:cNvPr id="15" name="TextBox 14"/>
          <p:cNvSpPr txBox="1"/>
          <p:nvPr/>
        </p:nvSpPr>
        <p:spPr>
          <a:xfrm>
            <a:off x="3600450" y="4526280"/>
            <a:ext cx="2137410" cy="548640"/>
          </a:xfrm>
          <a:prstGeom prst="rect">
            <a:avLst/>
          </a:prstGeom>
          <a:noFill/>
        </p:spPr>
        <p:txBody>
          <a:bodyPr wrap="square" lIns="0" rIns="0" tIns="0" bIns="0" anchor="t">
            <a:spAutoFit/>
          </a:bodyPr>
          <a:lstStyle/>
          <a:p>
            <a:pPr algn="l">
              <a:lnSpc>
                <a:spcPct val="125000"/>
              </a:lnSpc>
            </a:pPr>
            <a:r>
              <a:rPr sz="1100" b="0" i="0">
                <a:solidFill>
                  <a:srgbClr val="E5E7EB"/>
                </a:solidFill>
                <a:latin typeface="Calibri"/>
              </a:rPr>
              <a:t>Most automation failures are not technology failures — they are discovery failures.</a:t>
            </a:r>
          </a:p>
        </p:txBody>
      </p:sp>
      <p:sp>
        <p:nvSpPr>
          <p:cNvPr id="16" name="Rectangle 15"/>
          <p:cNvSpPr/>
          <p:nvPr/>
        </p:nvSpPr>
        <p:spPr>
          <a:xfrm>
            <a:off x="6195060" y="3200400"/>
            <a:ext cx="2594610" cy="19202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3660" y="3429000"/>
            <a:ext cx="2137410" cy="274320"/>
          </a:xfrm>
          <a:prstGeom prst="rect">
            <a:avLst/>
          </a:prstGeom>
          <a:noFill/>
        </p:spPr>
        <p:txBody>
          <a:bodyPr wrap="square" lIns="0" rIns="0" tIns="0" bIns="0" anchor="t">
            <a:spAutoFit/>
          </a:bodyPr>
          <a:lstStyle/>
          <a:p>
            <a:pPr algn="l"/>
            <a:r>
              <a:rPr sz="900" b="1" i="0" spc="400">
                <a:solidFill>
                  <a:srgbClr val="C5E063"/>
                </a:solidFill>
                <a:latin typeface="Calibri"/>
              </a:rPr>
              <a:t>WHAT TO DO</a:t>
            </a:r>
          </a:p>
        </p:txBody>
      </p:sp>
      <p:sp>
        <p:nvSpPr>
          <p:cNvPr id="18" name="TextBox 17"/>
          <p:cNvSpPr txBox="1"/>
          <p:nvPr/>
        </p:nvSpPr>
        <p:spPr>
          <a:xfrm>
            <a:off x="6423660" y="3749040"/>
            <a:ext cx="2137410" cy="822960"/>
          </a:xfrm>
          <a:prstGeom prst="rect">
            <a:avLst/>
          </a:prstGeom>
          <a:noFill/>
        </p:spPr>
        <p:txBody>
          <a:bodyPr wrap="square" lIns="0" rIns="0" tIns="0" bIns="0" anchor="t">
            <a:spAutoFit/>
          </a:bodyPr>
          <a:lstStyle/>
          <a:p>
            <a:pPr algn="l"/>
            <a:r>
              <a:rPr sz="3000" b="1" i="0">
                <a:solidFill>
                  <a:srgbClr val="FFFFFF"/>
                </a:solidFill>
                <a:latin typeface="Georgia"/>
              </a:rPr>
              <a:t>Watch</a:t>
            </a:r>
          </a:p>
        </p:txBody>
      </p:sp>
      <p:sp>
        <p:nvSpPr>
          <p:cNvPr id="19" name="TextBox 18"/>
          <p:cNvSpPr txBox="1"/>
          <p:nvPr/>
        </p:nvSpPr>
        <p:spPr>
          <a:xfrm>
            <a:off x="6423660" y="4526280"/>
            <a:ext cx="2137410" cy="548640"/>
          </a:xfrm>
          <a:prstGeom prst="rect">
            <a:avLst/>
          </a:prstGeom>
          <a:noFill/>
        </p:spPr>
        <p:txBody>
          <a:bodyPr wrap="square" lIns="0" rIns="0" tIns="0" bIns="0" anchor="t">
            <a:spAutoFit/>
          </a:bodyPr>
          <a:lstStyle/>
          <a:p>
            <a:pPr algn="l">
              <a:lnSpc>
                <a:spcPct val="125000"/>
              </a:lnSpc>
            </a:pPr>
            <a:r>
              <a:rPr sz="1100" b="0" i="0">
                <a:solidFill>
                  <a:srgbClr val="E5E7EB"/>
                </a:solidFill>
                <a:latin typeface="Calibri"/>
              </a:rPr>
              <a:t>Discovery is the eye. Without it, automation is blind.</a:t>
            </a:r>
          </a:p>
        </p:txBody>
      </p:sp>
      <p:sp>
        <p:nvSpPr>
          <p:cNvPr id="20" name="Rectangle 19"/>
          <p:cNvSpPr/>
          <p:nvPr/>
        </p:nvSpPr>
        <p:spPr>
          <a:xfrm>
            <a:off x="9018270" y="3200400"/>
            <a:ext cx="2594610" cy="19202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46870" y="3429000"/>
            <a:ext cx="2137410" cy="274320"/>
          </a:xfrm>
          <a:prstGeom prst="rect">
            <a:avLst/>
          </a:prstGeom>
          <a:noFill/>
        </p:spPr>
        <p:txBody>
          <a:bodyPr wrap="square" lIns="0" rIns="0" tIns="0" bIns="0" anchor="t">
            <a:spAutoFit/>
          </a:bodyPr>
          <a:lstStyle/>
          <a:p>
            <a:pPr algn="l"/>
            <a:r>
              <a:rPr sz="900" b="1" i="0" spc="400">
                <a:solidFill>
                  <a:srgbClr val="C5E063"/>
                </a:solidFill>
                <a:latin typeface="Calibri"/>
              </a:rPr>
              <a:t>OUTCOME</a:t>
            </a:r>
          </a:p>
        </p:txBody>
      </p:sp>
      <p:sp>
        <p:nvSpPr>
          <p:cNvPr id="22" name="TextBox 21"/>
          <p:cNvSpPr txBox="1"/>
          <p:nvPr/>
        </p:nvSpPr>
        <p:spPr>
          <a:xfrm>
            <a:off x="9246870" y="3749040"/>
            <a:ext cx="2137410" cy="822960"/>
          </a:xfrm>
          <a:prstGeom prst="rect">
            <a:avLst/>
          </a:prstGeom>
          <a:noFill/>
        </p:spPr>
        <p:txBody>
          <a:bodyPr wrap="square" lIns="0" rIns="0" tIns="0" bIns="0" anchor="t">
            <a:spAutoFit/>
          </a:bodyPr>
          <a:lstStyle/>
          <a:p>
            <a:pPr algn="l"/>
            <a:r>
              <a:rPr sz="3000" b="1" i="0">
                <a:solidFill>
                  <a:srgbClr val="FFFFFF"/>
                </a:solidFill>
                <a:latin typeface="Georgia"/>
              </a:rPr>
              <a:t>Right one</a:t>
            </a:r>
          </a:p>
        </p:txBody>
      </p:sp>
      <p:sp>
        <p:nvSpPr>
          <p:cNvPr id="23" name="TextBox 22"/>
          <p:cNvSpPr txBox="1"/>
          <p:nvPr/>
        </p:nvSpPr>
        <p:spPr>
          <a:xfrm>
            <a:off x="9246870" y="4526280"/>
            <a:ext cx="2137410" cy="548640"/>
          </a:xfrm>
          <a:prstGeom prst="rect">
            <a:avLst/>
          </a:prstGeom>
          <a:noFill/>
        </p:spPr>
        <p:txBody>
          <a:bodyPr wrap="square" lIns="0" rIns="0" tIns="0" bIns="0" anchor="t">
            <a:spAutoFit/>
          </a:bodyPr>
          <a:lstStyle/>
          <a:p>
            <a:pPr algn="l">
              <a:lnSpc>
                <a:spcPct val="125000"/>
              </a:lnSpc>
            </a:pPr>
            <a:r>
              <a:rPr sz="1100" b="0" i="0">
                <a:solidFill>
                  <a:srgbClr val="E5E7EB"/>
                </a:solidFill>
                <a:latin typeface="Calibri"/>
              </a:rPr>
              <a:t>This lesson teaches you to find the *right* process to automate — not just any process.</a:t>
            </a:r>
          </a:p>
        </p:txBody>
      </p:sp>
      <p:sp>
        <p:nvSpPr>
          <p:cNvPr id="24" name="TextBox 23"/>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475569"/>
                </a:solidFill>
                <a:latin typeface="Calibri"/>
              </a:rPr>
              <a:t>AI  LEARNING  HUB   ·   LESSON 7 OF 7</a:t>
            </a:r>
          </a:p>
        </p:txBody>
      </p:sp>
      <p:sp>
        <p:nvSpPr>
          <p:cNvPr id="25" name="TextBox 24"/>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475569"/>
                </a:solidFill>
                <a:latin typeface="Calibri"/>
              </a:rPr>
              <a:t>HOOK</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BF5"/>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2C5244"/>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0F1F1A"/>
                </a:solidFill>
                <a:latin typeface="Calibri"/>
              </a:rPr>
              <a:t>WEEK 1   /   LESSON 7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0F766E"/>
                </a:solidFill>
                <a:latin typeface="Calibri"/>
              </a:rPr>
              <a:t>LEARNING OUTCOMES</a:t>
            </a:r>
          </a:p>
        </p:txBody>
      </p:sp>
      <p:sp>
        <p:nvSpPr>
          <p:cNvPr id="6" name="TextBox 5"/>
          <p:cNvSpPr txBox="1"/>
          <p:nvPr/>
        </p:nvSpPr>
        <p:spPr>
          <a:xfrm>
            <a:off x="548640" y="1463040"/>
            <a:ext cx="10058400" cy="1097280"/>
          </a:xfrm>
          <a:prstGeom prst="rect">
            <a:avLst/>
          </a:prstGeom>
          <a:noFill/>
        </p:spPr>
        <p:txBody>
          <a:bodyPr wrap="square" lIns="0" rIns="0" tIns="0" bIns="0" anchor="t">
            <a:spAutoFit/>
          </a:bodyPr>
          <a:lstStyle/>
          <a:p>
            <a:pPr algn="l"/>
            <a:r>
              <a:rPr sz="2800" b="0" i="0">
                <a:solidFill>
                  <a:srgbClr val="0F1F1A"/>
                </a:solidFill>
                <a:latin typeface="Georgia"/>
              </a:rPr>
              <a:t>By the end of this lesson, you will be able to —</a:t>
            </a:r>
          </a:p>
        </p:txBody>
      </p:sp>
      <p:sp>
        <p:nvSpPr>
          <p:cNvPr id="7" name="Oval 6"/>
          <p:cNvSpPr/>
          <p:nvPr/>
        </p:nvSpPr>
        <p:spPr>
          <a:xfrm>
            <a:off x="548640" y="278892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788920"/>
            <a:ext cx="411480" cy="411480"/>
          </a:xfrm>
          <a:prstGeom prst="rect">
            <a:avLst/>
          </a:prstGeom>
          <a:noFill/>
        </p:spPr>
        <p:txBody>
          <a:bodyPr wrap="square" lIns="0" rIns="0" tIns="0" bIns="0" anchor="ctr">
            <a:spAutoFit/>
          </a:bodyPr>
          <a:lstStyle/>
          <a:p>
            <a:pPr algn="ctr"/>
            <a:r>
              <a:rPr sz="1400" b="1" i="0">
                <a:solidFill>
                  <a:srgbClr val="2C5244"/>
                </a:solidFill>
                <a:latin typeface="Georgia"/>
              </a:rPr>
              <a:t>1</a:t>
            </a:r>
          </a:p>
        </p:txBody>
      </p:sp>
      <p:sp>
        <p:nvSpPr>
          <p:cNvPr id="9" name="TextBox 8"/>
          <p:cNvSpPr txBox="1"/>
          <p:nvPr/>
        </p:nvSpPr>
        <p:spPr>
          <a:xfrm>
            <a:off x="1097280" y="274320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Distinguish process discovery, process mining, and task mining.</a:t>
            </a:r>
          </a:p>
        </p:txBody>
      </p:sp>
      <p:sp>
        <p:nvSpPr>
          <p:cNvPr id="10" name="Oval 9"/>
          <p:cNvSpPr/>
          <p:nvPr/>
        </p:nvSpPr>
        <p:spPr>
          <a:xfrm>
            <a:off x="6080760" y="278892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80760" y="2788920"/>
            <a:ext cx="411480" cy="411480"/>
          </a:xfrm>
          <a:prstGeom prst="rect">
            <a:avLst/>
          </a:prstGeom>
          <a:noFill/>
        </p:spPr>
        <p:txBody>
          <a:bodyPr wrap="square" lIns="0" rIns="0" tIns="0" bIns="0" anchor="ctr">
            <a:spAutoFit/>
          </a:bodyPr>
          <a:lstStyle/>
          <a:p>
            <a:pPr algn="ctr"/>
            <a:r>
              <a:rPr sz="1400" b="1" i="0">
                <a:solidFill>
                  <a:srgbClr val="2C5244"/>
                </a:solidFill>
                <a:latin typeface="Georgia"/>
              </a:rPr>
              <a:t>2</a:t>
            </a:r>
          </a:p>
        </p:txBody>
      </p:sp>
      <p:sp>
        <p:nvSpPr>
          <p:cNvPr id="12" name="TextBox 11"/>
          <p:cNvSpPr txBox="1"/>
          <p:nvPr/>
        </p:nvSpPr>
        <p:spPr>
          <a:xfrm>
            <a:off x="6629400" y="274320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Conduct a Gemba observation to spot hidden work.</a:t>
            </a:r>
          </a:p>
        </p:txBody>
      </p:sp>
      <p:sp>
        <p:nvSpPr>
          <p:cNvPr id="13" name="Oval 12"/>
          <p:cNvSpPr/>
          <p:nvPr/>
        </p:nvSpPr>
        <p:spPr>
          <a:xfrm>
            <a:off x="548640" y="365760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657600"/>
            <a:ext cx="411480" cy="411480"/>
          </a:xfrm>
          <a:prstGeom prst="rect">
            <a:avLst/>
          </a:prstGeom>
          <a:noFill/>
        </p:spPr>
        <p:txBody>
          <a:bodyPr wrap="square" lIns="0" rIns="0" tIns="0" bIns="0" anchor="ctr">
            <a:spAutoFit/>
          </a:bodyPr>
          <a:lstStyle/>
          <a:p>
            <a:pPr algn="ctr"/>
            <a:r>
              <a:rPr sz="1400" b="1" i="0">
                <a:solidFill>
                  <a:srgbClr val="2C5244"/>
                </a:solidFill>
                <a:latin typeface="Georgia"/>
              </a:rPr>
              <a:t>3</a:t>
            </a:r>
          </a:p>
        </p:txBody>
      </p:sp>
      <p:sp>
        <p:nvSpPr>
          <p:cNvPr id="15" name="TextBox 14"/>
          <p:cNvSpPr txBox="1"/>
          <p:nvPr/>
        </p:nvSpPr>
        <p:spPr>
          <a:xfrm>
            <a:off x="1097280" y="361188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Draft a SIPOC diagram from a 30-minute interview.</a:t>
            </a:r>
          </a:p>
        </p:txBody>
      </p:sp>
      <p:sp>
        <p:nvSpPr>
          <p:cNvPr id="16" name="Oval 15"/>
          <p:cNvSpPr/>
          <p:nvPr/>
        </p:nvSpPr>
        <p:spPr>
          <a:xfrm>
            <a:off x="6080760" y="365760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80760" y="3657600"/>
            <a:ext cx="411480" cy="411480"/>
          </a:xfrm>
          <a:prstGeom prst="rect">
            <a:avLst/>
          </a:prstGeom>
          <a:noFill/>
        </p:spPr>
        <p:txBody>
          <a:bodyPr wrap="square" lIns="0" rIns="0" tIns="0" bIns="0" anchor="ctr">
            <a:spAutoFit/>
          </a:bodyPr>
          <a:lstStyle/>
          <a:p>
            <a:pPr algn="ctr"/>
            <a:r>
              <a:rPr sz="1400" b="1" i="0">
                <a:solidFill>
                  <a:srgbClr val="2C5244"/>
                </a:solidFill>
                <a:latin typeface="Georgia"/>
              </a:rPr>
              <a:t>4</a:t>
            </a:r>
          </a:p>
        </p:txBody>
      </p:sp>
      <p:sp>
        <p:nvSpPr>
          <p:cNvPr id="18" name="TextBox 17"/>
          <p:cNvSpPr txBox="1"/>
          <p:nvPr/>
        </p:nvSpPr>
        <p:spPr>
          <a:xfrm>
            <a:off x="6629400" y="361188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Score processes using the 7-lens automatability checklist.</a:t>
            </a:r>
          </a:p>
        </p:txBody>
      </p:sp>
      <p:sp>
        <p:nvSpPr>
          <p:cNvPr id="19" name="Oval 18"/>
          <p:cNvSpPr/>
          <p:nvPr/>
        </p:nvSpPr>
        <p:spPr>
          <a:xfrm>
            <a:off x="548640" y="452628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526280"/>
            <a:ext cx="411480" cy="411480"/>
          </a:xfrm>
          <a:prstGeom prst="rect">
            <a:avLst/>
          </a:prstGeom>
          <a:noFill/>
        </p:spPr>
        <p:txBody>
          <a:bodyPr wrap="square" lIns="0" rIns="0" tIns="0" bIns="0" anchor="ctr">
            <a:spAutoFit/>
          </a:bodyPr>
          <a:lstStyle/>
          <a:p>
            <a:pPr algn="ctr"/>
            <a:r>
              <a:rPr sz="1400" b="1" i="0">
                <a:solidFill>
                  <a:srgbClr val="2C5244"/>
                </a:solidFill>
                <a:latin typeface="Georgia"/>
              </a:rPr>
              <a:t>5</a:t>
            </a:r>
          </a:p>
        </p:txBody>
      </p:sp>
      <p:sp>
        <p:nvSpPr>
          <p:cNvPr id="21" name="TextBox 20"/>
          <p:cNvSpPr txBox="1"/>
          <p:nvPr/>
        </p:nvSpPr>
        <p:spPr>
          <a:xfrm>
            <a:off x="1097280" y="448056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Place candidates on the Impact × Feasibility matrix.</a:t>
            </a:r>
          </a:p>
        </p:txBody>
      </p:sp>
      <p:sp>
        <p:nvSpPr>
          <p:cNvPr id="22" name="Oval 21"/>
          <p:cNvSpPr/>
          <p:nvPr/>
        </p:nvSpPr>
        <p:spPr>
          <a:xfrm>
            <a:off x="6080760" y="452628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80760" y="4526280"/>
            <a:ext cx="411480" cy="411480"/>
          </a:xfrm>
          <a:prstGeom prst="rect">
            <a:avLst/>
          </a:prstGeom>
          <a:noFill/>
        </p:spPr>
        <p:txBody>
          <a:bodyPr wrap="square" lIns="0" rIns="0" tIns="0" bIns="0" anchor="ctr">
            <a:spAutoFit/>
          </a:bodyPr>
          <a:lstStyle/>
          <a:p>
            <a:pPr algn="ctr"/>
            <a:r>
              <a:rPr sz="1400" b="1" i="0">
                <a:solidFill>
                  <a:srgbClr val="2C5244"/>
                </a:solidFill>
                <a:latin typeface="Georgia"/>
              </a:rPr>
              <a:t>6</a:t>
            </a:r>
          </a:p>
        </p:txBody>
      </p:sp>
      <p:sp>
        <p:nvSpPr>
          <p:cNvPr id="24" name="TextBox 23"/>
          <p:cNvSpPr txBox="1"/>
          <p:nvPr/>
        </p:nvSpPr>
        <p:spPr>
          <a:xfrm>
            <a:off x="6629400" y="448056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Write a one-page Opportunity Charter that secures funding.</a:t>
            </a:r>
          </a:p>
        </p:txBody>
      </p:sp>
      <p:sp>
        <p:nvSpPr>
          <p:cNvPr id="25" name="TextBox 2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475569"/>
                </a:solidFill>
                <a:latin typeface="Calibri"/>
              </a:rPr>
              <a:t>AI  LEARNING  HUB   ·   LESSON 7 OF 7</a:t>
            </a:r>
          </a:p>
        </p:txBody>
      </p:sp>
      <p:sp>
        <p:nvSpPr>
          <p:cNvPr id="26" name="TextBox 2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475569"/>
                </a:solidFill>
                <a:latin typeface="Calibri"/>
              </a:rPr>
              <a:t>OUTCOMES</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par>
                    <p:cTn id="123" fill="hold">
                      <p:stCondLst>
                        <p:cond delay="indefinite"/>
                        <p:cond evt="onBegin" delay="0">
                          <p:tn val="2"/>
                        </p:cond>
                      </p:stCondLst>
                      <p:childTnLst>
                        <p:par>
                          <p:cTn id="124" fill="hold">
                            <p:stCondLst>
                              <p:cond delay="0"/>
                            </p:stCondLst>
                            <p:childTnLst>
                              <p:par>
                                <p:cTn id="125" presetID="10" presetClass="entr" presetSubtype="0" fill="hold" grpId="0" nodeType="afterEffect">
                                  <p:stCondLst>
                                    <p:cond delay="18"/>
                                  </p:stCondLst>
                                  <p:childTnLst>
                                    <p:set>
                                      <p:cBhvr>
                                        <p:cTn id="126" dur="1" fill="hold">
                                          <p:stCondLst>
                                            <p:cond delay="0"/>
                                          </p:stCondLst>
                                        </p:cTn>
                                        <p:tgtEl>
                                          <p:spTgt spid="26"/>
                                        </p:tgtEl>
                                        <p:attrNameLst>
                                          <p:attrName>style.visibility</p:attrName>
                                        </p:attrNameLst>
                                      </p:cBhvr>
                                      <p:to>
                                        <p:strVal val="visible"/>
                                      </p:to>
                                    </p:set>
                                    <p:anim calcmode="lin" valueType="num">
                                      <p:cBhvr additive="base">
                                        <p:cTn id="127" dur="150" fill="hold"/>
                                        <p:tgtEl>
                                          <p:spTgt spid="2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7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AGENDA</a:t>
            </a:r>
          </a:p>
        </p:txBody>
      </p:sp>
      <p:sp>
        <p:nvSpPr>
          <p:cNvPr id="6" name="TextBox 5"/>
          <p:cNvSpPr txBox="1"/>
          <p:nvPr/>
        </p:nvSpPr>
        <p:spPr>
          <a:xfrm>
            <a:off x="548640" y="1463040"/>
            <a:ext cx="10058400" cy="1097280"/>
          </a:xfrm>
          <a:prstGeom prst="rect">
            <a:avLst/>
          </a:prstGeom>
          <a:noFill/>
        </p:spPr>
        <p:txBody>
          <a:bodyPr wrap="square" lIns="0" rIns="0" tIns="0" bIns="0" anchor="t">
            <a:spAutoFit/>
          </a:bodyPr>
          <a:lstStyle/>
          <a:p>
            <a:pPr algn="l"/>
            <a:r>
              <a:rPr sz="3000" b="0" i="0">
                <a:solidFill>
                  <a:srgbClr val="FFFFFF"/>
                </a:solidFill>
                <a:latin typeface="Georgia"/>
              </a:rPr>
              <a:t>What we'll cover today</a:t>
            </a:r>
          </a:p>
        </p:txBody>
      </p:sp>
      <p:sp>
        <p:nvSpPr>
          <p:cNvPr id="7" name="TextBox 6"/>
          <p:cNvSpPr txBox="1"/>
          <p:nvPr/>
        </p:nvSpPr>
        <p:spPr>
          <a:xfrm>
            <a:off x="548640" y="2286000"/>
            <a:ext cx="10058400" cy="914400"/>
          </a:xfrm>
          <a:prstGeom prst="rect">
            <a:avLst/>
          </a:prstGeom>
          <a:noFill/>
        </p:spPr>
        <p:txBody>
          <a:bodyPr wrap="square" lIns="0" rIns="0" tIns="0" bIns="0" anchor="t">
            <a:spAutoFit/>
          </a:bodyPr>
          <a:lstStyle/>
          <a:p>
            <a:pPr algn="l">
              <a:lnSpc>
                <a:spcPct val="125000"/>
              </a:lnSpc>
            </a:pPr>
            <a:r>
              <a:rPr sz="1400" b="0" i="0">
                <a:solidFill>
                  <a:srgbClr val="E5E7EB"/>
                </a:solidFill>
                <a:latin typeface="Calibri"/>
              </a:rPr>
              <a:t>Short, sequenced parts. Each one builds on the last.</a:t>
            </a:r>
          </a:p>
        </p:txBody>
      </p:sp>
      <p:sp>
        <p:nvSpPr>
          <p:cNvPr id="8" name="Rectangle 7"/>
          <p:cNvSpPr/>
          <p:nvPr/>
        </p:nvSpPr>
        <p:spPr>
          <a:xfrm>
            <a:off x="548640" y="3108960"/>
            <a:ext cx="2628900" cy="24688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337560"/>
            <a:ext cx="2171700" cy="548640"/>
          </a:xfrm>
          <a:prstGeom prst="rect">
            <a:avLst/>
          </a:prstGeom>
          <a:noFill/>
        </p:spPr>
        <p:txBody>
          <a:bodyPr wrap="square" lIns="0" rIns="0" tIns="0" bIns="0" anchor="t">
            <a:spAutoFit/>
          </a:bodyPr>
          <a:lstStyle/>
          <a:p>
            <a:pPr algn="l"/>
            <a:r>
              <a:rPr sz="3600" b="1" i="0">
                <a:solidFill>
                  <a:srgbClr val="C5E063"/>
                </a:solidFill>
                <a:latin typeface="Georgia"/>
              </a:rPr>
              <a:t>01</a:t>
            </a:r>
          </a:p>
        </p:txBody>
      </p:sp>
      <p:sp>
        <p:nvSpPr>
          <p:cNvPr id="10" name="TextBox 9"/>
          <p:cNvSpPr txBox="1"/>
          <p:nvPr/>
        </p:nvSpPr>
        <p:spPr>
          <a:xfrm>
            <a:off x="777240" y="3977640"/>
            <a:ext cx="2171700" cy="640080"/>
          </a:xfrm>
          <a:prstGeom prst="rect">
            <a:avLst/>
          </a:prstGeom>
          <a:noFill/>
        </p:spPr>
        <p:txBody>
          <a:bodyPr wrap="square" lIns="0" rIns="0" tIns="0" bIns="0" anchor="t">
            <a:spAutoFit/>
          </a:bodyPr>
          <a:lstStyle/>
          <a:p>
            <a:pPr algn="l">
              <a:lnSpc>
                <a:spcPct val="115000"/>
              </a:lnSpc>
            </a:pPr>
            <a:r>
              <a:rPr sz="1600" b="1" i="0">
                <a:solidFill>
                  <a:srgbClr val="FFFFFF"/>
                </a:solidFill>
                <a:latin typeface="Georgia"/>
              </a:rPr>
              <a:t>Three approaches</a:t>
            </a:r>
          </a:p>
        </p:txBody>
      </p:sp>
      <p:sp>
        <p:nvSpPr>
          <p:cNvPr id="11" name="TextBox 10"/>
          <p:cNvSpPr txBox="1"/>
          <p:nvPr/>
        </p:nvSpPr>
        <p:spPr>
          <a:xfrm>
            <a:off x="777240" y="4663440"/>
            <a:ext cx="2171700" cy="82296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Discovery, mining and task mining — what each is best at, and when to combine them.</a:t>
            </a:r>
          </a:p>
        </p:txBody>
      </p:sp>
      <p:sp>
        <p:nvSpPr>
          <p:cNvPr id="12" name="Rectangle 11"/>
          <p:cNvSpPr/>
          <p:nvPr/>
        </p:nvSpPr>
        <p:spPr>
          <a:xfrm>
            <a:off x="3360420" y="3108960"/>
            <a:ext cx="2628900" cy="24688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89020" y="3337560"/>
            <a:ext cx="2171700" cy="548640"/>
          </a:xfrm>
          <a:prstGeom prst="rect">
            <a:avLst/>
          </a:prstGeom>
          <a:noFill/>
        </p:spPr>
        <p:txBody>
          <a:bodyPr wrap="square" lIns="0" rIns="0" tIns="0" bIns="0" anchor="t">
            <a:spAutoFit/>
          </a:bodyPr>
          <a:lstStyle/>
          <a:p>
            <a:pPr algn="l"/>
            <a:r>
              <a:rPr sz="3600" b="1" i="0">
                <a:solidFill>
                  <a:srgbClr val="C5E063"/>
                </a:solidFill>
                <a:latin typeface="Georgia"/>
              </a:rPr>
              <a:t>02</a:t>
            </a:r>
          </a:p>
        </p:txBody>
      </p:sp>
      <p:sp>
        <p:nvSpPr>
          <p:cNvPr id="14" name="TextBox 13"/>
          <p:cNvSpPr txBox="1"/>
          <p:nvPr/>
        </p:nvSpPr>
        <p:spPr>
          <a:xfrm>
            <a:off x="3589020" y="3977640"/>
            <a:ext cx="2171700" cy="640080"/>
          </a:xfrm>
          <a:prstGeom prst="rect">
            <a:avLst/>
          </a:prstGeom>
          <a:noFill/>
        </p:spPr>
        <p:txBody>
          <a:bodyPr wrap="square" lIns="0" rIns="0" tIns="0" bIns="0" anchor="t">
            <a:spAutoFit/>
          </a:bodyPr>
          <a:lstStyle/>
          <a:p>
            <a:pPr algn="l">
              <a:lnSpc>
                <a:spcPct val="115000"/>
              </a:lnSpc>
            </a:pPr>
            <a:r>
              <a:rPr sz="1600" b="1" i="0">
                <a:solidFill>
                  <a:srgbClr val="FFFFFF"/>
                </a:solidFill>
                <a:latin typeface="Georgia"/>
              </a:rPr>
              <a:t>Gemba &amp; SIPOC</a:t>
            </a:r>
          </a:p>
        </p:txBody>
      </p:sp>
      <p:sp>
        <p:nvSpPr>
          <p:cNvPr id="15" name="TextBox 14"/>
          <p:cNvSpPr txBox="1"/>
          <p:nvPr/>
        </p:nvSpPr>
        <p:spPr>
          <a:xfrm>
            <a:off x="3589020" y="4663440"/>
            <a:ext cx="2171700" cy="82296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Two timeless techniques: go to the work, watch it happen, then map it on one page.</a:t>
            </a:r>
          </a:p>
        </p:txBody>
      </p:sp>
      <p:sp>
        <p:nvSpPr>
          <p:cNvPr id="16" name="Rectangle 15"/>
          <p:cNvSpPr/>
          <p:nvPr/>
        </p:nvSpPr>
        <p:spPr>
          <a:xfrm>
            <a:off x="6172200" y="3108960"/>
            <a:ext cx="2628900" cy="24688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3337560"/>
            <a:ext cx="2171700" cy="548640"/>
          </a:xfrm>
          <a:prstGeom prst="rect">
            <a:avLst/>
          </a:prstGeom>
          <a:noFill/>
        </p:spPr>
        <p:txBody>
          <a:bodyPr wrap="square" lIns="0" rIns="0" tIns="0" bIns="0" anchor="t">
            <a:spAutoFit/>
          </a:bodyPr>
          <a:lstStyle/>
          <a:p>
            <a:pPr algn="l"/>
            <a:r>
              <a:rPr sz="3600" b="1" i="0">
                <a:solidFill>
                  <a:srgbClr val="C5E063"/>
                </a:solidFill>
                <a:latin typeface="Georgia"/>
              </a:rPr>
              <a:t>03</a:t>
            </a:r>
          </a:p>
        </p:txBody>
      </p:sp>
      <p:sp>
        <p:nvSpPr>
          <p:cNvPr id="18" name="TextBox 17"/>
          <p:cNvSpPr txBox="1"/>
          <p:nvPr/>
        </p:nvSpPr>
        <p:spPr>
          <a:xfrm>
            <a:off x="6400800" y="3977640"/>
            <a:ext cx="2171700" cy="640080"/>
          </a:xfrm>
          <a:prstGeom prst="rect">
            <a:avLst/>
          </a:prstGeom>
          <a:noFill/>
        </p:spPr>
        <p:txBody>
          <a:bodyPr wrap="square" lIns="0" rIns="0" tIns="0" bIns="0" anchor="t">
            <a:spAutoFit/>
          </a:bodyPr>
          <a:lstStyle/>
          <a:p>
            <a:pPr algn="l">
              <a:lnSpc>
                <a:spcPct val="115000"/>
              </a:lnSpc>
            </a:pPr>
            <a:r>
              <a:rPr sz="1600" b="1" i="0">
                <a:solidFill>
                  <a:srgbClr val="FFFFFF"/>
                </a:solidFill>
                <a:latin typeface="Georgia"/>
              </a:rPr>
              <a:t>7-lens score</a:t>
            </a:r>
          </a:p>
        </p:txBody>
      </p:sp>
      <p:sp>
        <p:nvSpPr>
          <p:cNvPr id="19" name="TextBox 18"/>
          <p:cNvSpPr txBox="1"/>
          <p:nvPr/>
        </p:nvSpPr>
        <p:spPr>
          <a:xfrm>
            <a:off x="6400800" y="4663440"/>
            <a:ext cx="2171700" cy="82296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The data-driven scorecard that turns 'I think this is automatable' into a defensible number.</a:t>
            </a:r>
          </a:p>
        </p:txBody>
      </p:sp>
      <p:sp>
        <p:nvSpPr>
          <p:cNvPr id="20" name="Rectangle 19"/>
          <p:cNvSpPr/>
          <p:nvPr/>
        </p:nvSpPr>
        <p:spPr>
          <a:xfrm>
            <a:off x="8983980" y="3108960"/>
            <a:ext cx="2628900" cy="24688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12580" y="3337560"/>
            <a:ext cx="2171700" cy="548640"/>
          </a:xfrm>
          <a:prstGeom prst="rect">
            <a:avLst/>
          </a:prstGeom>
          <a:noFill/>
        </p:spPr>
        <p:txBody>
          <a:bodyPr wrap="square" lIns="0" rIns="0" tIns="0" bIns="0" anchor="t">
            <a:spAutoFit/>
          </a:bodyPr>
          <a:lstStyle/>
          <a:p>
            <a:pPr algn="l"/>
            <a:r>
              <a:rPr sz="3600" b="1" i="0">
                <a:solidFill>
                  <a:srgbClr val="C5E063"/>
                </a:solidFill>
                <a:latin typeface="Georgia"/>
              </a:rPr>
              <a:t>04</a:t>
            </a:r>
          </a:p>
        </p:txBody>
      </p:sp>
      <p:sp>
        <p:nvSpPr>
          <p:cNvPr id="22" name="TextBox 21"/>
          <p:cNvSpPr txBox="1"/>
          <p:nvPr/>
        </p:nvSpPr>
        <p:spPr>
          <a:xfrm>
            <a:off x="9212580" y="3977640"/>
            <a:ext cx="2171700" cy="640080"/>
          </a:xfrm>
          <a:prstGeom prst="rect">
            <a:avLst/>
          </a:prstGeom>
          <a:noFill/>
        </p:spPr>
        <p:txBody>
          <a:bodyPr wrap="square" lIns="0" rIns="0" tIns="0" bIns="0" anchor="t">
            <a:spAutoFit/>
          </a:bodyPr>
          <a:lstStyle/>
          <a:p>
            <a:pPr algn="l">
              <a:lnSpc>
                <a:spcPct val="115000"/>
              </a:lnSpc>
            </a:pPr>
            <a:r>
              <a:rPr sz="1600" b="1" i="0">
                <a:solidFill>
                  <a:srgbClr val="FFFFFF"/>
                </a:solidFill>
                <a:latin typeface="Georgia"/>
              </a:rPr>
              <a:t>Charter &amp; funding</a:t>
            </a:r>
          </a:p>
        </p:txBody>
      </p:sp>
      <p:sp>
        <p:nvSpPr>
          <p:cNvPr id="23" name="TextBox 22"/>
          <p:cNvSpPr txBox="1"/>
          <p:nvPr/>
        </p:nvSpPr>
        <p:spPr>
          <a:xfrm>
            <a:off x="9212580" y="4663440"/>
            <a:ext cx="2171700" cy="82296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The Impact × Feasibility 2×2 and the one-page Opportunity Charter that gets the cheque signed.</a:t>
            </a:r>
          </a:p>
        </p:txBody>
      </p:sp>
      <p:sp>
        <p:nvSpPr>
          <p:cNvPr id="24" name="TextBox 23"/>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7 OF 7</a:t>
            </a:r>
          </a:p>
        </p:txBody>
      </p:sp>
      <p:sp>
        <p:nvSpPr>
          <p:cNvPr id="25" name="TextBox 24"/>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AGENDA</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7   /   1 min</a:t>
            </a:r>
          </a:p>
        </p:txBody>
      </p:sp>
      <p:sp>
        <p:nvSpPr>
          <p:cNvPr id="5" name="TextBox 4"/>
          <p:cNvSpPr txBox="1"/>
          <p:nvPr/>
        </p:nvSpPr>
        <p:spPr>
          <a:xfrm>
            <a:off x="274320" y="1371600"/>
            <a:ext cx="5120640" cy="4389120"/>
          </a:xfrm>
          <a:prstGeom prst="rect">
            <a:avLst/>
          </a:prstGeom>
          <a:noFill/>
        </p:spPr>
        <p:txBody>
          <a:bodyPr wrap="square" lIns="0" rIns="0" tIns="0" bIns="0" anchor="t">
            <a:spAutoFit/>
          </a:bodyPr>
          <a:lstStyle/>
          <a:p>
            <a:pPr algn="l"/>
            <a:r>
              <a:rPr sz="20000" b="1" i="0">
                <a:solidFill>
                  <a:srgbClr val="C5E063"/>
                </a:solidFill>
                <a:latin typeface="Georgia"/>
              </a:rPr>
              <a:t>01</a:t>
            </a:r>
          </a:p>
        </p:txBody>
      </p:sp>
      <p:sp>
        <p:nvSpPr>
          <p:cNvPr id="6" name="TextBox 5"/>
          <p:cNvSpPr txBox="1"/>
          <p:nvPr/>
        </p:nvSpPr>
        <p:spPr>
          <a:xfrm>
            <a:off x="5486400" y="2103120"/>
            <a:ext cx="6400800" cy="365760"/>
          </a:xfrm>
          <a:prstGeom prst="rect">
            <a:avLst/>
          </a:prstGeom>
          <a:noFill/>
        </p:spPr>
        <p:txBody>
          <a:bodyPr wrap="square" lIns="0" rIns="0" tIns="0" bIns="0" anchor="t">
            <a:spAutoFit/>
          </a:bodyPr>
          <a:lstStyle/>
          <a:p>
            <a:pPr algn="l"/>
            <a:r>
              <a:rPr sz="1100" b="1" i="0" spc="600">
                <a:solidFill>
                  <a:srgbClr val="C5E063"/>
                </a:solidFill>
                <a:latin typeface="Calibri"/>
              </a:rPr>
              <a:t>PART 1  OF  4</a:t>
            </a:r>
          </a:p>
        </p:txBody>
      </p:sp>
      <p:sp>
        <p:nvSpPr>
          <p:cNvPr id="7" name="TextBox 6"/>
          <p:cNvSpPr txBox="1"/>
          <p:nvPr/>
        </p:nvSpPr>
        <p:spPr>
          <a:xfrm>
            <a:off x="5486400" y="2606040"/>
            <a:ext cx="6400800" cy="1280160"/>
          </a:xfrm>
          <a:prstGeom prst="rect">
            <a:avLst/>
          </a:prstGeom>
          <a:noFill/>
        </p:spPr>
        <p:txBody>
          <a:bodyPr wrap="square" lIns="0" rIns="0" tIns="0" bIns="0" anchor="t">
            <a:spAutoFit/>
          </a:bodyPr>
          <a:lstStyle/>
          <a:p>
            <a:pPr algn="l"/>
            <a:r>
              <a:rPr sz="3600" b="1" i="0">
                <a:solidFill>
                  <a:srgbClr val="FFFFFF"/>
                </a:solidFill>
                <a:latin typeface="Georgia"/>
              </a:rPr>
              <a:t>Three approaches to seeing work</a:t>
            </a:r>
          </a:p>
        </p:txBody>
      </p:sp>
      <p:sp>
        <p:nvSpPr>
          <p:cNvPr id="8" name="Rectangle 7"/>
          <p:cNvSpPr/>
          <p:nvPr/>
        </p:nvSpPr>
        <p:spPr>
          <a:xfrm>
            <a:off x="5486400" y="4160520"/>
            <a:ext cx="457200" cy="45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0" y="4343400"/>
            <a:ext cx="6400800" cy="18288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Discovery, mining and task mining — different tools, different strengths, different blind spots.</a:t>
            </a:r>
          </a:p>
        </p:txBody>
      </p:sp>
      <p:sp>
        <p:nvSpPr>
          <p:cNvPr id="10" name="TextBox 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7 OF 7</a:t>
            </a:r>
          </a:p>
        </p:txBody>
      </p:sp>
      <p:sp>
        <p:nvSpPr>
          <p:cNvPr id="11" name="TextBox 1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PART 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7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THREE  PILLARS  OF  PROCESS  ANALYSIS</a:t>
            </a:r>
          </a:p>
        </p:txBody>
      </p:sp>
      <p:sp>
        <p:nvSpPr>
          <p:cNvPr id="6" name="TextBox 5"/>
          <p:cNvSpPr txBox="1"/>
          <p:nvPr/>
        </p:nvSpPr>
        <p:spPr>
          <a:xfrm>
            <a:off x="548640" y="1463040"/>
            <a:ext cx="10515600" cy="1097280"/>
          </a:xfrm>
          <a:prstGeom prst="rect">
            <a:avLst/>
          </a:prstGeom>
          <a:noFill/>
        </p:spPr>
        <p:txBody>
          <a:bodyPr wrap="square" lIns="0" rIns="0" tIns="0" bIns="0" anchor="t">
            <a:spAutoFit/>
          </a:bodyPr>
          <a:lstStyle/>
          <a:p>
            <a:pPr algn="l"/>
            <a:r>
              <a:rPr sz="2800" b="0" i="0">
                <a:solidFill>
                  <a:srgbClr val="FFFFFF"/>
                </a:solidFill>
                <a:latin typeface="Georgia"/>
              </a:rPr>
              <a:t>Each approach answers a different question</a:t>
            </a:r>
          </a:p>
        </p:txBody>
      </p:sp>
      <p:sp>
        <p:nvSpPr>
          <p:cNvPr id="7" name="TextBox 6"/>
          <p:cNvSpPr txBox="1"/>
          <p:nvPr/>
        </p:nvSpPr>
        <p:spPr>
          <a:xfrm>
            <a:off x="548640" y="2286000"/>
            <a:ext cx="10515600" cy="914400"/>
          </a:xfrm>
          <a:prstGeom prst="rect">
            <a:avLst/>
          </a:prstGeom>
          <a:noFill/>
        </p:spPr>
        <p:txBody>
          <a:bodyPr wrap="square" lIns="0" rIns="0" tIns="0" bIns="0" anchor="t">
            <a:spAutoFit/>
          </a:bodyPr>
          <a:lstStyle/>
          <a:p>
            <a:pPr algn="l">
              <a:lnSpc>
                <a:spcPct val="125000"/>
              </a:lnSpc>
            </a:pPr>
            <a:r>
              <a:rPr sz="1400" b="0" i="0">
                <a:solidFill>
                  <a:srgbClr val="E5E7EB"/>
                </a:solidFill>
                <a:latin typeface="Calibri"/>
              </a:rPr>
              <a:t>Use the right one and the picture sharpens. Use the wrong one and the picture lies.</a:t>
            </a:r>
          </a:p>
        </p:txBody>
      </p:sp>
      <p:sp>
        <p:nvSpPr>
          <p:cNvPr id="8" name="Rectangle 7"/>
          <p:cNvSpPr/>
          <p:nvPr/>
        </p:nvSpPr>
        <p:spPr>
          <a:xfrm>
            <a:off x="548640" y="3154680"/>
            <a:ext cx="3566160" cy="219456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22960" y="3429000"/>
            <a:ext cx="457200" cy="45720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429000"/>
            <a:ext cx="457200" cy="457200"/>
          </a:xfrm>
          <a:prstGeom prst="rect">
            <a:avLst/>
          </a:prstGeom>
          <a:noFill/>
        </p:spPr>
        <p:txBody>
          <a:bodyPr wrap="square" lIns="0" rIns="0" tIns="0" bIns="0" anchor="ctr">
            <a:spAutoFit/>
          </a:bodyPr>
          <a:lstStyle/>
          <a:p>
            <a:pPr algn="ctr"/>
            <a:r>
              <a:rPr sz="1800" b="1" i="0">
                <a:solidFill>
                  <a:srgbClr val="C5E063"/>
                </a:solidFill>
                <a:latin typeface="Calibri"/>
              </a:rPr>
              <a:t>D</a:t>
            </a:r>
          </a:p>
        </p:txBody>
      </p:sp>
      <p:sp>
        <p:nvSpPr>
          <p:cNvPr id="11" name="TextBox 10"/>
          <p:cNvSpPr txBox="1"/>
          <p:nvPr/>
        </p:nvSpPr>
        <p:spPr>
          <a:xfrm>
            <a:off x="1371600" y="3447288"/>
            <a:ext cx="2651760" cy="228600"/>
          </a:xfrm>
          <a:prstGeom prst="rect">
            <a:avLst/>
          </a:prstGeom>
          <a:noFill/>
        </p:spPr>
        <p:txBody>
          <a:bodyPr wrap="square" lIns="0" rIns="0" tIns="0" bIns="0" anchor="t">
            <a:spAutoFit/>
          </a:bodyPr>
          <a:lstStyle/>
          <a:p>
            <a:pPr algn="l"/>
            <a:r>
              <a:rPr sz="900" b="1" i="0" spc="500">
                <a:solidFill>
                  <a:srgbClr val="C5E063"/>
                </a:solidFill>
                <a:latin typeface="Calibri"/>
              </a:rPr>
              <a:t>DISCOVERY</a:t>
            </a:r>
          </a:p>
        </p:txBody>
      </p:sp>
      <p:sp>
        <p:nvSpPr>
          <p:cNvPr id="12" name="TextBox 11"/>
          <p:cNvSpPr txBox="1"/>
          <p:nvPr/>
        </p:nvSpPr>
        <p:spPr>
          <a:xfrm>
            <a:off x="1371600" y="3675888"/>
            <a:ext cx="2651760" cy="365760"/>
          </a:xfrm>
          <a:prstGeom prst="rect">
            <a:avLst/>
          </a:prstGeom>
          <a:noFill/>
        </p:spPr>
        <p:txBody>
          <a:bodyPr wrap="square" lIns="0" rIns="0" tIns="0" bIns="0" anchor="t">
            <a:spAutoFit/>
          </a:bodyPr>
          <a:lstStyle/>
          <a:p>
            <a:pPr algn="l"/>
            <a:r>
              <a:rPr sz="1600" b="1" i="0">
                <a:solidFill>
                  <a:srgbClr val="FFFFFF"/>
                </a:solidFill>
                <a:latin typeface="Georgia"/>
              </a:rPr>
              <a:t>Why is this happening?</a:t>
            </a:r>
          </a:p>
        </p:txBody>
      </p:sp>
      <p:sp>
        <p:nvSpPr>
          <p:cNvPr id="13" name="TextBox 12"/>
          <p:cNvSpPr txBox="1"/>
          <p:nvPr/>
        </p:nvSpPr>
        <p:spPr>
          <a:xfrm>
            <a:off x="822960" y="4069080"/>
            <a:ext cx="3017520" cy="114300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Interviews, Gemba walks, SIPOC. Best at intent, context, the 'why'. Weakest at scale and statistics.</a:t>
            </a:r>
          </a:p>
        </p:txBody>
      </p:sp>
      <p:sp>
        <p:nvSpPr>
          <p:cNvPr id="14" name="Rectangle 13"/>
          <p:cNvSpPr/>
          <p:nvPr/>
        </p:nvSpPr>
        <p:spPr>
          <a:xfrm>
            <a:off x="4297680" y="3154680"/>
            <a:ext cx="3566160" cy="219456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572000" y="3429000"/>
            <a:ext cx="457200" cy="45720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0" y="3429000"/>
            <a:ext cx="457200" cy="457200"/>
          </a:xfrm>
          <a:prstGeom prst="rect">
            <a:avLst/>
          </a:prstGeom>
          <a:noFill/>
        </p:spPr>
        <p:txBody>
          <a:bodyPr wrap="square" lIns="0" rIns="0" tIns="0" bIns="0" anchor="ctr">
            <a:spAutoFit/>
          </a:bodyPr>
          <a:lstStyle/>
          <a:p>
            <a:pPr algn="ctr"/>
            <a:r>
              <a:rPr sz="1800" b="1" i="0">
                <a:solidFill>
                  <a:srgbClr val="C5E063"/>
                </a:solidFill>
                <a:latin typeface="Calibri"/>
              </a:rPr>
              <a:t>M</a:t>
            </a:r>
          </a:p>
        </p:txBody>
      </p:sp>
      <p:sp>
        <p:nvSpPr>
          <p:cNvPr id="17" name="TextBox 16"/>
          <p:cNvSpPr txBox="1"/>
          <p:nvPr/>
        </p:nvSpPr>
        <p:spPr>
          <a:xfrm>
            <a:off x="5120640" y="3447288"/>
            <a:ext cx="2651760" cy="228600"/>
          </a:xfrm>
          <a:prstGeom prst="rect">
            <a:avLst/>
          </a:prstGeom>
          <a:noFill/>
        </p:spPr>
        <p:txBody>
          <a:bodyPr wrap="square" lIns="0" rIns="0" tIns="0" bIns="0" anchor="t">
            <a:spAutoFit/>
          </a:bodyPr>
          <a:lstStyle/>
          <a:p>
            <a:pPr algn="l"/>
            <a:r>
              <a:rPr sz="900" b="1" i="0" spc="500">
                <a:solidFill>
                  <a:srgbClr val="C5E063"/>
                </a:solidFill>
                <a:latin typeface="Calibri"/>
              </a:rPr>
              <a:t>MINING</a:t>
            </a:r>
          </a:p>
        </p:txBody>
      </p:sp>
      <p:sp>
        <p:nvSpPr>
          <p:cNvPr id="18" name="TextBox 17"/>
          <p:cNvSpPr txBox="1"/>
          <p:nvPr/>
        </p:nvSpPr>
        <p:spPr>
          <a:xfrm>
            <a:off x="5120640" y="3675888"/>
            <a:ext cx="2651760" cy="365760"/>
          </a:xfrm>
          <a:prstGeom prst="rect">
            <a:avLst/>
          </a:prstGeom>
          <a:noFill/>
        </p:spPr>
        <p:txBody>
          <a:bodyPr wrap="square" lIns="0" rIns="0" tIns="0" bIns="0" anchor="t">
            <a:spAutoFit/>
          </a:bodyPr>
          <a:lstStyle/>
          <a:p>
            <a:pPr algn="l"/>
            <a:r>
              <a:rPr sz="1600" b="1" i="0">
                <a:solidFill>
                  <a:srgbClr val="FFFFFF"/>
                </a:solidFill>
                <a:latin typeface="Georgia"/>
              </a:rPr>
              <a:t>What is happening at scale?</a:t>
            </a:r>
          </a:p>
        </p:txBody>
      </p:sp>
      <p:sp>
        <p:nvSpPr>
          <p:cNvPr id="19" name="TextBox 18"/>
          <p:cNvSpPr txBox="1"/>
          <p:nvPr/>
        </p:nvSpPr>
        <p:spPr>
          <a:xfrm>
            <a:off x="4572000" y="4069080"/>
            <a:ext cx="3017520" cy="114300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System logs from ERPs, CRMs, ticketing tools. Best at frequency and bottlenecks. Misses anything off-system.</a:t>
            </a:r>
          </a:p>
        </p:txBody>
      </p:sp>
      <p:sp>
        <p:nvSpPr>
          <p:cNvPr id="20" name="Rectangle 19"/>
          <p:cNvSpPr/>
          <p:nvPr/>
        </p:nvSpPr>
        <p:spPr>
          <a:xfrm>
            <a:off x="8046720" y="3154680"/>
            <a:ext cx="3566160" cy="219456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321040" y="3429000"/>
            <a:ext cx="457200" cy="45720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21040" y="3429000"/>
            <a:ext cx="457200" cy="457200"/>
          </a:xfrm>
          <a:prstGeom prst="rect">
            <a:avLst/>
          </a:prstGeom>
          <a:noFill/>
        </p:spPr>
        <p:txBody>
          <a:bodyPr wrap="square" lIns="0" rIns="0" tIns="0" bIns="0" anchor="ctr">
            <a:spAutoFit/>
          </a:bodyPr>
          <a:lstStyle/>
          <a:p>
            <a:pPr algn="ctr"/>
            <a:r>
              <a:rPr sz="1800" b="1" i="0">
                <a:solidFill>
                  <a:srgbClr val="C5E063"/>
                </a:solidFill>
                <a:latin typeface="Calibri"/>
              </a:rPr>
              <a:t>T</a:t>
            </a:r>
          </a:p>
        </p:txBody>
      </p:sp>
      <p:sp>
        <p:nvSpPr>
          <p:cNvPr id="23" name="TextBox 22"/>
          <p:cNvSpPr txBox="1"/>
          <p:nvPr/>
        </p:nvSpPr>
        <p:spPr>
          <a:xfrm>
            <a:off x="8869680" y="3447288"/>
            <a:ext cx="2651760" cy="228600"/>
          </a:xfrm>
          <a:prstGeom prst="rect">
            <a:avLst/>
          </a:prstGeom>
          <a:noFill/>
        </p:spPr>
        <p:txBody>
          <a:bodyPr wrap="square" lIns="0" rIns="0" tIns="0" bIns="0" anchor="t">
            <a:spAutoFit/>
          </a:bodyPr>
          <a:lstStyle/>
          <a:p>
            <a:pPr algn="l"/>
            <a:r>
              <a:rPr sz="900" b="1" i="0" spc="500">
                <a:solidFill>
                  <a:srgbClr val="C5E063"/>
                </a:solidFill>
                <a:latin typeface="Calibri"/>
              </a:rPr>
              <a:t>TASK  MINING</a:t>
            </a:r>
          </a:p>
        </p:txBody>
      </p:sp>
      <p:sp>
        <p:nvSpPr>
          <p:cNvPr id="24" name="TextBox 23"/>
          <p:cNvSpPr txBox="1"/>
          <p:nvPr/>
        </p:nvSpPr>
        <p:spPr>
          <a:xfrm>
            <a:off x="8869680" y="3675888"/>
            <a:ext cx="2651760" cy="365760"/>
          </a:xfrm>
          <a:prstGeom prst="rect">
            <a:avLst/>
          </a:prstGeom>
          <a:noFill/>
        </p:spPr>
        <p:txBody>
          <a:bodyPr wrap="square" lIns="0" rIns="0" tIns="0" bIns="0" anchor="t">
            <a:spAutoFit/>
          </a:bodyPr>
          <a:lstStyle/>
          <a:p>
            <a:pPr algn="l"/>
            <a:r>
              <a:rPr sz="1600" b="1" i="0">
                <a:solidFill>
                  <a:srgbClr val="FFFFFF"/>
                </a:solidFill>
                <a:latin typeface="Georgia"/>
              </a:rPr>
              <a:t>How is each click happening?</a:t>
            </a:r>
          </a:p>
        </p:txBody>
      </p:sp>
      <p:sp>
        <p:nvSpPr>
          <p:cNvPr id="25" name="TextBox 24"/>
          <p:cNvSpPr txBox="1"/>
          <p:nvPr/>
        </p:nvSpPr>
        <p:spPr>
          <a:xfrm>
            <a:off x="8321040" y="4069080"/>
            <a:ext cx="3017520" cy="114300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Desktop activity capture — clicks, copies, app switches. Best at zooming into individual workflow drudgery.</a:t>
            </a:r>
          </a:p>
        </p:txBody>
      </p:sp>
      <p:sp>
        <p:nvSpPr>
          <p:cNvPr id="26" name="TextBox 25"/>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7 OF 7</a:t>
            </a:r>
          </a:p>
        </p:txBody>
      </p:sp>
      <p:sp>
        <p:nvSpPr>
          <p:cNvPr id="27" name="TextBox 26"/>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THREE PILLARS</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par>
                    <p:cTn id="123" fill="hold">
                      <p:stCondLst>
                        <p:cond delay="indefinite"/>
                        <p:cond evt="onBegin" delay="0">
                          <p:tn val="2"/>
                        </p:cond>
                      </p:stCondLst>
                      <p:childTnLst>
                        <p:par>
                          <p:cTn id="124" fill="hold">
                            <p:stCondLst>
                              <p:cond delay="0"/>
                            </p:stCondLst>
                            <p:childTnLst>
                              <p:par>
                                <p:cTn id="125" presetID="10" presetClass="entr" presetSubtype="0" fill="hold" grpId="0" nodeType="afterEffect">
                                  <p:stCondLst>
                                    <p:cond delay="18"/>
                                  </p:stCondLst>
                                  <p:childTnLst>
                                    <p:set>
                                      <p:cBhvr>
                                        <p:cTn id="126" dur="1" fill="hold">
                                          <p:stCondLst>
                                            <p:cond delay="0"/>
                                          </p:stCondLst>
                                        </p:cTn>
                                        <p:tgtEl>
                                          <p:spTgt spid="26"/>
                                        </p:tgtEl>
                                        <p:attrNameLst>
                                          <p:attrName>style.visibility</p:attrName>
                                        </p:attrNameLst>
                                      </p:cBhvr>
                                      <p:to>
                                        <p:strVal val="visible"/>
                                      </p:to>
                                    </p:set>
                                    <p:anim calcmode="lin" valueType="num">
                                      <p:cBhvr additive="base">
                                        <p:cTn id="127" dur="150" fill="hold"/>
                                        <p:tgtEl>
                                          <p:spTgt spid="26"/>
                                        </p:tgtEl>
                                        <p:attrNameLst>
                                          <p:attrName>style.opacity</p:attrName>
                                        </p:attrNameLst>
                                      </p:cBhvr>
                                      <p:tavLst>
                                        <p:tav tm="0">
                                          <p:val>
                                            <p:fltVal val="0"/>
                                          </p:val>
                                        </p:tav>
                                        <p:tav tm="100000">
                                          <p:val>
                                            <p:fltVal val="1"/>
                                          </p:val>
                                        </p:tav>
                                      </p:tavLst>
                                    </p:anim>
                                  </p:childTnLst>
                                </p:cTn>
                              </p:par>
                            </p:childTnLst>
                          </p:cTn>
                        </p:par>
                      </p:childTnLst>
                    </p:cTn>
                  </p:par>
                  <p:par>
                    <p:cTn id="128" fill="hold">
                      <p:stCondLst>
                        <p:cond delay="indefinite"/>
                        <p:cond evt="onBegin" delay="0">
                          <p:tn val="2"/>
                        </p:cond>
                      </p:stCondLst>
                      <p:childTnLst>
                        <p:par>
                          <p:cTn id="129" fill="hold">
                            <p:stCondLst>
                              <p:cond delay="0"/>
                            </p:stCondLst>
                            <p:childTnLst>
                              <p:par>
                                <p:cTn id="130" presetID="10" presetClass="entr" presetSubtype="0" fill="hold" grpId="0" nodeType="afterEffect">
                                  <p:stCondLst>
                                    <p:cond delay="18"/>
                                  </p:stCondLst>
                                  <p:childTnLst>
                                    <p:set>
                                      <p:cBhvr>
                                        <p:cTn id="131" dur="1" fill="hold">
                                          <p:stCondLst>
                                            <p:cond delay="0"/>
                                          </p:stCondLst>
                                        </p:cTn>
                                        <p:tgtEl>
                                          <p:spTgt spid="27"/>
                                        </p:tgtEl>
                                        <p:attrNameLst>
                                          <p:attrName>style.visibility</p:attrName>
                                        </p:attrNameLst>
                                      </p:cBhvr>
                                      <p:to>
                                        <p:strVal val="visible"/>
                                      </p:to>
                                    </p:set>
                                    <p:anim calcmode="lin" valueType="num">
                                      <p:cBhvr additive="base">
                                        <p:cTn id="132" dur="150" fill="hold"/>
                                        <p:tgtEl>
                                          <p:spTgt spid="27"/>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BF5"/>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2C5244"/>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0F1F1A"/>
                </a:solidFill>
                <a:latin typeface="Calibri"/>
              </a:rPr>
              <a:t>WEEK 1   /   LESSON 7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0F766E"/>
                </a:solidFill>
                <a:latin typeface="Calibri"/>
              </a:rPr>
              <a:t>STRENGTHS  &amp;  LIMITS</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2800" b="0" i="0">
                <a:solidFill>
                  <a:srgbClr val="0F1F1A"/>
                </a:solidFill>
                <a:latin typeface="Georgia"/>
              </a:rPr>
              <a:t>When to use which — and when to combine them</a:t>
            </a:r>
          </a:p>
        </p:txBody>
      </p:sp>
      <p:sp>
        <p:nvSpPr>
          <p:cNvPr id="7" name="TextBox 6"/>
          <p:cNvSpPr txBox="1"/>
          <p:nvPr/>
        </p:nvSpPr>
        <p:spPr>
          <a:xfrm>
            <a:off x="548640" y="2286000"/>
            <a:ext cx="10972800" cy="914400"/>
          </a:xfrm>
          <a:prstGeom prst="rect">
            <a:avLst/>
          </a:prstGeom>
          <a:noFill/>
        </p:spPr>
        <p:txBody>
          <a:bodyPr wrap="square" lIns="0" rIns="0" tIns="0" bIns="0" anchor="t">
            <a:spAutoFit/>
          </a:bodyPr>
          <a:lstStyle/>
          <a:p>
            <a:pPr algn="l">
              <a:lnSpc>
                <a:spcPct val="125000"/>
              </a:lnSpc>
            </a:pPr>
            <a:r>
              <a:rPr sz="1400" b="0" i="0">
                <a:solidFill>
                  <a:srgbClr val="475569"/>
                </a:solidFill>
                <a:latin typeface="Calibri"/>
              </a:rPr>
              <a:t>Most real programmes use all three. Discovery for the why, mining for the what, task mining for the how.</a:t>
            </a:r>
          </a:p>
        </p:txBody>
      </p:sp>
      <p:sp>
        <p:nvSpPr>
          <p:cNvPr id="8" name="Rectangle 7"/>
          <p:cNvSpPr/>
          <p:nvPr/>
        </p:nvSpPr>
        <p:spPr>
          <a:xfrm>
            <a:off x="548640" y="3154680"/>
            <a:ext cx="2351151" cy="45720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3154680"/>
            <a:ext cx="2351151" cy="457200"/>
          </a:xfrm>
          <a:prstGeom prst="rect">
            <a:avLst/>
          </a:prstGeom>
          <a:noFill/>
        </p:spPr>
        <p:txBody>
          <a:bodyPr wrap="square" lIns="0" rIns="0" tIns="0" bIns="0" anchor="ctr">
            <a:spAutoFit/>
          </a:bodyPr>
          <a:lstStyle/>
          <a:p>
            <a:pPr algn="ctr"/>
            <a:r>
              <a:rPr sz="1100" b="1" i="0" spc="400">
                <a:solidFill>
                  <a:srgbClr val="C5E063"/>
                </a:solidFill>
                <a:latin typeface="Calibri"/>
              </a:rPr>
              <a:t>Approach</a:t>
            </a:r>
          </a:p>
        </p:txBody>
      </p:sp>
      <p:sp>
        <p:nvSpPr>
          <p:cNvPr id="10" name="Rectangle 9"/>
          <p:cNvSpPr/>
          <p:nvPr/>
        </p:nvSpPr>
        <p:spPr>
          <a:xfrm>
            <a:off x="2899791" y="3154680"/>
            <a:ext cx="2904362" cy="45720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99791" y="3154680"/>
            <a:ext cx="2904362" cy="457200"/>
          </a:xfrm>
          <a:prstGeom prst="rect">
            <a:avLst/>
          </a:prstGeom>
          <a:noFill/>
        </p:spPr>
        <p:txBody>
          <a:bodyPr wrap="square" lIns="0" rIns="0" tIns="0" bIns="0" anchor="ctr">
            <a:spAutoFit/>
          </a:bodyPr>
          <a:lstStyle/>
          <a:p>
            <a:pPr algn="ctr"/>
            <a:r>
              <a:rPr sz="1100" b="1" i="0" spc="400">
                <a:solidFill>
                  <a:srgbClr val="C5E063"/>
                </a:solidFill>
                <a:latin typeface="Calibri"/>
              </a:rPr>
              <a:t>Best at</a:t>
            </a:r>
          </a:p>
        </p:txBody>
      </p:sp>
      <p:sp>
        <p:nvSpPr>
          <p:cNvPr id="12" name="Rectangle 11"/>
          <p:cNvSpPr/>
          <p:nvPr/>
        </p:nvSpPr>
        <p:spPr>
          <a:xfrm>
            <a:off x="5804154" y="3154680"/>
            <a:ext cx="2904362" cy="45720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804154" y="3154680"/>
            <a:ext cx="2904362" cy="457200"/>
          </a:xfrm>
          <a:prstGeom prst="rect">
            <a:avLst/>
          </a:prstGeom>
          <a:noFill/>
        </p:spPr>
        <p:txBody>
          <a:bodyPr wrap="square" lIns="0" rIns="0" tIns="0" bIns="0" anchor="ctr">
            <a:spAutoFit/>
          </a:bodyPr>
          <a:lstStyle/>
          <a:p>
            <a:pPr algn="ctr"/>
            <a:r>
              <a:rPr sz="1100" b="1" i="0" spc="400">
                <a:solidFill>
                  <a:srgbClr val="C5E063"/>
                </a:solidFill>
                <a:latin typeface="Calibri"/>
              </a:rPr>
              <a:t>Weak at</a:t>
            </a:r>
          </a:p>
        </p:txBody>
      </p:sp>
      <p:sp>
        <p:nvSpPr>
          <p:cNvPr id="14" name="Rectangle 13"/>
          <p:cNvSpPr/>
          <p:nvPr/>
        </p:nvSpPr>
        <p:spPr>
          <a:xfrm>
            <a:off x="8708517" y="3154680"/>
            <a:ext cx="2904362" cy="45720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08517" y="3154680"/>
            <a:ext cx="2904362" cy="457200"/>
          </a:xfrm>
          <a:prstGeom prst="rect">
            <a:avLst/>
          </a:prstGeom>
          <a:noFill/>
        </p:spPr>
        <p:txBody>
          <a:bodyPr wrap="square" lIns="0" rIns="0" tIns="0" bIns="0" anchor="ctr">
            <a:spAutoFit/>
          </a:bodyPr>
          <a:lstStyle/>
          <a:p>
            <a:pPr algn="ctr"/>
            <a:r>
              <a:rPr sz="1100" b="1" i="0" spc="400">
                <a:solidFill>
                  <a:srgbClr val="C5E063"/>
                </a:solidFill>
                <a:latin typeface="Calibri"/>
              </a:rPr>
              <a:t>Pair with</a:t>
            </a:r>
          </a:p>
        </p:txBody>
      </p:sp>
      <p:sp>
        <p:nvSpPr>
          <p:cNvPr id="16" name="Rectangle 15"/>
          <p:cNvSpPr/>
          <p:nvPr/>
        </p:nvSpPr>
        <p:spPr>
          <a:xfrm>
            <a:off x="548640" y="3611880"/>
            <a:ext cx="2351151" cy="502920"/>
          </a:xfrm>
          <a:prstGeom prst="rect">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3611880"/>
            <a:ext cx="2076831" cy="502920"/>
          </a:xfrm>
          <a:prstGeom prst="rect">
            <a:avLst/>
          </a:prstGeom>
          <a:noFill/>
        </p:spPr>
        <p:txBody>
          <a:bodyPr wrap="square" lIns="0" rIns="0" tIns="0" bIns="0" anchor="ctr">
            <a:spAutoFit/>
          </a:bodyPr>
          <a:lstStyle/>
          <a:p>
            <a:pPr algn="l"/>
            <a:r>
              <a:rPr sz="1100" b="1" i="0">
                <a:solidFill>
                  <a:srgbClr val="2C5244"/>
                </a:solidFill>
                <a:latin typeface="Calibri"/>
              </a:rPr>
              <a:t>Discovery</a:t>
            </a:r>
          </a:p>
        </p:txBody>
      </p:sp>
      <p:sp>
        <p:nvSpPr>
          <p:cNvPr id="18" name="Rectangle 17"/>
          <p:cNvSpPr/>
          <p:nvPr/>
        </p:nvSpPr>
        <p:spPr>
          <a:xfrm>
            <a:off x="2899791" y="3611880"/>
            <a:ext cx="2904362" cy="502920"/>
          </a:xfrm>
          <a:prstGeom prst="rect">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91231" y="3611880"/>
            <a:ext cx="2721482" cy="502920"/>
          </a:xfrm>
          <a:prstGeom prst="rect">
            <a:avLst/>
          </a:prstGeom>
          <a:noFill/>
        </p:spPr>
        <p:txBody>
          <a:bodyPr wrap="square" lIns="0" rIns="0" tIns="0" bIns="0" anchor="ctr">
            <a:spAutoFit/>
          </a:bodyPr>
          <a:lstStyle/>
          <a:p>
            <a:pPr algn="l">
              <a:lnSpc>
                <a:spcPct val="120000"/>
              </a:lnSpc>
            </a:pPr>
            <a:r>
              <a:rPr sz="1000" b="0" i="0">
                <a:solidFill>
                  <a:srgbClr val="475569"/>
                </a:solidFill>
                <a:latin typeface="Calibri"/>
              </a:rPr>
              <a:t>Context &amp; intent</a:t>
            </a:r>
          </a:p>
        </p:txBody>
      </p:sp>
      <p:sp>
        <p:nvSpPr>
          <p:cNvPr id="20" name="Rectangle 19"/>
          <p:cNvSpPr/>
          <p:nvPr/>
        </p:nvSpPr>
        <p:spPr>
          <a:xfrm>
            <a:off x="5804154" y="3611880"/>
            <a:ext cx="2904362" cy="502920"/>
          </a:xfrm>
          <a:prstGeom prst="rect">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895594" y="3611880"/>
            <a:ext cx="2721482" cy="502920"/>
          </a:xfrm>
          <a:prstGeom prst="rect">
            <a:avLst/>
          </a:prstGeom>
          <a:noFill/>
        </p:spPr>
        <p:txBody>
          <a:bodyPr wrap="square" lIns="0" rIns="0" tIns="0" bIns="0" anchor="ctr">
            <a:spAutoFit/>
          </a:bodyPr>
          <a:lstStyle/>
          <a:p>
            <a:pPr algn="l">
              <a:lnSpc>
                <a:spcPct val="120000"/>
              </a:lnSpc>
            </a:pPr>
            <a:r>
              <a:rPr sz="1000" b="0" i="0">
                <a:solidFill>
                  <a:srgbClr val="475569"/>
                </a:solidFill>
                <a:latin typeface="Calibri"/>
              </a:rPr>
              <a:t>Statistics &amp; scale</a:t>
            </a:r>
          </a:p>
        </p:txBody>
      </p:sp>
      <p:sp>
        <p:nvSpPr>
          <p:cNvPr id="22" name="Rectangle 21"/>
          <p:cNvSpPr/>
          <p:nvPr/>
        </p:nvSpPr>
        <p:spPr>
          <a:xfrm>
            <a:off x="8708517" y="3611880"/>
            <a:ext cx="2904362" cy="502920"/>
          </a:xfrm>
          <a:prstGeom prst="rect">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99957" y="3611880"/>
            <a:ext cx="2721482" cy="502920"/>
          </a:xfrm>
          <a:prstGeom prst="rect">
            <a:avLst/>
          </a:prstGeom>
          <a:noFill/>
        </p:spPr>
        <p:txBody>
          <a:bodyPr wrap="square" lIns="0" rIns="0" tIns="0" bIns="0" anchor="ctr">
            <a:spAutoFit/>
          </a:bodyPr>
          <a:lstStyle/>
          <a:p>
            <a:pPr algn="l">
              <a:lnSpc>
                <a:spcPct val="120000"/>
              </a:lnSpc>
            </a:pPr>
            <a:r>
              <a:rPr sz="1000" b="0" i="0">
                <a:solidFill>
                  <a:srgbClr val="475569"/>
                </a:solidFill>
                <a:latin typeface="Calibri"/>
              </a:rPr>
              <a:t>Mining for volume</a:t>
            </a:r>
          </a:p>
        </p:txBody>
      </p:sp>
      <p:sp>
        <p:nvSpPr>
          <p:cNvPr id="24" name="Rectangle 23"/>
          <p:cNvSpPr/>
          <p:nvPr/>
        </p:nvSpPr>
        <p:spPr>
          <a:xfrm>
            <a:off x="548640" y="4114800"/>
            <a:ext cx="2351151" cy="502920"/>
          </a:xfrm>
          <a:prstGeom prst="rect">
            <a:avLst/>
          </a:prstGeom>
          <a:solidFill>
            <a:srgbClr val="F1F4EC"/>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4114800"/>
            <a:ext cx="2076831" cy="502920"/>
          </a:xfrm>
          <a:prstGeom prst="rect">
            <a:avLst/>
          </a:prstGeom>
          <a:noFill/>
        </p:spPr>
        <p:txBody>
          <a:bodyPr wrap="square" lIns="0" rIns="0" tIns="0" bIns="0" anchor="ctr">
            <a:spAutoFit/>
          </a:bodyPr>
          <a:lstStyle/>
          <a:p>
            <a:pPr algn="l"/>
            <a:r>
              <a:rPr sz="1100" b="1" i="0">
                <a:solidFill>
                  <a:srgbClr val="2C5244"/>
                </a:solidFill>
                <a:latin typeface="Calibri"/>
              </a:rPr>
              <a:t>Mining</a:t>
            </a:r>
          </a:p>
        </p:txBody>
      </p:sp>
      <p:sp>
        <p:nvSpPr>
          <p:cNvPr id="26" name="Rectangle 25"/>
          <p:cNvSpPr/>
          <p:nvPr/>
        </p:nvSpPr>
        <p:spPr>
          <a:xfrm>
            <a:off x="2899791" y="4114800"/>
            <a:ext cx="2904362" cy="502920"/>
          </a:xfrm>
          <a:prstGeom prst="rect">
            <a:avLst/>
          </a:prstGeom>
          <a:solidFill>
            <a:srgbClr val="F1F4EC"/>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991231" y="4114800"/>
            <a:ext cx="2721482" cy="502920"/>
          </a:xfrm>
          <a:prstGeom prst="rect">
            <a:avLst/>
          </a:prstGeom>
          <a:noFill/>
        </p:spPr>
        <p:txBody>
          <a:bodyPr wrap="square" lIns="0" rIns="0" tIns="0" bIns="0" anchor="ctr">
            <a:spAutoFit/>
          </a:bodyPr>
          <a:lstStyle/>
          <a:p>
            <a:pPr algn="l">
              <a:lnSpc>
                <a:spcPct val="120000"/>
              </a:lnSpc>
            </a:pPr>
            <a:r>
              <a:rPr sz="1000" b="0" i="0">
                <a:solidFill>
                  <a:srgbClr val="475569"/>
                </a:solidFill>
                <a:latin typeface="Calibri"/>
              </a:rPr>
              <a:t>Volume &amp; sequence</a:t>
            </a:r>
          </a:p>
        </p:txBody>
      </p:sp>
      <p:sp>
        <p:nvSpPr>
          <p:cNvPr id="28" name="Rectangle 27"/>
          <p:cNvSpPr/>
          <p:nvPr/>
        </p:nvSpPr>
        <p:spPr>
          <a:xfrm>
            <a:off x="5804154" y="4114800"/>
            <a:ext cx="2904362" cy="502920"/>
          </a:xfrm>
          <a:prstGeom prst="rect">
            <a:avLst/>
          </a:prstGeom>
          <a:solidFill>
            <a:srgbClr val="F1F4EC"/>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895594" y="4114800"/>
            <a:ext cx="2721482" cy="502920"/>
          </a:xfrm>
          <a:prstGeom prst="rect">
            <a:avLst/>
          </a:prstGeom>
          <a:noFill/>
        </p:spPr>
        <p:txBody>
          <a:bodyPr wrap="square" lIns="0" rIns="0" tIns="0" bIns="0" anchor="ctr">
            <a:spAutoFit/>
          </a:bodyPr>
          <a:lstStyle/>
          <a:p>
            <a:pPr algn="l">
              <a:lnSpc>
                <a:spcPct val="120000"/>
              </a:lnSpc>
            </a:pPr>
            <a:r>
              <a:rPr sz="1000" b="0" i="0">
                <a:solidFill>
                  <a:srgbClr val="475569"/>
                </a:solidFill>
                <a:latin typeface="Calibri"/>
              </a:rPr>
              <a:t>Off-system work</a:t>
            </a:r>
          </a:p>
        </p:txBody>
      </p:sp>
      <p:sp>
        <p:nvSpPr>
          <p:cNvPr id="30" name="Rectangle 29"/>
          <p:cNvSpPr/>
          <p:nvPr/>
        </p:nvSpPr>
        <p:spPr>
          <a:xfrm>
            <a:off x="8708517" y="4114800"/>
            <a:ext cx="2904362" cy="502920"/>
          </a:xfrm>
          <a:prstGeom prst="rect">
            <a:avLst/>
          </a:prstGeom>
          <a:solidFill>
            <a:srgbClr val="F1F4EC"/>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799957" y="4114800"/>
            <a:ext cx="2721482" cy="502920"/>
          </a:xfrm>
          <a:prstGeom prst="rect">
            <a:avLst/>
          </a:prstGeom>
          <a:noFill/>
        </p:spPr>
        <p:txBody>
          <a:bodyPr wrap="square" lIns="0" rIns="0" tIns="0" bIns="0" anchor="ctr">
            <a:spAutoFit/>
          </a:bodyPr>
          <a:lstStyle/>
          <a:p>
            <a:pPr algn="l">
              <a:lnSpc>
                <a:spcPct val="120000"/>
              </a:lnSpc>
            </a:pPr>
            <a:r>
              <a:rPr sz="1000" b="0" i="0">
                <a:solidFill>
                  <a:srgbClr val="475569"/>
                </a:solidFill>
                <a:latin typeface="Calibri"/>
              </a:rPr>
              <a:t>Discovery for context</a:t>
            </a:r>
          </a:p>
        </p:txBody>
      </p:sp>
      <p:sp>
        <p:nvSpPr>
          <p:cNvPr id="32" name="Rectangle 31"/>
          <p:cNvSpPr/>
          <p:nvPr/>
        </p:nvSpPr>
        <p:spPr>
          <a:xfrm>
            <a:off x="548640" y="4617720"/>
            <a:ext cx="2351151" cy="502920"/>
          </a:xfrm>
          <a:prstGeom prst="rect">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5800" y="4617720"/>
            <a:ext cx="2076831" cy="502920"/>
          </a:xfrm>
          <a:prstGeom prst="rect">
            <a:avLst/>
          </a:prstGeom>
          <a:noFill/>
        </p:spPr>
        <p:txBody>
          <a:bodyPr wrap="square" lIns="0" rIns="0" tIns="0" bIns="0" anchor="ctr">
            <a:spAutoFit/>
          </a:bodyPr>
          <a:lstStyle/>
          <a:p>
            <a:pPr algn="l"/>
            <a:r>
              <a:rPr sz="1100" b="1" i="0">
                <a:solidFill>
                  <a:srgbClr val="2C5244"/>
                </a:solidFill>
                <a:latin typeface="Calibri"/>
              </a:rPr>
              <a:t>Task mining</a:t>
            </a:r>
          </a:p>
        </p:txBody>
      </p:sp>
      <p:sp>
        <p:nvSpPr>
          <p:cNvPr id="34" name="Rectangle 33"/>
          <p:cNvSpPr/>
          <p:nvPr/>
        </p:nvSpPr>
        <p:spPr>
          <a:xfrm>
            <a:off x="2899791" y="4617720"/>
            <a:ext cx="2904362" cy="502920"/>
          </a:xfrm>
          <a:prstGeom prst="rect">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991231" y="4617720"/>
            <a:ext cx="2721482" cy="502920"/>
          </a:xfrm>
          <a:prstGeom prst="rect">
            <a:avLst/>
          </a:prstGeom>
          <a:noFill/>
        </p:spPr>
        <p:txBody>
          <a:bodyPr wrap="square" lIns="0" rIns="0" tIns="0" bIns="0" anchor="ctr">
            <a:spAutoFit/>
          </a:bodyPr>
          <a:lstStyle/>
          <a:p>
            <a:pPr algn="l">
              <a:lnSpc>
                <a:spcPct val="120000"/>
              </a:lnSpc>
            </a:pPr>
            <a:r>
              <a:rPr sz="1000" b="0" i="0">
                <a:solidFill>
                  <a:srgbClr val="475569"/>
                </a:solidFill>
                <a:latin typeface="Calibri"/>
              </a:rPr>
              <a:t>Click-by-click detail</a:t>
            </a:r>
          </a:p>
        </p:txBody>
      </p:sp>
      <p:sp>
        <p:nvSpPr>
          <p:cNvPr id="36" name="Rectangle 35"/>
          <p:cNvSpPr/>
          <p:nvPr/>
        </p:nvSpPr>
        <p:spPr>
          <a:xfrm>
            <a:off x="5804154" y="4617720"/>
            <a:ext cx="2904362" cy="502920"/>
          </a:xfrm>
          <a:prstGeom prst="rect">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895594" y="4617720"/>
            <a:ext cx="2721482" cy="502920"/>
          </a:xfrm>
          <a:prstGeom prst="rect">
            <a:avLst/>
          </a:prstGeom>
          <a:noFill/>
        </p:spPr>
        <p:txBody>
          <a:bodyPr wrap="square" lIns="0" rIns="0" tIns="0" bIns="0" anchor="ctr">
            <a:spAutoFit/>
          </a:bodyPr>
          <a:lstStyle/>
          <a:p>
            <a:pPr algn="l">
              <a:lnSpc>
                <a:spcPct val="120000"/>
              </a:lnSpc>
            </a:pPr>
            <a:r>
              <a:rPr sz="1000" b="0" i="0">
                <a:solidFill>
                  <a:srgbClr val="475569"/>
                </a:solidFill>
                <a:latin typeface="Calibri"/>
              </a:rPr>
              <a:t>Cross-team workflows</a:t>
            </a:r>
          </a:p>
        </p:txBody>
      </p:sp>
      <p:sp>
        <p:nvSpPr>
          <p:cNvPr id="38" name="Rectangle 37"/>
          <p:cNvSpPr/>
          <p:nvPr/>
        </p:nvSpPr>
        <p:spPr>
          <a:xfrm>
            <a:off x="8708517" y="4617720"/>
            <a:ext cx="2904362" cy="502920"/>
          </a:xfrm>
          <a:prstGeom prst="rect">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799957" y="4617720"/>
            <a:ext cx="2721482" cy="502920"/>
          </a:xfrm>
          <a:prstGeom prst="rect">
            <a:avLst/>
          </a:prstGeom>
          <a:noFill/>
        </p:spPr>
        <p:txBody>
          <a:bodyPr wrap="square" lIns="0" rIns="0" tIns="0" bIns="0" anchor="ctr">
            <a:spAutoFit/>
          </a:bodyPr>
          <a:lstStyle/>
          <a:p>
            <a:pPr algn="l">
              <a:lnSpc>
                <a:spcPct val="120000"/>
              </a:lnSpc>
            </a:pPr>
            <a:r>
              <a:rPr sz="1000" b="0" i="0">
                <a:solidFill>
                  <a:srgbClr val="475569"/>
                </a:solidFill>
                <a:latin typeface="Calibri"/>
              </a:rPr>
              <a:t>Discovery for purpose</a:t>
            </a:r>
          </a:p>
        </p:txBody>
      </p:sp>
      <p:sp>
        <p:nvSpPr>
          <p:cNvPr id="40" name="TextBox 3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475569"/>
                </a:solidFill>
                <a:latin typeface="Calibri"/>
              </a:rPr>
              <a:t>AI  LEARNING  HUB   ·   LESSON 7 OF 7</a:t>
            </a:r>
          </a:p>
        </p:txBody>
      </p:sp>
      <p:sp>
        <p:nvSpPr>
          <p:cNvPr id="41" name="TextBox 4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475569"/>
                </a:solidFill>
                <a:latin typeface="Calibri"/>
              </a:rPr>
              <a:t>AT A GLANCE</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par>
                    <p:cTn id="123" fill="hold">
                      <p:stCondLst>
                        <p:cond delay="indefinite"/>
                        <p:cond evt="onBegin" delay="0">
                          <p:tn val="2"/>
                        </p:cond>
                      </p:stCondLst>
                      <p:childTnLst>
                        <p:par>
                          <p:cTn id="124" fill="hold">
                            <p:stCondLst>
                              <p:cond delay="0"/>
                            </p:stCondLst>
                            <p:childTnLst>
                              <p:par>
                                <p:cTn id="125" presetID="10" presetClass="entr" presetSubtype="0" fill="hold" grpId="0" nodeType="afterEffect">
                                  <p:stCondLst>
                                    <p:cond delay="18"/>
                                  </p:stCondLst>
                                  <p:childTnLst>
                                    <p:set>
                                      <p:cBhvr>
                                        <p:cTn id="126" dur="1" fill="hold">
                                          <p:stCondLst>
                                            <p:cond delay="0"/>
                                          </p:stCondLst>
                                        </p:cTn>
                                        <p:tgtEl>
                                          <p:spTgt spid="26"/>
                                        </p:tgtEl>
                                        <p:attrNameLst>
                                          <p:attrName>style.visibility</p:attrName>
                                        </p:attrNameLst>
                                      </p:cBhvr>
                                      <p:to>
                                        <p:strVal val="visible"/>
                                      </p:to>
                                    </p:set>
                                    <p:anim calcmode="lin" valueType="num">
                                      <p:cBhvr additive="base">
                                        <p:cTn id="127" dur="150" fill="hold"/>
                                        <p:tgtEl>
                                          <p:spTgt spid="26"/>
                                        </p:tgtEl>
                                        <p:attrNameLst>
                                          <p:attrName>style.opacity</p:attrName>
                                        </p:attrNameLst>
                                      </p:cBhvr>
                                      <p:tavLst>
                                        <p:tav tm="0">
                                          <p:val>
                                            <p:fltVal val="0"/>
                                          </p:val>
                                        </p:tav>
                                        <p:tav tm="100000">
                                          <p:val>
                                            <p:fltVal val="1"/>
                                          </p:val>
                                        </p:tav>
                                      </p:tavLst>
                                    </p:anim>
                                  </p:childTnLst>
                                </p:cTn>
                              </p:par>
                            </p:childTnLst>
                          </p:cTn>
                        </p:par>
                      </p:childTnLst>
                    </p:cTn>
                  </p:par>
                  <p:par>
                    <p:cTn id="128" fill="hold">
                      <p:stCondLst>
                        <p:cond delay="indefinite"/>
                        <p:cond evt="onBegin" delay="0">
                          <p:tn val="2"/>
                        </p:cond>
                      </p:stCondLst>
                      <p:childTnLst>
                        <p:par>
                          <p:cTn id="129" fill="hold">
                            <p:stCondLst>
                              <p:cond delay="0"/>
                            </p:stCondLst>
                            <p:childTnLst>
                              <p:par>
                                <p:cTn id="130" presetID="10" presetClass="entr" presetSubtype="0" fill="hold" grpId="0" nodeType="afterEffect">
                                  <p:stCondLst>
                                    <p:cond delay="18"/>
                                  </p:stCondLst>
                                  <p:childTnLst>
                                    <p:set>
                                      <p:cBhvr>
                                        <p:cTn id="131" dur="1" fill="hold">
                                          <p:stCondLst>
                                            <p:cond delay="0"/>
                                          </p:stCondLst>
                                        </p:cTn>
                                        <p:tgtEl>
                                          <p:spTgt spid="27"/>
                                        </p:tgtEl>
                                        <p:attrNameLst>
                                          <p:attrName>style.visibility</p:attrName>
                                        </p:attrNameLst>
                                      </p:cBhvr>
                                      <p:to>
                                        <p:strVal val="visible"/>
                                      </p:to>
                                    </p:set>
                                    <p:anim calcmode="lin" valueType="num">
                                      <p:cBhvr additive="base">
                                        <p:cTn id="132" dur="150" fill="hold"/>
                                        <p:tgtEl>
                                          <p:spTgt spid="27"/>
                                        </p:tgtEl>
                                        <p:attrNameLst>
                                          <p:attrName>style.opacity</p:attrName>
                                        </p:attrNameLst>
                                      </p:cBhvr>
                                      <p:tavLst>
                                        <p:tav tm="0">
                                          <p:val>
                                            <p:fltVal val="0"/>
                                          </p:val>
                                        </p:tav>
                                        <p:tav tm="100000">
                                          <p:val>
                                            <p:fltVal val="1"/>
                                          </p:val>
                                        </p:tav>
                                      </p:tavLst>
                                    </p:anim>
                                  </p:childTnLst>
                                </p:cTn>
                              </p:par>
                            </p:childTnLst>
                          </p:cTn>
                        </p:par>
                      </p:childTnLst>
                    </p:cTn>
                  </p:par>
                  <p:par>
                    <p:cTn id="133" fill="hold">
                      <p:stCondLst>
                        <p:cond delay="indefinite"/>
                        <p:cond evt="onBegin" delay="0">
                          <p:tn val="2"/>
                        </p:cond>
                      </p:stCondLst>
                      <p:childTnLst>
                        <p:par>
                          <p:cTn id="134" fill="hold">
                            <p:stCondLst>
                              <p:cond delay="0"/>
                            </p:stCondLst>
                            <p:childTnLst>
                              <p:par>
                                <p:cTn id="135" presetID="10" presetClass="entr" presetSubtype="0" fill="hold" grpId="0" nodeType="afterEffect">
                                  <p:stCondLst>
                                    <p:cond delay="18"/>
                                  </p:stCondLst>
                                  <p:childTnLst>
                                    <p:set>
                                      <p:cBhvr>
                                        <p:cTn id="136" dur="1" fill="hold">
                                          <p:stCondLst>
                                            <p:cond delay="0"/>
                                          </p:stCondLst>
                                        </p:cTn>
                                        <p:tgtEl>
                                          <p:spTgt spid="28"/>
                                        </p:tgtEl>
                                        <p:attrNameLst>
                                          <p:attrName>style.visibility</p:attrName>
                                        </p:attrNameLst>
                                      </p:cBhvr>
                                      <p:to>
                                        <p:strVal val="visible"/>
                                      </p:to>
                                    </p:set>
                                    <p:anim calcmode="lin" valueType="num">
                                      <p:cBhvr additive="base">
                                        <p:cTn id="137" dur="150" fill="hold"/>
                                        <p:tgtEl>
                                          <p:spTgt spid="28"/>
                                        </p:tgtEl>
                                        <p:attrNameLst>
                                          <p:attrName>style.opacity</p:attrName>
                                        </p:attrNameLst>
                                      </p:cBhvr>
                                      <p:tavLst>
                                        <p:tav tm="0">
                                          <p:val>
                                            <p:fltVal val="0"/>
                                          </p:val>
                                        </p:tav>
                                        <p:tav tm="100000">
                                          <p:val>
                                            <p:fltVal val="1"/>
                                          </p:val>
                                        </p:tav>
                                      </p:tavLst>
                                    </p:anim>
                                  </p:childTnLst>
                                </p:cTn>
                              </p:par>
                            </p:childTnLst>
                          </p:cTn>
                        </p:par>
                      </p:childTnLst>
                    </p:cTn>
                  </p:par>
                  <p:par>
                    <p:cTn id="138" fill="hold">
                      <p:stCondLst>
                        <p:cond delay="indefinite"/>
                        <p:cond evt="onBegin" delay="0">
                          <p:tn val="2"/>
                        </p:cond>
                      </p:stCondLst>
                      <p:childTnLst>
                        <p:par>
                          <p:cTn id="139" fill="hold">
                            <p:stCondLst>
                              <p:cond delay="0"/>
                            </p:stCondLst>
                            <p:childTnLst>
                              <p:par>
                                <p:cTn id="140" presetID="10" presetClass="entr" presetSubtype="0" fill="hold" grpId="0" nodeType="afterEffect">
                                  <p:stCondLst>
                                    <p:cond delay="18"/>
                                  </p:stCondLst>
                                  <p:childTnLst>
                                    <p:set>
                                      <p:cBhvr>
                                        <p:cTn id="141" dur="1" fill="hold">
                                          <p:stCondLst>
                                            <p:cond delay="0"/>
                                          </p:stCondLst>
                                        </p:cTn>
                                        <p:tgtEl>
                                          <p:spTgt spid="29"/>
                                        </p:tgtEl>
                                        <p:attrNameLst>
                                          <p:attrName>style.visibility</p:attrName>
                                        </p:attrNameLst>
                                      </p:cBhvr>
                                      <p:to>
                                        <p:strVal val="visible"/>
                                      </p:to>
                                    </p:set>
                                    <p:anim calcmode="lin" valueType="num">
                                      <p:cBhvr additive="base">
                                        <p:cTn id="142" dur="150" fill="hold"/>
                                        <p:tgtEl>
                                          <p:spTgt spid="29"/>
                                        </p:tgtEl>
                                        <p:attrNameLst>
                                          <p:attrName>style.opacity</p:attrName>
                                        </p:attrNameLst>
                                      </p:cBhvr>
                                      <p:tavLst>
                                        <p:tav tm="0">
                                          <p:val>
                                            <p:fltVal val="0"/>
                                          </p:val>
                                        </p:tav>
                                        <p:tav tm="100000">
                                          <p:val>
                                            <p:fltVal val="1"/>
                                          </p:val>
                                        </p:tav>
                                      </p:tavLst>
                                    </p:anim>
                                  </p:childTnLst>
                                </p:cTn>
                              </p:par>
                            </p:childTnLst>
                          </p:cTn>
                        </p:par>
                      </p:childTnLst>
                    </p:cTn>
                  </p:par>
                  <p:par>
                    <p:cTn id="143" fill="hold">
                      <p:stCondLst>
                        <p:cond delay="indefinite"/>
                        <p:cond evt="onBegin" delay="0">
                          <p:tn val="2"/>
                        </p:cond>
                      </p:stCondLst>
                      <p:childTnLst>
                        <p:par>
                          <p:cTn id="144" fill="hold">
                            <p:stCondLst>
                              <p:cond delay="0"/>
                            </p:stCondLst>
                            <p:childTnLst>
                              <p:par>
                                <p:cTn id="145" presetID="10" presetClass="entr" presetSubtype="0" fill="hold" grpId="0" nodeType="afterEffect">
                                  <p:stCondLst>
                                    <p:cond delay="18"/>
                                  </p:stCondLst>
                                  <p:childTnLst>
                                    <p:set>
                                      <p:cBhvr>
                                        <p:cTn id="146" dur="1" fill="hold">
                                          <p:stCondLst>
                                            <p:cond delay="0"/>
                                          </p:stCondLst>
                                        </p:cTn>
                                        <p:tgtEl>
                                          <p:spTgt spid="30"/>
                                        </p:tgtEl>
                                        <p:attrNameLst>
                                          <p:attrName>style.visibility</p:attrName>
                                        </p:attrNameLst>
                                      </p:cBhvr>
                                      <p:to>
                                        <p:strVal val="visible"/>
                                      </p:to>
                                    </p:set>
                                    <p:anim calcmode="lin" valueType="num">
                                      <p:cBhvr additive="base">
                                        <p:cTn id="147" dur="150" fill="hold"/>
                                        <p:tgtEl>
                                          <p:spTgt spid="30"/>
                                        </p:tgtEl>
                                        <p:attrNameLst>
                                          <p:attrName>style.opacity</p:attrName>
                                        </p:attrNameLst>
                                      </p:cBhvr>
                                      <p:tavLst>
                                        <p:tav tm="0">
                                          <p:val>
                                            <p:fltVal val="0"/>
                                          </p:val>
                                        </p:tav>
                                        <p:tav tm="100000">
                                          <p:val>
                                            <p:fltVal val="1"/>
                                          </p:val>
                                        </p:tav>
                                      </p:tavLst>
                                    </p:anim>
                                  </p:childTnLst>
                                </p:cTn>
                              </p:par>
                            </p:childTnLst>
                          </p:cTn>
                        </p:par>
                      </p:childTnLst>
                    </p:cTn>
                  </p:par>
                  <p:par>
                    <p:cTn id="148" fill="hold">
                      <p:stCondLst>
                        <p:cond delay="indefinite"/>
                        <p:cond evt="onBegin" delay="0">
                          <p:tn val="2"/>
                        </p:cond>
                      </p:stCondLst>
                      <p:childTnLst>
                        <p:par>
                          <p:cTn id="149" fill="hold">
                            <p:stCondLst>
                              <p:cond delay="0"/>
                            </p:stCondLst>
                            <p:childTnLst>
                              <p:par>
                                <p:cTn id="150" presetID="10" presetClass="entr" presetSubtype="0" fill="hold" grpId="0" nodeType="afterEffect">
                                  <p:stCondLst>
                                    <p:cond delay="18"/>
                                  </p:stCondLst>
                                  <p:childTnLst>
                                    <p:set>
                                      <p:cBhvr>
                                        <p:cTn id="151" dur="1" fill="hold">
                                          <p:stCondLst>
                                            <p:cond delay="0"/>
                                          </p:stCondLst>
                                        </p:cTn>
                                        <p:tgtEl>
                                          <p:spTgt spid="31"/>
                                        </p:tgtEl>
                                        <p:attrNameLst>
                                          <p:attrName>style.visibility</p:attrName>
                                        </p:attrNameLst>
                                      </p:cBhvr>
                                      <p:to>
                                        <p:strVal val="visible"/>
                                      </p:to>
                                    </p:set>
                                    <p:anim calcmode="lin" valueType="num">
                                      <p:cBhvr additive="base">
                                        <p:cTn id="152" dur="150" fill="hold"/>
                                        <p:tgtEl>
                                          <p:spTgt spid="31"/>
                                        </p:tgtEl>
                                        <p:attrNameLst>
                                          <p:attrName>style.opacity</p:attrName>
                                        </p:attrNameLst>
                                      </p:cBhvr>
                                      <p:tavLst>
                                        <p:tav tm="0">
                                          <p:val>
                                            <p:fltVal val="0"/>
                                          </p:val>
                                        </p:tav>
                                        <p:tav tm="100000">
                                          <p:val>
                                            <p:fltVal val="1"/>
                                          </p:val>
                                        </p:tav>
                                      </p:tavLst>
                                    </p:anim>
                                  </p:childTnLst>
                                </p:cTn>
                              </p:par>
                            </p:childTnLst>
                          </p:cTn>
                        </p:par>
                      </p:childTnLst>
                    </p:cTn>
                  </p:par>
                  <p:par>
                    <p:cTn id="153" fill="hold">
                      <p:stCondLst>
                        <p:cond delay="indefinite"/>
                        <p:cond evt="onBegin" delay="0">
                          <p:tn val="2"/>
                        </p:cond>
                      </p:stCondLst>
                      <p:childTnLst>
                        <p:par>
                          <p:cTn id="154" fill="hold">
                            <p:stCondLst>
                              <p:cond delay="0"/>
                            </p:stCondLst>
                            <p:childTnLst>
                              <p:par>
                                <p:cTn id="155" presetID="10" presetClass="entr" presetSubtype="0" fill="hold" grpId="0" nodeType="afterEffect">
                                  <p:stCondLst>
                                    <p:cond delay="18"/>
                                  </p:stCondLst>
                                  <p:childTnLst>
                                    <p:set>
                                      <p:cBhvr>
                                        <p:cTn id="156" dur="1" fill="hold">
                                          <p:stCondLst>
                                            <p:cond delay="0"/>
                                          </p:stCondLst>
                                        </p:cTn>
                                        <p:tgtEl>
                                          <p:spTgt spid="32"/>
                                        </p:tgtEl>
                                        <p:attrNameLst>
                                          <p:attrName>style.visibility</p:attrName>
                                        </p:attrNameLst>
                                      </p:cBhvr>
                                      <p:to>
                                        <p:strVal val="visible"/>
                                      </p:to>
                                    </p:set>
                                    <p:anim calcmode="lin" valueType="num">
                                      <p:cBhvr additive="base">
                                        <p:cTn id="157" dur="150" fill="hold"/>
                                        <p:tgtEl>
                                          <p:spTgt spid="32"/>
                                        </p:tgtEl>
                                        <p:attrNameLst>
                                          <p:attrName>style.opacity</p:attrName>
                                        </p:attrNameLst>
                                      </p:cBhvr>
                                      <p:tavLst>
                                        <p:tav tm="0">
                                          <p:val>
                                            <p:fltVal val="0"/>
                                          </p:val>
                                        </p:tav>
                                        <p:tav tm="100000">
                                          <p:val>
                                            <p:fltVal val="1"/>
                                          </p:val>
                                        </p:tav>
                                      </p:tavLst>
                                    </p:anim>
                                  </p:childTnLst>
                                </p:cTn>
                              </p:par>
                            </p:childTnLst>
                          </p:cTn>
                        </p:par>
                      </p:childTnLst>
                    </p:cTn>
                  </p:par>
                  <p:par>
                    <p:cTn id="158" fill="hold">
                      <p:stCondLst>
                        <p:cond delay="indefinite"/>
                        <p:cond evt="onBegin" delay="0">
                          <p:tn val="2"/>
                        </p:cond>
                      </p:stCondLst>
                      <p:childTnLst>
                        <p:par>
                          <p:cTn id="159" fill="hold">
                            <p:stCondLst>
                              <p:cond delay="0"/>
                            </p:stCondLst>
                            <p:childTnLst>
                              <p:par>
                                <p:cTn id="160" presetID="10" presetClass="entr" presetSubtype="0" fill="hold" grpId="0" nodeType="afterEffect">
                                  <p:stCondLst>
                                    <p:cond delay="18"/>
                                  </p:stCondLst>
                                  <p:childTnLst>
                                    <p:set>
                                      <p:cBhvr>
                                        <p:cTn id="161" dur="1" fill="hold">
                                          <p:stCondLst>
                                            <p:cond delay="0"/>
                                          </p:stCondLst>
                                        </p:cTn>
                                        <p:tgtEl>
                                          <p:spTgt spid="33"/>
                                        </p:tgtEl>
                                        <p:attrNameLst>
                                          <p:attrName>style.visibility</p:attrName>
                                        </p:attrNameLst>
                                      </p:cBhvr>
                                      <p:to>
                                        <p:strVal val="visible"/>
                                      </p:to>
                                    </p:set>
                                    <p:anim calcmode="lin" valueType="num">
                                      <p:cBhvr additive="base">
                                        <p:cTn id="162" dur="150" fill="hold"/>
                                        <p:tgtEl>
                                          <p:spTgt spid="33"/>
                                        </p:tgtEl>
                                        <p:attrNameLst>
                                          <p:attrName>style.opacity</p:attrName>
                                        </p:attrNameLst>
                                      </p:cBhvr>
                                      <p:tavLst>
                                        <p:tav tm="0">
                                          <p:val>
                                            <p:fltVal val="0"/>
                                          </p:val>
                                        </p:tav>
                                        <p:tav tm="100000">
                                          <p:val>
                                            <p:fltVal val="1"/>
                                          </p:val>
                                        </p:tav>
                                      </p:tavLst>
                                    </p:anim>
                                  </p:childTnLst>
                                </p:cTn>
                              </p:par>
                            </p:childTnLst>
                          </p:cTn>
                        </p:par>
                      </p:childTnLst>
                    </p:cTn>
                  </p:par>
                  <p:par>
                    <p:cTn id="163" fill="hold">
                      <p:stCondLst>
                        <p:cond delay="indefinite"/>
                        <p:cond evt="onBegin" delay="0">
                          <p:tn val="2"/>
                        </p:cond>
                      </p:stCondLst>
                      <p:childTnLst>
                        <p:par>
                          <p:cTn id="164" fill="hold">
                            <p:stCondLst>
                              <p:cond delay="0"/>
                            </p:stCondLst>
                            <p:childTnLst>
                              <p:par>
                                <p:cTn id="165" presetID="10" presetClass="entr" presetSubtype="0" fill="hold" grpId="0" nodeType="afterEffect">
                                  <p:stCondLst>
                                    <p:cond delay="18"/>
                                  </p:stCondLst>
                                  <p:childTnLst>
                                    <p:set>
                                      <p:cBhvr>
                                        <p:cTn id="166" dur="1" fill="hold">
                                          <p:stCondLst>
                                            <p:cond delay="0"/>
                                          </p:stCondLst>
                                        </p:cTn>
                                        <p:tgtEl>
                                          <p:spTgt spid="34"/>
                                        </p:tgtEl>
                                        <p:attrNameLst>
                                          <p:attrName>style.visibility</p:attrName>
                                        </p:attrNameLst>
                                      </p:cBhvr>
                                      <p:to>
                                        <p:strVal val="visible"/>
                                      </p:to>
                                    </p:set>
                                    <p:anim calcmode="lin" valueType="num">
                                      <p:cBhvr additive="base">
                                        <p:cTn id="167" dur="150" fill="hold"/>
                                        <p:tgtEl>
                                          <p:spTgt spid="34"/>
                                        </p:tgtEl>
                                        <p:attrNameLst>
                                          <p:attrName>style.opacity</p:attrName>
                                        </p:attrNameLst>
                                      </p:cBhvr>
                                      <p:tavLst>
                                        <p:tav tm="0">
                                          <p:val>
                                            <p:fltVal val="0"/>
                                          </p:val>
                                        </p:tav>
                                        <p:tav tm="100000">
                                          <p:val>
                                            <p:fltVal val="1"/>
                                          </p:val>
                                        </p:tav>
                                      </p:tavLst>
                                    </p:anim>
                                  </p:childTnLst>
                                </p:cTn>
                              </p:par>
                            </p:childTnLst>
                          </p:cTn>
                        </p:par>
                      </p:childTnLst>
                    </p:cTn>
                  </p:par>
                  <p:par>
                    <p:cTn id="168" fill="hold">
                      <p:stCondLst>
                        <p:cond delay="indefinite"/>
                        <p:cond evt="onBegin" delay="0">
                          <p:tn val="2"/>
                        </p:cond>
                      </p:stCondLst>
                      <p:childTnLst>
                        <p:par>
                          <p:cTn id="169" fill="hold">
                            <p:stCondLst>
                              <p:cond delay="0"/>
                            </p:stCondLst>
                            <p:childTnLst>
                              <p:par>
                                <p:cTn id="170" presetID="10" presetClass="entr" presetSubtype="0" fill="hold" grpId="0" nodeType="afterEffect">
                                  <p:stCondLst>
                                    <p:cond delay="18"/>
                                  </p:stCondLst>
                                  <p:childTnLst>
                                    <p:set>
                                      <p:cBhvr>
                                        <p:cTn id="171" dur="1" fill="hold">
                                          <p:stCondLst>
                                            <p:cond delay="0"/>
                                          </p:stCondLst>
                                        </p:cTn>
                                        <p:tgtEl>
                                          <p:spTgt spid="35"/>
                                        </p:tgtEl>
                                        <p:attrNameLst>
                                          <p:attrName>style.visibility</p:attrName>
                                        </p:attrNameLst>
                                      </p:cBhvr>
                                      <p:to>
                                        <p:strVal val="visible"/>
                                      </p:to>
                                    </p:set>
                                    <p:anim calcmode="lin" valueType="num">
                                      <p:cBhvr additive="base">
                                        <p:cTn id="172" dur="150" fill="hold"/>
                                        <p:tgtEl>
                                          <p:spTgt spid="35"/>
                                        </p:tgtEl>
                                        <p:attrNameLst>
                                          <p:attrName>style.opacity</p:attrName>
                                        </p:attrNameLst>
                                      </p:cBhvr>
                                      <p:tavLst>
                                        <p:tav tm="0">
                                          <p:val>
                                            <p:fltVal val="0"/>
                                          </p:val>
                                        </p:tav>
                                        <p:tav tm="100000">
                                          <p:val>
                                            <p:fltVal val="1"/>
                                          </p:val>
                                        </p:tav>
                                      </p:tavLst>
                                    </p:anim>
                                  </p:childTnLst>
                                </p:cTn>
                              </p:par>
                            </p:childTnLst>
                          </p:cTn>
                        </p:par>
                      </p:childTnLst>
                    </p:cTn>
                  </p:par>
                  <p:par>
                    <p:cTn id="173" fill="hold">
                      <p:stCondLst>
                        <p:cond delay="indefinite"/>
                        <p:cond evt="onBegin" delay="0">
                          <p:tn val="2"/>
                        </p:cond>
                      </p:stCondLst>
                      <p:childTnLst>
                        <p:par>
                          <p:cTn id="174" fill="hold">
                            <p:stCondLst>
                              <p:cond delay="0"/>
                            </p:stCondLst>
                            <p:childTnLst>
                              <p:par>
                                <p:cTn id="175" presetID="10" presetClass="entr" presetSubtype="0" fill="hold" grpId="0" nodeType="afterEffect">
                                  <p:stCondLst>
                                    <p:cond delay="18"/>
                                  </p:stCondLst>
                                  <p:childTnLst>
                                    <p:set>
                                      <p:cBhvr>
                                        <p:cTn id="176" dur="1" fill="hold">
                                          <p:stCondLst>
                                            <p:cond delay="0"/>
                                          </p:stCondLst>
                                        </p:cTn>
                                        <p:tgtEl>
                                          <p:spTgt spid="36"/>
                                        </p:tgtEl>
                                        <p:attrNameLst>
                                          <p:attrName>style.visibility</p:attrName>
                                        </p:attrNameLst>
                                      </p:cBhvr>
                                      <p:to>
                                        <p:strVal val="visible"/>
                                      </p:to>
                                    </p:set>
                                    <p:anim calcmode="lin" valueType="num">
                                      <p:cBhvr additive="base">
                                        <p:cTn id="177" dur="150" fill="hold"/>
                                        <p:tgtEl>
                                          <p:spTgt spid="36"/>
                                        </p:tgtEl>
                                        <p:attrNameLst>
                                          <p:attrName>style.opacity</p:attrName>
                                        </p:attrNameLst>
                                      </p:cBhvr>
                                      <p:tavLst>
                                        <p:tav tm="0">
                                          <p:val>
                                            <p:fltVal val="0"/>
                                          </p:val>
                                        </p:tav>
                                        <p:tav tm="100000">
                                          <p:val>
                                            <p:fltVal val="1"/>
                                          </p:val>
                                        </p:tav>
                                      </p:tavLst>
                                    </p:anim>
                                  </p:childTnLst>
                                </p:cTn>
                              </p:par>
                            </p:childTnLst>
                          </p:cTn>
                        </p:par>
                      </p:childTnLst>
                    </p:cTn>
                  </p:par>
                  <p:par>
                    <p:cTn id="178" fill="hold">
                      <p:stCondLst>
                        <p:cond delay="indefinite"/>
                        <p:cond evt="onBegin" delay="0">
                          <p:tn val="2"/>
                        </p:cond>
                      </p:stCondLst>
                      <p:childTnLst>
                        <p:par>
                          <p:cTn id="179" fill="hold">
                            <p:stCondLst>
                              <p:cond delay="0"/>
                            </p:stCondLst>
                            <p:childTnLst>
                              <p:par>
                                <p:cTn id="180" presetID="10" presetClass="entr" presetSubtype="0" fill="hold" grpId="0" nodeType="afterEffect">
                                  <p:stCondLst>
                                    <p:cond delay="18"/>
                                  </p:stCondLst>
                                  <p:childTnLst>
                                    <p:set>
                                      <p:cBhvr>
                                        <p:cTn id="181" dur="1" fill="hold">
                                          <p:stCondLst>
                                            <p:cond delay="0"/>
                                          </p:stCondLst>
                                        </p:cTn>
                                        <p:tgtEl>
                                          <p:spTgt spid="37"/>
                                        </p:tgtEl>
                                        <p:attrNameLst>
                                          <p:attrName>style.visibility</p:attrName>
                                        </p:attrNameLst>
                                      </p:cBhvr>
                                      <p:to>
                                        <p:strVal val="visible"/>
                                      </p:to>
                                    </p:set>
                                    <p:anim calcmode="lin" valueType="num">
                                      <p:cBhvr additive="base">
                                        <p:cTn id="182" dur="150" fill="hold"/>
                                        <p:tgtEl>
                                          <p:spTgt spid="37"/>
                                        </p:tgtEl>
                                        <p:attrNameLst>
                                          <p:attrName>style.opacity</p:attrName>
                                        </p:attrNameLst>
                                      </p:cBhvr>
                                      <p:tavLst>
                                        <p:tav tm="0">
                                          <p:val>
                                            <p:fltVal val="0"/>
                                          </p:val>
                                        </p:tav>
                                        <p:tav tm="100000">
                                          <p:val>
                                            <p:fltVal val="1"/>
                                          </p:val>
                                        </p:tav>
                                      </p:tavLst>
                                    </p:anim>
                                  </p:childTnLst>
                                </p:cTn>
                              </p:par>
                            </p:childTnLst>
                          </p:cTn>
                        </p:par>
                      </p:childTnLst>
                    </p:cTn>
                  </p:par>
                  <p:par>
                    <p:cTn id="183" fill="hold">
                      <p:stCondLst>
                        <p:cond delay="indefinite"/>
                        <p:cond evt="onBegin" delay="0">
                          <p:tn val="2"/>
                        </p:cond>
                      </p:stCondLst>
                      <p:childTnLst>
                        <p:par>
                          <p:cTn id="184" fill="hold">
                            <p:stCondLst>
                              <p:cond delay="0"/>
                            </p:stCondLst>
                            <p:childTnLst>
                              <p:par>
                                <p:cTn id="185" presetID="10" presetClass="entr" presetSubtype="0" fill="hold" grpId="0" nodeType="afterEffect">
                                  <p:stCondLst>
                                    <p:cond delay="18"/>
                                  </p:stCondLst>
                                  <p:childTnLst>
                                    <p:set>
                                      <p:cBhvr>
                                        <p:cTn id="186" dur="1" fill="hold">
                                          <p:stCondLst>
                                            <p:cond delay="0"/>
                                          </p:stCondLst>
                                        </p:cTn>
                                        <p:tgtEl>
                                          <p:spTgt spid="38"/>
                                        </p:tgtEl>
                                        <p:attrNameLst>
                                          <p:attrName>style.visibility</p:attrName>
                                        </p:attrNameLst>
                                      </p:cBhvr>
                                      <p:to>
                                        <p:strVal val="visible"/>
                                      </p:to>
                                    </p:set>
                                    <p:anim calcmode="lin" valueType="num">
                                      <p:cBhvr additive="base">
                                        <p:cTn id="187" dur="150" fill="hold"/>
                                        <p:tgtEl>
                                          <p:spTgt spid="38"/>
                                        </p:tgtEl>
                                        <p:attrNameLst>
                                          <p:attrName>style.opacity</p:attrName>
                                        </p:attrNameLst>
                                      </p:cBhvr>
                                      <p:tavLst>
                                        <p:tav tm="0">
                                          <p:val>
                                            <p:fltVal val="0"/>
                                          </p:val>
                                        </p:tav>
                                        <p:tav tm="100000">
                                          <p:val>
                                            <p:fltVal val="1"/>
                                          </p:val>
                                        </p:tav>
                                      </p:tavLst>
                                    </p:anim>
                                  </p:childTnLst>
                                </p:cTn>
                              </p:par>
                            </p:childTnLst>
                          </p:cTn>
                        </p:par>
                      </p:childTnLst>
                    </p:cTn>
                  </p:par>
                  <p:par>
                    <p:cTn id="188" fill="hold">
                      <p:stCondLst>
                        <p:cond delay="indefinite"/>
                        <p:cond evt="onBegin" delay="0">
                          <p:tn val="2"/>
                        </p:cond>
                      </p:stCondLst>
                      <p:childTnLst>
                        <p:par>
                          <p:cTn id="189" fill="hold">
                            <p:stCondLst>
                              <p:cond delay="0"/>
                            </p:stCondLst>
                            <p:childTnLst>
                              <p:par>
                                <p:cTn id="190" presetID="10" presetClass="entr" presetSubtype="0" fill="hold" grpId="0" nodeType="afterEffect">
                                  <p:stCondLst>
                                    <p:cond delay="18"/>
                                  </p:stCondLst>
                                  <p:childTnLst>
                                    <p:set>
                                      <p:cBhvr>
                                        <p:cTn id="191" dur="1" fill="hold">
                                          <p:stCondLst>
                                            <p:cond delay="0"/>
                                          </p:stCondLst>
                                        </p:cTn>
                                        <p:tgtEl>
                                          <p:spTgt spid="39"/>
                                        </p:tgtEl>
                                        <p:attrNameLst>
                                          <p:attrName>style.visibility</p:attrName>
                                        </p:attrNameLst>
                                      </p:cBhvr>
                                      <p:to>
                                        <p:strVal val="visible"/>
                                      </p:to>
                                    </p:set>
                                    <p:anim calcmode="lin" valueType="num">
                                      <p:cBhvr additive="base">
                                        <p:cTn id="192" dur="150" fill="hold"/>
                                        <p:tgtEl>
                                          <p:spTgt spid="39"/>
                                        </p:tgtEl>
                                        <p:attrNameLst>
                                          <p:attrName>style.opacity</p:attrName>
                                        </p:attrNameLst>
                                      </p:cBhvr>
                                      <p:tavLst>
                                        <p:tav tm="0">
                                          <p:val>
                                            <p:fltVal val="0"/>
                                          </p:val>
                                        </p:tav>
                                        <p:tav tm="100000">
                                          <p:val>
                                            <p:fltVal val="1"/>
                                          </p:val>
                                        </p:tav>
                                      </p:tavLst>
                                    </p:anim>
                                  </p:childTnLst>
                                </p:cTn>
                              </p:par>
                            </p:childTnLst>
                          </p:cTn>
                        </p:par>
                      </p:childTnLst>
                    </p:cTn>
                  </p:par>
                  <p:par>
                    <p:cTn id="193" fill="hold">
                      <p:stCondLst>
                        <p:cond delay="indefinite"/>
                        <p:cond evt="onBegin" delay="0">
                          <p:tn val="2"/>
                        </p:cond>
                      </p:stCondLst>
                      <p:childTnLst>
                        <p:par>
                          <p:cTn id="194" fill="hold">
                            <p:stCondLst>
                              <p:cond delay="0"/>
                            </p:stCondLst>
                            <p:childTnLst>
                              <p:par>
                                <p:cTn id="195" presetID="10" presetClass="entr" presetSubtype="0" fill="hold" grpId="0" nodeType="afterEffect">
                                  <p:stCondLst>
                                    <p:cond delay="18"/>
                                  </p:stCondLst>
                                  <p:childTnLst>
                                    <p:set>
                                      <p:cBhvr>
                                        <p:cTn id="196" dur="1" fill="hold">
                                          <p:stCondLst>
                                            <p:cond delay="0"/>
                                          </p:stCondLst>
                                        </p:cTn>
                                        <p:tgtEl>
                                          <p:spTgt spid="40"/>
                                        </p:tgtEl>
                                        <p:attrNameLst>
                                          <p:attrName>style.visibility</p:attrName>
                                        </p:attrNameLst>
                                      </p:cBhvr>
                                      <p:to>
                                        <p:strVal val="visible"/>
                                      </p:to>
                                    </p:set>
                                    <p:anim calcmode="lin" valueType="num">
                                      <p:cBhvr additive="base">
                                        <p:cTn id="197" dur="150" fill="hold"/>
                                        <p:tgtEl>
                                          <p:spTgt spid="40"/>
                                        </p:tgtEl>
                                        <p:attrNameLst>
                                          <p:attrName>style.opacity</p:attrName>
                                        </p:attrNameLst>
                                      </p:cBhvr>
                                      <p:tavLst>
                                        <p:tav tm="0">
                                          <p:val>
                                            <p:fltVal val="0"/>
                                          </p:val>
                                        </p:tav>
                                        <p:tav tm="100000">
                                          <p:val>
                                            <p:fltVal val="1"/>
                                          </p:val>
                                        </p:tav>
                                      </p:tavLst>
                                    </p:anim>
                                  </p:childTnLst>
                                </p:cTn>
                              </p:par>
                            </p:childTnLst>
                          </p:cTn>
                        </p:par>
                      </p:childTnLst>
                    </p:cTn>
                  </p:par>
                  <p:par>
                    <p:cTn id="198" fill="hold">
                      <p:stCondLst>
                        <p:cond delay="indefinite"/>
                        <p:cond evt="onBegin" delay="0">
                          <p:tn val="2"/>
                        </p:cond>
                      </p:stCondLst>
                      <p:childTnLst>
                        <p:par>
                          <p:cTn id="199" fill="hold">
                            <p:stCondLst>
                              <p:cond delay="0"/>
                            </p:stCondLst>
                            <p:childTnLst>
                              <p:par>
                                <p:cTn id="200" presetID="10" presetClass="entr" presetSubtype="0" fill="hold" grpId="0" nodeType="afterEffect">
                                  <p:stCondLst>
                                    <p:cond delay="18"/>
                                  </p:stCondLst>
                                  <p:childTnLst>
                                    <p:set>
                                      <p:cBhvr>
                                        <p:cTn id="201" dur="1" fill="hold">
                                          <p:stCondLst>
                                            <p:cond delay="0"/>
                                          </p:stCondLst>
                                        </p:cTn>
                                        <p:tgtEl>
                                          <p:spTgt spid="41"/>
                                        </p:tgtEl>
                                        <p:attrNameLst>
                                          <p:attrName>style.visibility</p:attrName>
                                        </p:attrNameLst>
                                      </p:cBhvr>
                                      <p:to>
                                        <p:strVal val="visible"/>
                                      </p:to>
                                    </p:set>
                                    <p:anim calcmode="lin" valueType="num">
                                      <p:cBhvr additive="base">
                                        <p:cTn id="202" dur="150" fill="hold"/>
                                        <p:tgtEl>
                                          <p:spTgt spid="4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7   /   1 min</a:t>
            </a:r>
          </a:p>
        </p:txBody>
      </p:sp>
      <p:sp>
        <p:nvSpPr>
          <p:cNvPr id="5" name="TextBox 4"/>
          <p:cNvSpPr txBox="1"/>
          <p:nvPr/>
        </p:nvSpPr>
        <p:spPr>
          <a:xfrm>
            <a:off x="274320" y="1371600"/>
            <a:ext cx="5120640" cy="4389120"/>
          </a:xfrm>
          <a:prstGeom prst="rect">
            <a:avLst/>
          </a:prstGeom>
          <a:noFill/>
        </p:spPr>
        <p:txBody>
          <a:bodyPr wrap="square" lIns="0" rIns="0" tIns="0" bIns="0" anchor="t">
            <a:spAutoFit/>
          </a:bodyPr>
          <a:lstStyle/>
          <a:p>
            <a:pPr algn="l"/>
            <a:r>
              <a:rPr sz="20000" b="1" i="0">
                <a:solidFill>
                  <a:srgbClr val="C5E063"/>
                </a:solidFill>
                <a:latin typeface="Georgia"/>
              </a:rPr>
              <a:t>02</a:t>
            </a:r>
          </a:p>
        </p:txBody>
      </p:sp>
      <p:sp>
        <p:nvSpPr>
          <p:cNvPr id="6" name="TextBox 5"/>
          <p:cNvSpPr txBox="1"/>
          <p:nvPr/>
        </p:nvSpPr>
        <p:spPr>
          <a:xfrm>
            <a:off x="5486400" y="2103120"/>
            <a:ext cx="6400800" cy="365760"/>
          </a:xfrm>
          <a:prstGeom prst="rect">
            <a:avLst/>
          </a:prstGeom>
          <a:noFill/>
        </p:spPr>
        <p:txBody>
          <a:bodyPr wrap="square" lIns="0" rIns="0" tIns="0" bIns="0" anchor="t">
            <a:spAutoFit/>
          </a:bodyPr>
          <a:lstStyle/>
          <a:p>
            <a:pPr algn="l"/>
            <a:r>
              <a:rPr sz="1100" b="1" i="0" spc="600">
                <a:solidFill>
                  <a:srgbClr val="C5E063"/>
                </a:solidFill>
                <a:latin typeface="Calibri"/>
              </a:rPr>
              <a:t>PART 2  OF  4</a:t>
            </a:r>
          </a:p>
        </p:txBody>
      </p:sp>
      <p:sp>
        <p:nvSpPr>
          <p:cNvPr id="7" name="TextBox 6"/>
          <p:cNvSpPr txBox="1"/>
          <p:nvPr/>
        </p:nvSpPr>
        <p:spPr>
          <a:xfrm>
            <a:off x="5486400" y="2606040"/>
            <a:ext cx="6400800" cy="1280160"/>
          </a:xfrm>
          <a:prstGeom prst="rect">
            <a:avLst/>
          </a:prstGeom>
          <a:noFill/>
        </p:spPr>
        <p:txBody>
          <a:bodyPr wrap="square" lIns="0" rIns="0" tIns="0" bIns="0" anchor="t">
            <a:spAutoFit/>
          </a:bodyPr>
          <a:lstStyle/>
          <a:p>
            <a:pPr algn="l"/>
            <a:r>
              <a:rPr sz="3600" b="1" i="0">
                <a:solidFill>
                  <a:srgbClr val="FFFFFF"/>
                </a:solidFill>
                <a:latin typeface="Georgia"/>
              </a:rPr>
              <a:t>Gemba — go. watch. stay quiet.</a:t>
            </a:r>
          </a:p>
        </p:txBody>
      </p:sp>
      <p:sp>
        <p:nvSpPr>
          <p:cNvPr id="8" name="Rectangle 7"/>
          <p:cNvSpPr/>
          <p:nvPr/>
        </p:nvSpPr>
        <p:spPr>
          <a:xfrm>
            <a:off x="5486400" y="4160520"/>
            <a:ext cx="457200" cy="45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0" y="4343400"/>
            <a:ext cx="6400800" cy="18288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The single most underrated skill in process work. The notebook is your most valuable tool.</a:t>
            </a:r>
          </a:p>
        </p:txBody>
      </p:sp>
      <p:sp>
        <p:nvSpPr>
          <p:cNvPr id="10" name="TextBox 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7 OF 7</a:t>
            </a:r>
          </a:p>
        </p:txBody>
      </p:sp>
      <p:sp>
        <p:nvSpPr>
          <p:cNvPr id="11" name="TextBox 1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PART 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7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THE  ART  OF  OBSERVING</a:t>
            </a:r>
          </a:p>
        </p:txBody>
      </p:sp>
      <p:sp>
        <p:nvSpPr>
          <p:cNvPr id="6" name="TextBox 5"/>
          <p:cNvSpPr txBox="1"/>
          <p:nvPr/>
        </p:nvSpPr>
        <p:spPr>
          <a:xfrm>
            <a:off x="548640" y="1463040"/>
            <a:ext cx="6400800" cy="1097280"/>
          </a:xfrm>
          <a:prstGeom prst="rect">
            <a:avLst/>
          </a:prstGeom>
          <a:noFill/>
        </p:spPr>
        <p:txBody>
          <a:bodyPr wrap="square" lIns="0" rIns="0" tIns="0" bIns="0" anchor="t">
            <a:spAutoFit/>
          </a:bodyPr>
          <a:lstStyle/>
          <a:p>
            <a:pPr algn="l"/>
            <a:r>
              <a:rPr sz="2800" b="0" i="0">
                <a:solidFill>
                  <a:srgbClr val="FFFFFF"/>
                </a:solidFill>
                <a:latin typeface="Georgia"/>
              </a:rPr>
              <a:t>Gemba means 'the real place'. The work happens there — not in the SOP.</a:t>
            </a:r>
          </a:p>
        </p:txBody>
      </p:sp>
      <p:sp>
        <p:nvSpPr>
          <p:cNvPr id="7" name="TextBox 6"/>
          <p:cNvSpPr txBox="1"/>
          <p:nvPr/>
        </p:nvSpPr>
        <p:spPr>
          <a:xfrm>
            <a:off x="548640" y="2606040"/>
            <a:ext cx="6400800" cy="3291840"/>
          </a:xfrm>
          <a:prstGeom prst="rect">
            <a:avLst/>
          </a:prstGeom>
          <a:noFill/>
        </p:spPr>
        <p:txBody>
          <a:bodyPr wrap="square" lIns="0" rIns="0" tIns="0" bIns="0" anchor="t">
            <a:spAutoFit/>
          </a:bodyPr>
          <a:lstStyle/>
          <a:p>
            <a:pPr algn="l">
              <a:lnSpc>
                <a:spcPct val="145000"/>
              </a:lnSpc>
            </a:pPr>
            <a:r>
              <a:rPr sz="1400" b="0" i="0">
                <a:solidFill>
                  <a:srgbClr val="E5E7EB"/>
                </a:solidFill>
                <a:latin typeface="Calibri"/>
              </a:rPr>
              <a:t>Most process problems are invisible to managers, because the people doing the work have already adapted around them. The workaround becomes the work.
Gemba is the discipline of going to the place, watching silently, and writing down what you see — *not* what you think you see. The first 30 minutes feel awkward. Then the workarounds start appearing on every page of your notebook.</a:t>
            </a:r>
          </a:p>
        </p:txBody>
      </p:sp>
      <p:sp>
        <p:nvSpPr>
          <p:cNvPr id="8" name="Rectangle 7"/>
          <p:cNvSpPr/>
          <p:nvPr/>
        </p:nvSpPr>
        <p:spPr>
          <a:xfrm>
            <a:off x="7315200" y="1417320"/>
            <a:ext cx="4297680" cy="4572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0" y="1691640"/>
            <a:ext cx="3749040" cy="274320"/>
          </a:xfrm>
          <a:prstGeom prst="rect">
            <a:avLst/>
          </a:prstGeom>
          <a:noFill/>
        </p:spPr>
        <p:txBody>
          <a:bodyPr wrap="square" lIns="0" rIns="0" tIns="0" bIns="0" anchor="t">
            <a:spAutoFit/>
          </a:bodyPr>
          <a:lstStyle/>
          <a:p>
            <a:pPr algn="l"/>
            <a:r>
              <a:rPr sz="1000" b="1" i="0" spc="500">
                <a:solidFill>
                  <a:srgbClr val="C5E063"/>
                </a:solidFill>
                <a:latin typeface="Calibri"/>
              </a:rPr>
              <a:t>GEMBA  HABITS</a:t>
            </a:r>
          </a:p>
        </p:txBody>
      </p:sp>
      <p:sp>
        <p:nvSpPr>
          <p:cNvPr id="10" name="Oval 9"/>
          <p:cNvSpPr/>
          <p:nvPr/>
        </p:nvSpPr>
        <p:spPr>
          <a:xfrm>
            <a:off x="7635240" y="2359152"/>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0" y="2194560"/>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Show up unannounced. Sit at the worker's elbow.</a:t>
            </a:r>
          </a:p>
        </p:txBody>
      </p:sp>
      <p:sp>
        <p:nvSpPr>
          <p:cNvPr id="12" name="Oval 11"/>
          <p:cNvSpPr/>
          <p:nvPr/>
        </p:nvSpPr>
        <p:spPr>
          <a:xfrm>
            <a:off x="7635240" y="3072384"/>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0" y="2907792"/>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Ask 'what's happening' rarely. Ask 'why' even more rarely.</a:t>
            </a:r>
          </a:p>
        </p:txBody>
      </p:sp>
      <p:sp>
        <p:nvSpPr>
          <p:cNvPr id="14" name="Oval 13"/>
          <p:cNvSpPr/>
          <p:nvPr/>
        </p:nvSpPr>
        <p:spPr>
          <a:xfrm>
            <a:off x="7635240" y="3785616"/>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63840" y="3621024"/>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Capture every workaround — they are your gold.</a:t>
            </a:r>
          </a:p>
        </p:txBody>
      </p:sp>
      <p:sp>
        <p:nvSpPr>
          <p:cNvPr id="16" name="Oval 15"/>
          <p:cNvSpPr/>
          <p:nvPr/>
        </p:nvSpPr>
        <p:spPr>
          <a:xfrm>
            <a:off x="7635240" y="4498848"/>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0" y="4334256"/>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Time-stamp each step. Five-minute estimates lie.</a:t>
            </a:r>
          </a:p>
        </p:txBody>
      </p:sp>
      <p:sp>
        <p:nvSpPr>
          <p:cNvPr id="18" name="Oval 17"/>
          <p:cNvSpPr/>
          <p:nvPr/>
        </p:nvSpPr>
        <p:spPr>
          <a:xfrm>
            <a:off x="7635240" y="5212080"/>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0" y="5047488"/>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Read your notes aloud the same day or you'll forget half of it.</a:t>
            </a:r>
          </a:p>
        </p:txBody>
      </p:sp>
      <p:sp>
        <p:nvSpPr>
          <p:cNvPr id="20" name="TextBox 1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7 OF 7</a:t>
            </a:r>
          </a:p>
        </p:txBody>
      </p:sp>
      <p:sp>
        <p:nvSpPr>
          <p:cNvPr id="21" name="TextBox 2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GEMBA</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BF5"/>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2C5244"/>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0F1F1A"/>
                </a:solidFill>
                <a:latin typeface="Calibri"/>
              </a:rPr>
              <a:t>WEEK 1   /   LESSON 7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0F766E"/>
                </a:solidFill>
                <a:latin typeface="Calibri"/>
              </a:rPr>
              <a:t>SIPOC  IN  30  MINUTES</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2800" b="0" i="0">
                <a:solidFill>
                  <a:srgbClr val="0F1F1A"/>
                </a:solidFill>
                <a:latin typeface="Georgia"/>
              </a:rPr>
              <a:t>Five boxes. One whiteboard. The process map your team has been waiting for.</a:t>
            </a:r>
          </a:p>
        </p:txBody>
      </p:sp>
      <p:sp>
        <p:nvSpPr>
          <p:cNvPr id="7" name="TextBox 6"/>
          <p:cNvSpPr txBox="1"/>
          <p:nvPr/>
        </p:nvSpPr>
        <p:spPr>
          <a:xfrm>
            <a:off x="548640" y="2286000"/>
            <a:ext cx="10972800" cy="914400"/>
          </a:xfrm>
          <a:prstGeom prst="rect">
            <a:avLst/>
          </a:prstGeom>
          <a:noFill/>
        </p:spPr>
        <p:txBody>
          <a:bodyPr wrap="square" lIns="0" rIns="0" tIns="0" bIns="0" anchor="t">
            <a:spAutoFit/>
          </a:bodyPr>
          <a:lstStyle/>
          <a:p>
            <a:pPr algn="l">
              <a:lnSpc>
                <a:spcPct val="125000"/>
              </a:lnSpc>
            </a:pPr>
            <a:r>
              <a:rPr sz="1400" b="0" i="0">
                <a:solidFill>
                  <a:srgbClr val="475569"/>
                </a:solidFill>
                <a:latin typeface="Calibri"/>
              </a:rPr>
              <a:t>Done in this order, with one stakeholder, you'll have a usable SIPOC in under half an hour.</a:t>
            </a:r>
          </a:p>
        </p:txBody>
      </p:sp>
      <p:sp>
        <p:nvSpPr>
          <p:cNvPr id="8" name="Rectangle 7"/>
          <p:cNvSpPr/>
          <p:nvPr/>
        </p:nvSpPr>
        <p:spPr>
          <a:xfrm>
            <a:off x="548640" y="3200400"/>
            <a:ext cx="2081174" cy="50292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3200400"/>
            <a:ext cx="2081174" cy="502920"/>
          </a:xfrm>
          <a:prstGeom prst="rect">
            <a:avLst/>
          </a:prstGeom>
          <a:noFill/>
        </p:spPr>
        <p:txBody>
          <a:bodyPr wrap="square" lIns="0" rIns="0" tIns="0" bIns="0" anchor="ctr">
            <a:spAutoFit/>
          </a:bodyPr>
          <a:lstStyle/>
          <a:p>
            <a:pPr algn="ctr"/>
            <a:r>
              <a:rPr sz="1000" b="1" i="0" spc="400">
                <a:solidFill>
                  <a:srgbClr val="C5E063"/>
                </a:solidFill>
                <a:latin typeface="Calibri"/>
              </a:rPr>
              <a:t>STEP 1</a:t>
            </a:r>
          </a:p>
        </p:txBody>
      </p:sp>
      <p:sp>
        <p:nvSpPr>
          <p:cNvPr id="10" name="Rectangle 9"/>
          <p:cNvSpPr/>
          <p:nvPr/>
        </p:nvSpPr>
        <p:spPr>
          <a:xfrm>
            <a:off x="548640" y="3703320"/>
            <a:ext cx="2081174" cy="246888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3840480"/>
            <a:ext cx="1751990" cy="502920"/>
          </a:xfrm>
          <a:prstGeom prst="rect">
            <a:avLst/>
          </a:prstGeom>
          <a:noFill/>
        </p:spPr>
        <p:txBody>
          <a:bodyPr wrap="square" lIns="0" rIns="0" tIns="0" bIns="0" anchor="t">
            <a:spAutoFit/>
          </a:bodyPr>
          <a:lstStyle/>
          <a:p>
            <a:pPr algn="l">
              <a:lnSpc>
                <a:spcPct val="115000"/>
              </a:lnSpc>
            </a:pPr>
            <a:r>
              <a:rPr sz="1400" b="1" i="0">
                <a:solidFill>
                  <a:srgbClr val="0F1F1A"/>
                </a:solidFill>
                <a:latin typeface="Georgia"/>
              </a:rPr>
              <a:t>Identify the process</a:t>
            </a:r>
          </a:p>
        </p:txBody>
      </p:sp>
      <p:sp>
        <p:nvSpPr>
          <p:cNvPr id="12" name="TextBox 11"/>
          <p:cNvSpPr txBox="1"/>
          <p:nvPr/>
        </p:nvSpPr>
        <p:spPr>
          <a:xfrm>
            <a:off x="713232" y="4389120"/>
            <a:ext cx="1751990" cy="1691640"/>
          </a:xfrm>
          <a:prstGeom prst="rect">
            <a:avLst/>
          </a:prstGeom>
          <a:noFill/>
        </p:spPr>
        <p:txBody>
          <a:bodyPr wrap="square" lIns="0" rIns="0" tIns="0" bIns="0" anchor="t">
            <a:spAutoFit/>
          </a:bodyPr>
          <a:lstStyle/>
          <a:p>
            <a:pPr algn="l">
              <a:lnSpc>
                <a:spcPct val="135000"/>
              </a:lnSpc>
            </a:pPr>
            <a:r>
              <a:rPr sz="1000" b="0" i="0">
                <a:solidFill>
                  <a:srgbClr val="475569"/>
                </a:solidFill>
                <a:latin typeface="Calibri"/>
              </a:rPr>
              <a:t>Choose one process with clear boundaries. Agree on where it starts and where it ends, before drawing.</a:t>
            </a:r>
          </a:p>
        </p:txBody>
      </p:sp>
      <p:sp>
        <p:nvSpPr>
          <p:cNvPr id="13" name="TextBox 12"/>
          <p:cNvSpPr txBox="1"/>
          <p:nvPr/>
        </p:nvSpPr>
        <p:spPr>
          <a:xfrm>
            <a:off x="2492654" y="4389120"/>
            <a:ext cx="274320" cy="365760"/>
          </a:xfrm>
          <a:prstGeom prst="rect">
            <a:avLst/>
          </a:prstGeom>
          <a:noFill/>
        </p:spPr>
        <p:txBody>
          <a:bodyPr wrap="square" lIns="0" rIns="0" tIns="0" bIns="0" anchor="ctr">
            <a:spAutoFit/>
          </a:bodyPr>
          <a:lstStyle/>
          <a:p>
            <a:pPr algn="ctr"/>
            <a:r>
              <a:rPr sz="1800" b="1" i="0">
                <a:solidFill>
                  <a:srgbClr val="0F766E"/>
                </a:solidFill>
                <a:latin typeface="Georgia"/>
              </a:rPr>
              <a:t>→</a:t>
            </a:r>
          </a:p>
        </p:txBody>
      </p:sp>
      <p:sp>
        <p:nvSpPr>
          <p:cNvPr id="14" name="Rectangle 13"/>
          <p:cNvSpPr/>
          <p:nvPr/>
        </p:nvSpPr>
        <p:spPr>
          <a:xfrm>
            <a:off x="2794406" y="3200400"/>
            <a:ext cx="2081174" cy="50292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94406" y="3200400"/>
            <a:ext cx="2081174" cy="502920"/>
          </a:xfrm>
          <a:prstGeom prst="rect">
            <a:avLst/>
          </a:prstGeom>
          <a:noFill/>
        </p:spPr>
        <p:txBody>
          <a:bodyPr wrap="square" lIns="0" rIns="0" tIns="0" bIns="0" anchor="ctr">
            <a:spAutoFit/>
          </a:bodyPr>
          <a:lstStyle/>
          <a:p>
            <a:pPr algn="ctr"/>
            <a:r>
              <a:rPr sz="1000" b="1" i="0" spc="400">
                <a:solidFill>
                  <a:srgbClr val="C5E063"/>
                </a:solidFill>
                <a:latin typeface="Calibri"/>
              </a:rPr>
              <a:t>STEP 2</a:t>
            </a:r>
          </a:p>
        </p:txBody>
      </p:sp>
      <p:sp>
        <p:nvSpPr>
          <p:cNvPr id="16" name="Rectangle 15"/>
          <p:cNvSpPr/>
          <p:nvPr/>
        </p:nvSpPr>
        <p:spPr>
          <a:xfrm>
            <a:off x="2794406" y="3703320"/>
            <a:ext cx="2081174" cy="246888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958998" y="3840480"/>
            <a:ext cx="1751990" cy="502920"/>
          </a:xfrm>
          <a:prstGeom prst="rect">
            <a:avLst/>
          </a:prstGeom>
          <a:noFill/>
        </p:spPr>
        <p:txBody>
          <a:bodyPr wrap="square" lIns="0" rIns="0" tIns="0" bIns="0" anchor="t">
            <a:spAutoFit/>
          </a:bodyPr>
          <a:lstStyle/>
          <a:p>
            <a:pPr algn="l">
              <a:lnSpc>
                <a:spcPct val="115000"/>
              </a:lnSpc>
            </a:pPr>
            <a:r>
              <a:rPr sz="1400" b="1" i="0">
                <a:solidFill>
                  <a:srgbClr val="0F1F1A"/>
                </a:solidFill>
                <a:latin typeface="Georgia"/>
              </a:rPr>
              <a:t>List suppliers &amp; inputs</a:t>
            </a:r>
          </a:p>
        </p:txBody>
      </p:sp>
      <p:sp>
        <p:nvSpPr>
          <p:cNvPr id="18" name="TextBox 17"/>
          <p:cNvSpPr txBox="1"/>
          <p:nvPr/>
        </p:nvSpPr>
        <p:spPr>
          <a:xfrm>
            <a:off x="2958998" y="4389120"/>
            <a:ext cx="1751990" cy="1691640"/>
          </a:xfrm>
          <a:prstGeom prst="rect">
            <a:avLst/>
          </a:prstGeom>
          <a:noFill/>
        </p:spPr>
        <p:txBody>
          <a:bodyPr wrap="square" lIns="0" rIns="0" tIns="0" bIns="0" anchor="t">
            <a:spAutoFit/>
          </a:bodyPr>
          <a:lstStyle/>
          <a:p>
            <a:pPr algn="l">
              <a:lnSpc>
                <a:spcPct val="135000"/>
              </a:lnSpc>
            </a:pPr>
            <a:r>
              <a:rPr sz="1000" b="0" i="0">
                <a:solidFill>
                  <a:srgbClr val="475569"/>
                </a:solidFill>
                <a:latin typeface="Calibri"/>
              </a:rPr>
              <a:t>Who feeds the process? People, systems, documents. What exactly do they hand over?</a:t>
            </a:r>
          </a:p>
        </p:txBody>
      </p:sp>
      <p:sp>
        <p:nvSpPr>
          <p:cNvPr id="19" name="TextBox 18"/>
          <p:cNvSpPr txBox="1"/>
          <p:nvPr/>
        </p:nvSpPr>
        <p:spPr>
          <a:xfrm>
            <a:off x="4738420" y="4389120"/>
            <a:ext cx="274320" cy="365760"/>
          </a:xfrm>
          <a:prstGeom prst="rect">
            <a:avLst/>
          </a:prstGeom>
          <a:noFill/>
        </p:spPr>
        <p:txBody>
          <a:bodyPr wrap="square" lIns="0" rIns="0" tIns="0" bIns="0" anchor="ctr">
            <a:spAutoFit/>
          </a:bodyPr>
          <a:lstStyle/>
          <a:p>
            <a:pPr algn="ctr"/>
            <a:r>
              <a:rPr sz="1800" b="1" i="0">
                <a:solidFill>
                  <a:srgbClr val="0F766E"/>
                </a:solidFill>
                <a:latin typeface="Georgia"/>
              </a:rPr>
              <a:t>→</a:t>
            </a:r>
          </a:p>
        </p:txBody>
      </p:sp>
      <p:sp>
        <p:nvSpPr>
          <p:cNvPr id="20" name="Rectangle 19"/>
          <p:cNvSpPr/>
          <p:nvPr/>
        </p:nvSpPr>
        <p:spPr>
          <a:xfrm>
            <a:off x="5040172" y="3200400"/>
            <a:ext cx="2081174" cy="50292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40172" y="3200400"/>
            <a:ext cx="2081174" cy="502920"/>
          </a:xfrm>
          <a:prstGeom prst="rect">
            <a:avLst/>
          </a:prstGeom>
          <a:noFill/>
        </p:spPr>
        <p:txBody>
          <a:bodyPr wrap="square" lIns="0" rIns="0" tIns="0" bIns="0" anchor="ctr">
            <a:spAutoFit/>
          </a:bodyPr>
          <a:lstStyle/>
          <a:p>
            <a:pPr algn="ctr"/>
            <a:r>
              <a:rPr sz="1000" b="1" i="0" spc="400">
                <a:solidFill>
                  <a:srgbClr val="C5E063"/>
                </a:solidFill>
                <a:latin typeface="Calibri"/>
              </a:rPr>
              <a:t>STEP 3</a:t>
            </a:r>
          </a:p>
        </p:txBody>
      </p:sp>
      <p:sp>
        <p:nvSpPr>
          <p:cNvPr id="22" name="Rectangle 21"/>
          <p:cNvSpPr/>
          <p:nvPr/>
        </p:nvSpPr>
        <p:spPr>
          <a:xfrm>
            <a:off x="5040172" y="3703320"/>
            <a:ext cx="2081174" cy="246888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04764" y="3840480"/>
            <a:ext cx="1751990" cy="502920"/>
          </a:xfrm>
          <a:prstGeom prst="rect">
            <a:avLst/>
          </a:prstGeom>
          <a:noFill/>
        </p:spPr>
        <p:txBody>
          <a:bodyPr wrap="square" lIns="0" rIns="0" tIns="0" bIns="0" anchor="t">
            <a:spAutoFit/>
          </a:bodyPr>
          <a:lstStyle/>
          <a:p>
            <a:pPr algn="l">
              <a:lnSpc>
                <a:spcPct val="115000"/>
              </a:lnSpc>
            </a:pPr>
            <a:r>
              <a:rPr sz="1400" b="1" i="0">
                <a:solidFill>
                  <a:srgbClr val="0F1F1A"/>
                </a:solidFill>
                <a:latin typeface="Georgia"/>
              </a:rPr>
              <a:t>5–7 process steps</a:t>
            </a:r>
          </a:p>
        </p:txBody>
      </p:sp>
      <p:sp>
        <p:nvSpPr>
          <p:cNvPr id="24" name="TextBox 23"/>
          <p:cNvSpPr txBox="1"/>
          <p:nvPr/>
        </p:nvSpPr>
        <p:spPr>
          <a:xfrm>
            <a:off x="5204764" y="4389120"/>
            <a:ext cx="1751990" cy="1691640"/>
          </a:xfrm>
          <a:prstGeom prst="rect">
            <a:avLst/>
          </a:prstGeom>
          <a:noFill/>
        </p:spPr>
        <p:txBody>
          <a:bodyPr wrap="square" lIns="0" rIns="0" tIns="0" bIns="0" anchor="t">
            <a:spAutoFit/>
          </a:bodyPr>
          <a:lstStyle/>
          <a:p>
            <a:pPr algn="l">
              <a:lnSpc>
                <a:spcPct val="135000"/>
              </a:lnSpc>
            </a:pPr>
            <a:r>
              <a:rPr sz="1000" b="0" i="0">
                <a:solidFill>
                  <a:srgbClr val="475569"/>
                </a:solidFill>
                <a:latin typeface="Calibri"/>
              </a:rPr>
              <a:t>High-level only. Don't drill into clicks. The point is the shape, not the resolution.</a:t>
            </a:r>
          </a:p>
        </p:txBody>
      </p:sp>
      <p:sp>
        <p:nvSpPr>
          <p:cNvPr id="25" name="TextBox 24"/>
          <p:cNvSpPr txBox="1"/>
          <p:nvPr/>
        </p:nvSpPr>
        <p:spPr>
          <a:xfrm>
            <a:off x="6984187" y="4389120"/>
            <a:ext cx="274320" cy="365760"/>
          </a:xfrm>
          <a:prstGeom prst="rect">
            <a:avLst/>
          </a:prstGeom>
          <a:noFill/>
        </p:spPr>
        <p:txBody>
          <a:bodyPr wrap="square" lIns="0" rIns="0" tIns="0" bIns="0" anchor="ctr">
            <a:spAutoFit/>
          </a:bodyPr>
          <a:lstStyle/>
          <a:p>
            <a:pPr algn="ctr"/>
            <a:r>
              <a:rPr sz="1800" b="1" i="0">
                <a:solidFill>
                  <a:srgbClr val="0F766E"/>
                </a:solidFill>
                <a:latin typeface="Georgia"/>
              </a:rPr>
              <a:t>→</a:t>
            </a:r>
          </a:p>
        </p:txBody>
      </p:sp>
      <p:sp>
        <p:nvSpPr>
          <p:cNvPr id="26" name="Rectangle 25"/>
          <p:cNvSpPr/>
          <p:nvPr/>
        </p:nvSpPr>
        <p:spPr>
          <a:xfrm>
            <a:off x="7285939" y="3200400"/>
            <a:ext cx="2081174" cy="50292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85939" y="3200400"/>
            <a:ext cx="2081174" cy="502920"/>
          </a:xfrm>
          <a:prstGeom prst="rect">
            <a:avLst/>
          </a:prstGeom>
          <a:noFill/>
        </p:spPr>
        <p:txBody>
          <a:bodyPr wrap="square" lIns="0" rIns="0" tIns="0" bIns="0" anchor="ctr">
            <a:spAutoFit/>
          </a:bodyPr>
          <a:lstStyle/>
          <a:p>
            <a:pPr algn="ctr"/>
            <a:r>
              <a:rPr sz="1000" b="1" i="0" spc="400">
                <a:solidFill>
                  <a:srgbClr val="C5E063"/>
                </a:solidFill>
                <a:latin typeface="Calibri"/>
              </a:rPr>
              <a:t>STEP 4</a:t>
            </a:r>
          </a:p>
        </p:txBody>
      </p:sp>
      <p:sp>
        <p:nvSpPr>
          <p:cNvPr id="28" name="Rectangle 27"/>
          <p:cNvSpPr/>
          <p:nvPr/>
        </p:nvSpPr>
        <p:spPr>
          <a:xfrm>
            <a:off x="7285939" y="3703320"/>
            <a:ext cx="2081174" cy="246888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50531" y="3840480"/>
            <a:ext cx="1751990" cy="502920"/>
          </a:xfrm>
          <a:prstGeom prst="rect">
            <a:avLst/>
          </a:prstGeom>
          <a:noFill/>
        </p:spPr>
        <p:txBody>
          <a:bodyPr wrap="square" lIns="0" rIns="0" tIns="0" bIns="0" anchor="t">
            <a:spAutoFit/>
          </a:bodyPr>
          <a:lstStyle/>
          <a:p>
            <a:pPr algn="l">
              <a:lnSpc>
                <a:spcPct val="115000"/>
              </a:lnSpc>
            </a:pPr>
            <a:r>
              <a:rPr sz="1400" b="1" i="0">
                <a:solidFill>
                  <a:srgbClr val="0F1F1A"/>
                </a:solidFill>
                <a:latin typeface="Georgia"/>
              </a:rPr>
              <a:t>Outputs &amp; customers</a:t>
            </a:r>
          </a:p>
        </p:txBody>
      </p:sp>
      <p:sp>
        <p:nvSpPr>
          <p:cNvPr id="30" name="TextBox 29"/>
          <p:cNvSpPr txBox="1"/>
          <p:nvPr/>
        </p:nvSpPr>
        <p:spPr>
          <a:xfrm>
            <a:off x="7450531" y="4389120"/>
            <a:ext cx="1751990" cy="1691640"/>
          </a:xfrm>
          <a:prstGeom prst="rect">
            <a:avLst/>
          </a:prstGeom>
          <a:noFill/>
        </p:spPr>
        <p:txBody>
          <a:bodyPr wrap="square" lIns="0" rIns="0" tIns="0" bIns="0" anchor="t">
            <a:spAutoFit/>
          </a:bodyPr>
          <a:lstStyle/>
          <a:p>
            <a:pPr algn="l">
              <a:lnSpc>
                <a:spcPct val="135000"/>
              </a:lnSpc>
            </a:pPr>
            <a:r>
              <a:rPr sz="1000" b="0" i="0">
                <a:solidFill>
                  <a:srgbClr val="475569"/>
                </a:solidFill>
                <a:latin typeface="Calibri"/>
              </a:rPr>
              <a:t>What comes out? Who receives it — internal or external? List both.</a:t>
            </a:r>
          </a:p>
        </p:txBody>
      </p:sp>
      <p:sp>
        <p:nvSpPr>
          <p:cNvPr id="31" name="TextBox 30"/>
          <p:cNvSpPr txBox="1"/>
          <p:nvPr/>
        </p:nvSpPr>
        <p:spPr>
          <a:xfrm>
            <a:off x="9229953" y="4389120"/>
            <a:ext cx="274320" cy="365760"/>
          </a:xfrm>
          <a:prstGeom prst="rect">
            <a:avLst/>
          </a:prstGeom>
          <a:noFill/>
        </p:spPr>
        <p:txBody>
          <a:bodyPr wrap="square" lIns="0" rIns="0" tIns="0" bIns="0" anchor="ctr">
            <a:spAutoFit/>
          </a:bodyPr>
          <a:lstStyle/>
          <a:p>
            <a:pPr algn="ctr"/>
            <a:r>
              <a:rPr sz="1800" b="1" i="0">
                <a:solidFill>
                  <a:srgbClr val="0F766E"/>
                </a:solidFill>
                <a:latin typeface="Georgia"/>
              </a:rPr>
              <a:t>→</a:t>
            </a:r>
          </a:p>
        </p:txBody>
      </p:sp>
      <p:sp>
        <p:nvSpPr>
          <p:cNvPr id="32" name="Rectangle 31"/>
          <p:cNvSpPr/>
          <p:nvPr/>
        </p:nvSpPr>
        <p:spPr>
          <a:xfrm>
            <a:off x="9531705" y="3200400"/>
            <a:ext cx="2081174" cy="50292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531705" y="3200400"/>
            <a:ext cx="2081174" cy="502920"/>
          </a:xfrm>
          <a:prstGeom prst="rect">
            <a:avLst/>
          </a:prstGeom>
          <a:noFill/>
        </p:spPr>
        <p:txBody>
          <a:bodyPr wrap="square" lIns="0" rIns="0" tIns="0" bIns="0" anchor="ctr">
            <a:spAutoFit/>
          </a:bodyPr>
          <a:lstStyle/>
          <a:p>
            <a:pPr algn="ctr"/>
            <a:r>
              <a:rPr sz="1000" b="1" i="0" spc="400">
                <a:solidFill>
                  <a:srgbClr val="C5E063"/>
                </a:solidFill>
                <a:latin typeface="Calibri"/>
              </a:rPr>
              <a:t>STEP 5</a:t>
            </a:r>
          </a:p>
        </p:txBody>
      </p:sp>
      <p:sp>
        <p:nvSpPr>
          <p:cNvPr id="34" name="Rectangle 33"/>
          <p:cNvSpPr/>
          <p:nvPr/>
        </p:nvSpPr>
        <p:spPr>
          <a:xfrm>
            <a:off x="9531705" y="3703320"/>
            <a:ext cx="2081174" cy="246888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696297" y="3840480"/>
            <a:ext cx="1751990" cy="502920"/>
          </a:xfrm>
          <a:prstGeom prst="rect">
            <a:avLst/>
          </a:prstGeom>
          <a:noFill/>
        </p:spPr>
        <p:txBody>
          <a:bodyPr wrap="square" lIns="0" rIns="0" tIns="0" bIns="0" anchor="t">
            <a:spAutoFit/>
          </a:bodyPr>
          <a:lstStyle/>
          <a:p>
            <a:pPr algn="l">
              <a:lnSpc>
                <a:spcPct val="115000"/>
              </a:lnSpc>
            </a:pPr>
            <a:r>
              <a:rPr sz="1400" b="1" i="0">
                <a:solidFill>
                  <a:srgbClr val="0F1F1A"/>
                </a:solidFill>
                <a:latin typeface="Georgia"/>
              </a:rPr>
              <a:t>Hand-offs &amp; dead ends</a:t>
            </a:r>
          </a:p>
        </p:txBody>
      </p:sp>
      <p:sp>
        <p:nvSpPr>
          <p:cNvPr id="36" name="TextBox 35"/>
          <p:cNvSpPr txBox="1"/>
          <p:nvPr/>
        </p:nvSpPr>
        <p:spPr>
          <a:xfrm>
            <a:off x="9696297" y="4389120"/>
            <a:ext cx="1751990" cy="1691640"/>
          </a:xfrm>
          <a:prstGeom prst="rect">
            <a:avLst/>
          </a:prstGeom>
          <a:noFill/>
        </p:spPr>
        <p:txBody>
          <a:bodyPr wrap="square" lIns="0" rIns="0" tIns="0" bIns="0" anchor="t">
            <a:spAutoFit/>
          </a:bodyPr>
          <a:lstStyle/>
          <a:p>
            <a:pPr algn="l">
              <a:lnSpc>
                <a:spcPct val="135000"/>
              </a:lnSpc>
            </a:pPr>
            <a:r>
              <a:rPr sz="1000" b="0" i="0">
                <a:solidFill>
                  <a:srgbClr val="475569"/>
                </a:solidFill>
                <a:latin typeface="Calibri"/>
              </a:rPr>
              <a:t>Mark every place work changes hands, waits for approval, or loops. Those are the opportunities.</a:t>
            </a:r>
          </a:p>
        </p:txBody>
      </p:sp>
      <p:sp>
        <p:nvSpPr>
          <p:cNvPr id="37" name="TextBox 36"/>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475569"/>
                </a:solidFill>
                <a:latin typeface="Calibri"/>
              </a:rPr>
              <a:t>AI  LEARNING  HUB   ·   LESSON 7 OF 7</a:t>
            </a:r>
          </a:p>
        </p:txBody>
      </p:sp>
      <p:sp>
        <p:nvSpPr>
          <p:cNvPr id="38" name="TextBox 37"/>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475569"/>
                </a:solidFill>
                <a:latin typeface="Calibri"/>
              </a:rPr>
              <a:t>PROCESS</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par>
                    <p:cTn id="123" fill="hold">
                      <p:stCondLst>
                        <p:cond delay="indefinite"/>
                        <p:cond evt="onBegin" delay="0">
                          <p:tn val="2"/>
                        </p:cond>
                      </p:stCondLst>
                      <p:childTnLst>
                        <p:par>
                          <p:cTn id="124" fill="hold">
                            <p:stCondLst>
                              <p:cond delay="0"/>
                            </p:stCondLst>
                            <p:childTnLst>
                              <p:par>
                                <p:cTn id="125" presetID="10" presetClass="entr" presetSubtype="0" fill="hold" grpId="0" nodeType="afterEffect">
                                  <p:stCondLst>
                                    <p:cond delay="18"/>
                                  </p:stCondLst>
                                  <p:childTnLst>
                                    <p:set>
                                      <p:cBhvr>
                                        <p:cTn id="126" dur="1" fill="hold">
                                          <p:stCondLst>
                                            <p:cond delay="0"/>
                                          </p:stCondLst>
                                        </p:cTn>
                                        <p:tgtEl>
                                          <p:spTgt spid="26"/>
                                        </p:tgtEl>
                                        <p:attrNameLst>
                                          <p:attrName>style.visibility</p:attrName>
                                        </p:attrNameLst>
                                      </p:cBhvr>
                                      <p:to>
                                        <p:strVal val="visible"/>
                                      </p:to>
                                    </p:set>
                                    <p:anim calcmode="lin" valueType="num">
                                      <p:cBhvr additive="base">
                                        <p:cTn id="127" dur="150" fill="hold"/>
                                        <p:tgtEl>
                                          <p:spTgt spid="26"/>
                                        </p:tgtEl>
                                        <p:attrNameLst>
                                          <p:attrName>style.opacity</p:attrName>
                                        </p:attrNameLst>
                                      </p:cBhvr>
                                      <p:tavLst>
                                        <p:tav tm="0">
                                          <p:val>
                                            <p:fltVal val="0"/>
                                          </p:val>
                                        </p:tav>
                                        <p:tav tm="100000">
                                          <p:val>
                                            <p:fltVal val="1"/>
                                          </p:val>
                                        </p:tav>
                                      </p:tavLst>
                                    </p:anim>
                                  </p:childTnLst>
                                </p:cTn>
                              </p:par>
                            </p:childTnLst>
                          </p:cTn>
                        </p:par>
                      </p:childTnLst>
                    </p:cTn>
                  </p:par>
                  <p:par>
                    <p:cTn id="128" fill="hold">
                      <p:stCondLst>
                        <p:cond delay="indefinite"/>
                        <p:cond evt="onBegin" delay="0">
                          <p:tn val="2"/>
                        </p:cond>
                      </p:stCondLst>
                      <p:childTnLst>
                        <p:par>
                          <p:cTn id="129" fill="hold">
                            <p:stCondLst>
                              <p:cond delay="0"/>
                            </p:stCondLst>
                            <p:childTnLst>
                              <p:par>
                                <p:cTn id="130" presetID="10" presetClass="entr" presetSubtype="0" fill="hold" grpId="0" nodeType="afterEffect">
                                  <p:stCondLst>
                                    <p:cond delay="18"/>
                                  </p:stCondLst>
                                  <p:childTnLst>
                                    <p:set>
                                      <p:cBhvr>
                                        <p:cTn id="131" dur="1" fill="hold">
                                          <p:stCondLst>
                                            <p:cond delay="0"/>
                                          </p:stCondLst>
                                        </p:cTn>
                                        <p:tgtEl>
                                          <p:spTgt spid="27"/>
                                        </p:tgtEl>
                                        <p:attrNameLst>
                                          <p:attrName>style.visibility</p:attrName>
                                        </p:attrNameLst>
                                      </p:cBhvr>
                                      <p:to>
                                        <p:strVal val="visible"/>
                                      </p:to>
                                    </p:set>
                                    <p:anim calcmode="lin" valueType="num">
                                      <p:cBhvr additive="base">
                                        <p:cTn id="132" dur="150" fill="hold"/>
                                        <p:tgtEl>
                                          <p:spTgt spid="27"/>
                                        </p:tgtEl>
                                        <p:attrNameLst>
                                          <p:attrName>style.opacity</p:attrName>
                                        </p:attrNameLst>
                                      </p:cBhvr>
                                      <p:tavLst>
                                        <p:tav tm="0">
                                          <p:val>
                                            <p:fltVal val="0"/>
                                          </p:val>
                                        </p:tav>
                                        <p:tav tm="100000">
                                          <p:val>
                                            <p:fltVal val="1"/>
                                          </p:val>
                                        </p:tav>
                                      </p:tavLst>
                                    </p:anim>
                                  </p:childTnLst>
                                </p:cTn>
                              </p:par>
                            </p:childTnLst>
                          </p:cTn>
                        </p:par>
                      </p:childTnLst>
                    </p:cTn>
                  </p:par>
                  <p:par>
                    <p:cTn id="133" fill="hold">
                      <p:stCondLst>
                        <p:cond delay="indefinite"/>
                        <p:cond evt="onBegin" delay="0">
                          <p:tn val="2"/>
                        </p:cond>
                      </p:stCondLst>
                      <p:childTnLst>
                        <p:par>
                          <p:cTn id="134" fill="hold">
                            <p:stCondLst>
                              <p:cond delay="0"/>
                            </p:stCondLst>
                            <p:childTnLst>
                              <p:par>
                                <p:cTn id="135" presetID="10" presetClass="entr" presetSubtype="0" fill="hold" grpId="0" nodeType="afterEffect">
                                  <p:stCondLst>
                                    <p:cond delay="18"/>
                                  </p:stCondLst>
                                  <p:childTnLst>
                                    <p:set>
                                      <p:cBhvr>
                                        <p:cTn id="136" dur="1" fill="hold">
                                          <p:stCondLst>
                                            <p:cond delay="0"/>
                                          </p:stCondLst>
                                        </p:cTn>
                                        <p:tgtEl>
                                          <p:spTgt spid="28"/>
                                        </p:tgtEl>
                                        <p:attrNameLst>
                                          <p:attrName>style.visibility</p:attrName>
                                        </p:attrNameLst>
                                      </p:cBhvr>
                                      <p:to>
                                        <p:strVal val="visible"/>
                                      </p:to>
                                    </p:set>
                                    <p:anim calcmode="lin" valueType="num">
                                      <p:cBhvr additive="base">
                                        <p:cTn id="137" dur="150" fill="hold"/>
                                        <p:tgtEl>
                                          <p:spTgt spid="28"/>
                                        </p:tgtEl>
                                        <p:attrNameLst>
                                          <p:attrName>style.opacity</p:attrName>
                                        </p:attrNameLst>
                                      </p:cBhvr>
                                      <p:tavLst>
                                        <p:tav tm="0">
                                          <p:val>
                                            <p:fltVal val="0"/>
                                          </p:val>
                                        </p:tav>
                                        <p:tav tm="100000">
                                          <p:val>
                                            <p:fltVal val="1"/>
                                          </p:val>
                                        </p:tav>
                                      </p:tavLst>
                                    </p:anim>
                                  </p:childTnLst>
                                </p:cTn>
                              </p:par>
                            </p:childTnLst>
                          </p:cTn>
                        </p:par>
                      </p:childTnLst>
                    </p:cTn>
                  </p:par>
                  <p:par>
                    <p:cTn id="138" fill="hold">
                      <p:stCondLst>
                        <p:cond delay="indefinite"/>
                        <p:cond evt="onBegin" delay="0">
                          <p:tn val="2"/>
                        </p:cond>
                      </p:stCondLst>
                      <p:childTnLst>
                        <p:par>
                          <p:cTn id="139" fill="hold">
                            <p:stCondLst>
                              <p:cond delay="0"/>
                            </p:stCondLst>
                            <p:childTnLst>
                              <p:par>
                                <p:cTn id="140" presetID="10" presetClass="entr" presetSubtype="0" fill="hold" grpId="0" nodeType="afterEffect">
                                  <p:stCondLst>
                                    <p:cond delay="18"/>
                                  </p:stCondLst>
                                  <p:childTnLst>
                                    <p:set>
                                      <p:cBhvr>
                                        <p:cTn id="141" dur="1" fill="hold">
                                          <p:stCondLst>
                                            <p:cond delay="0"/>
                                          </p:stCondLst>
                                        </p:cTn>
                                        <p:tgtEl>
                                          <p:spTgt spid="29"/>
                                        </p:tgtEl>
                                        <p:attrNameLst>
                                          <p:attrName>style.visibility</p:attrName>
                                        </p:attrNameLst>
                                      </p:cBhvr>
                                      <p:to>
                                        <p:strVal val="visible"/>
                                      </p:to>
                                    </p:set>
                                    <p:anim calcmode="lin" valueType="num">
                                      <p:cBhvr additive="base">
                                        <p:cTn id="142" dur="150" fill="hold"/>
                                        <p:tgtEl>
                                          <p:spTgt spid="29"/>
                                        </p:tgtEl>
                                        <p:attrNameLst>
                                          <p:attrName>style.opacity</p:attrName>
                                        </p:attrNameLst>
                                      </p:cBhvr>
                                      <p:tavLst>
                                        <p:tav tm="0">
                                          <p:val>
                                            <p:fltVal val="0"/>
                                          </p:val>
                                        </p:tav>
                                        <p:tav tm="100000">
                                          <p:val>
                                            <p:fltVal val="1"/>
                                          </p:val>
                                        </p:tav>
                                      </p:tavLst>
                                    </p:anim>
                                  </p:childTnLst>
                                </p:cTn>
                              </p:par>
                            </p:childTnLst>
                          </p:cTn>
                        </p:par>
                      </p:childTnLst>
                    </p:cTn>
                  </p:par>
                  <p:par>
                    <p:cTn id="143" fill="hold">
                      <p:stCondLst>
                        <p:cond delay="indefinite"/>
                        <p:cond evt="onBegin" delay="0">
                          <p:tn val="2"/>
                        </p:cond>
                      </p:stCondLst>
                      <p:childTnLst>
                        <p:par>
                          <p:cTn id="144" fill="hold">
                            <p:stCondLst>
                              <p:cond delay="0"/>
                            </p:stCondLst>
                            <p:childTnLst>
                              <p:par>
                                <p:cTn id="145" presetID="10" presetClass="entr" presetSubtype="0" fill="hold" grpId="0" nodeType="afterEffect">
                                  <p:stCondLst>
                                    <p:cond delay="18"/>
                                  </p:stCondLst>
                                  <p:childTnLst>
                                    <p:set>
                                      <p:cBhvr>
                                        <p:cTn id="146" dur="1" fill="hold">
                                          <p:stCondLst>
                                            <p:cond delay="0"/>
                                          </p:stCondLst>
                                        </p:cTn>
                                        <p:tgtEl>
                                          <p:spTgt spid="30"/>
                                        </p:tgtEl>
                                        <p:attrNameLst>
                                          <p:attrName>style.visibility</p:attrName>
                                        </p:attrNameLst>
                                      </p:cBhvr>
                                      <p:to>
                                        <p:strVal val="visible"/>
                                      </p:to>
                                    </p:set>
                                    <p:anim calcmode="lin" valueType="num">
                                      <p:cBhvr additive="base">
                                        <p:cTn id="147" dur="150" fill="hold"/>
                                        <p:tgtEl>
                                          <p:spTgt spid="30"/>
                                        </p:tgtEl>
                                        <p:attrNameLst>
                                          <p:attrName>style.opacity</p:attrName>
                                        </p:attrNameLst>
                                      </p:cBhvr>
                                      <p:tavLst>
                                        <p:tav tm="0">
                                          <p:val>
                                            <p:fltVal val="0"/>
                                          </p:val>
                                        </p:tav>
                                        <p:tav tm="100000">
                                          <p:val>
                                            <p:fltVal val="1"/>
                                          </p:val>
                                        </p:tav>
                                      </p:tavLst>
                                    </p:anim>
                                  </p:childTnLst>
                                </p:cTn>
                              </p:par>
                            </p:childTnLst>
                          </p:cTn>
                        </p:par>
                      </p:childTnLst>
                    </p:cTn>
                  </p:par>
                  <p:par>
                    <p:cTn id="148" fill="hold">
                      <p:stCondLst>
                        <p:cond delay="indefinite"/>
                        <p:cond evt="onBegin" delay="0">
                          <p:tn val="2"/>
                        </p:cond>
                      </p:stCondLst>
                      <p:childTnLst>
                        <p:par>
                          <p:cTn id="149" fill="hold">
                            <p:stCondLst>
                              <p:cond delay="0"/>
                            </p:stCondLst>
                            <p:childTnLst>
                              <p:par>
                                <p:cTn id="150" presetID="10" presetClass="entr" presetSubtype="0" fill="hold" grpId="0" nodeType="afterEffect">
                                  <p:stCondLst>
                                    <p:cond delay="18"/>
                                  </p:stCondLst>
                                  <p:childTnLst>
                                    <p:set>
                                      <p:cBhvr>
                                        <p:cTn id="151" dur="1" fill="hold">
                                          <p:stCondLst>
                                            <p:cond delay="0"/>
                                          </p:stCondLst>
                                        </p:cTn>
                                        <p:tgtEl>
                                          <p:spTgt spid="31"/>
                                        </p:tgtEl>
                                        <p:attrNameLst>
                                          <p:attrName>style.visibility</p:attrName>
                                        </p:attrNameLst>
                                      </p:cBhvr>
                                      <p:to>
                                        <p:strVal val="visible"/>
                                      </p:to>
                                    </p:set>
                                    <p:anim calcmode="lin" valueType="num">
                                      <p:cBhvr additive="base">
                                        <p:cTn id="152" dur="150" fill="hold"/>
                                        <p:tgtEl>
                                          <p:spTgt spid="31"/>
                                        </p:tgtEl>
                                        <p:attrNameLst>
                                          <p:attrName>style.opacity</p:attrName>
                                        </p:attrNameLst>
                                      </p:cBhvr>
                                      <p:tavLst>
                                        <p:tav tm="0">
                                          <p:val>
                                            <p:fltVal val="0"/>
                                          </p:val>
                                        </p:tav>
                                        <p:tav tm="100000">
                                          <p:val>
                                            <p:fltVal val="1"/>
                                          </p:val>
                                        </p:tav>
                                      </p:tavLst>
                                    </p:anim>
                                  </p:childTnLst>
                                </p:cTn>
                              </p:par>
                            </p:childTnLst>
                          </p:cTn>
                        </p:par>
                      </p:childTnLst>
                    </p:cTn>
                  </p:par>
                  <p:par>
                    <p:cTn id="153" fill="hold">
                      <p:stCondLst>
                        <p:cond delay="indefinite"/>
                        <p:cond evt="onBegin" delay="0">
                          <p:tn val="2"/>
                        </p:cond>
                      </p:stCondLst>
                      <p:childTnLst>
                        <p:par>
                          <p:cTn id="154" fill="hold">
                            <p:stCondLst>
                              <p:cond delay="0"/>
                            </p:stCondLst>
                            <p:childTnLst>
                              <p:par>
                                <p:cTn id="155" presetID="10" presetClass="entr" presetSubtype="0" fill="hold" grpId="0" nodeType="afterEffect">
                                  <p:stCondLst>
                                    <p:cond delay="18"/>
                                  </p:stCondLst>
                                  <p:childTnLst>
                                    <p:set>
                                      <p:cBhvr>
                                        <p:cTn id="156" dur="1" fill="hold">
                                          <p:stCondLst>
                                            <p:cond delay="0"/>
                                          </p:stCondLst>
                                        </p:cTn>
                                        <p:tgtEl>
                                          <p:spTgt spid="32"/>
                                        </p:tgtEl>
                                        <p:attrNameLst>
                                          <p:attrName>style.visibility</p:attrName>
                                        </p:attrNameLst>
                                      </p:cBhvr>
                                      <p:to>
                                        <p:strVal val="visible"/>
                                      </p:to>
                                    </p:set>
                                    <p:anim calcmode="lin" valueType="num">
                                      <p:cBhvr additive="base">
                                        <p:cTn id="157" dur="150" fill="hold"/>
                                        <p:tgtEl>
                                          <p:spTgt spid="32"/>
                                        </p:tgtEl>
                                        <p:attrNameLst>
                                          <p:attrName>style.opacity</p:attrName>
                                        </p:attrNameLst>
                                      </p:cBhvr>
                                      <p:tavLst>
                                        <p:tav tm="0">
                                          <p:val>
                                            <p:fltVal val="0"/>
                                          </p:val>
                                        </p:tav>
                                        <p:tav tm="100000">
                                          <p:val>
                                            <p:fltVal val="1"/>
                                          </p:val>
                                        </p:tav>
                                      </p:tavLst>
                                    </p:anim>
                                  </p:childTnLst>
                                </p:cTn>
                              </p:par>
                            </p:childTnLst>
                          </p:cTn>
                        </p:par>
                      </p:childTnLst>
                    </p:cTn>
                  </p:par>
                  <p:par>
                    <p:cTn id="158" fill="hold">
                      <p:stCondLst>
                        <p:cond delay="indefinite"/>
                        <p:cond evt="onBegin" delay="0">
                          <p:tn val="2"/>
                        </p:cond>
                      </p:stCondLst>
                      <p:childTnLst>
                        <p:par>
                          <p:cTn id="159" fill="hold">
                            <p:stCondLst>
                              <p:cond delay="0"/>
                            </p:stCondLst>
                            <p:childTnLst>
                              <p:par>
                                <p:cTn id="160" presetID="10" presetClass="entr" presetSubtype="0" fill="hold" grpId="0" nodeType="afterEffect">
                                  <p:stCondLst>
                                    <p:cond delay="18"/>
                                  </p:stCondLst>
                                  <p:childTnLst>
                                    <p:set>
                                      <p:cBhvr>
                                        <p:cTn id="161" dur="1" fill="hold">
                                          <p:stCondLst>
                                            <p:cond delay="0"/>
                                          </p:stCondLst>
                                        </p:cTn>
                                        <p:tgtEl>
                                          <p:spTgt spid="33"/>
                                        </p:tgtEl>
                                        <p:attrNameLst>
                                          <p:attrName>style.visibility</p:attrName>
                                        </p:attrNameLst>
                                      </p:cBhvr>
                                      <p:to>
                                        <p:strVal val="visible"/>
                                      </p:to>
                                    </p:set>
                                    <p:anim calcmode="lin" valueType="num">
                                      <p:cBhvr additive="base">
                                        <p:cTn id="162" dur="150" fill="hold"/>
                                        <p:tgtEl>
                                          <p:spTgt spid="33"/>
                                        </p:tgtEl>
                                        <p:attrNameLst>
                                          <p:attrName>style.opacity</p:attrName>
                                        </p:attrNameLst>
                                      </p:cBhvr>
                                      <p:tavLst>
                                        <p:tav tm="0">
                                          <p:val>
                                            <p:fltVal val="0"/>
                                          </p:val>
                                        </p:tav>
                                        <p:tav tm="100000">
                                          <p:val>
                                            <p:fltVal val="1"/>
                                          </p:val>
                                        </p:tav>
                                      </p:tavLst>
                                    </p:anim>
                                  </p:childTnLst>
                                </p:cTn>
                              </p:par>
                            </p:childTnLst>
                          </p:cTn>
                        </p:par>
                      </p:childTnLst>
                    </p:cTn>
                  </p:par>
                  <p:par>
                    <p:cTn id="163" fill="hold">
                      <p:stCondLst>
                        <p:cond delay="indefinite"/>
                        <p:cond evt="onBegin" delay="0">
                          <p:tn val="2"/>
                        </p:cond>
                      </p:stCondLst>
                      <p:childTnLst>
                        <p:par>
                          <p:cTn id="164" fill="hold">
                            <p:stCondLst>
                              <p:cond delay="0"/>
                            </p:stCondLst>
                            <p:childTnLst>
                              <p:par>
                                <p:cTn id="165" presetID="10" presetClass="entr" presetSubtype="0" fill="hold" grpId="0" nodeType="afterEffect">
                                  <p:stCondLst>
                                    <p:cond delay="18"/>
                                  </p:stCondLst>
                                  <p:childTnLst>
                                    <p:set>
                                      <p:cBhvr>
                                        <p:cTn id="166" dur="1" fill="hold">
                                          <p:stCondLst>
                                            <p:cond delay="0"/>
                                          </p:stCondLst>
                                        </p:cTn>
                                        <p:tgtEl>
                                          <p:spTgt spid="34"/>
                                        </p:tgtEl>
                                        <p:attrNameLst>
                                          <p:attrName>style.visibility</p:attrName>
                                        </p:attrNameLst>
                                      </p:cBhvr>
                                      <p:to>
                                        <p:strVal val="visible"/>
                                      </p:to>
                                    </p:set>
                                    <p:anim calcmode="lin" valueType="num">
                                      <p:cBhvr additive="base">
                                        <p:cTn id="167" dur="150" fill="hold"/>
                                        <p:tgtEl>
                                          <p:spTgt spid="34"/>
                                        </p:tgtEl>
                                        <p:attrNameLst>
                                          <p:attrName>style.opacity</p:attrName>
                                        </p:attrNameLst>
                                      </p:cBhvr>
                                      <p:tavLst>
                                        <p:tav tm="0">
                                          <p:val>
                                            <p:fltVal val="0"/>
                                          </p:val>
                                        </p:tav>
                                        <p:tav tm="100000">
                                          <p:val>
                                            <p:fltVal val="1"/>
                                          </p:val>
                                        </p:tav>
                                      </p:tavLst>
                                    </p:anim>
                                  </p:childTnLst>
                                </p:cTn>
                              </p:par>
                            </p:childTnLst>
                          </p:cTn>
                        </p:par>
                      </p:childTnLst>
                    </p:cTn>
                  </p:par>
                  <p:par>
                    <p:cTn id="168" fill="hold">
                      <p:stCondLst>
                        <p:cond delay="indefinite"/>
                        <p:cond evt="onBegin" delay="0">
                          <p:tn val="2"/>
                        </p:cond>
                      </p:stCondLst>
                      <p:childTnLst>
                        <p:par>
                          <p:cTn id="169" fill="hold">
                            <p:stCondLst>
                              <p:cond delay="0"/>
                            </p:stCondLst>
                            <p:childTnLst>
                              <p:par>
                                <p:cTn id="170" presetID="10" presetClass="entr" presetSubtype="0" fill="hold" grpId="0" nodeType="afterEffect">
                                  <p:stCondLst>
                                    <p:cond delay="18"/>
                                  </p:stCondLst>
                                  <p:childTnLst>
                                    <p:set>
                                      <p:cBhvr>
                                        <p:cTn id="171" dur="1" fill="hold">
                                          <p:stCondLst>
                                            <p:cond delay="0"/>
                                          </p:stCondLst>
                                        </p:cTn>
                                        <p:tgtEl>
                                          <p:spTgt spid="35"/>
                                        </p:tgtEl>
                                        <p:attrNameLst>
                                          <p:attrName>style.visibility</p:attrName>
                                        </p:attrNameLst>
                                      </p:cBhvr>
                                      <p:to>
                                        <p:strVal val="visible"/>
                                      </p:to>
                                    </p:set>
                                    <p:anim calcmode="lin" valueType="num">
                                      <p:cBhvr additive="base">
                                        <p:cTn id="172" dur="150" fill="hold"/>
                                        <p:tgtEl>
                                          <p:spTgt spid="35"/>
                                        </p:tgtEl>
                                        <p:attrNameLst>
                                          <p:attrName>style.opacity</p:attrName>
                                        </p:attrNameLst>
                                      </p:cBhvr>
                                      <p:tavLst>
                                        <p:tav tm="0">
                                          <p:val>
                                            <p:fltVal val="0"/>
                                          </p:val>
                                        </p:tav>
                                        <p:tav tm="100000">
                                          <p:val>
                                            <p:fltVal val="1"/>
                                          </p:val>
                                        </p:tav>
                                      </p:tavLst>
                                    </p:anim>
                                  </p:childTnLst>
                                </p:cTn>
                              </p:par>
                            </p:childTnLst>
                          </p:cTn>
                        </p:par>
                      </p:childTnLst>
                    </p:cTn>
                  </p:par>
                  <p:par>
                    <p:cTn id="173" fill="hold">
                      <p:stCondLst>
                        <p:cond delay="indefinite"/>
                        <p:cond evt="onBegin" delay="0">
                          <p:tn val="2"/>
                        </p:cond>
                      </p:stCondLst>
                      <p:childTnLst>
                        <p:par>
                          <p:cTn id="174" fill="hold">
                            <p:stCondLst>
                              <p:cond delay="0"/>
                            </p:stCondLst>
                            <p:childTnLst>
                              <p:par>
                                <p:cTn id="175" presetID="10" presetClass="entr" presetSubtype="0" fill="hold" grpId="0" nodeType="afterEffect">
                                  <p:stCondLst>
                                    <p:cond delay="18"/>
                                  </p:stCondLst>
                                  <p:childTnLst>
                                    <p:set>
                                      <p:cBhvr>
                                        <p:cTn id="176" dur="1" fill="hold">
                                          <p:stCondLst>
                                            <p:cond delay="0"/>
                                          </p:stCondLst>
                                        </p:cTn>
                                        <p:tgtEl>
                                          <p:spTgt spid="36"/>
                                        </p:tgtEl>
                                        <p:attrNameLst>
                                          <p:attrName>style.visibility</p:attrName>
                                        </p:attrNameLst>
                                      </p:cBhvr>
                                      <p:to>
                                        <p:strVal val="visible"/>
                                      </p:to>
                                    </p:set>
                                    <p:anim calcmode="lin" valueType="num">
                                      <p:cBhvr additive="base">
                                        <p:cTn id="177" dur="150" fill="hold"/>
                                        <p:tgtEl>
                                          <p:spTgt spid="36"/>
                                        </p:tgtEl>
                                        <p:attrNameLst>
                                          <p:attrName>style.opacity</p:attrName>
                                        </p:attrNameLst>
                                      </p:cBhvr>
                                      <p:tavLst>
                                        <p:tav tm="0">
                                          <p:val>
                                            <p:fltVal val="0"/>
                                          </p:val>
                                        </p:tav>
                                        <p:tav tm="100000">
                                          <p:val>
                                            <p:fltVal val="1"/>
                                          </p:val>
                                        </p:tav>
                                      </p:tavLst>
                                    </p:anim>
                                  </p:childTnLst>
                                </p:cTn>
                              </p:par>
                            </p:childTnLst>
                          </p:cTn>
                        </p:par>
                      </p:childTnLst>
                    </p:cTn>
                  </p:par>
                  <p:par>
                    <p:cTn id="178" fill="hold">
                      <p:stCondLst>
                        <p:cond delay="indefinite"/>
                        <p:cond evt="onBegin" delay="0">
                          <p:tn val="2"/>
                        </p:cond>
                      </p:stCondLst>
                      <p:childTnLst>
                        <p:par>
                          <p:cTn id="179" fill="hold">
                            <p:stCondLst>
                              <p:cond delay="0"/>
                            </p:stCondLst>
                            <p:childTnLst>
                              <p:par>
                                <p:cTn id="180" presetID="10" presetClass="entr" presetSubtype="0" fill="hold" grpId="0" nodeType="afterEffect">
                                  <p:stCondLst>
                                    <p:cond delay="18"/>
                                  </p:stCondLst>
                                  <p:childTnLst>
                                    <p:set>
                                      <p:cBhvr>
                                        <p:cTn id="181" dur="1" fill="hold">
                                          <p:stCondLst>
                                            <p:cond delay="0"/>
                                          </p:stCondLst>
                                        </p:cTn>
                                        <p:tgtEl>
                                          <p:spTgt spid="37"/>
                                        </p:tgtEl>
                                        <p:attrNameLst>
                                          <p:attrName>style.visibility</p:attrName>
                                        </p:attrNameLst>
                                      </p:cBhvr>
                                      <p:to>
                                        <p:strVal val="visible"/>
                                      </p:to>
                                    </p:set>
                                    <p:anim calcmode="lin" valueType="num">
                                      <p:cBhvr additive="base">
                                        <p:cTn id="182" dur="150" fill="hold"/>
                                        <p:tgtEl>
                                          <p:spTgt spid="37"/>
                                        </p:tgtEl>
                                        <p:attrNameLst>
                                          <p:attrName>style.opacity</p:attrName>
                                        </p:attrNameLst>
                                      </p:cBhvr>
                                      <p:tavLst>
                                        <p:tav tm="0">
                                          <p:val>
                                            <p:fltVal val="0"/>
                                          </p:val>
                                        </p:tav>
                                        <p:tav tm="100000">
                                          <p:val>
                                            <p:fltVal val="1"/>
                                          </p:val>
                                        </p:tav>
                                      </p:tavLst>
                                    </p:anim>
                                  </p:childTnLst>
                                </p:cTn>
                              </p:par>
                            </p:childTnLst>
                          </p:cTn>
                        </p:par>
                      </p:childTnLst>
                    </p:cTn>
                  </p:par>
                  <p:par>
                    <p:cTn id="183" fill="hold">
                      <p:stCondLst>
                        <p:cond delay="indefinite"/>
                        <p:cond evt="onBegin" delay="0">
                          <p:tn val="2"/>
                        </p:cond>
                      </p:stCondLst>
                      <p:childTnLst>
                        <p:par>
                          <p:cTn id="184" fill="hold">
                            <p:stCondLst>
                              <p:cond delay="0"/>
                            </p:stCondLst>
                            <p:childTnLst>
                              <p:par>
                                <p:cTn id="185" presetID="10" presetClass="entr" presetSubtype="0" fill="hold" grpId="0" nodeType="afterEffect">
                                  <p:stCondLst>
                                    <p:cond delay="18"/>
                                  </p:stCondLst>
                                  <p:childTnLst>
                                    <p:set>
                                      <p:cBhvr>
                                        <p:cTn id="186" dur="1" fill="hold">
                                          <p:stCondLst>
                                            <p:cond delay="0"/>
                                          </p:stCondLst>
                                        </p:cTn>
                                        <p:tgtEl>
                                          <p:spTgt spid="38"/>
                                        </p:tgtEl>
                                        <p:attrNameLst>
                                          <p:attrName>style.visibility</p:attrName>
                                        </p:attrNameLst>
                                      </p:cBhvr>
                                      <p:to>
                                        <p:strVal val="visible"/>
                                      </p:to>
                                    </p:set>
                                    <p:anim calcmode="lin" valueType="num">
                                      <p:cBhvr additive="base">
                                        <p:cTn id="187" dur="150" fill="hold"/>
                                        <p:tgtEl>
                                          <p:spTgt spid="38"/>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7   /   1 min</a:t>
            </a:r>
          </a:p>
        </p:txBody>
      </p:sp>
      <p:sp>
        <p:nvSpPr>
          <p:cNvPr id="5" name="TextBox 4"/>
          <p:cNvSpPr txBox="1"/>
          <p:nvPr/>
        </p:nvSpPr>
        <p:spPr>
          <a:xfrm>
            <a:off x="274320" y="1371600"/>
            <a:ext cx="5120640" cy="4389120"/>
          </a:xfrm>
          <a:prstGeom prst="rect">
            <a:avLst/>
          </a:prstGeom>
          <a:noFill/>
        </p:spPr>
        <p:txBody>
          <a:bodyPr wrap="square" lIns="0" rIns="0" tIns="0" bIns="0" anchor="t">
            <a:spAutoFit/>
          </a:bodyPr>
          <a:lstStyle/>
          <a:p>
            <a:pPr algn="l"/>
            <a:r>
              <a:rPr sz="20000" b="1" i="0">
                <a:solidFill>
                  <a:srgbClr val="C5E063"/>
                </a:solidFill>
                <a:latin typeface="Georgia"/>
              </a:rPr>
              <a:t>03</a:t>
            </a:r>
          </a:p>
        </p:txBody>
      </p:sp>
      <p:sp>
        <p:nvSpPr>
          <p:cNvPr id="6" name="TextBox 5"/>
          <p:cNvSpPr txBox="1"/>
          <p:nvPr/>
        </p:nvSpPr>
        <p:spPr>
          <a:xfrm>
            <a:off x="5486400" y="2103120"/>
            <a:ext cx="6400800" cy="365760"/>
          </a:xfrm>
          <a:prstGeom prst="rect">
            <a:avLst/>
          </a:prstGeom>
          <a:noFill/>
        </p:spPr>
        <p:txBody>
          <a:bodyPr wrap="square" lIns="0" rIns="0" tIns="0" bIns="0" anchor="t">
            <a:spAutoFit/>
          </a:bodyPr>
          <a:lstStyle/>
          <a:p>
            <a:pPr algn="l"/>
            <a:r>
              <a:rPr sz="1100" b="1" i="0" spc="600">
                <a:solidFill>
                  <a:srgbClr val="C5E063"/>
                </a:solidFill>
                <a:latin typeface="Calibri"/>
              </a:rPr>
              <a:t>PART 3  OF  4</a:t>
            </a:r>
          </a:p>
        </p:txBody>
      </p:sp>
      <p:sp>
        <p:nvSpPr>
          <p:cNvPr id="7" name="TextBox 6"/>
          <p:cNvSpPr txBox="1"/>
          <p:nvPr/>
        </p:nvSpPr>
        <p:spPr>
          <a:xfrm>
            <a:off x="5486400" y="2606040"/>
            <a:ext cx="6400800" cy="1280160"/>
          </a:xfrm>
          <a:prstGeom prst="rect">
            <a:avLst/>
          </a:prstGeom>
          <a:noFill/>
        </p:spPr>
        <p:txBody>
          <a:bodyPr wrap="square" lIns="0" rIns="0" tIns="0" bIns="0" anchor="t">
            <a:spAutoFit/>
          </a:bodyPr>
          <a:lstStyle/>
          <a:p>
            <a:pPr algn="l"/>
            <a:r>
              <a:rPr sz="3600" b="1" i="0">
                <a:solidFill>
                  <a:srgbClr val="FFFFFF"/>
                </a:solidFill>
                <a:latin typeface="Georgia"/>
              </a:rPr>
              <a:t>The 7-lens automatability score</a:t>
            </a:r>
          </a:p>
        </p:txBody>
      </p:sp>
      <p:sp>
        <p:nvSpPr>
          <p:cNvPr id="8" name="Rectangle 7"/>
          <p:cNvSpPr/>
          <p:nvPr/>
        </p:nvSpPr>
        <p:spPr>
          <a:xfrm>
            <a:off x="5486400" y="4160520"/>
            <a:ext cx="457200" cy="45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0" y="4343400"/>
            <a:ext cx="6400800" cy="18288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Turn intuition into a number. The number turns into funding.</a:t>
            </a:r>
          </a:p>
        </p:txBody>
      </p:sp>
      <p:sp>
        <p:nvSpPr>
          <p:cNvPr id="10" name="TextBox 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7 OF 7</a:t>
            </a:r>
          </a:p>
        </p:txBody>
      </p:sp>
      <p:sp>
        <p:nvSpPr>
          <p:cNvPr id="11" name="TextBox 1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PART 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7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THE  SEVEN  LENSES</a:t>
            </a:r>
          </a:p>
        </p:txBody>
      </p:sp>
      <p:sp>
        <p:nvSpPr>
          <p:cNvPr id="6" name="TextBox 5"/>
          <p:cNvSpPr txBox="1"/>
          <p:nvPr/>
        </p:nvSpPr>
        <p:spPr>
          <a:xfrm>
            <a:off x="548640" y="1463040"/>
            <a:ext cx="10515600" cy="1097280"/>
          </a:xfrm>
          <a:prstGeom prst="rect">
            <a:avLst/>
          </a:prstGeom>
          <a:noFill/>
        </p:spPr>
        <p:txBody>
          <a:bodyPr wrap="square" lIns="0" rIns="0" tIns="0" bIns="0" anchor="t">
            <a:spAutoFit/>
          </a:bodyPr>
          <a:lstStyle/>
          <a:p>
            <a:pPr algn="l"/>
            <a:r>
              <a:rPr sz="2800" b="0" i="0">
                <a:solidFill>
                  <a:srgbClr val="FFFFFF"/>
                </a:solidFill>
                <a:latin typeface="Georgia"/>
              </a:rPr>
              <a:t>Score every process against seven lenses, 1 to 5</a:t>
            </a:r>
          </a:p>
        </p:txBody>
      </p:sp>
      <p:sp>
        <p:nvSpPr>
          <p:cNvPr id="7" name="TextBox 6"/>
          <p:cNvSpPr txBox="1"/>
          <p:nvPr/>
        </p:nvSpPr>
        <p:spPr>
          <a:xfrm>
            <a:off x="548640" y="2286000"/>
            <a:ext cx="10515600" cy="914400"/>
          </a:xfrm>
          <a:prstGeom prst="rect">
            <a:avLst/>
          </a:prstGeom>
          <a:noFill/>
        </p:spPr>
        <p:txBody>
          <a:bodyPr wrap="square" lIns="0" rIns="0" tIns="0" bIns="0" anchor="t">
            <a:spAutoFit/>
          </a:bodyPr>
          <a:lstStyle/>
          <a:p>
            <a:pPr algn="l">
              <a:lnSpc>
                <a:spcPct val="125000"/>
              </a:lnSpc>
            </a:pPr>
            <a:r>
              <a:rPr sz="1400" b="0" i="0">
                <a:solidFill>
                  <a:srgbClr val="E5E7EB"/>
                </a:solidFill>
                <a:latin typeface="Calibri"/>
              </a:rPr>
              <a:t>A score of 4+ on at least five lenses is fundable. Below that, fix something — or move on.</a:t>
            </a:r>
          </a:p>
        </p:txBody>
      </p:sp>
      <p:sp>
        <p:nvSpPr>
          <p:cNvPr id="8" name="Rectangle 7"/>
          <p:cNvSpPr/>
          <p:nvPr/>
        </p:nvSpPr>
        <p:spPr>
          <a:xfrm>
            <a:off x="548640" y="2880360"/>
            <a:ext cx="3566160" cy="13258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22960" y="3154680"/>
            <a:ext cx="457200" cy="45720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154680"/>
            <a:ext cx="457200" cy="457200"/>
          </a:xfrm>
          <a:prstGeom prst="rect">
            <a:avLst/>
          </a:prstGeom>
          <a:noFill/>
        </p:spPr>
        <p:txBody>
          <a:bodyPr wrap="square" lIns="0" rIns="0" tIns="0" bIns="0" anchor="ctr">
            <a:spAutoFit/>
          </a:bodyPr>
          <a:lstStyle/>
          <a:p>
            <a:pPr algn="ctr"/>
            <a:r>
              <a:rPr sz="1800" b="1" i="0">
                <a:solidFill>
                  <a:srgbClr val="C5E063"/>
                </a:solidFill>
                <a:latin typeface="Calibri"/>
              </a:rPr>
              <a:t>R</a:t>
            </a:r>
          </a:p>
        </p:txBody>
      </p:sp>
      <p:sp>
        <p:nvSpPr>
          <p:cNvPr id="11" name="TextBox 10"/>
          <p:cNvSpPr txBox="1"/>
          <p:nvPr/>
        </p:nvSpPr>
        <p:spPr>
          <a:xfrm>
            <a:off x="1371600" y="3172968"/>
            <a:ext cx="2651760" cy="228600"/>
          </a:xfrm>
          <a:prstGeom prst="rect">
            <a:avLst/>
          </a:prstGeom>
          <a:noFill/>
        </p:spPr>
        <p:txBody>
          <a:bodyPr wrap="square" lIns="0" rIns="0" tIns="0" bIns="0" anchor="t">
            <a:spAutoFit/>
          </a:bodyPr>
          <a:lstStyle/>
          <a:p>
            <a:pPr algn="l"/>
            <a:r>
              <a:rPr sz="900" b="1" i="0" spc="500">
                <a:solidFill>
                  <a:srgbClr val="C5E063"/>
                </a:solidFill>
                <a:latin typeface="Calibri"/>
              </a:rPr>
              <a:t>RULE-BASED</a:t>
            </a:r>
          </a:p>
        </p:txBody>
      </p:sp>
      <p:sp>
        <p:nvSpPr>
          <p:cNvPr id="12" name="TextBox 11"/>
          <p:cNvSpPr txBox="1"/>
          <p:nvPr/>
        </p:nvSpPr>
        <p:spPr>
          <a:xfrm>
            <a:off x="1371600" y="3401568"/>
            <a:ext cx="2651760" cy="365760"/>
          </a:xfrm>
          <a:prstGeom prst="rect">
            <a:avLst/>
          </a:prstGeom>
          <a:noFill/>
        </p:spPr>
        <p:txBody>
          <a:bodyPr wrap="square" lIns="0" rIns="0" tIns="0" bIns="0" anchor="t">
            <a:spAutoFit/>
          </a:bodyPr>
          <a:lstStyle/>
          <a:p>
            <a:pPr algn="l"/>
            <a:r>
              <a:rPr sz="1500" b="1" i="0">
                <a:solidFill>
                  <a:srgbClr val="FFFFFF"/>
                </a:solidFill>
                <a:latin typeface="Georgia"/>
              </a:rPr>
              <a:t>Decisions follow rules</a:t>
            </a:r>
          </a:p>
        </p:txBody>
      </p:sp>
      <p:sp>
        <p:nvSpPr>
          <p:cNvPr id="13" name="TextBox 12"/>
          <p:cNvSpPr txBox="1"/>
          <p:nvPr/>
        </p:nvSpPr>
        <p:spPr>
          <a:xfrm>
            <a:off x="822960" y="3794760"/>
            <a:ext cx="3017520" cy="274320"/>
          </a:xfrm>
          <a:prstGeom prst="rect">
            <a:avLst/>
          </a:prstGeom>
          <a:noFill/>
        </p:spPr>
        <p:txBody>
          <a:bodyPr wrap="square" lIns="0" rIns="0" tIns="0" bIns="0" anchor="t">
            <a:spAutoFit/>
          </a:bodyPr>
          <a:lstStyle/>
          <a:p>
            <a:pPr algn="l">
              <a:lnSpc>
                <a:spcPct val="130000"/>
              </a:lnSpc>
            </a:pPr>
            <a:r>
              <a:rPr sz="1050" b="0" i="0">
                <a:solidFill>
                  <a:srgbClr val="E5E7EB"/>
                </a:solidFill>
                <a:latin typeface="Calibri"/>
              </a:rPr>
              <a:t>Can the steps be written as if/then? If 'it depends', it's not RPA-ready yet.</a:t>
            </a:r>
          </a:p>
        </p:txBody>
      </p:sp>
      <p:sp>
        <p:nvSpPr>
          <p:cNvPr id="14" name="Rectangle 13"/>
          <p:cNvSpPr/>
          <p:nvPr/>
        </p:nvSpPr>
        <p:spPr>
          <a:xfrm>
            <a:off x="4297680" y="2880360"/>
            <a:ext cx="3566160" cy="13258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572000" y="3154680"/>
            <a:ext cx="457200" cy="45720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0" y="3154680"/>
            <a:ext cx="457200" cy="457200"/>
          </a:xfrm>
          <a:prstGeom prst="rect">
            <a:avLst/>
          </a:prstGeom>
          <a:noFill/>
        </p:spPr>
        <p:txBody>
          <a:bodyPr wrap="square" lIns="0" rIns="0" tIns="0" bIns="0" anchor="ctr">
            <a:spAutoFit/>
          </a:bodyPr>
          <a:lstStyle/>
          <a:p>
            <a:pPr algn="ctr"/>
            <a:r>
              <a:rPr sz="1800" b="1" i="0">
                <a:solidFill>
                  <a:srgbClr val="C5E063"/>
                </a:solidFill>
                <a:latin typeface="Calibri"/>
              </a:rPr>
              <a:t>D</a:t>
            </a:r>
          </a:p>
        </p:txBody>
      </p:sp>
      <p:sp>
        <p:nvSpPr>
          <p:cNvPr id="17" name="TextBox 16"/>
          <p:cNvSpPr txBox="1"/>
          <p:nvPr/>
        </p:nvSpPr>
        <p:spPr>
          <a:xfrm>
            <a:off x="5120640" y="3172968"/>
            <a:ext cx="2651760" cy="228600"/>
          </a:xfrm>
          <a:prstGeom prst="rect">
            <a:avLst/>
          </a:prstGeom>
          <a:noFill/>
        </p:spPr>
        <p:txBody>
          <a:bodyPr wrap="square" lIns="0" rIns="0" tIns="0" bIns="0" anchor="t">
            <a:spAutoFit/>
          </a:bodyPr>
          <a:lstStyle/>
          <a:p>
            <a:pPr algn="l"/>
            <a:r>
              <a:rPr sz="900" b="1" i="0" spc="500">
                <a:solidFill>
                  <a:srgbClr val="C5E063"/>
                </a:solidFill>
                <a:latin typeface="Calibri"/>
              </a:rPr>
              <a:t>DIGITAL</a:t>
            </a:r>
          </a:p>
        </p:txBody>
      </p:sp>
      <p:sp>
        <p:nvSpPr>
          <p:cNvPr id="18" name="TextBox 17"/>
          <p:cNvSpPr txBox="1"/>
          <p:nvPr/>
        </p:nvSpPr>
        <p:spPr>
          <a:xfrm>
            <a:off x="5120640" y="3401568"/>
            <a:ext cx="2651760" cy="365760"/>
          </a:xfrm>
          <a:prstGeom prst="rect">
            <a:avLst/>
          </a:prstGeom>
          <a:noFill/>
        </p:spPr>
        <p:txBody>
          <a:bodyPr wrap="square" lIns="0" rIns="0" tIns="0" bIns="0" anchor="t">
            <a:spAutoFit/>
          </a:bodyPr>
          <a:lstStyle/>
          <a:p>
            <a:pPr algn="l"/>
            <a:r>
              <a:rPr sz="1500" b="1" i="0">
                <a:solidFill>
                  <a:srgbClr val="FFFFFF"/>
                </a:solidFill>
                <a:latin typeface="Georgia"/>
              </a:rPr>
              <a:t>Inputs are digital</a:t>
            </a:r>
          </a:p>
        </p:txBody>
      </p:sp>
      <p:sp>
        <p:nvSpPr>
          <p:cNvPr id="19" name="TextBox 18"/>
          <p:cNvSpPr txBox="1"/>
          <p:nvPr/>
        </p:nvSpPr>
        <p:spPr>
          <a:xfrm>
            <a:off x="4572000" y="3794760"/>
            <a:ext cx="3017520" cy="274320"/>
          </a:xfrm>
          <a:prstGeom prst="rect">
            <a:avLst/>
          </a:prstGeom>
          <a:noFill/>
        </p:spPr>
        <p:txBody>
          <a:bodyPr wrap="square" lIns="0" rIns="0" tIns="0" bIns="0" anchor="t">
            <a:spAutoFit/>
          </a:bodyPr>
          <a:lstStyle/>
          <a:p>
            <a:pPr algn="l">
              <a:lnSpc>
                <a:spcPct val="130000"/>
              </a:lnSpc>
            </a:pPr>
            <a:r>
              <a:rPr sz="1050" b="0" i="0">
                <a:solidFill>
                  <a:srgbClr val="E5E7EB"/>
                </a:solidFill>
                <a:latin typeface="Calibri"/>
              </a:rPr>
              <a:t>Screens, files, structured forms — yes. Phone calls and paper — no.</a:t>
            </a:r>
          </a:p>
        </p:txBody>
      </p:sp>
      <p:sp>
        <p:nvSpPr>
          <p:cNvPr id="20" name="Rectangle 19"/>
          <p:cNvSpPr/>
          <p:nvPr/>
        </p:nvSpPr>
        <p:spPr>
          <a:xfrm>
            <a:off x="8046720" y="2880360"/>
            <a:ext cx="3566160" cy="13258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321040" y="3154680"/>
            <a:ext cx="457200" cy="45720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21040" y="3154680"/>
            <a:ext cx="457200" cy="457200"/>
          </a:xfrm>
          <a:prstGeom prst="rect">
            <a:avLst/>
          </a:prstGeom>
          <a:noFill/>
        </p:spPr>
        <p:txBody>
          <a:bodyPr wrap="square" lIns="0" rIns="0" tIns="0" bIns="0" anchor="ctr">
            <a:spAutoFit/>
          </a:bodyPr>
          <a:lstStyle/>
          <a:p>
            <a:pPr algn="ctr"/>
            <a:r>
              <a:rPr sz="1800" b="1" i="0">
                <a:solidFill>
                  <a:srgbClr val="C5E063"/>
                </a:solidFill>
                <a:latin typeface="Calibri"/>
              </a:rPr>
              <a:t>S</a:t>
            </a:r>
          </a:p>
        </p:txBody>
      </p:sp>
      <p:sp>
        <p:nvSpPr>
          <p:cNvPr id="23" name="TextBox 22"/>
          <p:cNvSpPr txBox="1"/>
          <p:nvPr/>
        </p:nvSpPr>
        <p:spPr>
          <a:xfrm>
            <a:off x="8869680" y="3172968"/>
            <a:ext cx="2651760" cy="228600"/>
          </a:xfrm>
          <a:prstGeom prst="rect">
            <a:avLst/>
          </a:prstGeom>
          <a:noFill/>
        </p:spPr>
        <p:txBody>
          <a:bodyPr wrap="square" lIns="0" rIns="0" tIns="0" bIns="0" anchor="t">
            <a:spAutoFit/>
          </a:bodyPr>
          <a:lstStyle/>
          <a:p>
            <a:pPr algn="l"/>
            <a:r>
              <a:rPr sz="900" b="1" i="0" spc="500">
                <a:solidFill>
                  <a:srgbClr val="C5E063"/>
                </a:solidFill>
                <a:latin typeface="Calibri"/>
              </a:rPr>
              <a:t>STRUCTURED</a:t>
            </a:r>
          </a:p>
        </p:txBody>
      </p:sp>
      <p:sp>
        <p:nvSpPr>
          <p:cNvPr id="24" name="TextBox 23"/>
          <p:cNvSpPr txBox="1"/>
          <p:nvPr/>
        </p:nvSpPr>
        <p:spPr>
          <a:xfrm>
            <a:off x="8869680" y="3401568"/>
            <a:ext cx="2651760" cy="365760"/>
          </a:xfrm>
          <a:prstGeom prst="rect">
            <a:avLst/>
          </a:prstGeom>
          <a:noFill/>
        </p:spPr>
        <p:txBody>
          <a:bodyPr wrap="square" lIns="0" rIns="0" tIns="0" bIns="0" anchor="t">
            <a:spAutoFit/>
          </a:bodyPr>
          <a:lstStyle/>
          <a:p>
            <a:pPr algn="l"/>
            <a:r>
              <a:rPr sz="1500" b="1" i="0">
                <a:solidFill>
                  <a:srgbClr val="FFFFFF"/>
                </a:solidFill>
                <a:latin typeface="Georgia"/>
              </a:rPr>
              <a:t>Data is structured</a:t>
            </a:r>
          </a:p>
        </p:txBody>
      </p:sp>
      <p:sp>
        <p:nvSpPr>
          <p:cNvPr id="25" name="TextBox 24"/>
          <p:cNvSpPr txBox="1"/>
          <p:nvPr/>
        </p:nvSpPr>
        <p:spPr>
          <a:xfrm>
            <a:off x="8321040" y="3794760"/>
            <a:ext cx="3017520" cy="274320"/>
          </a:xfrm>
          <a:prstGeom prst="rect">
            <a:avLst/>
          </a:prstGeom>
          <a:noFill/>
        </p:spPr>
        <p:txBody>
          <a:bodyPr wrap="square" lIns="0" rIns="0" tIns="0" bIns="0" anchor="t">
            <a:spAutoFit/>
          </a:bodyPr>
          <a:lstStyle/>
          <a:p>
            <a:pPr algn="l">
              <a:lnSpc>
                <a:spcPct val="130000"/>
              </a:lnSpc>
            </a:pPr>
            <a:r>
              <a:rPr sz="1050" b="0" i="0">
                <a:solidFill>
                  <a:srgbClr val="E5E7EB"/>
                </a:solidFill>
                <a:latin typeface="Calibri"/>
              </a:rPr>
              <a:t>Tables, fixed fields, predictable layouts. Free text needs AI on top.</a:t>
            </a:r>
          </a:p>
        </p:txBody>
      </p:sp>
      <p:sp>
        <p:nvSpPr>
          <p:cNvPr id="26" name="Rectangle 25"/>
          <p:cNvSpPr/>
          <p:nvPr/>
        </p:nvSpPr>
        <p:spPr>
          <a:xfrm>
            <a:off x="548640" y="4343400"/>
            <a:ext cx="3566160" cy="13258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4617720"/>
            <a:ext cx="457200" cy="45720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4617720"/>
            <a:ext cx="457200" cy="457200"/>
          </a:xfrm>
          <a:prstGeom prst="rect">
            <a:avLst/>
          </a:prstGeom>
          <a:noFill/>
        </p:spPr>
        <p:txBody>
          <a:bodyPr wrap="square" lIns="0" rIns="0" tIns="0" bIns="0" anchor="ctr">
            <a:spAutoFit/>
          </a:bodyPr>
          <a:lstStyle/>
          <a:p>
            <a:pPr algn="ctr"/>
            <a:r>
              <a:rPr sz="1800" b="1" i="0">
                <a:solidFill>
                  <a:srgbClr val="C5E063"/>
                </a:solidFill>
                <a:latin typeface="Calibri"/>
              </a:rPr>
              <a:t>⊜</a:t>
            </a:r>
          </a:p>
        </p:txBody>
      </p:sp>
      <p:sp>
        <p:nvSpPr>
          <p:cNvPr id="29" name="TextBox 28"/>
          <p:cNvSpPr txBox="1"/>
          <p:nvPr/>
        </p:nvSpPr>
        <p:spPr>
          <a:xfrm>
            <a:off x="1371600" y="4636008"/>
            <a:ext cx="2651760" cy="228600"/>
          </a:xfrm>
          <a:prstGeom prst="rect">
            <a:avLst/>
          </a:prstGeom>
          <a:noFill/>
        </p:spPr>
        <p:txBody>
          <a:bodyPr wrap="square" lIns="0" rIns="0" tIns="0" bIns="0" anchor="t">
            <a:spAutoFit/>
          </a:bodyPr>
          <a:lstStyle/>
          <a:p>
            <a:pPr algn="l"/>
            <a:r>
              <a:rPr sz="900" b="1" i="0" spc="500">
                <a:solidFill>
                  <a:srgbClr val="C5E063"/>
                </a:solidFill>
                <a:latin typeface="Calibri"/>
              </a:rPr>
              <a:t>STABLE</a:t>
            </a:r>
          </a:p>
        </p:txBody>
      </p:sp>
      <p:sp>
        <p:nvSpPr>
          <p:cNvPr id="30" name="TextBox 29"/>
          <p:cNvSpPr txBox="1"/>
          <p:nvPr/>
        </p:nvSpPr>
        <p:spPr>
          <a:xfrm>
            <a:off x="1371600" y="4864608"/>
            <a:ext cx="2651760" cy="365760"/>
          </a:xfrm>
          <a:prstGeom prst="rect">
            <a:avLst/>
          </a:prstGeom>
          <a:noFill/>
        </p:spPr>
        <p:txBody>
          <a:bodyPr wrap="square" lIns="0" rIns="0" tIns="0" bIns="0" anchor="t">
            <a:spAutoFit/>
          </a:bodyPr>
          <a:lstStyle/>
          <a:p>
            <a:pPr algn="l"/>
            <a:r>
              <a:rPr sz="1500" b="1" i="0">
                <a:solidFill>
                  <a:srgbClr val="FFFFFF"/>
                </a:solidFill>
                <a:latin typeface="Georgia"/>
              </a:rPr>
              <a:t>Process is stable</a:t>
            </a:r>
          </a:p>
        </p:txBody>
      </p:sp>
      <p:sp>
        <p:nvSpPr>
          <p:cNvPr id="31" name="TextBox 30"/>
          <p:cNvSpPr txBox="1"/>
          <p:nvPr/>
        </p:nvSpPr>
        <p:spPr>
          <a:xfrm>
            <a:off x="822960" y="5257800"/>
            <a:ext cx="3017520" cy="274320"/>
          </a:xfrm>
          <a:prstGeom prst="rect">
            <a:avLst/>
          </a:prstGeom>
          <a:noFill/>
        </p:spPr>
        <p:txBody>
          <a:bodyPr wrap="square" lIns="0" rIns="0" tIns="0" bIns="0" anchor="t">
            <a:spAutoFit/>
          </a:bodyPr>
          <a:lstStyle/>
          <a:p>
            <a:pPr algn="l">
              <a:lnSpc>
                <a:spcPct val="130000"/>
              </a:lnSpc>
            </a:pPr>
            <a:r>
              <a:rPr sz="1050" b="0" i="0">
                <a:solidFill>
                  <a:srgbClr val="E5E7EB"/>
                </a:solidFill>
                <a:latin typeface="Calibri"/>
              </a:rPr>
              <a:t>Hasn't changed in 6+ months. Bots break when interfaces or rules shift weekly.</a:t>
            </a:r>
          </a:p>
        </p:txBody>
      </p:sp>
      <p:sp>
        <p:nvSpPr>
          <p:cNvPr id="32" name="Rectangle 31"/>
          <p:cNvSpPr/>
          <p:nvPr/>
        </p:nvSpPr>
        <p:spPr>
          <a:xfrm>
            <a:off x="4297680" y="4343400"/>
            <a:ext cx="3566160" cy="13258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4572000" y="4617720"/>
            <a:ext cx="457200" cy="45720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0" y="4617720"/>
            <a:ext cx="457200" cy="457200"/>
          </a:xfrm>
          <a:prstGeom prst="rect">
            <a:avLst/>
          </a:prstGeom>
          <a:noFill/>
        </p:spPr>
        <p:txBody>
          <a:bodyPr wrap="square" lIns="0" rIns="0" tIns="0" bIns="0" anchor="ctr">
            <a:spAutoFit/>
          </a:bodyPr>
          <a:lstStyle/>
          <a:p>
            <a:pPr algn="ctr"/>
            <a:r>
              <a:rPr sz="1800" b="1" i="0">
                <a:solidFill>
                  <a:srgbClr val="C5E063"/>
                </a:solidFill>
                <a:latin typeface="Calibri"/>
              </a:rPr>
              <a:t>V</a:t>
            </a:r>
          </a:p>
        </p:txBody>
      </p:sp>
      <p:sp>
        <p:nvSpPr>
          <p:cNvPr id="35" name="TextBox 34"/>
          <p:cNvSpPr txBox="1"/>
          <p:nvPr/>
        </p:nvSpPr>
        <p:spPr>
          <a:xfrm>
            <a:off x="5120640" y="4636008"/>
            <a:ext cx="2651760" cy="228600"/>
          </a:xfrm>
          <a:prstGeom prst="rect">
            <a:avLst/>
          </a:prstGeom>
          <a:noFill/>
        </p:spPr>
        <p:txBody>
          <a:bodyPr wrap="square" lIns="0" rIns="0" tIns="0" bIns="0" anchor="t">
            <a:spAutoFit/>
          </a:bodyPr>
          <a:lstStyle/>
          <a:p>
            <a:pPr algn="l"/>
            <a:r>
              <a:rPr sz="900" b="1" i="0" spc="500">
                <a:solidFill>
                  <a:srgbClr val="C5E063"/>
                </a:solidFill>
                <a:latin typeface="Calibri"/>
              </a:rPr>
              <a:t>HIGH  VOLUME</a:t>
            </a:r>
          </a:p>
        </p:txBody>
      </p:sp>
      <p:sp>
        <p:nvSpPr>
          <p:cNvPr id="36" name="TextBox 35"/>
          <p:cNvSpPr txBox="1"/>
          <p:nvPr/>
        </p:nvSpPr>
        <p:spPr>
          <a:xfrm>
            <a:off x="5120640" y="4864608"/>
            <a:ext cx="2651760" cy="365760"/>
          </a:xfrm>
          <a:prstGeom prst="rect">
            <a:avLst/>
          </a:prstGeom>
          <a:noFill/>
        </p:spPr>
        <p:txBody>
          <a:bodyPr wrap="square" lIns="0" rIns="0" tIns="0" bIns="0" anchor="t">
            <a:spAutoFit/>
          </a:bodyPr>
          <a:lstStyle/>
          <a:p>
            <a:pPr algn="l"/>
            <a:r>
              <a:rPr sz="1500" b="1" i="0">
                <a:solidFill>
                  <a:srgbClr val="FFFFFF"/>
                </a:solidFill>
                <a:latin typeface="Georgia"/>
              </a:rPr>
              <a:t>Volume justifies build</a:t>
            </a:r>
          </a:p>
        </p:txBody>
      </p:sp>
      <p:sp>
        <p:nvSpPr>
          <p:cNvPr id="37" name="TextBox 36"/>
          <p:cNvSpPr txBox="1"/>
          <p:nvPr/>
        </p:nvSpPr>
        <p:spPr>
          <a:xfrm>
            <a:off x="4572000" y="5257800"/>
            <a:ext cx="3017520" cy="274320"/>
          </a:xfrm>
          <a:prstGeom prst="rect">
            <a:avLst/>
          </a:prstGeom>
          <a:noFill/>
        </p:spPr>
        <p:txBody>
          <a:bodyPr wrap="square" lIns="0" rIns="0" tIns="0" bIns="0" anchor="t">
            <a:spAutoFit/>
          </a:bodyPr>
          <a:lstStyle/>
          <a:p>
            <a:pPr algn="l">
              <a:lnSpc>
                <a:spcPct val="130000"/>
              </a:lnSpc>
            </a:pPr>
            <a:r>
              <a:rPr sz="1050" b="0" i="0">
                <a:solidFill>
                  <a:srgbClr val="E5E7EB"/>
                </a:solidFill>
                <a:latin typeface="Calibri"/>
              </a:rPr>
              <a:t>More cases per year = more savings. Below 1,000 cases, the math rarely works.</a:t>
            </a:r>
          </a:p>
        </p:txBody>
      </p:sp>
      <p:sp>
        <p:nvSpPr>
          <p:cNvPr id="38" name="Rectangle 37"/>
          <p:cNvSpPr/>
          <p:nvPr/>
        </p:nvSpPr>
        <p:spPr>
          <a:xfrm>
            <a:off x="8046720" y="4343400"/>
            <a:ext cx="3566160" cy="13258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321040" y="4617720"/>
            <a:ext cx="457200" cy="45720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321040" y="4617720"/>
            <a:ext cx="457200" cy="457200"/>
          </a:xfrm>
          <a:prstGeom prst="rect">
            <a:avLst/>
          </a:prstGeom>
          <a:noFill/>
        </p:spPr>
        <p:txBody>
          <a:bodyPr wrap="square" lIns="0" rIns="0" tIns="0" bIns="0" anchor="ctr">
            <a:spAutoFit/>
          </a:bodyPr>
          <a:lstStyle/>
          <a:p>
            <a:pPr algn="ctr"/>
            <a:r>
              <a:rPr sz="1800" b="1" i="0">
                <a:solidFill>
                  <a:srgbClr val="C5E063"/>
                </a:solidFill>
                <a:latin typeface="Calibri"/>
              </a:rPr>
              <a:t>⏱</a:t>
            </a:r>
          </a:p>
        </p:txBody>
      </p:sp>
      <p:sp>
        <p:nvSpPr>
          <p:cNvPr id="41" name="TextBox 40"/>
          <p:cNvSpPr txBox="1"/>
          <p:nvPr/>
        </p:nvSpPr>
        <p:spPr>
          <a:xfrm>
            <a:off x="8869680" y="4636008"/>
            <a:ext cx="2651760" cy="228600"/>
          </a:xfrm>
          <a:prstGeom prst="rect">
            <a:avLst/>
          </a:prstGeom>
          <a:noFill/>
        </p:spPr>
        <p:txBody>
          <a:bodyPr wrap="square" lIns="0" rIns="0" tIns="0" bIns="0" anchor="t">
            <a:spAutoFit/>
          </a:bodyPr>
          <a:lstStyle/>
          <a:p>
            <a:pPr algn="l"/>
            <a:r>
              <a:rPr sz="900" b="1" i="0" spc="500">
                <a:solidFill>
                  <a:srgbClr val="C5E063"/>
                </a:solidFill>
                <a:latin typeface="Calibri"/>
              </a:rPr>
              <a:t>TIME  HEAVY</a:t>
            </a:r>
          </a:p>
        </p:txBody>
      </p:sp>
      <p:sp>
        <p:nvSpPr>
          <p:cNvPr id="42" name="TextBox 41"/>
          <p:cNvSpPr txBox="1"/>
          <p:nvPr/>
        </p:nvSpPr>
        <p:spPr>
          <a:xfrm>
            <a:off x="8869680" y="4864608"/>
            <a:ext cx="2651760" cy="365760"/>
          </a:xfrm>
          <a:prstGeom prst="rect">
            <a:avLst/>
          </a:prstGeom>
          <a:noFill/>
        </p:spPr>
        <p:txBody>
          <a:bodyPr wrap="square" lIns="0" rIns="0" tIns="0" bIns="0" anchor="t">
            <a:spAutoFit/>
          </a:bodyPr>
          <a:lstStyle/>
          <a:p>
            <a:pPr algn="l"/>
            <a:r>
              <a:rPr sz="1500" b="1" i="0">
                <a:solidFill>
                  <a:srgbClr val="FFFFFF"/>
                </a:solidFill>
                <a:latin typeface="Georgia"/>
              </a:rPr>
              <a:t>Each case takes minutes</a:t>
            </a:r>
          </a:p>
        </p:txBody>
      </p:sp>
      <p:sp>
        <p:nvSpPr>
          <p:cNvPr id="43" name="TextBox 42"/>
          <p:cNvSpPr txBox="1"/>
          <p:nvPr/>
        </p:nvSpPr>
        <p:spPr>
          <a:xfrm>
            <a:off x="8321040" y="5257800"/>
            <a:ext cx="3017520" cy="274320"/>
          </a:xfrm>
          <a:prstGeom prst="rect">
            <a:avLst/>
          </a:prstGeom>
          <a:noFill/>
        </p:spPr>
        <p:txBody>
          <a:bodyPr wrap="square" lIns="0" rIns="0" tIns="0" bIns="0" anchor="t">
            <a:spAutoFit/>
          </a:bodyPr>
          <a:lstStyle/>
          <a:p>
            <a:pPr algn="l">
              <a:lnSpc>
                <a:spcPct val="130000"/>
              </a:lnSpc>
            </a:pPr>
            <a:r>
              <a:rPr sz="1050" b="0" i="0">
                <a:solidFill>
                  <a:srgbClr val="E5E7EB"/>
                </a:solidFill>
                <a:latin typeface="Calibri"/>
              </a:rPr>
              <a:t>Sub-30-second tasks rarely repay the build. Look for cases that take 5+ minutes.</a:t>
            </a:r>
          </a:p>
        </p:txBody>
      </p:sp>
      <p:sp>
        <p:nvSpPr>
          <p:cNvPr id="44" name="Rectangle 43"/>
          <p:cNvSpPr/>
          <p:nvPr/>
        </p:nvSpPr>
        <p:spPr>
          <a:xfrm>
            <a:off x="548640" y="5806440"/>
            <a:ext cx="3566160" cy="13258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822960" y="6080760"/>
            <a:ext cx="457200" cy="45720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22960" y="6080760"/>
            <a:ext cx="457200" cy="457200"/>
          </a:xfrm>
          <a:prstGeom prst="rect">
            <a:avLst/>
          </a:prstGeom>
          <a:noFill/>
        </p:spPr>
        <p:txBody>
          <a:bodyPr wrap="square" lIns="0" rIns="0" tIns="0" bIns="0" anchor="ctr">
            <a:spAutoFit/>
          </a:bodyPr>
          <a:lstStyle/>
          <a:p>
            <a:pPr algn="ctr"/>
            <a:r>
              <a:rPr sz="1800" b="1" i="0">
                <a:solidFill>
                  <a:srgbClr val="C5E063"/>
                </a:solidFill>
                <a:latin typeface="Calibri"/>
              </a:rPr>
              <a:t>↺</a:t>
            </a:r>
          </a:p>
        </p:txBody>
      </p:sp>
      <p:sp>
        <p:nvSpPr>
          <p:cNvPr id="47" name="TextBox 46"/>
          <p:cNvSpPr txBox="1"/>
          <p:nvPr/>
        </p:nvSpPr>
        <p:spPr>
          <a:xfrm>
            <a:off x="1371600" y="6099048"/>
            <a:ext cx="2651760" cy="228600"/>
          </a:xfrm>
          <a:prstGeom prst="rect">
            <a:avLst/>
          </a:prstGeom>
          <a:noFill/>
        </p:spPr>
        <p:txBody>
          <a:bodyPr wrap="square" lIns="0" rIns="0" tIns="0" bIns="0" anchor="t">
            <a:spAutoFit/>
          </a:bodyPr>
          <a:lstStyle/>
          <a:p>
            <a:pPr algn="l"/>
            <a:r>
              <a:rPr sz="900" b="1" i="0" spc="500">
                <a:solidFill>
                  <a:srgbClr val="C5E063"/>
                </a:solidFill>
                <a:latin typeface="Calibri"/>
              </a:rPr>
              <a:t>RECOVERABLE</a:t>
            </a:r>
          </a:p>
        </p:txBody>
      </p:sp>
      <p:sp>
        <p:nvSpPr>
          <p:cNvPr id="48" name="TextBox 47"/>
          <p:cNvSpPr txBox="1"/>
          <p:nvPr/>
        </p:nvSpPr>
        <p:spPr>
          <a:xfrm>
            <a:off x="1371600" y="6327648"/>
            <a:ext cx="2651760" cy="365760"/>
          </a:xfrm>
          <a:prstGeom prst="rect">
            <a:avLst/>
          </a:prstGeom>
          <a:noFill/>
        </p:spPr>
        <p:txBody>
          <a:bodyPr wrap="square" lIns="0" rIns="0" tIns="0" bIns="0" anchor="t">
            <a:spAutoFit/>
          </a:bodyPr>
          <a:lstStyle/>
          <a:p>
            <a:pPr algn="l"/>
            <a:r>
              <a:rPr sz="1500" b="1" i="0">
                <a:solidFill>
                  <a:srgbClr val="FFFFFF"/>
                </a:solidFill>
                <a:latin typeface="Georgia"/>
              </a:rPr>
              <a:t>Errors recoverable</a:t>
            </a:r>
          </a:p>
        </p:txBody>
      </p:sp>
      <p:sp>
        <p:nvSpPr>
          <p:cNvPr id="49" name="TextBox 48"/>
          <p:cNvSpPr txBox="1"/>
          <p:nvPr/>
        </p:nvSpPr>
        <p:spPr>
          <a:xfrm>
            <a:off x="822960" y="6720840"/>
            <a:ext cx="3017520" cy="274320"/>
          </a:xfrm>
          <a:prstGeom prst="rect">
            <a:avLst/>
          </a:prstGeom>
          <a:noFill/>
        </p:spPr>
        <p:txBody>
          <a:bodyPr wrap="square" lIns="0" rIns="0" tIns="0" bIns="0" anchor="t">
            <a:spAutoFit/>
          </a:bodyPr>
          <a:lstStyle/>
          <a:p>
            <a:pPr algn="l">
              <a:lnSpc>
                <a:spcPct val="130000"/>
              </a:lnSpc>
            </a:pPr>
            <a:r>
              <a:rPr sz="1050" b="0" i="0">
                <a:solidFill>
                  <a:srgbClr val="E5E7EB"/>
                </a:solidFill>
                <a:latin typeface="Calibri"/>
              </a:rPr>
              <a:t>If the bot makes a mistake, can a human catch it cheaply? If a wrong call is irreversible, automate cautiously.</a:t>
            </a:r>
          </a:p>
        </p:txBody>
      </p:sp>
      <p:sp>
        <p:nvSpPr>
          <p:cNvPr id="50" name="TextBox 4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7 OF 7</a:t>
            </a:r>
          </a:p>
        </p:txBody>
      </p:sp>
      <p:sp>
        <p:nvSpPr>
          <p:cNvPr id="51" name="TextBox 5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7 LENSES</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par>
                    <p:cTn id="123" fill="hold">
                      <p:stCondLst>
                        <p:cond delay="indefinite"/>
                        <p:cond evt="onBegin" delay="0">
                          <p:tn val="2"/>
                        </p:cond>
                      </p:stCondLst>
                      <p:childTnLst>
                        <p:par>
                          <p:cTn id="124" fill="hold">
                            <p:stCondLst>
                              <p:cond delay="0"/>
                            </p:stCondLst>
                            <p:childTnLst>
                              <p:par>
                                <p:cTn id="125" presetID="10" presetClass="entr" presetSubtype="0" fill="hold" grpId="0" nodeType="afterEffect">
                                  <p:stCondLst>
                                    <p:cond delay="18"/>
                                  </p:stCondLst>
                                  <p:childTnLst>
                                    <p:set>
                                      <p:cBhvr>
                                        <p:cTn id="126" dur="1" fill="hold">
                                          <p:stCondLst>
                                            <p:cond delay="0"/>
                                          </p:stCondLst>
                                        </p:cTn>
                                        <p:tgtEl>
                                          <p:spTgt spid="26"/>
                                        </p:tgtEl>
                                        <p:attrNameLst>
                                          <p:attrName>style.visibility</p:attrName>
                                        </p:attrNameLst>
                                      </p:cBhvr>
                                      <p:to>
                                        <p:strVal val="visible"/>
                                      </p:to>
                                    </p:set>
                                    <p:anim calcmode="lin" valueType="num">
                                      <p:cBhvr additive="base">
                                        <p:cTn id="127" dur="150" fill="hold"/>
                                        <p:tgtEl>
                                          <p:spTgt spid="26"/>
                                        </p:tgtEl>
                                        <p:attrNameLst>
                                          <p:attrName>style.opacity</p:attrName>
                                        </p:attrNameLst>
                                      </p:cBhvr>
                                      <p:tavLst>
                                        <p:tav tm="0">
                                          <p:val>
                                            <p:fltVal val="0"/>
                                          </p:val>
                                        </p:tav>
                                        <p:tav tm="100000">
                                          <p:val>
                                            <p:fltVal val="1"/>
                                          </p:val>
                                        </p:tav>
                                      </p:tavLst>
                                    </p:anim>
                                  </p:childTnLst>
                                </p:cTn>
                              </p:par>
                            </p:childTnLst>
                          </p:cTn>
                        </p:par>
                      </p:childTnLst>
                    </p:cTn>
                  </p:par>
                  <p:par>
                    <p:cTn id="128" fill="hold">
                      <p:stCondLst>
                        <p:cond delay="indefinite"/>
                        <p:cond evt="onBegin" delay="0">
                          <p:tn val="2"/>
                        </p:cond>
                      </p:stCondLst>
                      <p:childTnLst>
                        <p:par>
                          <p:cTn id="129" fill="hold">
                            <p:stCondLst>
                              <p:cond delay="0"/>
                            </p:stCondLst>
                            <p:childTnLst>
                              <p:par>
                                <p:cTn id="130" presetID="10" presetClass="entr" presetSubtype="0" fill="hold" grpId="0" nodeType="afterEffect">
                                  <p:stCondLst>
                                    <p:cond delay="18"/>
                                  </p:stCondLst>
                                  <p:childTnLst>
                                    <p:set>
                                      <p:cBhvr>
                                        <p:cTn id="131" dur="1" fill="hold">
                                          <p:stCondLst>
                                            <p:cond delay="0"/>
                                          </p:stCondLst>
                                        </p:cTn>
                                        <p:tgtEl>
                                          <p:spTgt spid="27"/>
                                        </p:tgtEl>
                                        <p:attrNameLst>
                                          <p:attrName>style.visibility</p:attrName>
                                        </p:attrNameLst>
                                      </p:cBhvr>
                                      <p:to>
                                        <p:strVal val="visible"/>
                                      </p:to>
                                    </p:set>
                                    <p:anim calcmode="lin" valueType="num">
                                      <p:cBhvr additive="base">
                                        <p:cTn id="132" dur="150" fill="hold"/>
                                        <p:tgtEl>
                                          <p:spTgt spid="27"/>
                                        </p:tgtEl>
                                        <p:attrNameLst>
                                          <p:attrName>style.opacity</p:attrName>
                                        </p:attrNameLst>
                                      </p:cBhvr>
                                      <p:tavLst>
                                        <p:tav tm="0">
                                          <p:val>
                                            <p:fltVal val="0"/>
                                          </p:val>
                                        </p:tav>
                                        <p:tav tm="100000">
                                          <p:val>
                                            <p:fltVal val="1"/>
                                          </p:val>
                                        </p:tav>
                                      </p:tavLst>
                                    </p:anim>
                                  </p:childTnLst>
                                </p:cTn>
                              </p:par>
                            </p:childTnLst>
                          </p:cTn>
                        </p:par>
                      </p:childTnLst>
                    </p:cTn>
                  </p:par>
                  <p:par>
                    <p:cTn id="133" fill="hold">
                      <p:stCondLst>
                        <p:cond delay="indefinite"/>
                        <p:cond evt="onBegin" delay="0">
                          <p:tn val="2"/>
                        </p:cond>
                      </p:stCondLst>
                      <p:childTnLst>
                        <p:par>
                          <p:cTn id="134" fill="hold">
                            <p:stCondLst>
                              <p:cond delay="0"/>
                            </p:stCondLst>
                            <p:childTnLst>
                              <p:par>
                                <p:cTn id="135" presetID="10" presetClass="entr" presetSubtype="0" fill="hold" grpId="0" nodeType="afterEffect">
                                  <p:stCondLst>
                                    <p:cond delay="18"/>
                                  </p:stCondLst>
                                  <p:childTnLst>
                                    <p:set>
                                      <p:cBhvr>
                                        <p:cTn id="136" dur="1" fill="hold">
                                          <p:stCondLst>
                                            <p:cond delay="0"/>
                                          </p:stCondLst>
                                        </p:cTn>
                                        <p:tgtEl>
                                          <p:spTgt spid="28"/>
                                        </p:tgtEl>
                                        <p:attrNameLst>
                                          <p:attrName>style.visibility</p:attrName>
                                        </p:attrNameLst>
                                      </p:cBhvr>
                                      <p:to>
                                        <p:strVal val="visible"/>
                                      </p:to>
                                    </p:set>
                                    <p:anim calcmode="lin" valueType="num">
                                      <p:cBhvr additive="base">
                                        <p:cTn id="137" dur="150" fill="hold"/>
                                        <p:tgtEl>
                                          <p:spTgt spid="28"/>
                                        </p:tgtEl>
                                        <p:attrNameLst>
                                          <p:attrName>style.opacity</p:attrName>
                                        </p:attrNameLst>
                                      </p:cBhvr>
                                      <p:tavLst>
                                        <p:tav tm="0">
                                          <p:val>
                                            <p:fltVal val="0"/>
                                          </p:val>
                                        </p:tav>
                                        <p:tav tm="100000">
                                          <p:val>
                                            <p:fltVal val="1"/>
                                          </p:val>
                                        </p:tav>
                                      </p:tavLst>
                                    </p:anim>
                                  </p:childTnLst>
                                </p:cTn>
                              </p:par>
                            </p:childTnLst>
                          </p:cTn>
                        </p:par>
                      </p:childTnLst>
                    </p:cTn>
                  </p:par>
                  <p:par>
                    <p:cTn id="138" fill="hold">
                      <p:stCondLst>
                        <p:cond delay="indefinite"/>
                        <p:cond evt="onBegin" delay="0">
                          <p:tn val="2"/>
                        </p:cond>
                      </p:stCondLst>
                      <p:childTnLst>
                        <p:par>
                          <p:cTn id="139" fill="hold">
                            <p:stCondLst>
                              <p:cond delay="0"/>
                            </p:stCondLst>
                            <p:childTnLst>
                              <p:par>
                                <p:cTn id="140" presetID="10" presetClass="entr" presetSubtype="0" fill="hold" grpId="0" nodeType="afterEffect">
                                  <p:stCondLst>
                                    <p:cond delay="18"/>
                                  </p:stCondLst>
                                  <p:childTnLst>
                                    <p:set>
                                      <p:cBhvr>
                                        <p:cTn id="141" dur="1" fill="hold">
                                          <p:stCondLst>
                                            <p:cond delay="0"/>
                                          </p:stCondLst>
                                        </p:cTn>
                                        <p:tgtEl>
                                          <p:spTgt spid="29"/>
                                        </p:tgtEl>
                                        <p:attrNameLst>
                                          <p:attrName>style.visibility</p:attrName>
                                        </p:attrNameLst>
                                      </p:cBhvr>
                                      <p:to>
                                        <p:strVal val="visible"/>
                                      </p:to>
                                    </p:set>
                                    <p:anim calcmode="lin" valueType="num">
                                      <p:cBhvr additive="base">
                                        <p:cTn id="142" dur="150" fill="hold"/>
                                        <p:tgtEl>
                                          <p:spTgt spid="29"/>
                                        </p:tgtEl>
                                        <p:attrNameLst>
                                          <p:attrName>style.opacity</p:attrName>
                                        </p:attrNameLst>
                                      </p:cBhvr>
                                      <p:tavLst>
                                        <p:tav tm="0">
                                          <p:val>
                                            <p:fltVal val="0"/>
                                          </p:val>
                                        </p:tav>
                                        <p:tav tm="100000">
                                          <p:val>
                                            <p:fltVal val="1"/>
                                          </p:val>
                                        </p:tav>
                                      </p:tavLst>
                                    </p:anim>
                                  </p:childTnLst>
                                </p:cTn>
                              </p:par>
                            </p:childTnLst>
                          </p:cTn>
                        </p:par>
                      </p:childTnLst>
                    </p:cTn>
                  </p:par>
                  <p:par>
                    <p:cTn id="143" fill="hold">
                      <p:stCondLst>
                        <p:cond delay="indefinite"/>
                        <p:cond evt="onBegin" delay="0">
                          <p:tn val="2"/>
                        </p:cond>
                      </p:stCondLst>
                      <p:childTnLst>
                        <p:par>
                          <p:cTn id="144" fill="hold">
                            <p:stCondLst>
                              <p:cond delay="0"/>
                            </p:stCondLst>
                            <p:childTnLst>
                              <p:par>
                                <p:cTn id="145" presetID="10" presetClass="entr" presetSubtype="0" fill="hold" grpId="0" nodeType="afterEffect">
                                  <p:stCondLst>
                                    <p:cond delay="18"/>
                                  </p:stCondLst>
                                  <p:childTnLst>
                                    <p:set>
                                      <p:cBhvr>
                                        <p:cTn id="146" dur="1" fill="hold">
                                          <p:stCondLst>
                                            <p:cond delay="0"/>
                                          </p:stCondLst>
                                        </p:cTn>
                                        <p:tgtEl>
                                          <p:spTgt spid="30"/>
                                        </p:tgtEl>
                                        <p:attrNameLst>
                                          <p:attrName>style.visibility</p:attrName>
                                        </p:attrNameLst>
                                      </p:cBhvr>
                                      <p:to>
                                        <p:strVal val="visible"/>
                                      </p:to>
                                    </p:set>
                                    <p:anim calcmode="lin" valueType="num">
                                      <p:cBhvr additive="base">
                                        <p:cTn id="147" dur="150" fill="hold"/>
                                        <p:tgtEl>
                                          <p:spTgt spid="30"/>
                                        </p:tgtEl>
                                        <p:attrNameLst>
                                          <p:attrName>style.opacity</p:attrName>
                                        </p:attrNameLst>
                                      </p:cBhvr>
                                      <p:tavLst>
                                        <p:tav tm="0">
                                          <p:val>
                                            <p:fltVal val="0"/>
                                          </p:val>
                                        </p:tav>
                                        <p:tav tm="100000">
                                          <p:val>
                                            <p:fltVal val="1"/>
                                          </p:val>
                                        </p:tav>
                                      </p:tavLst>
                                    </p:anim>
                                  </p:childTnLst>
                                </p:cTn>
                              </p:par>
                            </p:childTnLst>
                          </p:cTn>
                        </p:par>
                      </p:childTnLst>
                    </p:cTn>
                  </p:par>
                  <p:par>
                    <p:cTn id="148" fill="hold">
                      <p:stCondLst>
                        <p:cond delay="indefinite"/>
                        <p:cond evt="onBegin" delay="0">
                          <p:tn val="2"/>
                        </p:cond>
                      </p:stCondLst>
                      <p:childTnLst>
                        <p:par>
                          <p:cTn id="149" fill="hold">
                            <p:stCondLst>
                              <p:cond delay="0"/>
                            </p:stCondLst>
                            <p:childTnLst>
                              <p:par>
                                <p:cTn id="150" presetID="10" presetClass="entr" presetSubtype="0" fill="hold" grpId="0" nodeType="afterEffect">
                                  <p:stCondLst>
                                    <p:cond delay="18"/>
                                  </p:stCondLst>
                                  <p:childTnLst>
                                    <p:set>
                                      <p:cBhvr>
                                        <p:cTn id="151" dur="1" fill="hold">
                                          <p:stCondLst>
                                            <p:cond delay="0"/>
                                          </p:stCondLst>
                                        </p:cTn>
                                        <p:tgtEl>
                                          <p:spTgt spid="31"/>
                                        </p:tgtEl>
                                        <p:attrNameLst>
                                          <p:attrName>style.visibility</p:attrName>
                                        </p:attrNameLst>
                                      </p:cBhvr>
                                      <p:to>
                                        <p:strVal val="visible"/>
                                      </p:to>
                                    </p:set>
                                    <p:anim calcmode="lin" valueType="num">
                                      <p:cBhvr additive="base">
                                        <p:cTn id="152" dur="150" fill="hold"/>
                                        <p:tgtEl>
                                          <p:spTgt spid="31"/>
                                        </p:tgtEl>
                                        <p:attrNameLst>
                                          <p:attrName>style.opacity</p:attrName>
                                        </p:attrNameLst>
                                      </p:cBhvr>
                                      <p:tavLst>
                                        <p:tav tm="0">
                                          <p:val>
                                            <p:fltVal val="0"/>
                                          </p:val>
                                        </p:tav>
                                        <p:tav tm="100000">
                                          <p:val>
                                            <p:fltVal val="1"/>
                                          </p:val>
                                        </p:tav>
                                      </p:tavLst>
                                    </p:anim>
                                  </p:childTnLst>
                                </p:cTn>
                              </p:par>
                            </p:childTnLst>
                          </p:cTn>
                        </p:par>
                      </p:childTnLst>
                    </p:cTn>
                  </p:par>
                  <p:par>
                    <p:cTn id="153" fill="hold">
                      <p:stCondLst>
                        <p:cond delay="indefinite"/>
                        <p:cond evt="onBegin" delay="0">
                          <p:tn val="2"/>
                        </p:cond>
                      </p:stCondLst>
                      <p:childTnLst>
                        <p:par>
                          <p:cTn id="154" fill="hold">
                            <p:stCondLst>
                              <p:cond delay="0"/>
                            </p:stCondLst>
                            <p:childTnLst>
                              <p:par>
                                <p:cTn id="155" presetID="10" presetClass="entr" presetSubtype="0" fill="hold" grpId="0" nodeType="afterEffect">
                                  <p:stCondLst>
                                    <p:cond delay="18"/>
                                  </p:stCondLst>
                                  <p:childTnLst>
                                    <p:set>
                                      <p:cBhvr>
                                        <p:cTn id="156" dur="1" fill="hold">
                                          <p:stCondLst>
                                            <p:cond delay="0"/>
                                          </p:stCondLst>
                                        </p:cTn>
                                        <p:tgtEl>
                                          <p:spTgt spid="32"/>
                                        </p:tgtEl>
                                        <p:attrNameLst>
                                          <p:attrName>style.visibility</p:attrName>
                                        </p:attrNameLst>
                                      </p:cBhvr>
                                      <p:to>
                                        <p:strVal val="visible"/>
                                      </p:to>
                                    </p:set>
                                    <p:anim calcmode="lin" valueType="num">
                                      <p:cBhvr additive="base">
                                        <p:cTn id="157" dur="150" fill="hold"/>
                                        <p:tgtEl>
                                          <p:spTgt spid="32"/>
                                        </p:tgtEl>
                                        <p:attrNameLst>
                                          <p:attrName>style.opacity</p:attrName>
                                        </p:attrNameLst>
                                      </p:cBhvr>
                                      <p:tavLst>
                                        <p:tav tm="0">
                                          <p:val>
                                            <p:fltVal val="0"/>
                                          </p:val>
                                        </p:tav>
                                        <p:tav tm="100000">
                                          <p:val>
                                            <p:fltVal val="1"/>
                                          </p:val>
                                        </p:tav>
                                      </p:tavLst>
                                    </p:anim>
                                  </p:childTnLst>
                                </p:cTn>
                              </p:par>
                            </p:childTnLst>
                          </p:cTn>
                        </p:par>
                      </p:childTnLst>
                    </p:cTn>
                  </p:par>
                  <p:par>
                    <p:cTn id="158" fill="hold">
                      <p:stCondLst>
                        <p:cond delay="indefinite"/>
                        <p:cond evt="onBegin" delay="0">
                          <p:tn val="2"/>
                        </p:cond>
                      </p:stCondLst>
                      <p:childTnLst>
                        <p:par>
                          <p:cTn id="159" fill="hold">
                            <p:stCondLst>
                              <p:cond delay="0"/>
                            </p:stCondLst>
                            <p:childTnLst>
                              <p:par>
                                <p:cTn id="160" presetID="10" presetClass="entr" presetSubtype="0" fill="hold" grpId="0" nodeType="afterEffect">
                                  <p:stCondLst>
                                    <p:cond delay="18"/>
                                  </p:stCondLst>
                                  <p:childTnLst>
                                    <p:set>
                                      <p:cBhvr>
                                        <p:cTn id="161" dur="1" fill="hold">
                                          <p:stCondLst>
                                            <p:cond delay="0"/>
                                          </p:stCondLst>
                                        </p:cTn>
                                        <p:tgtEl>
                                          <p:spTgt spid="33"/>
                                        </p:tgtEl>
                                        <p:attrNameLst>
                                          <p:attrName>style.visibility</p:attrName>
                                        </p:attrNameLst>
                                      </p:cBhvr>
                                      <p:to>
                                        <p:strVal val="visible"/>
                                      </p:to>
                                    </p:set>
                                    <p:anim calcmode="lin" valueType="num">
                                      <p:cBhvr additive="base">
                                        <p:cTn id="162" dur="150" fill="hold"/>
                                        <p:tgtEl>
                                          <p:spTgt spid="33"/>
                                        </p:tgtEl>
                                        <p:attrNameLst>
                                          <p:attrName>style.opacity</p:attrName>
                                        </p:attrNameLst>
                                      </p:cBhvr>
                                      <p:tavLst>
                                        <p:tav tm="0">
                                          <p:val>
                                            <p:fltVal val="0"/>
                                          </p:val>
                                        </p:tav>
                                        <p:tav tm="100000">
                                          <p:val>
                                            <p:fltVal val="1"/>
                                          </p:val>
                                        </p:tav>
                                      </p:tavLst>
                                    </p:anim>
                                  </p:childTnLst>
                                </p:cTn>
                              </p:par>
                            </p:childTnLst>
                          </p:cTn>
                        </p:par>
                      </p:childTnLst>
                    </p:cTn>
                  </p:par>
                  <p:par>
                    <p:cTn id="163" fill="hold">
                      <p:stCondLst>
                        <p:cond delay="indefinite"/>
                        <p:cond evt="onBegin" delay="0">
                          <p:tn val="2"/>
                        </p:cond>
                      </p:stCondLst>
                      <p:childTnLst>
                        <p:par>
                          <p:cTn id="164" fill="hold">
                            <p:stCondLst>
                              <p:cond delay="0"/>
                            </p:stCondLst>
                            <p:childTnLst>
                              <p:par>
                                <p:cTn id="165" presetID="10" presetClass="entr" presetSubtype="0" fill="hold" grpId="0" nodeType="afterEffect">
                                  <p:stCondLst>
                                    <p:cond delay="18"/>
                                  </p:stCondLst>
                                  <p:childTnLst>
                                    <p:set>
                                      <p:cBhvr>
                                        <p:cTn id="166" dur="1" fill="hold">
                                          <p:stCondLst>
                                            <p:cond delay="0"/>
                                          </p:stCondLst>
                                        </p:cTn>
                                        <p:tgtEl>
                                          <p:spTgt spid="34"/>
                                        </p:tgtEl>
                                        <p:attrNameLst>
                                          <p:attrName>style.visibility</p:attrName>
                                        </p:attrNameLst>
                                      </p:cBhvr>
                                      <p:to>
                                        <p:strVal val="visible"/>
                                      </p:to>
                                    </p:set>
                                    <p:anim calcmode="lin" valueType="num">
                                      <p:cBhvr additive="base">
                                        <p:cTn id="167" dur="150" fill="hold"/>
                                        <p:tgtEl>
                                          <p:spTgt spid="34"/>
                                        </p:tgtEl>
                                        <p:attrNameLst>
                                          <p:attrName>style.opacity</p:attrName>
                                        </p:attrNameLst>
                                      </p:cBhvr>
                                      <p:tavLst>
                                        <p:tav tm="0">
                                          <p:val>
                                            <p:fltVal val="0"/>
                                          </p:val>
                                        </p:tav>
                                        <p:tav tm="100000">
                                          <p:val>
                                            <p:fltVal val="1"/>
                                          </p:val>
                                        </p:tav>
                                      </p:tavLst>
                                    </p:anim>
                                  </p:childTnLst>
                                </p:cTn>
                              </p:par>
                            </p:childTnLst>
                          </p:cTn>
                        </p:par>
                      </p:childTnLst>
                    </p:cTn>
                  </p:par>
                  <p:par>
                    <p:cTn id="168" fill="hold">
                      <p:stCondLst>
                        <p:cond delay="indefinite"/>
                        <p:cond evt="onBegin" delay="0">
                          <p:tn val="2"/>
                        </p:cond>
                      </p:stCondLst>
                      <p:childTnLst>
                        <p:par>
                          <p:cTn id="169" fill="hold">
                            <p:stCondLst>
                              <p:cond delay="0"/>
                            </p:stCondLst>
                            <p:childTnLst>
                              <p:par>
                                <p:cTn id="170" presetID="10" presetClass="entr" presetSubtype="0" fill="hold" grpId="0" nodeType="afterEffect">
                                  <p:stCondLst>
                                    <p:cond delay="18"/>
                                  </p:stCondLst>
                                  <p:childTnLst>
                                    <p:set>
                                      <p:cBhvr>
                                        <p:cTn id="171" dur="1" fill="hold">
                                          <p:stCondLst>
                                            <p:cond delay="0"/>
                                          </p:stCondLst>
                                        </p:cTn>
                                        <p:tgtEl>
                                          <p:spTgt spid="35"/>
                                        </p:tgtEl>
                                        <p:attrNameLst>
                                          <p:attrName>style.visibility</p:attrName>
                                        </p:attrNameLst>
                                      </p:cBhvr>
                                      <p:to>
                                        <p:strVal val="visible"/>
                                      </p:to>
                                    </p:set>
                                    <p:anim calcmode="lin" valueType="num">
                                      <p:cBhvr additive="base">
                                        <p:cTn id="172" dur="150" fill="hold"/>
                                        <p:tgtEl>
                                          <p:spTgt spid="35"/>
                                        </p:tgtEl>
                                        <p:attrNameLst>
                                          <p:attrName>style.opacity</p:attrName>
                                        </p:attrNameLst>
                                      </p:cBhvr>
                                      <p:tavLst>
                                        <p:tav tm="0">
                                          <p:val>
                                            <p:fltVal val="0"/>
                                          </p:val>
                                        </p:tav>
                                        <p:tav tm="100000">
                                          <p:val>
                                            <p:fltVal val="1"/>
                                          </p:val>
                                        </p:tav>
                                      </p:tavLst>
                                    </p:anim>
                                  </p:childTnLst>
                                </p:cTn>
                              </p:par>
                            </p:childTnLst>
                          </p:cTn>
                        </p:par>
                      </p:childTnLst>
                    </p:cTn>
                  </p:par>
                  <p:par>
                    <p:cTn id="173" fill="hold">
                      <p:stCondLst>
                        <p:cond delay="indefinite"/>
                        <p:cond evt="onBegin" delay="0">
                          <p:tn val="2"/>
                        </p:cond>
                      </p:stCondLst>
                      <p:childTnLst>
                        <p:par>
                          <p:cTn id="174" fill="hold">
                            <p:stCondLst>
                              <p:cond delay="0"/>
                            </p:stCondLst>
                            <p:childTnLst>
                              <p:par>
                                <p:cTn id="175" presetID="10" presetClass="entr" presetSubtype="0" fill="hold" grpId="0" nodeType="afterEffect">
                                  <p:stCondLst>
                                    <p:cond delay="18"/>
                                  </p:stCondLst>
                                  <p:childTnLst>
                                    <p:set>
                                      <p:cBhvr>
                                        <p:cTn id="176" dur="1" fill="hold">
                                          <p:stCondLst>
                                            <p:cond delay="0"/>
                                          </p:stCondLst>
                                        </p:cTn>
                                        <p:tgtEl>
                                          <p:spTgt spid="36"/>
                                        </p:tgtEl>
                                        <p:attrNameLst>
                                          <p:attrName>style.visibility</p:attrName>
                                        </p:attrNameLst>
                                      </p:cBhvr>
                                      <p:to>
                                        <p:strVal val="visible"/>
                                      </p:to>
                                    </p:set>
                                    <p:anim calcmode="lin" valueType="num">
                                      <p:cBhvr additive="base">
                                        <p:cTn id="177" dur="150" fill="hold"/>
                                        <p:tgtEl>
                                          <p:spTgt spid="36"/>
                                        </p:tgtEl>
                                        <p:attrNameLst>
                                          <p:attrName>style.opacity</p:attrName>
                                        </p:attrNameLst>
                                      </p:cBhvr>
                                      <p:tavLst>
                                        <p:tav tm="0">
                                          <p:val>
                                            <p:fltVal val="0"/>
                                          </p:val>
                                        </p:tav>
                                        <p:tav tm="100000">
                                          <p:val>
                                            <p:fltVal val="1"/>
                                          </p:val>
                                        </p:tav>
                                      </p:tavLst>
                                    </p:anim>
                                  </p:childTnLst>
                                </p:cTn>
                              </p:par>
                            </p:childTnLst>
                          </p:cTn>
                        </p:par>
                      </p:childTnLst>
                    </p:cTn>
                  </p:par>
                  <p:par>
                    <p:cTn id="178" fill="hold">
                      <p:stCondLst>
                        <p:cond delay="indefinite"/>
                        <p:cond evt="onBegin" delay="0">
                          <p:tn val="2"/>
                        </p:cond>
                      </p:stCondLst>
                      <p:childTnLst>
                        <p:par>
                          <p:cTn id="179" fill="hold">
                            <p:stCondLst>
                              <p:cond delay="0"/>
                            </p:stCondLst>
                            <p:childTnLst>
                              <p:par>
                                <p:cTn id="180" presetID="10" presetClass="entr" presetSubtype="0" fill="hold" grpId="0" nodeType="afterEffect">
                                  <p:stCondLst>
                                    <p:cond delay="18"/>
                                  </p:stCondLst>
                                  <p:childTnLst>
                                    <p:set>
                                      <p:cBhvr>
                                        <p:cTn id="181" dur="1" fill="hold">
                                          <p:stCondLst>
                                            <p:cond delay="0"/>
                                          </p:stCondLst>
                                        </p:cTn>
                                        <p:tgtEl>
                                          <p:spTgt spid="37"/>
                                        </p:tgtEl>
                                        <p:attrNameLst>
                                          <p:attrName>style.visibility</p:attrName>
                                        </p:attrNameLst>
                                      </p:cBhvr>
                                      <p:to>
                                        <p:strVal val="visible"/>
                                      </p:to>
                                    </p:set>
                                    <p:anim calcmode="lin" valueType="num">
                                      <p:cBhvr additive="base">
                                        <p:cTn id="182" dur="150" fill="hold"/>
                                        <p:tgtEl>
                                          <p:spTgt spid="37"/>
                                        </p:tgtEl>
                                        <p:attrNameLst>
                                          <p:attrName>style.opacity</p:attrName>
                                        </p:attrNameLst>
                                      </p:cBhvr>
                                      <p:tavLst>
                                        <p:tav tm="0">
                                          <p:val>
                                            <p:fltVal val="0"/>
                                          </p:val>
                                        </p:tav>
                                        <p:tav tm="100000">
                                          <p:val>
                                            <p:fltVal val="1"/>
                                          </p:val>
                                        </p:tav>
                                      </p:tavLst>
                                    </p:anim>
                                  </p:childTnLst>
                                </p:cTn>
                              </p:par>
                            </p:childTnLst>
                          </p:cTn>
                        </p:par>
                      </p:childTnLst>
                    </p:cTn>
                  </p:par>
                  <p:par>
                    <p:cTn id="183" fill="hold">
                      <p:stCondLst>
                        <p:cond delay="indefinite"/>
                        <p:cond evt="onBegin" delay="0">
                          <p:tn val="2"/>
                        </p:cond>
                      </p:stCondLst>
                      <p:childTnLst>
                        <p:par>
                          <p:cTn id="184" fill="hold">
                            <p:stCondLst>
                              <p:cond delay="0"/>
                            </p:stCondLst>
                            <p:childTnLst>
                              <p:par>
                                <p:cTn id="185" presetID="10" presetClass="entr" presetSubtype="0" fill="hold" grpId="0" nodeType="afterEffect">
                                  <p:stCondLst>
                                    <p:cond delay="18"/>
                                  </p:stCondLst>
                                  <p:childTnLst>
                                    <p:set>
                                      <p:cBhvr>
                                        <p:cTn id="186" dur="1" fill="hold">
                                          <p:stCondLst>
                                            <p:cond delay="0"/>
                                          </p:stCondLst>
                                        </p:cTn>
                                        <p:tgtEl>
                                          <p:spTgt spid="38"/>
                                        </p:tgtEl>
                                        <p:attrNameLst>
                                          <p:attrName>style.visibility</p:attrName>
                                        </p:attrNameLst>
                                      </p:cBhvr>
                                      <p:to>
                                        <p:strVal val="visible"/>
                                      </p:to>
                                    </p:set>
                                    <p:anim calcmode="lin" valueType="num">
                                      <p:cBhvr additive="base">
                                        <p:cTn id="187" dur="150" fill="hold"/>
                                        <p:tgtEl>
                                          <p:spTgt spid="38"/>
                                        </p:tgtEl>
                                        <p:attrNameLst>
                                          <p:attrName>style.opacity</p:attrName>
                                        </p:attrNameLst>
                                      </p:cBhvr>
                                      <p:tavLst>
                                        <p:tav tm="0">
                                          <p:val>
                                            <p:fltVal val="0"/>
                                          </p:val>
                                        </p:tav>
                                        <p:tav tm="100000">
                                          <p:val>
                                            <p:fltVal val="1"/>
                                          </p:val>
                                        </p:tav>
                                      </p:tavLst>
                                    </p:anim>
                                  </p:childTnLst>
                                </p:cTn>
                              </p:par>
                            </p:childTnLst>
                          </p:cTn>
                        </p:par>
                      </p:childTnLst>
                    </p:cTn>
                  </p:par>
                  <p:par>
                    <p:cTn id="188" fill="hold">
                      <p:stCondLst>
                        <p:cond delay="indefinite"/>
                        <p:cond evt="onBegin" delay="0">
                          <p:tn val="2"/>
                        </p:cond>
                      </p:stCondLst>
                      <p:childTnLst>
                        <p:par>
                          <p:cTn id="189" fill="hold">
                            <p:stCondLst>
                              <p:cond delay="0"/>
                            </p:stCondLst>
                            <p:childTnLst>
                              <p:par>
                                <p:cTn id="190" presetID="10" presetClass="entr" presetSubtype="0" fill="hold" grpId="0" nodeType="afterEffect">
                                  <p:stCondLst>
                                    <p:cond delay="18"/>
                                  </p:stCondLst>
                                  <p:childTnLst>
                                    <p:set>
                                      <p:cBhvr>
                                        <p:cTn id="191" dur="1" fill="hold">
                                          <p:stCondLst>
                                            <p:cond delay="0"/>
                                          </p:stCondLst>
                                        </p:cTn>
                                        <p:tgtEl>
                                          <p:spTgt spid="39"/>
                                        </p:tgtEl>
                                        <p:attrNameLst>
                                          <p:attrName>style.visibility</p:attrName>
                                        </p:attrNameLst>
                                      </p:cBhvr>
                                      <p:to>
                                        <p:strVal val="visible"/>
                                      </p:to>
                                    </p:set>
                                    <p:anim calcmode="lin" valueType="num">
                                      <p:cBhvr additive="base">
                                        <p:cTn id="192" dur="150" fill="hold"/>
                                        <p:tgtEl>
                                          <p:spTgt spid="39"/>
                                        </p:tgtEl>
                                        <p:attrNameLst>
                                          <p:attrName>style.opacity</p:attrName>
                                        </p:attrNameLst>
                                      </p:cBhvr>
                                      <p:tavLst>
                                        <p:tav tm="0">
                                          <p:val>
                                            <p:fltVal val="0"/>
                                          </p:val>
                                        </p:tav>
                                        <p:tav tm="100000">
                                          <p:val>
                                            <p:fltVal val="1"/>
                                          </p:val>
                                        </p:tav>
                                      </p:tavLst>
                                    </p:anim>
                                  </p:childTnLst>
                                </p:cTn>
                              </p:par>
                            </p:childTnLst>
                          </p:cTn>
                        </p:par>
                      </p:childTnLst>
                    </p:cTn>
                  </p:par>
                  <p:par>
                    <p:cTn id="193" fill="hold">
                      <p:stCondLst>
                        <p:cond delay="indefinite"/>
                        <p:cond evt="onBegin" delay="0">
                          <p:tn val="2"/>
                        </p:cond>
                      </p:stCondLst>
                      <p:childTnLst>
                        <p:par>
                          <p:cTn id="194" fill="hold">
                            <p:stCondLst>
                              <p:cond delay="0"/>
                            </p:stCondLst>
                            <p:childTnLst>
                              <p:par>
                                <p:cTn id="195" presetID="10" presetClass="entr" presetSubtype="0" fill="hold" grpId="0" nodeType="afterEffect">
                                  <p:stCondLst>
                                    <p:cond delay="18"/>
                                  </p:stCondLst>
                                  <p:childTnLst>
                                    <p:set>
                                      <p:cBhvr>
                                        <p:cTn id="196" dur="1" fill="hold">
                                          <p:stCondLst>
                                            <p:cond delay="0"/>
                                          </p:stCondLst>
                                        </p:cTn>
                                        <p:tgtEl>
                                          <p:spTgt spid="40"/>
                                        </p:tgtEl>
                                        <p:attrNameLst>
                                          <p:attrName>style.visibility</p:attrName>
                                        </p:attrNameLst>
                                      </p:cBhvr>
                                      <p:to>
                                        <p:strVal val="visible"/>
                                      </p:to>
                                    </p:set>
                                    <p:anim calcmode="lin" valueType="num">
                                      <p:cBhvr additive="base">
                                        <p:cTn id="197" dur="150" fill="hold"/>
                                        <p:tgtEl>
                                          <p:spTgt spid="40"/>
                                        </p:tgtEl>
                                        <p:attrNameLst>
                                          <p:attrName>style.opacity</p:attrName>
                                        </p:attrNameLst>
                                      </p:cBhvr>
                                      <p:tavLst>
                                        <p:tav tm="0">
                                          <p:val>
                                            <p:fltVal val="0"/>
                                          </p:val>
                                        </p:tav>
                                        <p:tav tm="100000">
                                          <p:val>
                                            <p:fltVal val="1"/>
                                          </p:val>
                                        </p:tav>
                                      </p:tavLst>
                                    </p:anim>
                                  </p:childTnLst>
                                </p:cTn>
                              </p:par>
                            </p:childTnLst>
                          </p:cTn>
                        </p:par>
                      </p:childTnLst>
                    </p:cTn>
                  </p:par>
                  <p:par>
                    <p:cTn id="198" fill="hold">
                      <p:stCondLst>
                        <p:cond delay="indefinite"/>
                        <p:cond evt="onBegin" delay="0">
                          <p:tn val="2"/>
                        </p:cond>
                      </p:stCondLst>
                      <p:childTnLst>
                        <p:par>
                          <p:cTn id="199" fill="hold">
                            <p:stCondLst>
                              <p:cond delay="0"/>
                            </p:stCondLst>
                            <p:childTnLst>
                              <p:par>
                                <p:cTn id="200" presetID="10" presetClass="entr" presetSubtype="0" fill="hold" grpId="0" nodeType="afterEffect">
                                  <p:stCondLst>
                                    <p:cond delay="18"/>
                                  </p:stCondLst>
                                  <p:childTnLst>
                                    <p:set>
                                      <p:cBhvr>
                                        <p:cTn id="201" dur="1" fill="hold">
                                          <p:stCondLst>
                                            <p:cond delay="0"/>
                                          </p:stCondLst>
                                        </p:cTn>
                                        <p:tgtEl>
                                          <p:spTgt spid="41"/>
                                        </p:tgtEl>
                                        <p:attrNameLst>
                                          <p:attrName>style.visibility</p:attrName>
                                        </p:attrNameLst>
                                      </p:cBhvr>
                                      <p:to>
                                        <p:strVal val="visible"/>
                                      </p:to>
                                    </p:set>
                                    <p:anim calcmode="lin" valueType="num">
                                      <p:cBhvr additive="base">
                                        <p:cTn id="202" dur="150" fill="hold"/>
                                        <p:tgtEl>
                                          <p:spTgt spid="41"/>
                                        </p:tgtEl>
                                        <p:attrNameLst>
                                          <p:attrName>style.opacity</p:attrName>
                                        </p:attrNameLst>
                                      </p:cBhvr>
                                      <p:tavLst>
                                        <p:tav tm="0">
                                          <p:val>
                                            <p:fltVal val="0"/>
                                          </p:val>
                                        </p:tav>
                                        <p:tav tm="100000">
                                          <p:val>
                                            <p:fltVal val="1"/>
                                          </p:val>
                                        </p:tav>
                                      </p:tavLst>
                                    </p:anim>
                                  </p:childTnLst>
                                </p:cTn>
                              </p:par>
                            </p:childTnLst>
                          </p:cTn>
                        </p:par>
                      </p:childTnLst>
                    </p:cTn>
                  </p:par>
                  <p:par>
                    <p:cTn id="203" fill="hold">
                      <p:stCondLst>
                        <p:cond delay="indefinite"/>
                        <p:cond evt="onBegin" delay="0">
                          <p:tn val="2"/>
                        </p:cond>
                      </p:stCondLst>
                      <p:childTnLst>
                        <p:par>
                          <p:cTn id="204" fill="hold">
                            <p:stCondLst>
                              <p:cond delay="0"/>
                            </p:stCondLst>
                            <p:childTnLst>
                              <p:par>
                                <p:cTn id="205" presetID="10" presetClass="entr" presetSubtype="0" fill="hold" grpId="0" nodeType="afterEffect">
                                  <p:stCondLst>
                                    <p:cond delay="18"/>
                                  </p:stCondLst>
                                  <p:childTnLst>
                                    <p:set>
                                      <p:cBhvr>
                                        <p:cTn id="206" dur="1" fill="hold">
                                          <p:stCondLst>
                                            <p:cond delay="0"/>
                                          </p:stCondLst>
                                        </p:cTn>
                                        <p:tgtEl>
                                          <p:spTgt spid="42"/>
                                        </p:tgtEl>
                                        <p:attrNameLst>
                                          <p:attrName>style.visibility</p:attrName>
                                        </p:attrNameLst>
                                      </p:cBhvr>
                                      <p:to>
                                        <p:strVal val="visible"/>
                                      </p:to>
                                    </p:set>
                                    <p:anim calcmode="lin" valueType="num">
                                      <p:cBhvr additive="base">
                                        <p:cTn id="207" dur="150" fill="hold"/>
                                        <p:tgtEl>
                                          <p:spTgt spid="42"/>
                                        </p:tgtEl>
                                        <p:attrNameLst>
                                          <p:attrName>style.opacity</p:attrName>
                                        </p:attrNameLst>
                                      </p:cBhvr>
                                      <p:tavLst>
                                        <p:tav tm="0">
                                          <p:val>
                                            <p:fltVal val="0"/>
                                          </p:val>
                                        </p:tav>
                                        <p:tav tm="100000">
                                          <p:val>
                                            <p:fltVal val="1"/>
                                          </p:val>
                                        </p:tav>
                                      </p:tavLst>
                                    </p:anim>
                                  </p:childTnLst>
                                </p:cTn>
                              </p:par>
                            </p:childTnLst>
                          </p:cTn>
                        </p:par>
                      </p:childTnLst>
                    </p:cTn>
                  </p:par>
                  <p:par>
                    <p:cTn id="208" fill="hold">
                      <p:stCondLst>
                        <p:cond delay="indefinite"/>
                        <p:cond evt="onBegin" delay="0">
                          <p:tn val="2"/>
                        </p:cond>
                      </p:stCondLst>
                      <p:childTnLst>
                        <p:par>
                          <p:cTn id="209" fill="hold">
                            <p:stCondLst>
                              <p:cond delay="0"/>
                            </p:stCondLst>
                            <p:childTnLst>
                              <p:par>
                                <p:cTn id="210" presetID="10" presetClass="entr" presetSubtype="0" fill="hold" grpId="0" nodeType="afterEffect">
                                  <p:stCondLst>
                                    <p:cond delay="18"/>
                                  </p:stCondLst>
                                  <p:childTnLst>
                                    <p:set>
                                      <p:cBhvr>
                                        <p:cTn id="211" dur="1" fill="hold">
                                          <p:stCondLst>
                                            <p:cond delay="0"/>
                                          </p:stCondLst>
                                        </p:cTn>
                                        <p:tgtEl>
                                          <p:spTgt spid="43"/>
                                        </p:tgtEl>
                                        <p:attrNameLst>
                                          <p:attrName>style.visibility</p:attrName>
                                        </p:attrNameLst>
                                      </p:cBhvr>
                                      <p:to>
                                        <p:strVal val="visible"/>
                                      </p:to>
                                    </p:set>
                                    <p:anim calcmode="lin" valueType="num">
                                      <p:cBhvr additive="base">
                                        <p:cTn id="212" dur="150" fill="hold"/>
                                        <p:tgtEl>
                                          <p:spTgt spid="43"/>
                                        </p:tgtEl>
                                        <p:attrNameLst>
                                          <p:attrName>style.opacity</p:attrName>
                                        </p:attrNameLst>
                                      </p:cBhvr>
                                      <p:tavLst>
                                        <p:tav tm="0">
                                          <p:val>
                                            <p:fltVal val="0"/>
                                          </p:val>
                                        </p:tav>
                                        <p:tav tm="100000">
                                          <p:val>
                                            <p:fltVal val="1"/>
                                          </p:val>
                                        </p:tav>
                                      </p:tavLst>
                                    </p:anim>
                                  </p:childTnLst>
                                </p:cTn>
                              </p:par>
                            </p:childTnLst>
                          </p:cTn>
                        </p:par>
                      </p:childTnLst>
                    </p:cTn>
                  </p:par>
                  <p:par>
                    <p:cTn id="213" fill="hold">
                      <p:stCondLst>
                        <p:cond delay="indefinite"/>
                        <p:cond evt="onBegin" delay="0">
                          <p:tn val="2"/>
                        </p:cond>
                      </p:stCondLst>
                      <p:childTnLst>
                        <p:par>
                          <p:cTn id="214" fill="hold">
                            <p:stCondLst>
                              <p:cond delay="0"/>
                            </p:stCondLst>
                            <p:childTnLst>
                              <p:par>
                                <p:cTn id="215" presetID="10" presetClass="entr" presetSubtype="0" fill="hold" grpId="0" nodeType="afterEffect">
                                  <p:stCondLst>
                                    <p:cond delay="18"/>
                                  </p:stCondLst>
                                  <p:childTnLst>
                                    <p:set>
                                      <p:cBhvr>
                                        <p:cTn id="216" dur="1" fill="hold">
                                          <p:stCondLst>
                                            <p:cond delay="0"/>
                                          </p:stCondLst>
                                        </p:cTn>
                                        <p:tgtEl>
                                          <p:spTgt spid="44"/>
                                        </p:tgtEl>
                                        <p:attrNameLst>
                                          <p:attrName>style.visibility</p:attrName>
                                        </p:attrNameLst>
                                      </p:cBhvr>
                                      <p:to>
                                        <p:strVal val="visible"/>
                                      </p:to>
                                    </p:set>
                                    <p:anim calcmode="lin" valueType="num">
                                      <p:cBhvr additive="base">
                                        <p:cTn id="217" dur="150" fill="hold"/>
                                        <p:tgtEl>
                                          <p:spTgt spid="44"/>
                                        </p:tgtEl>
                                        <p:attrNameLst>
                                          <p:attrName>style.opacity</p:attrName>
                                        </p:attrNameLst>
                                      </p:cBhvr>
                                      <p:tavLst>
                                        <p:tav tm="0">
                                          <p:val>
                                            <p:fltVal val="0"/>
                                          </p:val>
                                        </p:tav>
                                        <p:tav tm="100000">
                                          <p:val>
                                            <p:fltVal val="1"/>
                                          </p:val>
                                        </p:tav>
                                      </p:tavLst>
                                    </p:anim>
                                  </p:childTnLst>
                                </p:cTn>
                              </p:par>
                            </p:childTnLst>
                          </p:cTn>
                        </p:par>
                      </p:childTnLst>
                    </p:cTn>
                  </p:par>
                  <p:par>
                    <p:cTn id="218" fill="hold">
                      <p:stCondLst>
                        <p:cond delay="indefinite"/>
                        <p:cond evt="onBegin" delay="0">
                          <p:tn val="2"/>
                        </p:cond>
                      </p:stCondLst>
                      <p:childTnLst>
                        <p:par>
                          <p:cTn id="219" fill="hold">
                            <p:stCondLst>
                              <p:cond delay="0"/>
                            </p:stCondLst>
                            <p:childTnLst>
                              <p:par>
                                <p:cTn id="220" presetID="10" presetClass="entr" presetSubtype="0" fill="hold" grpId="0" nodeType="afterEffect">
                                  <p:stCondLst>
                                    <p:cond delay="18"/>
                                  </p:stCondLst>
                                  <p:childTnLst>
                                    <p:set>
                                      <p:cBhvr>
                                        <p:cTn id="221" dur="1" fill="hold">
                                          <p:stCondLst>
                                            <p:cond delay="0"/>
                                          </p:stCondLst>
                                        </p:cTn>
                                        <p:tgtEl>
                                          <p:spTgt spid="45"/>
                                        </p:tgtEl>
                                        <p:attrNameLst>
                                          <p:attrName>style.visibility</p:attrName>
                                        </p:attrNameLst>
                                      </p:cBhvr>
                                      <p:to>
                                        <p:strVal val="visible"/>
                                      </p:to>
                                    </p:set>
                                    <p:anim calcmode="lin" valueType="num">
                                      <p:cBhvr additive="base">
                                        <p:cTn id="222" dur="150" fill="hold"/>
                                        <p:tgtEl>
                                          <p:spTgt spid="45"/>
                                        </p:tgtEl>
                                        <p:attrNameLst>
                                          <p:attrName>style.opacity</p:attrName>
                                        </p:attrNameLst>
                                      </p:cBhvr>
                                      <p:tavLst>
                                        <p:tav tm="0">
                                          <p:val>
                                            <p:fltVal val="0"/>
                                          </p:val>
                                        </p:tav>
                                        <p:tav tm="100000">
                                          <p:val>
                                            <p:fltVal val="1"/>
                                          </p:val>
                                        </p:tav>
                                      </p:tavLst>
                                    </p:anim>
                                  </p:childTnLst>
                                </p:cTn>
                              </p:par>
                            </p:childTnLst>
                          </p:cTn>
                        </p:par>
                      </p:childTnLst>
                    </p:cTn>
                  </p:par>
                  <p:par>
                    <p:cTn id="223" fill="hold">
                      <p:stCondLst>
                        <p:cond delay="indefinite"/>
                        <p:cond evt="onBegin" delay="0">
                          <p:tn val="2"/>
                        </p:cond>
                      </p:stCondLst>
                      <p:childTnLst>
                        <p:par>
                          <p:cTn id="224" fill="hold">
                            <p:stCondLst>
                              <p:cond delay="0"/>
                            </p:stCondLst>
                            <p:childTnLst>
                              <p:par>
                                <p:cTn id="225" presetID="10" presetClass="entr" presetSubtype="0" fill="hold" grpId="0" nodeType="afterEffect">
                                  <p:stCondLst>
                                    <p:cond delay="18"/>
                                  </p:stCondLst>
                                  <p:childTnLst>
                                    <p:set>
                                      <p:cBhvr>
                                        <p:cTn id="226" dur="1" fill="hold">
                                          <p:stCondLst>
                                            <p:cond delay="0"/>
                                          </p:stCondLst>
                                        </p:cTn>
                                        <p:tgtEl>
                                          <p:spTgt spid="46"/>
                                        </p:tgtEl>
                                        <p:attrNameLst>
                                          <p:attrName>style.visibility</p:attrName>
                                        </p:attrNameLst>
                                      </p:cBhvr>
                                      <p:to>
                                        <p:strVal val="visible"/>
                                      </p:to>
                                    </p:set>
                                    <p:anim calcmode="lin" valueType="num">
                                      <p:cBhvr additive="base">
                                        <p:cTn id="227" dur="150" fill="hold"/>
                                        <p:tgtEl>
                                          <p:spTgt spid="46"/>
                                        </p:tgtEl>
                                        <p:attrNameLst>
                                          <p:attrName>style.opacity</p:attrName>
                                        </p:attrNameLst>
                                      </p:cBhvr>
                                      <p:tavLst>
                                        <p:tav tm="0">
                                          <p:val>
                                            <p:fltVal val="0"/>
                                          </p:val>
                                        </p:tav>
                                        <p:tav tm="100000">
                                          <p:val>
                                            <p:fltVal val="1"/>
                                          </p:val>
                                        </p:tav>
                                      </p:tavLst>
                                    </p:anim>
                                  </p:childTnLst>
                                </p:cTn>
                              </p:par>
                            </p:childTnLst>
                          </p:cTn>
                        </p:par>
                      </p:childTnLst>
                    </p:cTn>
                  </p:par>
                  <p:par>
                    <p:cTn id="228" fill="hold">
                      <p:stCondLst>
                        <p:cond delay="indefinite"/>
                        <p:cond evt="onBegin" delay="0">
                          <p:tn val="2"/>
                        </p:cond>
                      </p:stCondLst>
                      <p:childTnLst>
                        <p:par>
                          <p:cTn id="229" fill="hold">
                            <p:stCondLst>
                              <p:cond delay="0"/>
                            </p:stCondLst>
                            <p:childTnLst>
                              <p:par>
                                <p:cTn id="230" presetID="10" presetClass="entr" presetSubtype="0" fill="hold" grpId="0" nodeType="afterEffect">
                                  <p:stCondLst>
                                    <p:cond delay="18"/>
                                  </p:stCondLst>
                                  <p:childTnLst>
                                    <p:set>
                                      <p:cBhvr>
                                        <p:cTn id="231" dur="1" fill="hold">
                                          <p:stCondLst>
                                            <p:cond delay="0"/>
                                          </p:stCondLst>
                                        </p:cTn>
                                        <p:tgtEl>
                                          <p:spTgt spid="47"/>
                                        </p:tgtEl>
                                        <p:attrNameLst>
                                          <p:attrName>style.visibility</p:attrName>
                                        </p:attrNameLst>
                                      </p:cBhvr>
                                      <p:to>
                                        <p:strVal val="visible"/>
                                      </p:to>
                                    </p:set>
                                    <p:anim calcmode="lin" valueType="num">
                                      <p:cBhvr additive="base">
                                        <p:cTn id="232" dur="150" fill="hold"/>
                                        <p:tgtEl>
                                          <p:spTgt spid="47"/>
                                        </p:tgtEl>
                                        <p:attrNameLst>
                                          <p:attrName>style.opacity</p:attrName>
                                        </p:attrNameLst>
                                      </p:cBhvr>
                                      <p:tavLst>
                                        <p:tav tm="0">
                                          <p:val>
                                            <p:fltVal val="0"/>
                                          </p:val>
                                        </p:tav>
                                        <p:tav tm="100000">
                                          <p:val>
                                            <p:fltVal val="1"/>
                                          </p:val>
                                        </p:tav>
                                      </p:tavLst>
                                    </p:anim>
                                  </p:childTnLst>
                                </p:cTn>
                              </p:par>
                            </p:childTnLst>
                          </p:cTn>
                        </p:par>
                      </p:childTnLst>
                    </p:cTn>
                  </p:par>
                  <p:par>
                    <p:cTn id="233" fill="hold">
                      <p:stCondLst>
                        <p:cond delay="indefinite"/>
                        <p:cond evt="onBegin" delay="0">
                          <p:tn val="2"/>
                        </p:cond>
                      </p:stCondLst>
                      <p:childTnLst>
                        <p:par>
                          <p:cTn id="234" fill="hold">
                            <p:stCondLst>
                              <p:cond delay="0"/>
                            </p:stCondLst>
                            <p:childTnLst>
                              <p:par>
                                <p:cTn id="235" presetID="10" presetClass="entr" presetSubtype="0" fill="hold" grpId="0" nodeType="afterEffect">
                                  <p:stCondLst>
                                    <p:cond delay="18"/>
                                  </p:stCondLst>
                                  <p:childTnLst>
                                    <p:set>
                                      <p:cBhvr>
                                        <p:cTn id="236" dur="1" fill="hold">
                                          <p:stCondLst>
                                            <p:cond delay="0"/>
                                          </p:stCondLst>
                                        </p:cTn>
                                        <p:tgtEl>
                                          <p:spTgt spid="48"/>
                                        </p:tgtEl>
                                        <p:attrNameLst>
                                          <p:attrName>style.visibility</p:attrName>
                                        </p:attrNameLst>
                                      </p:cBhvr>
                                      <p:to>
                                        <p:strVal val="visible"/>
                                      </p:to>
                                    </p:set>
                                    <p:anim calcmode="lin" valueType="num">
                                      <p:cBhvr additive="base">
                                        <p:cTn id="237" dur="150" fill="hold"/>
                                        <p:tgtEl>
                                          <p:spTgt spid="48"/>
                                        </p:tgtEl>
                                        <p:attrNameLst>
                                          <p:attrName>style.opacity</p:attrName>
                                        </p:attrNameLst>
                                      </p:cBhvr>
                                      <p:tavLst>
                                        <p:tav tm="0">
                                          <p:val>
                                            <p:fltVal val="0"/>
                                          </p:val>
                                        </p:tav>
                                        <p:tav tm="100000">
                                          <p:val>
                                            <p:fltVal val="1"/>
                                          </p:val>
                                        </p:tav>
                                      </p:tavLst>
                                    </p:anim>
                                  </p:childTnLst>
                                </p:cTn>
                              </p:par>
                            </p:childTnLst>
                          </p:cTn>
                        </p:par>
                      </p:childTnLst>
                    </p:cTn>
                  </p:par>
                  <p:par>
                    <p:cTn id="238" fill="hold">
                      <p:stCondLst>
                        <p:cond delay="indefinite"/>
                        <p:cond evt="onBegin" delay="0">
                          <p:tn val="2"/>
                        </p:cond>
                      </p:stCondLst>
                      <p:childTnLst>
                        <p:par>
                          <p:cTn id="239" fill="hold">
                            <p:stCondLst>
                              <p:cond delay="0"/>
                            </p:stCondLst>
                            <p:childTnLst>
                              <p:par>
                                <p:cTn id="240" presetID="10" presetClass="entr" presetSubtype="0" fill="hold" grpId="0" nodeType="afterEffect">
                                  <p:stCondLst>
                                    <p:cond delay="18"/>
                                  </p:stCondLst>
                                  <p:childTnLst>
                                    <p:set>
                                      <p:cBhvr>
                                        <p:cTn id="241" dur="1" fill="hold">
                                          <p:stCondLst>
                                            <p:cond delay="0"/>
                                          </p:stCondLst>
                                        </p:cTn>
                                        <p:tgtEl>
                                          <p:spTgt spid="49"/>
                                        </p:tgtEl>
                                        <p:attrNameLst>
                                          <p:attrName>style.visibility</p:attrName>
                                        </p:attrNameLst>
                                      </p:cBhvr>
                                      <p:to>
                                        <p:strVal val="visible"/>
                                      </p:to>
                                    </p:set>
                                    <p:anim calcmode="lin" valueType="num">
                                      <p:cBhvr additive="base">
                                        <p:cTn id="242" dur="150" fill="hold"/>
                                        <p:tgtEl>
                                          <p:spTgt spid="49"/>
                                        </p:tgtEl>
                                        <p:attrNameLst>
                                          <p:attrName>style.opacity</p:attrName>
                                        </p:attrNameLst>
                                      </p:cBhvr>
                                      <p:tavLst>
                                        <p:tav tm="0">
                                          <p:val>
                                            <p:fltVal val="0"/>
                                          </p:val>
                                        </p:tav>
                                        <p:tav tm="100000">
                                          <p:val>
                                            <p:fltVal val="1"/>
                                          </p:val>
                                        </p:tav>
                                      </p:tavLst>
                                    </p:anim>
                                  </p:childTnLst>
                                </p:cTn>
                              </p:par>
                            </p:childTnLst>
                          </p:cTn>
                        </p:par>
                      </p:childTnLst>
                    </p:cTn>
                  </p:par>
                  <p:par>
                    <p:cTn id="243" fill="hold">
                      <p:stCondLst>
                        <p:cond delay="indefinite"/>
                        <p:cond evt="onBegin" delay="0">
                          <p:tn val="2"/>
                        </p:cond>
                      </p:stCondLst>
                      <p:childTnLst>
                        <p:par>
                          <p:cTn id="244" fill="hold">
                            <p:stCondLst>
                              <p:cond delay="0"/>
                            </p:stCondLst>
                            <p:childTnLst>
                              <p:par>
                                <p:cTn id="245" presetID="10" presetClass="entr" presetSubtype="0" fill="hold" grpId="0" nodeType="afterEffect">
                                  <p:stCondLst>
                                    <p:cond delay="18"/>
                                  </p:stCondLst>
                                  <p:childTnLst>
                                    <p:set>
                                      <p:cBhvr>
                                        <p:cTn id="246" dur="1" fill="hold">
                                          <p:stCondLst>
                                            <p:cond delay="0"/>
                                          </p:stCondLst>
                                        </p:cTn>
                                        <p:tgtEl>
                                          <p:spTgt spid="50"/>
                                        </p:tgtEl>
                                        <p:attrNameLst>
                                          <p:attrName>style.visibility</p:attrName>
                                        </p:attrNameLst>
                                      </p:cBhvr>
                                      <p:to>
                                        <p:strVal val="visible"/>
                                      </p:to>
                                    </p:set>
                                    <p:anim calcmode="lin" valueType="num">
                                      <p:cBhvr additive="base">
                                        <p:cTn id="247" dur="150" fill="hold"/>
                                        <p:tgtEl>
                                          <p:spTgt spid="50"/>
                                        </p:tgtEl>
                                        <p:attrNameLst>
                                          <p:attrName>style.opacity</p:attrName>
                                        </p:attrNameLst>
                                      </p:cBhvr>
                                      <p:tavLst>
                                        <p:tav tm="0">
                                          <p:val>
                                            <p:fltVal val="0"/>
                                          </p:val>
                                        </p:tav>
                                        <p:tav tm="100000">
                                          <p:val>
                                            <p:fltVal val="1"/>
                                          </p:val>
                                        </p:tav>
                                      </p:tavLst>
                                    </p:anim>
                                  </p:childTnLst>
                                </p:cTn>
                              </p:par>
                            </p:childTnLst>
                          </p:cTn>
                        </p:par>
                      </p:childTnLst>
                    </p:cTn>
                  </p:par>
                  <p:par>
                    <p:cTn id="248" fill="hold">
                      <p:stCondLst>
                        <p:cond delay="indefinite"/>
                        <p:cond evt="onBegin" delay="0">
                          <p:tn val="2"/>
                        </p:cond>
                      </p:stCondLst>
                      <p:childTnLst>
                        <p:par>
                          <p:cTn id="249" fill="hold">
                            <p:stCondLst>
                              <p:cond delay="0"/>
                            </p:stCondLst>
                            <p:childTnLst>
                              <p:par>
                                <p:cTn id="250" presetID="10" presetClass="entr" presetSubtype="0" fill="hold" grpId="0" nodeType="afterEffect">
                                  <p:stCondLst>
                                    <p:cond delay="18"/>
                                  </p:stCondLst>
                                  <p:childTnLst>
                                    <p:set>
                                      <p:cBhvr>
                                        <p:cTn id="251" dur="1" fill="hold">
                                          <p:stCondLst>
                                            <p:cond delay="0"/>
                                          </p:stCondLst>
                                        </p:cTn>
                                        <p:tgtEl>
                                          <p:spTgt spid="51"/>
                                        </p:tgtEl>
                                        <p:attrNameLst>
                                          <p:attrName>style.visibility</p:attrName>
                                        </p:attrNameLst>
                                      </p:cBhvr>
                                      <p:to>
                                        <p:strVal val="visible"/>
                                      </p:to>
                                    </p:set>
                                    <p:anim calcmode="lin" valueType="num">
                                      <p:cBhvr additive="base">
                                        <p:cTn id="252" dur="150" fill="hold"/>
                                        <p:tgtEl>
                                          <p:spTgt spid="5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7   /   3 min</a:t>
            </a:r>
          </a:p>
        </p:txBody>
      </p:sp>
      <p:sp>
        <p:nvSpPr>
          <p:cNvPr id="5" name="Rounded Rectangle 4"/>
          <p:cNvSpPr/>
          <p:nvPr/>
        </p:nvSpPr>
        <p:spPr>
          <a:xfrm>
            <a:off x="548640" y="1143000"/>
            <a:ext cx="2377440" cy="365760"/>
          </a:xfrm>
          <a:prstGeom prst="round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43000"/>
            <a:ext cx="2377440" cy="365760"/>
          </a:xfrm>
          <a:prstGeom prst="rect">
            <a:avLst/>
          </a:prstGeom>
          <a:noFill/>
        </p:spPr>
        <p:txBody>
          <a:bodyPr wrap="square" lIns="0" rIns="0" tIns="0" bIns="0" anchor="ctr">
            <a:spAutoFit/>
          </a:bodyPr>
          <a:lstStyle/>
          <a:p>
            <a:pPr algn="ctr"/>
            <a:r>
              <a:rPr sz="1000" b="1" i="0" spc="500">
                <a:solidFill>
                  <a:srgbClr val="2C5244"/>
                </a:solidFill>
                <a:latin typeface="Calibri"/>
              </a:rPr>
              <a:t>✦  THINK · PAIR · SHARE</a:t>
            </a:r>
          </a:p>
        </p:txBody>
      </p:sp>
      <p:sp>
        <p:nvSpPr>
          <p:cNvPr id="7" name="TextBox 6"/>
          <p:cNvSpPr txBox="1"/>
          <p:nvPr/>
        </p:nvSpPr>
        <p:spPr>
          <a:xfrm>
            <a:off x="3063240" y="1207008"/>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ACTIVITY</a:t>
            </a:r>
          </a:p>
        </p:txBody>
      </p:sp>
      <p:sp>
        <p:nvSpPr>
          <p:cNvPr id="8" name="TextBox 7"/>
          <p:cNvSpPr txBox="1"/>
          <p:nvPr/>
        </p:nvSpPr>
        <p:spPr>
          <a:xfrm>
            <a:off x="548640" y="1691640"/>
            <a:ext cx="10972800" cy="1097280"/>
          </a:xfrm>
          <a:prstGeom prst="rect">
            <a:avLst/>
          </a:prstGeom>
          <a:noFill/>
        </p:spPr>
        <p:txBody>
          <a:bodyPr wrap="square" lIns="0" rIns="0" tIns="0" bIns="0" anchor="t">
            <a:spAutoFit/>
          </a:bodyPr>
          <a:lstStyle/>
          <a:p>
            <a:pPr algn="l"/>
            <a:r>
              <a:rPr sz="2600" b="0" i="0">
                <a:solidFill>
                  <a:srgbClr val="FFFFFF"/>
                </a:solidFill>
                <a:latin typeface="Georgia"/>
              </a:rPr>
              <a:t>Score five real-world processes — high, medium or low</a:t>
            </a:r>
          </a:p>
        </p:txBody>
      </p:sp>
      <p:sp>
        <p:nvSpPr>
          <p:cNvPr id="9" name="Rectangle 8"/>
          <p:cNvSpPr/>
          <p:nvPr/>
        </p:nvSpPr>
        <p:spPr>
          <a:xfrm>
            <a:off x="548640" y="2743200"/>
            <a:ext cx="7040880" cy="33832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926080"/>
            <a:ext cx="6492240" cy="274320"/>
          </a:xfrm>
          <a:prstGeom prst="rect">
            <a:avLst/>
          </a:prstGeom>
          <a:noFill/>
        </p:spPr>
        <p:txBody>
          <a:bodyPr wrap="square" lIns="0" rIns="0" tIns="0" bIns="0" anchor="t">
            <a:spAutoFit/>
          </a:bodyPr>
          <a:lstStyle/>
          <a:p>
            <a:pPr algn="l"/>
            <a:r>
              <a:rPr sz="1000" b="1" i="0" spc="500">
                <a:solidFill>
                  <a:srgbClr val="C5E063"/>
                </a:solidFill>
                <a:latin typeface="Calibri"/>
              </a:rPr>
              <a:t>PROMPT</a:t>
            </a:r>
          </a:p>
        </p:txBody>
      </p:sp>
      <p:sp>
        <p:nvSpPr>
          <p:cNvPr id="11" name="TextBox 10"/>
          <p:cNvSpPr txBox="1"/>
          <p:nvPr/>
        </p:nvSpPr>
        <p:spPr>
          <a:xfrm>
            <a:off x="822960" y="3246120"/>
            <a:ext cx="6492240" cy="2743200"/>
          </a:xfrm>
          <a:prstGeom prst="rect">
            <a:avLst/>
          </a:prstGeom>
          <a:noFill/>
        </p:spPr>
        <p:txBody>
          <a:bodyPr wrap="square" lIns="0" rIns="0" tIns="0" bIns="0" anchor="t">
            <a:spAutoFit/>
          </a:bodyPr>
          <a:lstStyle/>
          <a:p>
            <a:pPr algn="l">
              <a:lnSpc>
                <a:spcPct val="145000"/>
              </a:lnSpc>
            </a:pPr>
            <a:r>
              <a:rPr sz="1400" b="0" i="1">
                <a:solidFill>
                  <a:srgbClr val="FFFFFF"/>
                </a:solidFill>
                <a:latin typeface="Calibri"/>
              </a:rPr>
              <a:t>For each, decide if it scores HIGH, MEDIUM or LOW on automatability — and pick the lens that drove your verdict.
1.  Form fields are handwritten on paper
2.  Process changes every week as new exceptions appear
3.  Reading 4 lakh structured invoices into SAP nightly
4.  Authorising emergency surgical procedures
5.  Onboarding 800 new employees per quarter via a fixed checklist</a:t>
            </a:r>
          </a:p>
        </p:txBody>
      </p:sp>
      <p:sp>
        <p:nvSpPr>
          <p:cNvPr id="12" name="Rectangle 11"/>
          <p:cNvSpPr/>
          <p:nvPr/>
        </p:nvSpPr>
        <p:spPr>
          <a:xfrm>
            <a:off x="7818120" y="2743200"/>
            <a:ext cx="3794760" cy="3383280"/>
          </a:xfrm>
          <a:prstGeom prst="rect">
            <a:avLst/>
          </a:prstGeom>
          <a:solidFill>
            <a:srgbClr val="224036"/>
          </a:solidFill>
          <a:ln w="6350">
            <a:solidFill>
              <a:srgbClr val="DCEC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92440" y="2926080"/>
            <a:ext cx="3291840" cy="274320"/>
          </a:xfrm>
          <a:prstGeom prst="rect">
            <a:avLst/>
          </a:prstGeom>
          <a:noFill/>
        </p:spPr>
        <p:txBody>
          <a:bodyPr wrap="square" lIns="0" rIns="0" tIns="0" bIns="0" anchor="t">
            <a:spAutoFit/>
          </a:bodyPr>
          <a:lstStyle/>
          <a:p>
            <a:pPr algn="l"/>
            <a:r>
              <a:rPr sz="1000" b="1" i="0" spc="500">
                <a:solidFill>
                  <a:srgbClr val="C5E063"/>
                </a:solidFill>
                <a:latin typeface="Calibri"/>
              </a:rPr>
              <a:t>HOW TO RUN IT</a:t>
            </a:r>
          </a:p>
        </p:txBody>
      </p:sp>
      <p:sp>
        <p:nvSpPr>
          <p:cNvPr id="14" name="Oval 13"/>
          <p:cNvSpPr/>
          <p:nvPr/>
        </p:nvSpPr>
        <p:spPr>
          <a:xfrm>
            <a:off x="8092440" y="3246120"/>
            <a:ext cx="292608" cy="29260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92440" y="3246120"/>
            <a:ext cx="292608" cy="292608"/>
          </a:xfrm>
          <a:prstGeom prst="rect">
            <a:avLst/>
          </a:prstGeom>
          <a:noFill/>
        </p:spPr>
        <p:txBody>
          <a:bodyPr wrap="square" lIns="0" rIns="0" tIns="0" bIns="0" anchor="ctr">
            <a:spAutoFit/>
          </a:bodyPr>
          <a:lstStyle/>
          <a:p>
            <a:pPr algn="ctr"/>
            <a:r>
              <a:rPr sz="1100" b="1" i="0">
                <a:solidFill>
                  <a:srgbClr val="2C5244"/>
                </a:solidFill>
                <a:latin typeface="Georgia"/>
              </a:rPr>
              <a:t>1</a:t>
            </a:r>
          </a:p>
        </p:txBody>
      </p:sp>
      <p:sp>
        <p:nvSpPr>
          <p:cNvPr id="16" name="TextBox 15"/>
          <p:cNvSpPr txBox="1"/>
          <p:nvPr/>
        </p:nvSpPr>
        <p:spPr>
          <a:xfrm>
            <a:off x="8503920" y="3246120"/>
            <a:ext cx="3017520" cy="502920"/>
          </a:xfrm>
          <a:prstGeom prst="rect">
            <a:avLst/>
          </a:prstGeom>
          <a:noFill/>
        </p:spPr>
        <p:txBody>
          <a:bodyPr wrap="square" lIns="0" rIns="0" tIns="0" bIns="0" anchor="ctr">
            <a:spAutoFit/>
          </a:bodyPr>
          <a:lstStyle/>
          <a:p>
            <a:pPr algn="l">
              <a:lnSpc>
                <a:spcPct val="130000"/>
              </a:lnSpc>
            </a:pPr>
            <a:r>
              <a:rPr sz="1100" b="0" i="0">
                <a:solidFill>
                  <a:srgbClr val="FFFFFF"/>
                </a:solidFill>
                <a:latin typeface="Calibri"/>
              </a:rPr>
              <a:t>60s solo — score each process H/M/L.</a:t>
            </a:r>
          </a:p>
        </p:txBody>
      </p:sp>
      <p:sp>
        <p:nvSpPr>
          <p:cNvPr id="17" name="Oval 16"/>
          <p:cNvSpPr/>
          <p:nvPr/>
        </p:nvSpPr>
        <p:spPr>
          <a:xfrm>
            <a:off x="8092440" y="3886200"/>
            <a:ext cx="292608" cy="29260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92440" y="3886200"/>
            <a:ext cx="292608" cy="292608"/>
          </a:xfrm>
          <a:prstGeom prst="rect">
            <a:avLst/>
          </a:prstGeom>
          <a:noFill/>
        </p:spPr>
        <p:txBody>
          <a:bodyPr wrap="square" lIns="0" rIns="0" tIns="0" bIns="0" anchor="ctr">
            <a:spAutoFit/>
          </a:bodyPr>
          <a:lstStyle/>
          <a:p>
            <a:pPr algn="ctr"/>
            <a:r>
              <a:rPr sz="1100" b="1" i="0">
                <a:solidFill>
                  <a:srgbClr val="2C5244"/>
                </a:solidFill>
                <a:latin typeface="Georgia"/>
              </a:rPr>
              <a:t>2</a:t>
            </a:r>
          </a:p>
        </p:txBody>
      </p:sp>
      <p:sp>
        <p:nvSpPr>
          <p:cNvPr id="19" name="TextBox 18"/>
          <p:cNvSpPr txBox="1"/>
          <p:nvPr/>
        </p:nvSpPr>
        <p:spPr>
          <a:xfrm>
            <a:off x="8503920" y="3886200"/>
            <a:ext cx="3017520" cy="502920"/>
          </a:xfrm>
          <a:prstGeom prst="rect">
            <a:avLst/>
          </a:prstGeom>
          <a:noFill/>
        </p:spPr>
        <p:txBody>
          <a:bodyPr wrap="square" lIns="0" rIns="0" tIns="0" bIns="0" anchor="ctr">
            <a:spAutoFit/>
          </a:bodyPr>
          <a:lstStyle/>
          <a:p>
            <a:pPr algn="l">
              <a:lnSpc>
                <a:spcPct val="130000"/>
              </a:lnSpc>
            </a:pPr>
            <a:r>
              <a:rPr sz="1100" b="0" i="0">
                <a:solidFill>
                  <a:srgbClr val="FFFFFF"/>
                </a:solidFill>
                <a:latin typeface="Calibri"/>
              </a:rPr>
              <a:t>60s with a partner — defend any 'medium' calls.</a:t>
            </a:r>
          </a:p>
        </p:txBody>
      </p:sp>
      <p:sp>
        <p:nvSpPr>
          <p:cNvPr id="20" name="Oval 19"/>
          <p:cNvSpPr/>
          <p:nvPr/>
        </p:nvSpPr>
        <p:spPr>
          <a:xfrm>
            <a:off x="8092440" y="4526279"/>
            <a:ext cx="292608" cy="29260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92440" y="4526279"/>
            <a:ext cx="292608" cy="292608"/>
          </a:xfrm>
          <a:prstGeom prst="rect">
            <a:avLst/>
          </a:prstGeom>
          <a:noFill/>
        </p:spPr>
        <p:txBody>
          <a:bodyPr wrap="square" lIns="0" rIns="0" tIns="0" bIns="0" anchor="ctr">
            <a:spAutoFit/>
          </a:bodyPr>
          <a:lstStyle/>
          <a:p>
            <a:pPr algn="ctr"/>
            <a:r>
              <a:rPr sz="1100" b="1" i="0">
                <a:solidFill>
                  <a:srgbClr val="2C5244"/>
                </a:solidFill>
                <a:latin typeface="Georgia"/>
              </a:rPr>
              <a:t>3</a:t>
            </a:r>
          </a:p>
        </p:txBody>
      </p:sp>
      <p:sp>
        <p:nvSpPr>
          <p:cNvPr id="22" name="TextBox 21"/>
          <p:cNvSpPr txBox="1"/>
          <p:nvPr/>
        </p:nvSpPr>
        <p:spPr>
          <a:xfrm>
            <a:off x="8503920" y="4526279"/>
            <a:ext cx="3017520" cy="502920"/>
          </a:xfrm>
          <a:prstGeom prst="rect">
            <a:avLst/>
          </a:prstGeom>
          <a:noFill/>
        </p:spPr>
        <p:txBody>
          <a:bodyPr wrap="square" lIns="0" rIns="0" tIns="0" bIns="0" anchor="ctr">
            <a:spAutoFit/>
          </a:bodyPr>
          <a:lstStyle/>
          <a:p>
            <a:pPr algn="l">
              <a:lnSpc>
                <a:spcPct val="130000"/>
              </a:lnSpc>
            </a:pPr>
            <a:r>
              <a:rPr sz="1100" b="0" i="0">
                <a:solidFill>
                  <a:srgbClr val="FFFFFF"/>
                </a:solidFill>
                <a:latin typeface="Calibri"/>
              </a:rPr>
              <a:t>60s share-out — instructor calls on a team.</a:t>
            </a:r>
          </a:p>
        </p:txBody>
      </p:sp>
      <p:sp>
        <p:nvSpPr>
          <p:cNvPr id="23" name="Oval 22"/>
          <p:cNvSpPr/>
          <p:nvPr/>
        </p:nvSpPr>
        <p:spPr>
          <a:xfrm>
            <a:off x="8092440" y="5166359"/>
            <a:ext cx="292608" cy="29260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92440" y="5166359"/>
            <a:ext cx="292608" cy="292608"/>
          </a:xfrm>
          <a:prstGeom prst="rect">
            <a:avLst/>
          </a:prstGeom>
          <a:noFill/>
        </p:spPr>
        <p:txBody>
          <a:bodyPr wrap="square" lIns="0" rIns="0" tIns="0" bIns="0" anchor="ctr">
            <a:spAutoFit/>
          </a:bodyPr>
          <a:lstStyle/>
          <a:p>
            <a:pPr algn="ctr"/>
            <a:r>
              <a:rPr sz="1100" b="1" i="0">
                <a:solidFill>
                  <a:srgbClr val="2C5244"/>
                </a:solidFill>
                <a:latin typeface="Georgia"/>
              </a:rPr>
              <a:t>4</a:t>
            </a:r>
          </a:p>
        </p:txBody>
      </p:sp>
      <p:sp>
        <p:nvSpPr>
          <p:cNvPr id="25" name="TextBox 24"/>
          <p:cNvSpPr txBox="1"/>
          <p:nvPr/>
        </p:nvSpPr>
        <p:spPr>
          <a:xfrm>
            <a:off x="8503920" y="5166359"/>
            <a:ext cx="3017520" cy="502920"/>
          </a:xfrm>
          <a:prstGeom prst="rect">
            <a:avLst/>
          </a:prstGeom>
          <a:noFill/>
        </p:spPr>
        <p:txBody>
          <a:bodyPr wrap="square" lIns="0" rIns="0" tIns="0" bIns="0" anchor="ctr">
            <a:spAutoFit/>
          </a:bodyPr>
          <a:lstStyle/>
          <a:p>
            <a:pPr algn="l">
              <a:lnSpc>
                <a:spcPct val="130000"/>
              </a:lnSpc>
            </a:pPr>
            <a:r>
              <a:rPr sz="1100" b="0" i="0">
                <a:solidFill>
                  <a:srgbClr val="FFFFFF"/>
                </a:solidFill>
                <a:latin typeface="Calibri"/>
              </a:rPr>
              <a:t>30s reveal — instructor reveals canonical sort.</a:t>
            </a:r>
          </a:p>
        </p:txBody>
      </p:sp>
      <p:sp>
        <p:nvSpPr>
          <p:cNvPr id="26" name="TextBox 25"/>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7 OF 7</a:t>
            </a:r>
          </a:p>
        </p:txBody>
      </p:sp>
      <p:sp>
        <p:nvSpPr>
          <p:cNvPr id="27" name="TextBox 26"/>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ACTIVITY</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par>
                    <p:cTn id="123" fill="hold">
                      <p:stCondLst>
                        <p:cond delay="indefinite"/>
                        <p:cond evt="onBegin" delay="0">
                          <p:tn val="2"/>
                        </p:cond>
                      </p:stCondLst>
                      <p:childTnLst>
                        <p:par>
                          <p:cTn id="124" fill="hold">
                            <p:stCondLst>
                              <p:cond delay="0"/>
                            </p:stCondLst>
                            <p:childTnLst>
                              <p:par>
                                <p:cTn id="125" presetID="10" presetClass="entr" presetSubtype="0" fill="hold" grpId="0" nodeType="afterEffect">
                                  <p:stCondLst>
                                    <p:cond delay="18"/>
                                  </p:stCondLst>
                                  <p:childTnLst>
                                    <p:set>
                                      <p:cBhvr>
                                        <p:cTn id="126" dur="1" fill="hold">
                                          <p:stCondLst>
                                            <p:cond delay="0"/>
                                          </p:stCondLst>
                                        </p:cTn>
                                        <p:tgtEl>
                                          <p:spTgt spid="26"/>
                                        </p:tgtEl>
                                        <p:attrNameLst>
                                          <p:attrName>style.visibility</p:attrName>
                                        </p:attrNameLst>
                                      </p:cBhvr>
                                      <p:to>
                                        <p:strVal val="visible"/>
                                      </p:to>
                                    </p:set>
                                    <p:anim calcmode="lin" valueType="num">
                                      <p:cBhvr additive="base">
                                        <p:cTn id="127" dur="150" fill="hold"/>
                                        <p:tgtEl>
                                          <p:spTgt spid="26"/>
                                        </p:tgtEl>
                                        <p:attrNameLst>
                                          <p:attrName>style.opacity</p:attrName>
                                        </p:attrNameLst>
                                      </p:cBhvr>
                                      <p:tavLst>
                                        <p:tav tm="0">
                                          <p:val>
                                            <p:fltVal val="0"/>
                                          </p:val>
                                        </p:tav>
                                        <p:tav tm="100000">
                                          <p:val>
                                            <p:fltVal val="1"/>
                                          </p:val>
                                        </p:tav>
                                      </p:tavLst>
                                    </p:anim>
                                  </p:childTnLst>
                                </p:cTn>
                              </p:par>
                            </p:childTnLst>
                          </p:cTn>
                        </p:par>
                      </p:childTnLst>
                    </p:cTn>
                  </p:par>
                  <p:par>
                    <p:cTn id="128" fill="hold">
                      <p:stCondLst>
                        <p:cond delay="indefinite"/>
                        <p:cond evt="onBegin" delay="0">
                          <p:tn val="2"/>
                        </p:cond>
                      </p:stCondLst>
                      <p:childTnLst>
                        <p:par>
                          <p:cTn id="129" fill="hold">
                            <p:stCondLst>
                              <p:cond delay="0"/>
                            </p:stCondLst>
                            <p:childTnLst>
                              <p:par>
                                <p:cTn id="130" presetID="10" presetClass="entr" presetSubtype="0" fill="hold" grpId="0" nodeType="afterEffect">
                                  <p:stCondLst>
                                    <p:cond delay="18"/>
                                  </p:stCondLst>
                                  <p:childTnLst>
                                    <p:set>
                                      <p:cBhvr>
                                        <p:cTn id="131" dur="1" fill="hold">
                                          <p:stCondLst>
                                            <p:cond delay="0"/>
                                          </p:stCondLst>
                                        </p:cTn>
                                        <p:tgtEl>
                                          <p:spTgt spid="27"/>
                                        </p:tgtEl>
                                        <p:attrNameLst>
                                          <p:attrName>style.visibility</p:attrName>
                                        </p:attrNameLst>
                                      </p:cBhvr>
                                      <p:to>
                                        <p:strVal val="visible"/>
                                      </p:to>
                                    </p:set>
                                    <p:anim calcmode="lin" valueType="num">
                                      <p:cBhvr additive="base">
                                        <p:cTn id="132" dur="150" fill="hold"/>
                                        <p:tgtEl>
                                          <p:spTgt spid="27"/>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7   /   1 min</a:t>
            </a:r>
          </a:p>
        </p:txBody>
      </p:sp>
      <p:sp>
        <p:nvSpPr>
          <p:cNvPr id="5" name="TextBox 4"/>
          <p:cNvSpPr txBox="1"/>
          <p:nvPr/>
        </p:nvSpPr>
        <p:spPr>
          <a:xfrm>
            <a:off x="274320" y="1371600"/>
            <a:ext cx="5120640" cy="4389120"/>
          </a:xfrm>
          <a:prstGeom prst="rect">
            <a:avLst/>
          </a:prstGeom>
          <a:noFill/>
        </p:spPr>
        <p:txBody>
          <a:bodyPr wrap="square" lIns="0" rIns="0" tIns="0" bIns="0" anchor="t">
            <a:spAutoFit/>
          </a:bodyPr>
          <a:lstStyle/>
          <a:p>
            <a:pPr algn="l"/>
            <a:r>
              <a:rPr sz="20000" b="1" i="0">
                <a:solidFill>
                  <a:srgbClr val="C5E063"/>
                </a:solidFill>
                <a:latin typeface="Georgia"/>
              </a:rPr>
              <a:t>04</a:t>
            </a:r>
          </a:p>
        </p:txBody>
      </p:sp>
      <p:sp>
        <p:nvSpPr>
          <p:cNvPr id="6" name="TextBox 5"/>
          <p:cNvSpPr txBox="1"/>
          <p:nvPr/>
        </p:nvSpPr>
        <p:spPr>
          <a:xfrm>
            <a:off x="5486400" y="2103120"/>
            <a:ext cx="6400800" cy="365760"/>
          </a:xfrm>
          <a:prstGeom prst="rect">
            <a:avLst/>
          </a:prstGeom>
          <a:noFill/>
        </p:spPr>
        <p:txBody>
          <a:bodyPr wrap="square" lIns="0" rIns="0" tIns="0" bIns="0" anchor="t">
            <a:spAutoFit/>
          </a:bodyPr>
          <a:lstStyle/>
          <a:p>
            <a:pPr algn="l"/>
            <a:r>
              <a:rPr sz="1100" b="1" i="0" spc="600">
                <a:solidFill>
                  <a:srgbClr val="C5E063"/>
                </a:solidFill>
                <a:latin typeface="Calibri"/>
              </a:rPr>
              <a:t>PART 4  OF  4</a:t>
            </a:r>
          </a:p>
        </p:txBody>
      </p:sp>
      <p:sp>
        <p:nvSpPr>
          <p:cNvPr id="7" name="TextBox 6"/>
          <p:cNvSpPr txBox="1"/>
          <p:nvPr/>
        </p:nvSpPr>
        <p:spPr>
          <a:xfrm>
            <a:off x="5486400" y="2606040"/>
            <a:ext cx="6400800" cy="1280160"/>
          </a:xfrm>
          <a:prstGeom prst="rect">
            <a:avLst/>
          </a:prstGeom>
          <a:noFill/>
        </p:spPr>
        <p:txBody>
          <a:bodyPr wrap="square" lIns="0" rIns="0" tIns="0" bIns="0" anchor="t">
            <a:spAutoFit/>
          </a:bodyPr>
          <a:lstStyle/>
          <a:p>
            <a:pPr algn="l"/>
            <a:r>
              <a:rPr sz="3600" b="1" i="0">
                <a:solidFill>
                  <a:srgbClr val="FFFFFF"/>
                </a:solidFill>
                <a:latin typeface="Georgia"/>
              </a:rPr>
              <a:t>Impact × Feasibility — and the Charter that funds it</a:t>
            </a:r>
          </a:p>
        </p:txBody>
      </p:sp>
      <p:sp>
        <p:nvSpPr>
          <p:cNvPr id="8" name="Rectangle 7"/>
          <p:cNvSpPr/>
          <p:nvPr/>
        </p:nvSpPr>
        <p:spPr>
          <a:xfrm>
            <a:off x="5486400" y="4160520"/>
            <a:ext cx="457200" cy="45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0" y="4343400"/>
            <a:ext cx="6400800" cy="18288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The 2×2 that decides what to fund. The one-pager that gets it approved.</a:t>
            </a:r>
          </a:p>
        </p:txBody>
      </p:sp>
      <p:sp>
        <p:nvSpPr>
          <p:cNvPr id="10" name="TextBox 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7 OF 7</a:t>
            </a:r>
          </a:p>
        </p:txBody>
      </p:sp>
      <p:sp>
        <p:nvSpPr>
          <p:cNvPr id="11" name="TextBox 1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PART 4</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BF5"/>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2C5244"/>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0F1F1A"/>
                </a:solidFill>
                <a:latin typeface="Calibri"/>
              </a:rPr>
              <a:t>WEEK 1   /   LESSON 7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0F766E"/>
                </a:solidFill>
                <a:latin typeface="Calibri"/>
              </a:rPr>
              <a:t>DECISION  TIME</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2800" b="0" i="0">
                <a:solidFill>
                  <a:srgbClr val="0F1F1A"/>
                </a:solidFill>
                <a:latin typeface="Georgia"/>
              </a:rPr>
              <a:t>Plot every candidate on Impact × Feasibility before you fund anything</a:t>
            </a:r>
          </a:p>
        </p:txBody>
      </p:sp>
      <p:sp>
        <p:nvSpPr>
          <p:cNvPr id="7" name="TextBox 6"/>
          <p:cNvSpPr txBox="1"/>
          <p:nvPr/>
        </p:nvSpPr>
        <p:spPr>
          <a:xfrm>
            <a:off x="548640" y="2286000"/>
            <a:ext cx="10972800" cy="914400"/>
          </a:xfrm>
          <a:prstGeom prst="rect">
            <a:avLst/>
          </a:prstGeom>
          <a:noFill/>
        </p:spPr>
        <p:txBody>
          <a:bodyPr wrap="square" lIns="0" rIns="0" tIns="0" bIns="0" anchor="t">
            <a:spAutoFit/>
          </a:bodyPr>
          <a:lstStyle/>
          <a:p>
            <a:pPr algn="l">
              <a:lnSpc>
                <a:spcPct val="125000"/>
              </a:lnSpc>
            </a:pPr>
            <a:r>
              <a:rPr sz="1400" b="0" i="0">
                <a:solidFill>
                  <a:srgbClr val="475569"/>
                </a:solidFill>
                <a:latin typeface="Calibri"/>
              </a:rPr>
              <a:t>Most teams build credibility with quick wins, then graduate to strategic bets. Stay out of the bottom-left.</a:t>
            </a:r>
          </a:p>
        </p:txBody>
      </p:sp>
      <p:sp>
        <p:nvSpPr>
          <p:cNvPr id="8" name="Rectangle 7"/>
          <p:cNvSpPr/>
          <p:nvPr/>
        </p:nvSpPr>
        <p:spPr>
          <a:xfrm>
            <a:off x="1828800" y="2834640"/>
            <a:ext cx="4206240" cy="1554480"/>
          </a:xfrm>
          <a:prstGeom prst="rect">
            <a:avLst/>
          </a:prstGeom>
          <a:solidFill>
            <a:srgbClr val="C5E063"/>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11680" y="2971800"/>
            <a:ext cx="3840480" cy="274320"/>
          </a:xfrm>
          <a:prstGeom prst="rect">
            <a:avLst/>
          </a:prstGeom>
          <a:noFill/>
        </p:spPr>
        <p:txBody>
          <a:bodyPr wrap="square" lIns="0" rIns="0" tIns="0" bIns="0" anchor="t">
            <a:spAutoFit/>
          </a:bodyPr>
          <a:lstStyle/>
          <a:p>
            <a:pPr algn="l"/>
            <a:r>
              <a:rPr sz="1000" b="1" i="0" spc="500">
                <a:solidFill>
                  <a:srgbClr val="2C5244"/>
                </a:solidFill>
                <a:latin typeface="Calibri"/>
              </a:rPr>
              <a:t>STRATEGIC  BET</a:t>
            </a:r>
          </a:p>
        </p:txBody>
      </p:sp>
      <p:sp>
        <p:nvSpPr>
          <p:cNvPr id="10" name="TextBox 9"/>
          <p:cNvSpPr txBox="1"/>
          <p:nvPr/>
        </p:nvSpPr>
        <p:spPr>
          <a:xfrm>
            <a:off x="2011680" y="3246120"/>
            <a:ext cx="3840480" cy="457200"/>
          </a:xfrm>
          <a:prstGeom prst="rect">
            <a:avLst/>
          </a:prstGeom>
          <a:noFill/>
        </p:spPr>
        <p:txBody>
          <a:bodyPr wrap="square" lIns="0" rIns="0" tIns="0" bIns="0" anchor="t">
            <a:spAutoFit/>
          </a:bodyPr>
          <a:lstStyle/>
          <a:p>
            <a:pPr algn="l"/>
            <a:r>
              <a:rPr sz="1500" b="1" i="0">
                <a:solidFill>
                  <a:srgbClr val="2C5244"/>
                </a:solidFill>
                <a:latin typeface="Georgia"/>
              </a:rPr>
              <a:t>High impact, low feasibility</a:t>
            </a:r>
          </a:p>
        </p:txBody>
      </p:sp>
      <p:sp>
        <p:nvSpPr>
          <p:cNvPr id="11" name="TextBox 10"/>
          <p:cNvSpPr txBox="1"/>
          <p:nvPr/>
        </p:nvSpPr>
        <p:spPr>
          <a:xfrm>
            <a:off x="2011680" y="3703320"/>
            <a:ext cx="3840480" cy="594360"/>
          </a:xfrm>
          <a:prstGeom prst="rect">
            <a:avLst/>
          </a:prstGeom>
          <a:noFill/>
        </p:spPr>
        <p:txBody>
          <a:bodyPr wrap="square" lIns="0" rIns="0" tIns="0" bIns="0" anchor="t">
            <a:spAutoFit/>
          </a:bodyPr>
          <a:lstStyle/>
          <a:p>
            <a:pPr algn="l">
              <a:lnSpc>
                <a:spcPct val="130000"/>
              </a:lnSpc>
            </a:pPr>
            <a:r>
              <a:rPr sz="1000" b="0" i="0">
                <a:solidFill>
                  <a:srgbClr val="2C5244"/>
                </a:solidFill>
                <a:latin typeface="Calibri"/>
              </a:rPr>
              <a:t>Worth doing — but only after you've banked some quick wins. Big change, big payoff, more discovery first.</a:t>
            </a:r>
          </a:p>
        </p:txBody>
      </p:sp>
      <p:sp>
        <p:nvSpPr>
          <p:cNvPr id="12" name="Rectangle 11"/>
          <p:cNvSpPr/>
          <p:nvPr/>
        </p:nvSpPr>
        <p:spPr>
          <a:xfrm>
            <a:off x="6035040" y="2834640"/>
            <a:ext cx="4206240" cy="1554480"/>
          </a:xfrm>
          <a:prstGeom prst="rect">
            <a:avLst/>
          </a:prstGeom>
          <a:solidFill>
            <a:srgbClr val="F1F4EC"/>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0" y="2971800"/>
            <a:ext cx="3840480" cy="274320"/>
          </a:xfrm>
          <a:prstGeom prst="rect">
            <a:avLst/>
          </a:prstGeom>
          <a:noFill/>
        </p:spPr>
        <p:txBody>
          <a:bodyPr wrap="square" lIns="0" rIns="0" tIns="0" bIns="0" anchor="t">
            <a:spAutoFit/>
          </a:bodyPr>
          <a:lstStyle/>
          <a:p>
            <a:pPr algn="l"/>
            <a:r>
              <a:rPr sz="1000" b="1" i="0" spc="500">
                <a:solidFill>
                  <a:srgbClr val="0F1F1A"/>
                </a:solidFill>
                <a:latin typeface="Calibri"/>
              </a:rPr>
              <a:t>QUICK  WIN</a:t>
            </a:r>
          </a:p>
        </p:txBody>
      </p:sp>
      <p:sp>
        <p:nvSpPr>
          <p:cNvPr id="14" name="TextBox 13"/>
          <p:cNvSpPr txBox="1"/>
          <p:nvPr/>
        </p:nvSpPr>
        <p:spPr>
          <a:xfrm>
            <a:off x="6217920" y="3246120"/>
            <a:ext cx="3840480" cy="457200"/>
          </a:xfrm>
          <a:prstGeom prst="rect">
            <a:avLst/>
          </a:prstGeom>
          <a:noFill/>
        </p:spPr>
        <p:txBody>
          <a:bodyPr wrap="square" lIns="0" rIns="0" tIns="0" bIns="0" anchor="t">
            <a:spAutoFit/>
          </a:bodyPr>
          <a:lstStyle/>
          <a:p>
            <a:pPr algn="l"/>
            <a:r>
              <a:rPr sz="1500" b="1" i="0">
                <a:solidFill>
                  <a:srgbClr val="0F1F1A"/>
                </a:solidFill>
                <a:latin typeface="Georgia"/>
              </a:rPr>
              <a:t>High impact, high feasibility</a:t>
            </a:r>
          </a:p>
        </p:txBody>
      </p:sp>
      <p:sp>
        <p:nvSpPr>
          <p:cNvPr id="15" name="TextBox 14"/>
          <p:cNvSpPr txBox="1"/>
          <p:nvPr/>
        </p:nvSpPr>
        <p:spPr>
          <a:xfrm>
            <a:off x="6217920" y="3703320"/>
            <a:ext cx="3840480" cy="594360"/>
          </a:xfrm>
          <a:prstGeom prst="rect">
            <a:avLst/>
          </a:prstGeom>
          <a:noFill/>
        </p:spPr>
        <p:txBody>
          <a:bodyPr wrap="square" lIns="0" rIns="0" tIns="0" bIns="0" anchor="t">
            <a:spAutoFit/>
          </a:bodyPr>
          <a:lstStyle/>
          <a:p>
            <a:pPr algn="l">
              <a:lnSpc>
                <a:spcPct val="130000"/>
              </a:lnSpc>
            </a:pPr>
            <a:r>
              <a:rPr sz="1000" b="0" i="0">
                <a:solidFill>
                  <a:srgbClr val="0F1F1A"/>
                </a:solidFill>
                <a:latin typeface="Calibri"/>
              </a:rPr>
              <a:t>Fund first. Builds credibility for the programme. The 7-lens score earns its keep here.</a:t>
            </a:r>
          </a:p>
        </p:txBody>
      </p:sp>
      <p:sp>
        <p:nvSpPr>
          <p:cNvPr id="16" name="Rectangle 15"/>
          <p:cNvSpPr/>
          <p:nvPr/>
        </p:nvSpPr>
        <p:spPr>
          <a:xfrm>
            <a:off x="1828800" y="4389120"/>
            <a:ext cx="4206240" cy="1554480"/>
          </a:xfrm>
          <a:prstGeom prst="rect">
            <a:avLst/>
          </a:prstGeom>
          <a:solidFill>
            <a:srgbClr val="2C5244"/>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011680" y="4526280"/>
            <a:ext cx="3840480" cy="274320"/>
          </a:xfrm>
          <a:prstGeom prst="rect">
            <a:avLst/>
          </a:prstGeom>
          <a:noFill/>
        </p:spPr>
        <p:txBody>
          <a:bodyPr wrap="square" lIns="0" rIns="0" tIns="0" bIns="0" anchor="t">
            <a:spAutoFit/>
          </a:bodyPr>
          <a:lstStyle/>
          <a:p>
            <a:pPr algn="l"/>
            <a:r>
              <a:rPr sz="1000" b="1" i="0" spc="500">
                <a:solidFill>
                  <a:srgbClr val="FFFFFF"/>
                </a:solidFill>
                <a:latin typeface="Calibri"/>
              </a:rPr>
              <a:t>SKIP</a:t>
            </a:r>
          </a:p>
        </p:txBody>
      </p:sp>
      <p:sp>
        <p:nvSpPr>
          <p:cNvPr id="18" name="TextBox 17"/>
          <p:cNvSpPr txBox="1"/>
          <p:nvPr/>
        </p:nvSpPr>
        <p:spPr>
          <a:xfrm>
            <a:off x="2011680" y="4800600"/>
            <a:ext cx="3840480" cy="457200"/>
          </a:xfrm>
          <a:prstGeom prst="rect">
            <a:avLst/>
          </a:prstGeom>
          <a:noFill/>
        </p:spPr>
        <p:txBody>
          <a:bodyPr wrap="square" lIns="0" rIns="0" tIns="0" bIns="0" anchor="t">
            <a:spAutoFit/>
          </a:bodyPr>
          <a:lstStyle/>
          <a:p>
            <a:pPr algn="l"/>
            <a:r>
              <a:rPr sz="1500" b="1" i="0">
                <a:solidFill>
                  <a:srgbClr val="FFFFFF"/>
                </a:solidFill>
                <a:latin typeface="Georgia"/>
              </a:rPr>
              <a:t>Low impact, low feasibility</a:t>
            </a:r>
          </a:p>
        </p:txBody>
      </p:sp>
      <p:sp>
        <p:nvSpPr>
          <p:cNvPr id="19" name="TextBox 18"/>
          <p:cNvSpPr txBox="1"/>
          <p:nvPr/>
        </p:nvSpPr>
        <p:spPr>
          <a:xfrm>
            <a:off x="2011680" y="5257800"/>
            <a:ext cx="3840480" cy="594360"/>
          </a:xfrm>
          <a:prstGeom prst="rect">
            <a:avLst/>
          </a:prstGeom>
          <a:noFill/>
        </p:spPr>
        <p:txBody>
          <a:bodyPr wrap="square" lIns="0" rIns="0" tIns="0" bIns="0" anchor="t">
            <a:spAutoFit/>
          </a:bodyPr>
          <a:lstStyle/>
          <a:p>
            <a:pPr algn="l">
              <a:lnSpc>
                <a:spcPct val="130000"/>
              </a:lnSpc>
            </a:pPr>
            <a:r>
              <a:rPr sz="1000" b="0" i="0">
                <a:solidFill>
                  <a:srgbClr val="FFFFFF"/>
                </a:solidFill>
                <a:latin typeface="Calibri"/>
              </a:rPr>
              <a:t>Don't bother. The project costs more than it returns and is hard. Walk away with no guilt.</a:t>
            </a:r>
          </a:p>
        </p:txBody>
      </p:sp>
      <p:sp>
        <p:nvSpPr>
          <p:cNvPr id="20" name="Rectangle 19"/>
          <p:cNvSpPr/>
          <p:nvPr/>
        </p:nvSpPr>
        <p:spPr>
          <a:xfrm>
            <a:off x="6035040" y="4389120"/>
            <a:ext cx="4206240" cy="1554480"/>
          </a:xfrm>
          <a:prstGeom prst="rect">
            <a:avLst/>
          </a:prstGeom>
          <a:solidFill>
            <a:srgbClr val="224036"/>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17920" y="4526280"/>
            <a:ext cx="3840480" cy="274320"/>
          </a:xfrm>
          <a:prstGeom prst="rect">
            <a:avLst/>
          </a:prstGeom>
          <a:noFill/>
        </p:spPr>
        <p:txBody>
          <a:bodyPr wrap="square" lIns="0" rIns="0" tIns="0" bIns="0" anchor="t">
            <a:spAutoFit/>
          </a:bodyPr>
          <a:lstStyle/>
          <a:p>
            <a:pPr algn="l"/>
            <a:r>
              <a:rPr sz="1000" b="1" i="0" spc="500">
                <a:solidFill>
                  <a:srgbClr val="FFFFFF"/>
                </a:solidFill>
                <a:latin typeface="Calibri"/>
              </a:rPr>
              <a:t>FILL-IN</a:t>
            </a:r>
          </a:p>
        </p:txBody>
      </p:sp>
      <p:sp>
        <p:nvSpPr>
          <p:cNvPr id="22" name="TextBox 21"/>
          <p:cNvSpPr txBox="1"/>
          <p:nvPr/>
        </p:nvSpPr>
        <p:spPr>
          <a:xfrm>
            <a:off x="6217920" y="4800600"/>
            <a:ext cx="3840480" cy="457200"/>
          </a:xfrm>
          <a:prstGeom prst="rect">
            <a:avLst/>
          </a:prstGeom>
          <a:noFill/>
        </p:spPr>
        <p:txBody>
          <a:bodyPr wrap="square" lIns="0" rIns="0" tIns="0" bIns="0" anchor="t">
            <a:spAutoFit/>
          </a:bodyPr>
          <a:lstStyle/>
          <a:p>
            <a:pPr algn="l"/>
            <a:r>
              <a:rPr sz="1500" b="1" i="0">
                <a:solidFill>
                  <a:srgbClr val="FFFFFF"/>
                </a:solidFill>
                <a:latin typeface="Georgia"/>
              </a:rPr>
              <a:t>Low impact, high feasibility</a:t>
            </a:r>
          </a:p>
        </p:txBody>
      </p:sp>
      <p:sp>
        <p:nvSpPr>
          <p:cNvPr id="23" name="TextBox 22"/>
          <p:cNvSpPr txBox="1"/>
          <p:nvPr/>
        </p:nvSpPr>
        <p:spPr>
          <a:xfrm>
            <a:off x="6217920" y="5257800"/>
            <a:ext cx="3840480" cy="594360"/>
          </a:xfrm>
          <a:prstGeom prst="rect">
            <a:avLst/>
          </a:prstGeom>
          <a:noFill/>
        </p:spPr>
        <p:txBody>
          <a:bodyPr wrap="square" lIns="0" rIns="0" tIns="0" bIns="0" anchor="t">
            <a:spAutoFit/>
          </a:bodyPr>
          <a:lstStyle/>
          <a:p>
            <a:pPr algn="l">
              <a:lnSpc>
                <a:spcPct val="130000"/>
              </a:lnSpc>
            </a:pPr>
            <a:r>
              <a:rPr sz="1000" b="0" i="0">
                <a:solidFill>
                  <a:srgbClr val="FFFFFF"/>
                </a:solidFill>
                <a:latin typeface="Calibri"/>
              </a:rPr>
              <a:t>Use to keep the team busy between strategic bets. Cheap wins — but won't fund the programme.</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BF5"/>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2C5244"/>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0F1F1A"/>
                </a:solidFill>
                <a:latin typeface="Calibri"/>
              </a:rPr>
              <a:t>WEEK 1   /   LESSON 7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0F766E"/>
                </a:solidFill>
                <a:latin typeface="Calibri"/>
              </a:rPr>
              <a:t>WORKED  EXAMPLE</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2800" b="0" i="0">
                <a:solidFill>
                  <a:srgbClr val="0F1F1A"/>
                </a:solidFill>
                <a:latin typeface="Georgia"/>
              </a:rPr>
              <a:t>A Mumbai NBFC's customer onboarding charter</a:t>
            </a:r>
          </a:p>
        </p:txBody>
      </p:sp>
      <p:sp>
        <p:nvSpPr>
          <p:cNvPr id="7" name="Rectangle 6"/>
          <p:cNvSpPr/>
          <p:nvPr/>
        </p:nvSpPr>
        <p:spPr>
          <a:xfrm>
            <a:off x="548640" y="2468880"/>
            <a:ext cx="6858000" cy="219456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06040"/>
            <a:ext cx="6400800" cy="274320"/>
          </a:xfrm>
          <a:prstGeom prst="rect">
            <a:avLst/>
          </a:prstGeom>
          <a:noFill/>
        </p:spPr>
        <p:txBody>
          <a:bodyPr wrap="square" lIns="0" rIns="0" tIns="0" bIns="0" anchor="t">
            <a:spAutoFit/>
          </a:bodyPr>
          <a:lstStyle/>
          <a:p>
            <a:pPr algn="l"/>
            <a:r>
              <a:rPr sz="1000" b="1" i="0" spc="500">
                <a:solidFill>
                  <a:srgbClr val="0F766E"/>
                </a:solidFill>
                <a:latin typeface="Calibri"/>
              </a:rPr>
              <a:t>THE  SCENARIO</a:t>
            </a:r>
          </a:p>
        </p:txBody>
      </p:sp>
      <p:sp>
        <p:nvSpPr>
          <p:cNvPr id="9" name="TextBox 8"/>
          <p:cNvSpPr txBox="1"/>
          <p:nvPr/>
        </p:nvSpPr>
        <p:spPr>
          <a:xfrm>
            <a:off x="777240" y="2926080"/>
            <a:ext cx="6400800" cy="1691640"/>
          </a:xfrm>
          <a:prstGeom prst="rect">
            <a:avLst/>
          </a:prstGeom>
          <a:noFill/>
        </p:spPr>
        <p:txBody>
          <a:bodyPr wrap="square" lIns="0" rIns="0" tIns="0" bIns="0" anchor="t">
            <a:spAutoFit/>
          </a:bodyPr>
          <a:lstStyle/>
          <a:p>
            <a:pPr algn="l">
              <a:lnSpc>
                <a:spcPct val="140000"/>
              </a:lnSpc>
            </a:pPr>
            <a:r>
              <a:rPr sz="1200" b="0" i="0">
                <a:solidFill>
                  <a:srgbClr val="0F1F1A"/>
                </a:solidFill>
                <a:latin typeface="Calibri"/>
              </a:rPr>
              <a:t>A mid-sized NBFC onboards 12,000 retail loan customers monthly. Average onboarding time: 3.4 days. Re-work rate: 17%. The team had three candidate processes — a popular one (chatbot), a loud one (lead scoring), and a quiet one (KYC document extraction). Discovery told a different story than the meetings.</a:t>
            </a:r>
          </a:p>
        </p:txBody>
      </p:sp>
      <p:sp>
        <p:nvSpPr>
          <p:cNvPr id="10" name="Rectangle 9"/>
          <p:cNvSpPr/>
          <p:nvPr/>
        </p:nvSpPr>
        <p:spPr>
          <a:xfrm>
            <a:off x="548640" y="4800600"/>
            <a:ext cx="6858000" cy="132588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4937760"/>
            <a:ext cx="6400800" cy="274320"/>
          </a:xfrm>
          <a:prstGeom prst="rect">
            <a:avLst/>
          </a:prstGeom>
          <a:noFill/>
        </p:spPr>
        <p:txBody>
          <a:bodyPr wrap="square" lIns="0" rIns="0" tIns="0" bIns="0" anchor="t">
            <a:spAutoFit/>
          </a:bodyPr>
          <a:lstStyle/>
          <a:p>
            <a:pPr algn="l"/>
            <a:r>
              <a:rPr sz="1000" b="1" i="0" spc="500">
                <a:solidFill>
                  <a:srgbClr val="C5E063"/>
                </a:solidFill>
                <a:latin typeface="Calibri"/>
              </a:rPr>
              <a:t>THE  TAKEAWAY</a:t>
            </a:r>
          </a:p>
        </p:txBody>
      </p:sp>
      <p:sp>
        <p:nvSpPr>
          <p:cNvPr id="12" name="TextBox 11"/>
          <p:cNvSpPr txBox="1"/>
          <p:nvPr/>
        </p:nvSpPr>
        <p:spPr>
          <a:xfrm>
            <a:off x="777240" y="5212080"/>
            <a:ext cx="6400800" cy="868680"/>
          </a:xfrm>
          <a:prstGeom prst="rect">
            <a:avLst/>
          </a:prstGeom>
          <a:noFill/>
        </p:spPr>
        <p:txBody>
          <a:bodyPr wrap="square" lIns="0" rIns="0" tIns="0" bIns="0" anchor="t">
            <a:spAutoFit/>
          </a:bodyPr>
          <a:lstStyle/>
          <a:p>
            <a:pPr algn="l">
              <a:lnSpc>
                <a:spcPct val="135000"/>
              </a:lnSpc>
            </a:pPr>
            <a:r>
              <a:rPr sz="1400" b="0" i="1">
                <a:solidFill>
                  <a:srgbClr val="FFFFFF"/>
                </a:solidFill>
                <a:latin typeface="Georgia"/>
              </a:rPr>
              <a:t>Gemba revealed 41% of cycle time was waiting for re-uploaded KYC documents. SIPOC + 7-lens scored KYC extraction at 4.4/5. The Charter funded a ₹38-lakh pilot. 90-day result: cycle time down to 1.2 days, re-work down to 4%.</a:t>
            </a:r>
          </a:p>
        </p:txBody>
      </p:sp>
      <p:sp>
        <p:nvSpPr>
          <p:cNvPr id="13" name="Rectangle 12"/>
          <p:cNvSpPr/>
          <p:nvPr/>
        </p:nvSpPr>
        <p:spPr>
          <a:xfrm>
            <a:off x="7635240" y="2468880"/>
            <a:ext cx="3977639" cy="3657600"/>
          </a:xfrm>
          <a:prstGeom prst="rect">
            <a:avLst/>
          </a:prstGeom>
          <a:solidFill>
            <a:srgbClr val="F1F4EC"/>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63840" y="2606040"/>
            <a:ext cx="3520440" cy="274320"/>
          </a:xfrm>
          <a:prstGeom prst="rect">
            <a:avLst/>
          </a:prstGeom>
          <a:noFill/>
        </p:spPr>
        <p:txBody>
          <a:bodyPr wrap="square" lIns="0" rIns="0" tIns="0" bIns="0" anchor="t">
            <a:spAutoFit/>
          </a:bodyPr>
          <a:lstStyle/>
          <a:p>
            <a:pPr algn="l"/>
            <a:r>
              <a:rPr sz="1000" b="1" i="0" spc="500">
                <a:solidFill>
                  <a:srgbClr val="0F766E"/>
                </a:solidFill>
                <a:latin typeface="Calibri"/>
              </a:rPr>
              <a:t>WHAT  TO  NOTICE</a:t>
            </a:r>
          </a:p>
        </p:txBody>
      </p:sp>
      <p:sp>
        <p:nvSpPr>
          <p:cNvPr id="15" name="Oval 14"/>
          <p:cNvSpPr/>
          <p:nvPr/>
        </p:nvSpPr>
        <p:spPr>
          <a:xfrm>
            <a:off x="7863840" y="2971800"/>
            <a:ext cx="411480" cy="41148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63840" y="2971800"/>
            <a:ext cx="411480" cy="411480"/>
          </a:xfrm>
          <a:prstGeom prst="rect">
            <a:avLst/>
          </a:prstGeom>
          <a:noFill/>
        </p:spPr>
        <p:txBody>
          <a:bodyPr wrap="square" lIns="0" rIns="0" tIns="0" bIns="0" anchor="ctr">
            <a:spAutoFit/>
          </a:bodyPr>
          <a:lstStyle/>
          <a:p>
            <a:pPr algn="ctr"/>
            <a:r>
              <a:rPr sz="1400" b="1" i="0">
                <a:solidFill>
                  <a:srgbClr val="C5E063"/>
                </a:solidFill>
                <a:latin typeface="Georgia"/>
              </a:rPr>
              <a:t>1</a:t>
            </a:r>
          </a:p>
        </p:txBody>
      </p:sp>
      <p:sp>
        <p:nvSpPr>
          <p:cNvPr id="17" name="TextBox 16"/>
          <p:cNvSpPr txBox="1"/>
          <p:nvPr/>
        </p:nvSpPr>
        <p:spPr>
          <a:xfrm>
            <a:off x="8366760" y="2971800"/>
            <a:ext cx="3154680" cy="640080"/>
          </a:xfrm>
          <a:prstGeom prst="rect">
            <a:avLst/>
          </a:prstGeom>
          <a:noFill/>
        </p:spPr>
        <p:txBody>
          <a:bodyPr wrap="square" lIns="0" rIns="0" tIns="0" bIns="0" anchor="ctr">
            <a:spAutoFit/>
          </a:bodyPr>
          <a:lstStyle/>
          <a:p>
            <a:pPr algn="l">
              <a:lnSpc>
                <a:spcPct val="130000"/>
              </a:lnSpc>
            </a:pPr>
            <a:r>
              <a:rPr sz="1100" b="0" i="0">
                <a:solidFill>
                  <a:srgbClr val="0F1F1A"/>
                </a:solidFill>
                <a:latin typeface="Calibri"/>
              </a:rPr>
              <a:t>Discovery surfaced the real bottleneck — not the loud one.</a:t>
            </a:r>
          </a:p>
        </p:txBody>
      </p:sp>
      <p:sp>
        <p:nvSpPr>
          <p:cNvPr id="18" name="Oval 17"/>
          <p:cNvSpPr/>
          <p:nvPr/>
        </p:nvSpPr>
        <p:spPr>
          <a:xfrm>
            <a:off x="7863840" y="3749039"/>
            <a:ext cx="411480" cy="41148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0" y="3749039"/>
            <a:ext cx="411480" cy="411480"/>
          </a:xfrm>
          <a:prstGeom prst="rect">
            <a:avLst/>
          </a:prstGeom>
          <a:noFill/>
        </p:spPr>
        <p:txBody>
          <a:bodyPr wrap="square" lIns="0" rIns="0" tIns="0" bIns="0" anchor="ctr">
            <a:spAutoFit/>
          </a:bodyPr>
          <a:lstStyle/>
          <a:p>
            <a:pPr algn="ctr"/>
            <a:r>
              <a:rPr sz="1400" b="1" i="0">
                <a:solidFill>
                  <a:srgbClr val="C5E063"/>
                </a:solidFill>
                <a:latin typeface="Georgia"/>
              </a:rPr>
              <a:t>2</a:t>
            </a:r>
          </a:p>
        </p:txBody>
      </p:sp>
      <p:sp>
        <p:nvSpPr>
          <p:cNvPr id="20" name="TextBox 19"/>
          <p:cNvSpPr txBox="1"/>
          <p:nvPr/>
        </p:nvSpPr>
        <p:spPr>
          <a:xfrm>
            <a:off x="8366760" y="3749039"/>
            <a:ext cx="3154680" cy="640080"/>
          </a:xfrm>
          <a:prstGeom prst="rect">
            <a:avLst/>
          </a:prstGeom>
          <a:noFill/>
        </p:spPr>
        <p:txBody>
          <a:bodyPr wrap="square" lIns="0" rIns="0" tIns="0" bIns="0" anchor="ctr">
            <a:spAutoFit/>
          </a:bodyPr>
          <a:lstStyle/>
          <a:p>
            <a:pPr algn="l">
              <a:lnSpc>
                <a:spcPct val="130000"/>
              </a:lnSpc>
            </a:pPr>
            <a:r>
              <a:rPr sz="1100" b="0" i="0">
                <a:solidFill>
                  <a:srgbClr val="0F1F1A"/>
                </a:solidFill>
                <a:latin typeface="Calibri"/>
              </a:rPr>
              <a:t>SIPOC made the wait time visible to the executive sponsor.</a:t>
            </a:r>
          </a:p>
        </p:txBody>
      </p:sp>
      <p:sp>
        <p:nvSpPr>
          <p:cNvPr id="21" name="Oval 20"/>
          <p:cNvSpPr/>
          <p:nvPr/>
        </p:nvSpPr>
        <p:spPr>
          <a:xfrm>
            <a:off x="7863840" y="4526280"/>
            <a:ext cx="411480" cy="41148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63840" y="4526280"/>
            <a:ext cx="411480" cy="411480"/>
          </a:xfrm>
          <a:prstGeom prst="rect">
            <a:avLst/>
          </a:prstGeom>
          <a:noFill/>
        </p:spPr>
        <p:txBody>
          <a:bodyPr wrap="square" lIns="0" rIns="0" tIns="0" bIns="0" anchor="ctr">
            <a:spAutoFit/>
          </a:bodyPr>
          <a:lstStyle/>
          <a:p>
            <a:pPr algn="ctr"/>
            <a:r>
              <a:rPr sz="1400" b="1" i="0">
                <a:solidFill>
                  <a:srgbClr val="C5E063"/>
                </a:solidFill>
                <a:latin typeface="Georgia"/>
              </a:rPr>
              <a:t>3</a:t>
            </a:r>
          </a:p>
        </p:txBody>
      </p:sp>
      <p:sp>
        <p:nvSpPr>
          <p:cNvPr id="23" name="TextBox 22"/>
          <p:cNvSpPr txBox="1"/>
          <p:nvPr/>
        </p:nvSpPr>
        <p:spPr>
          <a:xfrm>
            <a:off x="8366760" y="4526280"/>
            <a:ext cx="3154680" cy="640080"/>
          </a:xfrm>
          <a:prstGeom prst="rect">
            <a:avLst/>
          </a:prstGeom>
          <a:noFill/>
        </p:spPr>
        <p:txBody>
          <a:bodyPr wrap="square" lIns="0" rIns="0" tIns="0" bIns="0" anchor="ctr">
            <a:spAutoFit/>
          </a:bodyPr>
          <a:lstStyle/>
          <a:p>
            <a:pPr algn="l">
              <a:lnSpc>
                <a:spcPct val="130000"/>
              </a:lnSpc>
            </a:pPr>
            <a:r>
              <a:rPr sz="1100" b="0" i="0">
                <a:solidFill>
                  <a:srgbClr val="0F1F1A"/>
                </a:solidFill>
                <a:latin typeface="Calibri"/>
              </a:rPr>
              <a:t>7-lens score turned 'we should do this' into a defensible 4.4/5.</a:t>
            </a:r>
          </a:p>
        </p:txBody>
      </p:sp>
      <p:sp>
        <p:nvSpPr>
          <p:cNvPr id="24" name="Oval 23"/>
          <p:cNvSpPr/>
          <p:nvPr/>
        </p:nvSpPr>
        <p:spPr>
          <a:xfrm>
            <a:off x="7863840" y="5303520"/>
            <a:ext cx="411480" cy="41148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63840" y="5303520"/>
            <a:ext cx="411480" cy="411480"/>
          </a:xfrm>
          <a:prstGeom prst="rect">
            <a:avLst/>
          </a:prstGeom>
          <a:noFill/>
        </p:spPr>
        <p:txBody>
          <a:bodyPr wrap="square" lIns="0" rIns="0" tIns="0" bIns="0" anchor="ctr">
            <a:spAutoFit/>
          </a:bodyPr>
          <a:lstStyle/>
          <a:p>
            <a:pPr algn="ctr"/>
            <a:r>
              <a:rPr sz="1400" b="1" i="0">
                <a:solidFill>
                  <a:srgbClr val="C5E063"/>
                </a:solidFill>
                <a:latin typeface="Georgia"/>
              </a:rPr>
              <a:t>4</a:t>
            </a:r>
          </a:p>
        </p:txBody>
      </p:sp>
      <p:sp>
        <p:nvSpPr>
          <p:cNvPr id="26" name="TextBox 25"/>
          <p:cNvSpPr txBox="1"/>
          <p:nvPr/>
        </p:nvSpPr>
        <p:spPr>
          <a:xfrm>
            <a:off x="8366760" y="5303520"/>
            <a:ext cx="3154680" cy="640080"/>
          </a:xfrm>
          <a:prstGeom prst="rect">
            <a:avLst/>
          </a:prstGeom>
          <a:noFill/>
        </p:spPr>
        <p:txBody>
          <a:bodyPr wrap="square" lIns="0" rIns="0" tIns="0" bIns="0" anchor="ctr">
            <a:spAutoFit/>
          </a:bodyPr>
          <a:lstStyle/>
          <a:p>
            <a:pPr algn="l">
              <a:lnSpc>
                <a:spcPct val="130000"/>
              </a:lnSpc>
            </a:pPr>
            <a:r>
              <a:rPr sz="1100" b="0" i="0">
                <a:solidFill>
                  <a:srgbClr val="0F1F1A"/>
                </a:solidFill>
                <a:latin typeface="Calibri"/>
              </a:rPr>
              <a:t>Charter fit on one page — sponsor signed within a week.</a:t>
            </a:r>
          </a:p>
        </p:txBody>
      </p:sp>
      <p:sp>
        <p:nvSpPr>
          <p:cNvPr id="27" name="TextBox 26"/>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475569"/>
                </a:solidFill>
                <a:latin typeface="Calibri"/>
              </a:rPr>
              <a:t>AI  LEARNING  HUB   ·   LESSON 7 OF 7</a:t>
            </a:r>
          </a:p>
        </p:txBody>
      </p:sp>
      <p:sp>
        <p:nvSpPr>
          <p:cNvPr id="28" name="TextBox 27"/>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475569"/>
                </a:solidFill>
                <a:latin typeface="Calibri"/>
              </a:rPr>
              <a:t>EXAMPLE</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par>
                    <p:cTn id="123" fill="hold">
                      <p:stCondLst>
                        <p:cond delay="indefinite"/>
                        <p:cond evt="onBegin" delay="0">
                          <p:tn val="2"/>
                        </p:cond>
                      </p:stCondLst>
                      <p:childTnLst>
                        <p:par>
                          <p:cTn id="124" fill="hold">
                            <p:stCondLst>
                              <p:cond delay="0"/>
                            </p:stCondLst>
                            <p:childTnLst>
                              <p:par>
                                <p:cTn id="125" presetID="10" presetClass="entr" presetSubtype="0" fill="hold" grpId="0" nodeType="afterEffect">
                                  <p:stCondLst>
                                    <p:cond delay="18"/>
                                  </p:stCondLst>
                                  <p:childTnLst>
                                    <p:set>
                                      <p:cBhvr>
                                        <p:cTn id="126" dur="1" fill="hold">
                                          <p:stCondLst>
                                            <p:cond delay="0"/>
                                          </p:stCondLst>
                                        </p:cTn>
                                        <p:tgtEl>
                                          <p:spTgt spid="26"/>
                                        </p:tgtEl>
                                        <p:attrNameLst>
                                          <p:attrName>style.visibility</p:attrName>
                                        </p:attrNameLst>
                                      </p:cBhvr>
                                      <p:to>
                                        <p:strVal val="visible"/>
                                      </p:to>
                                    </p:set>
                                    <p:anim calcmode="lin" valueType="num">
                                      <p:cBhvr additive="base">
                                        <p:cTn id="127" dur="150" fill="hold"/>
                                        <p:tgtEl>
                                          <p:spTgt spid="26"/>
                                        </p:tgtEl>
                                        <p:attrNameLst>
                                          <p:attrName>style.opacity</p:attrName>
                                        </p:attrNameLst>
                                      </p:cBhvr>
                                      <p:tavLst>
                                        <p:tav tm="0">
                                          <p:val>
                                            <p:fltVal val="0"/>
                                          </p:val>
                                        </p:tav>
                                        <p:tav tm="100000">
                                          <p:val>
                                            <p:fltVal val="1"/>
                                          </p:val>
                                        </p:tav>
                                      </p:tavLst>
                                    </p:anim>
                                  </p:childTnLst>
                                </p:cTn>
                              </p:par>
                            </p:childTnLst>
                          </p:cTn>
                        </p:par>
                      </p:childTnLst>
                    </p:cTn>
                  </p:par>
                  <p:par>
                    <p:cTn id="128" fill="hold">
                      <p:stCondLst>
                        <p:cond delay="indefinite"/>
                        <p:cond evt="onBegin" delay="0">
                          <p:tn val="2"/>
                        </p:cond>
                      </p:stCondLst>
                      <p:childTnLst>
                        <p:par>
                          <p:cTn id="129" fill="hold">
                            <p:stCondLst>
                              <p:cond delay="0"/>
                            </p:stCondLst>
                            <p:childTnLst>
                              <p:par>
                                <p:cTn id="130" presetID="10" presetClass="entr" presetSubtype="0" fill="hold" grpId="0" nodeType="afterEffect">
                                  <p:stCondLst>
                                    <p:cond delay="18"/>
                                  </p:stCondLst>
                                  <p:childTnLst>
                                    <p:set>
                                      <p:cBhvr>
                                        <p:cTn id="131" dur="1" fill="hold">
                                          <p:stCondLst>
                                            <p:cond delay="0"/>
                                          </p:stCondLst>
                                        </p:cTn>
                                        <p:tgtEl>
                                          <p:spTgt spid="27"/>
                                        </p:tgtEl>
                                        <p:attrNameLst>
                                          <p:attrName>style.visibility</p:attrName>
                                        </p:attrNameLst>
                                      </p:cBhvr>
                                      <p:to>
                                        <p:strVal val="visible"/>
                                      </p:to>
                                    </p:set>
                                    <p:anim calcmode="lin" valueType="num">
                                      <p:cBhvr additive="base">
                                        <p:cTn id="132" dur="150" fill="hold"/>
                                        <p:tgtEl>
                                          <p:spTgt spid="27"/>
                                        </p:tgtEl>
                                        <p:attrNameLst>
                                          <p:attrName>style.opacity</p:attrName>
                                        </p:attrNameLst>
                                      </p:cBhvr>
                                      <p:tavLst>
                                        <p:tav tm="0">
                                          <p:val>
                                            <p:fltVal val="0"/>
                                          </p:val>
                                        </p:tav>
                                        <p:tav tm="100000">
                                          <p:val>
                                            <p:fltVal val="1"/>
                                          </p:val>
                                        </p:tav>
                                      </p:tavLst>
                                    </p:anim>
                                  </p:childTnLst>
                                </p:cTn>
                              </p:par>
                            </p:childTnLst>
                          </p:cTn>
                        </p:par>
                      </p:childTnLst>
                    </p:cTn>
                  </p:par>
                  <p:par>
                    <p:cTn id="133" fill="hold">
                      <p:stCondLst>
                        <p:cond delay="indefinite"/>
                        <p:cond evt="onBegin" delay="0">
                          <p:tn val="2"/>
                        </p:cond>
                      </p:stCondLst>
                      <p:childTnLst>
                        <p:par>
                          <p:cTn id="134" fill="hold">
                            <p:stCondLst>
                              <p:cond delay="0"/>
                            </p:stCondLst>
                            <p:childTnLst>
                              <p:par>
                                <p:cTn id="135" presetID="10" presetClass="entr" presetSubtype="0" fill="hold" grpId="0" nodeType="afterEffect">
                                  <p:stCondLst>
                                    <p:cond delay="18"/>
                                  </p:stCondLst>
                                  <p:childTnLst>
                                    <p:set>
                                      <p:cBhvr>
                                        <p:cTn id="136" dur="1" fill="hold">
                                          <p:stCondLst>
                                            <p:cond delay="0"/>
                                          </p:stCondLst>
                                        </p:cTn>
                                        <p:tgtEl>
                                          <p:spTgt spid="28"/>
                                        </p:tgtEl>
                                        <p:attrNameLst>
                                          <p:attrName>style.visibility</p:attrName>
                                        </p:attrNameLst>
                                      </p:cBhvr>
                                      <p:to>
                                        <p:strVal val="visible"/>
                                      </p:to>
                                    </p:set>
                                    <p:anim calcmode="lin" valueType="num">
                                      <p:cBhvr additive="base">
                                        <p:cTn id="137" dur="150" fill="hold"/>
                                        <p:tgtEl>
                                          <p:spTgt spid="28"/>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7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KNOWLEDGE CHECK   ·   QUESTION 1  OF  3</a:t>
            </a:r>
          </a:p>
        </p:txBody>
      </p:sp>
      <p:sp>
        <p:nvSpPr>
          <p:cNvPr id="6" name="TextBox 5"/>
          <p:cNvSpPr txBox="1"/>
          <p:nvPr/>
        </p:nvSpPr>
        <p:spPr>
          <a:xfrm>
            <a:off x="548640" y="1463040"/>
            <a:ext cx="11064240" cy="1371600"/>
          </a:xfrm>
          <a:prstGeom prst="rect">
            <a:avLst/>
          </a:prstGeom>
          <a:noFill/>
        </p:spPr>
        <p:txBody>
          <a:bodyPr wrap="square" lIns="0" rIns="0" tIns="0" bIns="0" anchor="t">
            <a:spAutoFit/>
          </a:bodyPr>
          <a:lstStyle/>
          <a:p>
            <a:pPr algn="l">
              <a:lnSpc>
                <a:spcPct val="130000"/>
              </a:lnSpc>
            </a:pPr>
            <a:r>
              <a:rPr sz="2200" b="1" i="0">
                <a:solidFill>
                  <a:srgbClr val="FFFFFF"/>
                </a:solidFill>
                <a:latin typeface="Georgia"/>
              </a:rPr>
              <a:t>You have one hour and one stakeholder. Which approach gives you the best understanding of *intent* in a process?</a:t>
            </a:r>
          </a:p>
        </p:txBody>
      </p:sp>
      <p:sp>
        <p:nvSpPr>
          <p:cNvPr id="7" name="Rectangle 6"/>
          <p:cNvSpPr/>
          <p:nvPr/>
        </p:nvSpPr>
        <p:spPr>
          <a:xfrm>
            <a:off x="548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A</a:t>
            </a:r>
          </a:p>
        </p:txBody>
      </p:sp>
      <p:sp>
        <p:nvSpPr>
          <p:cNvPr id="10" name="TextBox 9"/>
          <p:cNvSpPr txBox="1"/>
          <p:nvPr/>
        </p:nvSpPr>
        <p:spPr>
          <a:xfrm>
            <a:off x="1508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Process mining on the ERP logs</a:t>
            </a:r>
          </a:p>
        </p:txBody>
      </p:sp>
      <p:sp>
        <p:nvSpPr>
          <p:cNvPr id="11" name="Rectangle 10"/>
          <p:cNvSpPr/>
          <p:nvPr/>
        </p:nvSpPr>
        <p:spPr>
          <a:xfrm>
            <a:off x="6263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46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B</a:t>
            </a:r>
          </a:p>
        </p:txBody>
      </p:sp>
      <p:sp>
        <p:nvSpPr>
          <p:cNvPr id="14" name="TextBox 13"/>
          <p:cNvSpPr txBox="1"/>
          <p:nvPr/>
        </p:nvSpPr>
        <p:spPr>
          <a:xfrm>
            <a:off x="7223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Task mining on the user's desktop</a:t>
            </a:r>
          </a:p>
        </p:txBody>
      </p:sp>
      <p:sp>
        <p:nvSpPr>
          <p:cNvPr id="15" name="Rectangle 14"/>
          <p:cNvSpPr/>
          <p:nvPr/>
        </p:nvSpPr>
        <p:spPr>
          <a:xfrm>
            <a:off x="548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31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C</a:t>
            </a:r>
          </a:p>
        </p:txBody>
      </p:sp>
      <p:sp>
        <p:nvSpPr>
          <p:cNvPr id="18" name="TextBox 17"/>
          <p:cNvSpPr txBox="1"/>
          <p:nvPr/>
        </p:nvSpPr>
        <p:spPr>
          <a:xfrm>
            <a:off x="1508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A 30-minute interview plus a 30-minute Gemba walk</a:t>
            </a:r>
          </a:p>
        </p:txBody>
      </p:sp>
      <p:sp>
        <p:nvSpPr>
          <p:cNvPr id="19" name="Rectangle 18"/>
          <p:cNvSpPr/>
          <p:nvPr/>
        </p:nvSpPr>
        <p:spPr>
          <a:xfrm>
            <a:off x="6263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46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D</a:t>
            </a:r>
          </a:p>
        </p:txBody>
      </p:sp>
      <p:sp>
        <p:nvSpPr>
          <p:cNvPr id="22" name="TextBox 21"/>
          <p:cNvSpPr txBox="1"/>
          <p:nvPr/>
        </p:nvSpPr>
        <p:spPr>
          <a:xfrm>
            <a:off x="7223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A SIPOC drawn alone, without the stakeholder</a:t>
            </a:r>
          </a:p>
        </p:txBody>
      </p:sp>
      <p:sp>
        <p:nvSpPr>
          <p:cNvPr id="23" name="TextBox 22"/>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7 OF 7</a:t>
            </a:r>
          </a:p>
        </p:txBody>
      </p:sp>
      <p:sp>
        <p:nvSpPr>
          <p:cNvPr id="24" name="TextBox 23"/>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Q1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7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ANSWER   ·   QUESTION 1  OF  3</a:t>
            </a:r>
          </a:p>
        </p:txBody>
      </p:sp>
      <p:sp>
        <p:nvSpPr>
          <p:cNvPr id="6" name="TextBox 5"/>
          <p:cNvSpPr txBox="1"/>
          <p:nvPr/>
        </p:nvSpPr>
        <p:spPr>
          <a:xfrm>
            <a:off x="548640" y="1463040"/>
            <a:ext cx="11064240" cy="914400"/>
          </a:xfrm>
          <a:prstGeom prst="rect">
            <a:avLst/>
          </a:prstGeom>
          <a:noFill/>
        </p:spPr>
        <p:txBody>
          <a:bodyPr wrap="square" lIns="0" rIns="0" tIns="0" bIns="0" anchor="t">
            <a:spAutoFit/>
          </a:bodyPr>
          <a:lstStyle/>
          <a:p>
            <a:pPr algn="l">
              <a:lnSpc>
                <a:spcPct val="130000"/>
              </a:lnSpc>
            </a:pPr>
            <a:r>
              <a:rPr sz="1800" b="1" i="1">
                <a:solidFill>
                  <a:srgbClr val="FFFFFF"/>
                </a:solidFill>
                <a:latin typeface="Georgia"/>
              </a:rPr>
              <a:t>You have one hour and one stakeholder. Which approach gives you the best understanding of *intent* in a process?</a:t>
            </a:r>
          </a:p>
        </p:txBody>
      </p:sp>
      <p:sp>
        <p:nvSpPr>
          <p:cNvPr id="7" name="Rectangle 6"/>
          <p:cNvSpPr/>
          <p:nvPr/>
        </p:nvSpPr>
        <p:spPr>
          <a:xfrm>
            <a:off x="548640" y="2743200"/>
            <a:ext cx="11064240" cy="146304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77240" y="2971800"/>
            <a:ext cx="1005840" cy="100584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971800"/>
            <a:ext cx="1005840" cy="1005840"/>
          </a:xfrm>
          <a:prstGeom prst="rect">
            <a:avLst/>
          </a:prstGeom>
          <a:noFill/>
        </p:spPr>
        <p:txBody>
          <a:bodyPr wrap="square" lIns="0" rIns="0" tIns="0" bIns="0" anchor="ctr">
            <a:spAutoFit/>
          </a:bodyPr>
          <a:lstStyle/>
          <a:p>
            <a:pPr algn="ctr"/>
            <a:r>
              <a:rPr sz="3600" b="1" i="0">
                <a:solidFill>
                  <a:srgbClr val="C5E063"/>
                </a:solidFill>
                <a:latin typeface="Georgia"/>
              </a:rPr>
              <a:t>C</a:t>
            </a:r>
          </a:p>
        </p:txBody>
      </p:sp>
      <p:sp>
        <p:nvSpPr>
          <p:cNvPr id="10" name="TextBox 9"/>
          <p:cNvSpPr txBox="1"/>
          <p:nvPr/>
        </p:nvSpPr>
        <p:spPr>
          <a:xfrm>
            <a:off x="1965960" y="2880360"/>
            <a:ext cx="9509760" cy="365760"/>
          </a:xfrm>
          <a:prstGeom prst="rect">
            <a:avLst/>
          </a:prstGeom>
          <a:noFill/>
        </p:spPr>
        <p:txBody>
          <a:bodyPr wrap="square" lIns="0" rIns="0" tIns="0" bIns="0" anchor="t">
            <a:spAutoFit/>
          </a:bodyPr>
          <a:lstStyle/>
          <a:p>
            <a:pPr algn="l"/>
            <a:r>
              <a:rPr sz="1000" b="1" i="0" spc="500">
                <a:solidFill>
                  <a:srgbClr val="2C5244"/>
                </a:solidFill>
                <a:latin typeface="Calibri"/>
              </a:rPr>
              <a:t>CORRECT  ANSWER</a:t>
            </a:r>
          </a:p>
        </p:txBody>
      </p:sp>
      <p:sp>
        <p:nvSpPr>
          <p:cNvPr id="11" name="TextBox 10"/>
          <p:cNvSpPr txBox="1"/>
          <p:nvPr/>
        </p:nvSpPr>
        <p:spPr>
          <a:xfrm>
            <a:off x="1965960" y="3200400"/>
            <a:ext cx="9509760" cy="914400"/>
          </a:xfrm>
          <a:prstGeom prst="rect">
            <a:avLst/>
          </a:prstGeom>
          <a:noFill/>
        </p:spPr>
        <p:txBody>
          <a:bodyPr wrap="square" lIns="0" rIns="0" tIns="0" bIns="0" anchor="t">
            <a:spAutoFit/>
          </a:bodyPr>
          <a:lstStyle/>
          <a:p>
            <a:pPr algn="l">
              <a:lnSpc>
                <a:spcPct val="125000"/>
              </a:lnSpc>
            </a:pPr>
            <a:r>
              <a:rPr sz="1800" b="1" i="0">
                <a:solidFill>
                  <a:srgbClr val="2C5244"/>
                </a:solidFill>
                <a:latin typeface="Georgia"/>
              </a:rPr>
              <a:t>A 30-minute interview plus a 30-minute Gemba walk</a:t>
            </a:r>
          </a:p>
        </p:txBody>
      </p:sp>
      <p:sp>
        <p:nvSpPr>
          <p:cNvPr id="12" name="Rectangle 11"/>
          <p:cNvSpPr/>
          <p:nvPr/>
        </p:nvSpPr>
        <p:spPr>
          <a:xfrm>
            <a:off x="548640" y="4526280"/>
            <a:ext cx="11064240" cy="14630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663440"/>
            <a:ext cx="10607040" cy="274320"/>
          </a:xfrm>
          <a:prstGeom prst="rect">
            <a:avLst/>
          </a:prstGeom>
          <a:noFill/>
        </p:spPr>
        <p:txBody>
          <a:bodyPr wrap="square" lIns="0" rIns="0" tIns="0" bIns="0" anchor="t">
            <a:spAutoFit/>
          </a:bodyPr>
          <a:lstStyle/>
          <a:p>
            <a:pPr algn="l"/>
            <a:r>
              <a:rPr sz="1000" b="1" i="0" spc="500">
                <a:solidFill>
                  <a:srgbClr val="C5E063"/>
                </a:solidFill>
                <a:latin typeface="Calibri"/>
              </a:rPr>
              <a:t>WHY</a:t>
            </a:r>
          </a:p>
        </p:txBody>
      </p:sp>
      <p:sp>
        <p:nvSpPr>
          <p:cNvPr id="14" name="TextBox 13"/>
          <p:cNvSpPr txBox="1"/>
          <p:nvPr/>
        </p:nvSpPr>
        <p:spPr>
          <a:xfrm>
            <a:off x="777240" y="4937760"/>
            <a:ext cx="10607040" cy="1005840"/>
          </a:xfrm>
          <a:prstGeom prst="rect">
            <a:avLst/>
          </a:prstGeom>
          <a:noFill/>
        </p:spPr>
        <p:txBody>
          <a:bodyPr wrap="square" lIns="0" rIns="0" tIns="0" bIns="0" anchor="t">
            <a:spAutoFit/>
          </a:bodyPr>
          <a:lstStyle/>
          <a:p>
            <a:pPr algn="l">
              <a:lnSpc>
                <a:spcPct val="140000"/>
              </a:lnSpc>
            </a:pPr>
            <a:r>
              <a:rPr sz="1200" b="0" i="0">
                <a:solidFill>
                  <a:srgbClr val="FFFFFF"/>
                </a:solidFill>
                <a:latin typeface="Calibri"/>
              </a:rPr>
              <a:t>Mining tells you what happened, not why. Task mining zooms into clicks. Discovery — interviews and Gemba — is the only approach that captures intent, context, and the workarounds that the logs cannot see.</a:t>
            </a:r>
          </a:p>
        </p:txBody>
      </p:sp>
      <p:sp>
        <p:nvSpPr>
          <p:cNvPr id="15" name="TextBox 1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7 OF 7</a:t>
            </a:r>
          </a:p>
        </p:txBody>
      </p:sp>
      <p:sp>
        <p:nvSpPr>
          <p:cNvPr id="16" name="TextBox 1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7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KNOWLEDGE CHECK   ·   QUESTION 2  OF  3</a:t>
            </a:r>
          </a:p>
        </p:txBody>
      </p:sp>
      <p:sp>
        <p:nvSpPr>
          <p:cNvPr id="6" name="TextBox 5"/>
          <p:cNvSpPr txBox="1"/>
          <p:nvPr/>
        </p:nvSpPr>
        <p:spPr>
          <a:xfrm>
            <a:off x="548640" y="1463040"/>
            <a:ext cx="11064240" cy="1371600"/>
          </a:xfrm>
          <a:prstGeom prst="rect">
            <a:avLst/>
          </a:prstGeom>
          <a:noFill/>
        </p:spPr>
        <p:txBody>
          <a:bodyPr wrap="square" lIns="0" rIns="0" tIns="0" bIns="0" anchor="t">
            <a:spAutoFit/>
          </a:bodyPr>
          <a:lstStyle/>
          <a:p>
            <a:pPr algn="l">
              <a:lnSpc>
                <a:spcPct val="130000"/>
              </a:lnSpc>
            </a:pPr>
            <a:r>
              <a:rPr sz="2200" b="1" i="0">
                <a:solidFill>
                  <a:srgbClr val="FFFFFF"/>
                </a:solidFill>
                <a:latin typeface="Georgia"/>
              </a:rPr>
              <a:t>A candidate scores 5/5 on rule-based, digital, structured and time-heavy — but only 1/5 on stable. What should you do?</a:t>
            </a:r>
          </a:p>
        </p:txBody>
      </p:sp>
      <p:sp>
        <p:nvSpPr>
          <p:cNvPr id="7" name="Rectangle 6"/>
          <p:cNvSpPr/>
          <p:nvPr/>
        </p:nvSpPr>
        <p:spPr>
          <a:xfrm>
            <a:off x="548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A</a:t>
            </a:r>
          </a:p>
        </p:txBody>
      </p:sp>
      <p:sp>
        <p:nvSpPr>
          <p:cNvPr id="10" name="TextBox 9"/>
          <p:cNvSpPr txBox="1"/>
          <p:nvPr/>
        </p:nvSpPr>
        <p:spPr>
          <a:xfrm>
            <a:off x="1508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Fund it — most lenses are strong</a:t>
            </a:r>
          </a:p>
        </p:txBody>
      </p:sp>
      <p:sp>
        <p:nvSpPr>
          <p:cNvPr id="11" name="Rectangle 10"/>
          <p:cNvSpPr/>
          <p:nvPr/>
        </p:nvSpPr>
        <p:spPr>
          <a:xfrm>
            <a:off x="6263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46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B</a:t>
            </a:r>
          </a:p>
        </p:txBody>
      </p:sp>
      <p:sp>
        <p:nvSpPr>
          <p:cNvPr id="14" name="TextBox 13"/>
          <p:cNvSpPr txBox="1"/>
          <p:nvPr/>
        </p:nvSpPr>
        <p:spPr>
          <a:xfrm>
            <a:off x="7223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Walk away — automation will break with every process change</a:t>
            </a:r>
          </a:p>
        </p:txBody>
      </p:sp>
      <p:sp>
        <p:nvSpPr>
          <p:cNvPr id="15" name="Rectangle 14"/>
          <p:cNvSpPr/>
          <p:nvPr/>
        </p:nvSpPr>
        <p:spPr>
          <a:xfrm>
            <a:off x="548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31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C</a:t>
            </a:r>
          </a:p>
        </p:txBody>
      </p:sp>
      <p:sp>
        <p:nvSpPr>
          <p:cNvPr id="18" name="TextBox 17"/>
          <p:cNvSpPr txBox="1"/>
          <p:nvPr/>
        </p:nvSpPr>
        <p:spPr>
          <a:xfrm>
            <a:off x="1508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Fix the stability first, then re-score</a:t>
            </a:r>
          </a:p>
        </p:txBody>
      </p:sp>
      <p:sp>
        <p:nvSpPr>
          <p:cNvPr id="19" name="Rectangle 18"/>
          <p:cNvSpPr/>
          <p:nvPr/>
        </p:nvSpPr>
        <p:spPr>
          <a:xfrm>
            <a:off x="6263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46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D</a:t>
            </a:r>
          </a:p>
        </p:txBody>
      </p:sp>
      <p:sp>
        <p:nvSpPr>
          <p:cNvPr id="22" name="TextBox 21"/>
          <p:cNvSpPr txBox="1"/>
          <p:nvPr/>
        </p:nvSpPr>
        <p:spPr>
          <a:xfrm>
            <a:off x="7223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Score stability more generously to keep it alive</a:t>
            </a:r>
          </a:p>
        </p:txBody>
      </p:sp>
      <p:sp>
        <p:nvSpPr>
          <p:cNvPr id="23" name="TextBox 22"/>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7 OF 7</a:t>
            </a:r>
          </a:p>
        </p:txBody>
      </p:sp>
      <p:sp>
        <p:nvSpPr>
          <p:cNvPr id="24" name="TextBox 23"/>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Q2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7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ANSWER   ·   QUESTION 2  OF  3</a:t>
            </a:r>
          </a:p>
        </p:txBody>
      </p:sp>
      <p:sp>
        <p:nvSpPr>
          <p:cNvPr id="6" name="TextBox 5"/>
          <p:cNvSpPr txBox="1"/>
          <p:nvPr/>
        </p:nvSpPr>
        <p:spPr>
          <a:xfrm>
            <a:off x="548640" y="1463040"/>
            <a:ext cx="11064240" cy="914400"/>
          </a:xfrm>
          <a:prstGeom prst="rect">
            <a:avLst/>
          </a:prstGeom>
          <a:noFill/>
        </p:spPr>
        <p:txBody>
          <a:bodyPr wrap="square" lIns="0" rIns="0" tIns="0" bIns="0" anchor="t">
            <a:spAutoFit/>
          </a:bodyPr>
          <a:lstStyle/>
          <a:p>
            <a:pPr algn="l">
              <a:lnSpc>
                <a:spcPct val="130000"/>
              </a:lnSpc>
            </a:pPr>
            <a:r>
              <a:rPr sz="1800" b="1" i="1">
                <a:solidFill>
                  <a:srgbClr val="FFFFFF"/>
                </a:solidFill>
                <a:latin typeface="Georgia"/>
              </a:rPr>
              <a:t>A candidate scores 5/5 on rule-based, digital, structured and time-heavy — but only 1/5 on stable. What should you do?</a:t>
            </a:r>
          </a:p>
        </p:txBody>
      </p:sp>
      <p:sp>
        <p:nvSpPr>
          <p:cNvPr id="7" name="Rectangle 6"/>
          <p:cNvSpPr/>
          <p:nvPr/>
        </p:nvSpPr>
        <p:spPr>
          <a:xfrm>
            <a:off x="548640" y="2743200"/>
            <a:ext cx="11064240" cy="146304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77240" y="2971800"/>
            <a:ext cx="1005840" cy="100584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971800"/>
            <a:ext cx="1005840" cy="1005840"/>
          </a:xfrm>
          <a:prstGeom prst="rect">
            <a:avLst/>
          </a:prstGeom>
          <a:noFill/>
        </p:spPr>
        <p:txBody>
          <a:bodyPr wrap="square" lIns="0" rIns="0" tIns="0" bIns="0" anchor="ctr">
            <a:spAutoFit/>
          </a:bodyPr>
          <a:lstStyle/>
          <a:p>
            <a:pPr algn="ctr"/>
            <a:r>
              <a:rPr sz="3600" b="1" i="0">
                <a:solidFill>
                  <a:srgbClr val="C5E063"/>
                </a:solidFill>
                <a:latin typeface="Georgia"/>
              </a:rPr>
              <a:t>C</a:t>
            </a:r>
          </a:p>
        </p:txBody>
      </p:sp>
      <p:sp>
        <p:nvSpPr>
          <p:cNvPr id="10" name="TextBox 9"/>
          <p:cNvSpPr txBox="1"/>
          <p:nvPr/>
        </p:nvSpPr>
        <p:spPr>
          <a:xfrm>
            <a:off x="1965960" y="2880360"/>
            <a:ext cx="9509760" cy="365760"/>
          </a:xfrm>
          <a:prstGeom prst="rect">
            <a:avLst/>
          </a:prstGeom>
          <a:noFill/>
        </p:spPr>
        <p:txBody>
          <a:bodyPr wrap="square" lIns="0" rIns="0" tIns="0" bIns="0" anchor="t">
            <a:spAutoFit/>
          </a:bodyPr>
          <a:lstStyle/>
          <a:p>
            <a:pPr algn="l"/>
            <a:r>
              <a:rPr sz="1000" b="1" i="0" spc="500">
                <a:solidFill>
                  <a:srgbClr val="2C5244"/>
                </a:solidFill>
                <a:latin typeface="Calibri"/>
              </a:rPr>
              <a:t>CORRECT  ANSWER</a:t>
            </a:r>
          </a:p>
        </p:txBody>
      </p:sp>
      <p:sp>
        <p:nvSpPr>
          <p:cNvPr id="11" name="TextBox 10"/>
          <p:cNvSpPr txBox="1"/>
          <p:nvPr/>
        </p:nvSpPr>
        <p:spPr>
          <a:xfrm>
            <a:off x="1965960" y="3200400"/>
            <a:ext cx="9509760" cy="914400"/>
          </a:xfrm>
          <a:prstGeom prst="rect">
            <a:avLst/>
          </a:prstGeom>
          <a:noFill/>
        </p:spPr>
        <p:txBody>
          <a:bodyPr wrap="square" lIns="0" rIns="0" tIns="0" bIns="0" anchor="t">
            <a:spAutoFit/>
          </a:bodyPr>
          <a:lstStyle/>
          <a:p>
            <a:pPr algn="l">
              <a:lnSpc>
                <a:spcPct val="125000"/>
              </a:lnSpc>
            </a:pPr>
            <a:r>
              <a:rPr sz="1800" b="1" i="0">
                <a:solidFill>
                  <a:srgbClr val="2C5244"/>
                </a:solidFill>
                <a:latin typeface="Georgia"/>
              </a:rPr>
              <a:t>Fix the stability first, then re-score</a:t>
            </a:r>
          </a:p>
        </p:txBody>
      </p:sp>
      <p:sp>
        <p:nvSpPr>
          <p:cNvPr id="12" name="Rectangle 11"/>
          <p:cNvSpPr/>
          <p:nvPr/>
        </p:nvSpPr>
        <p:spPr>
          <a:xfrm>
            <a:off x="548640" y="4526280"/>
            <a:ext cx="11064240" cy="14630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663440"/>
            <a:ext cx="10607040" cy="274320"/>
          </a:xfrm>
          <a:prstGeom prst="rect">
            <a:avLst/>
          </a:prstGeom>
          <a:noFill/>
        </p:spPr>
        <p:txBody>
          <a:bodyPr wrap="square" lIns="0" rIns="0" tIns="0" bIns="0" anchor="t">
            <a:spAutoFit/>
          </a:bodyPr>
          <a:lstStyle/>
          <a:p>
            <a:pPr algn="l"/>
            <a:r>
              <a:rPr sz="1000" b="1" i="0" spc="500">
                <a:solidFill>
                  <a:srgbClr val="C5E063"/>
                </a:solidFill>
                <a:latin typeface="Calibri"/>
              </a:rPr>
              <a:t>WHY</a:t>
            </a:r>
          </a:p>
        </p:txBody>
      </p:sp>
      <p:sp>
        <p:nvSpPr>
          <p:cNvPr id="14" name="TextBox 13"/>
          <p:cNvSpPr txBox="1"/>
          <p:nvPr/>
        </p:nvSpPr>
        <p:spPr>
          <a:xfrm>
            <a:off x="777240" y="4937760"/>
            <a:ext cx="10607040" cy="1005840"/>
          </a:xfrm>
          <a:prstGeom prst="rect">
            <a:avLst/>
          </a:prstGeom>
          <a:noFill/>
        </p:spPr>
        <p:txBody>
          <a:bodyPr wrap="square" lIns="0" rIns="0" tIns="0" bIns="0" anchor="t">
            <a:spAutoFit/>
          </a:bodyPr>
          <a:lstStyle/>
          <a:p>
            <a:pPr algn="l">
              <a:lnSpc>
                <a:spcPct val="140000"/>
              </a:lnSpc>
            </a:pPr>
            <a:r>
              <a:rPr sz="1200" b="0" i="0">
                <a:solidFill>
                  <a:srgbClr val="FFFFFF"/>
                </a:solidFill>
                <a:latin typeface="Calibri"/>
              </a:rPr>
              <a:t>Stability is the single biggest reason bots fail in production. Automating an unstable process is throwing money at a moving target. The senior move: stabilise the process for 60–90 days, rescore, then build.</a:t>
            </a:r>
          </a:p>
        </p:txBody>
      </p:sp>
      <p:sp>
        <p:nvSpPr>
          <p:cNvPr id="15" name="TextBox 1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7 OF 7</a:t>
            </a:r>
          </a:p>
        </p:txBody>
      </p:sp>
      <p:sp>
        <p:nvSpPr>
          <p:cNvPr id="16" name="TextBox 1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7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ANSWER   ·   QUESTION 3  OF  3</a:t>
            </a:r>
          </a:p>
        </p:txBody>
      </p:sp>
      <p:sp>
        <p:nvSpPr>
          <p:cNvPr id="6" name="TextBox 5"/>
          <p:cNvSpPr txBox="1"/>
          <p:nvPr/>
        </p:nvSpPr>
        <p:spPr>
          <a:xfrm>
            <a:off x="548640" y="1463040"/>
            <a:ext cx="11064240" cy="914400"/>
          </a:xfrm>
          <a:prstGeom prst="rect">
            <a:avLst/>
          </a:prstGeom>
          <a:noFill/>
        </p:spPr>
        <p:txBody>
          <a:bodyPr wrap="square" lIns="0" rIns="0" tIns="0" bIns="0" anchor="t">
            <a:spAutoFit/>
          </a:bodyPr>
          <a:lstStyle/>
          <a:p>
            <a:pPr algn="l">
              <a:lnSpc>
                <a:spcPct val="130000"/>
              </a:lnSpc>
            </a:pPr>
            <a:r>
              <a:rPr sz="1800" b="1" i="1">
                <a:solidFill>
                  <a:srgbClr val="FFFFFF"/>
                </a:solidFill>
                <a:latin typeface="Georgia"/>
              </a:rPr>
              <a:t>On the Impact × Feasibility matrix, which quadrant should you fund *first*?</a:t>
            </a:r>
          </a:p>
        </p:txBody>
      </p:sp>
      <p:sp>
        <p:nvSpPr>
          <p:cNvPr id="7" name="Rectangle 6"/>
          <p:cNvSpPr/>
          <p:nvPr/>
        </p:nvSpPr>
        <p:spPr>
          <a:xfrm>
            <a:off x="548640" y="2743200"/>
            <a:ext cx="11064240" cy="146304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77240" y="2971800"/>
            <a:ext cx="1005840" cy="100584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971800"/>
            <a:ext cx="1005840" cy="1005840"/>
          </a:xfrm>
          <a:prstGeom prst="rect">
            <a:avLst/>
          </a:prstGeom>
          <a:noFill/>
        </p:spPr>
        <p:txBody>
          <a:bodyPr wrap="square" lIns="0" rIns="0" tIns="0" bIns="0" anchor="ctr">
            <a:spAutoFit/>
          </a:bodyPr>
          <a:lstStyle/>
          <a:p>
            <a:pPr algn="ctr"/>
            <a:r>
              <a:rPr sz="3600" b="1" i="0">
                <a:solidFill>
                  <a:srgbClr val="C5E063"/>
                </a:solidFill>
                <a:latin typeface="Georgia"/>
              </a:rPr>
              <a:t>B</a:t>
            </a:r>
          </a:p>
        </p:txBody>
      </p:sp>
      <p:sp>
        <p:nvSpPr>
          <p:cNvPr id="10" name="TextBox 9"/>
          <p:cNvSpPr txBox="1"/>
          <p:nvPr/>
        </p:nvSpPr>
        <p:spPr>
          <a:xfrm>
            <a:off x="1965960" y="2880360"/>
            <a:ext cx="9509760" cy="365760"/>
          </a:xfrm>
          <a:prstGeom prst="rect">
            <a:avLst/>
          </a:prstGeom>
          <a:noFill/>
        </p:spPr>
        <p:txBody>
          <a:bodyPr wrap="square" lIns="0" rIns="0" tIns="0" bIns="0" anchor="t">
            <a:spAutoFit/>
          </a:bodyPr>
          <a:lstStyle/>
          <a:p>
            <a:pPr algn="l"/>
            <a:r>
              <a:rPr sz="1000" b="1" i="0" spc="500">
                <a:solidFill>
                  <a:srgbClr val="2C5244"/>
                </a:solidFill>
                <a:latin typeface="Calibri"/>
              </a:rPr>
              <a:t>CORRECT  ANSWER</a:t>
            </a:r>
          </a:p>
        </p:txBody>
      </p:sp>
      <p:sp>
        <p:nvSpPr>
          <p:cNvPr id="11" name="TextBox 10"/>
          <p:cNvSpPr txBox="1"/>
          <p:nvPr/>
        </p:nvSpPr>
        <p:spPr>
          <a:xfrm>
            <a:off x="1965960" y="3200400"/>
            <a:ext cx="9509760" cy="914400"/>
          </a:xfrm>
          <a:prstGeom prst="rect">
            <a:avLst/>
          </a:prstGeom>
          <a:noFill/>
        </p:spPr>
        <p:txBody>
          <a:bodyPr wrap="square" lIns="0" rIns="0" tIns="0" bIns="0" anchor="t">
            <a:spAutoFit/>
          </a:bodyPr>
          <a:lstStyle/>
          <a:p>
            <a:pPr algn="l">
              <a:lnSpc>
                <a:spcPct val="125000"/>
              </a:lnSpc>
            </a:pPr>
            <a:r>
              <a:rPr sz="1800" b="1" i="0">
                <a:solidFill>
                  <a:srgbClr val="2C5244"/>
                </a:solidFill>
                <a:latin typeface="Georgia"/>
              </a:rPr>
              <a:t>Quick Win — high impact, high feasibility</a:t>
            </a:r>
          </a:p>
        </p:txBody>
      </p:sp>
      <p:sp>
        <p:nvSpPr>
          <p:cNvPr id="12" name="Rectangle 11"/>
          <p:cNvSpPr/>
          <p:nvPr/>
        </p:nvSpPr>
        <p:spPr>
          <a:xfrm>
            <a:off x="548640" y="4526280"/>
            <a:ext cx="11064240" cy="14630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663440"/>
            <a:ext cx="10607040" cy="274320"/>
          </a:xfrm>
          <a:prstGeom prst="rect">
            <a:avLst/>
          </a:prstGeom>
          <a:noFill/>
        </p:spPr>
        <p:txBody>
          <a:bodyPr wrap="square" lIns="0" rIns="0" tIns="0" bIns="0" anchor="t">
            <a:spAutoFit/>
          </a:bodyPr>
          <a:lstStyle/>
          <a:p>
            <a:pPr algn="l"/>
            <a:r>
              <a:rPr sz="1000" b="1" i="0" spc="500">
                <a:solidFill>
                  <a:srgbClr val="C5E063"/>
                </a:solidFill>
                <a:latin typeface="Calibri"/>
              </a:rPr>
              <a:t>WHY</a:t>
            </a:r>
          </a:p>
        </p:txBody>
      </p:sp>
      <p:sp>
        <p:nvSpPr>
          <p:cNvPr id="14" name="TextBox 13"/>
          <p:cNvSpPr txBox="1"/>
          <p:nvPr/>
        </p:nvSpPr>
        <p:spPr>
          <a:xfrm>
            <a:off x="777240" y="4937760"/>
            <a:ext cx="10607040" cy="1005840"/>
          </a:xfrm>
          <a:prstGeom prst="rect">
            <a:avLst/>
          </a:prstGeom>
          <a:noFill/>
        </p:spPr>
        <p:txBody>
          <a:bodyPr wrap="square" lIns="0" rIns="0" tIns="0" bIns="0" anchor="t">
            <a:spAutoFit/>
          </a:bodyPr>
          <a:lstStyle/>
          <a:p>
            <a:pPr algn="l">
              <a:lnSpc>
                <a:spcPct val="140000"/>
              </a:lnSpc>
            </a:pPr>
            <a:r>
              <a:rPr sz="1200" b="0" i="0">
                <a:solidFill>
                  <a:srgbClr val="FFFFFF"/>
                </a:solidFill>
                <a:latin typeface="Calibri"/>
              </a:rPr>
              <a:t>Quick wins build credibility and budget. Most successful programmes start here, then earn the right to take on Strategic Bets. Skipping straight to Strategic Bets is how programmes lose their funding before they prove their worth.</a:t>
            </a:r>
          </a:p>
        </p:txBody>
      </p:sp>
      <p:sp>
        <p:nvSpPr>
          <p:cNvPr id="15" name="TextBox 1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7 OF 7</a:t>
            </a:r>
          </a:p>
        </p:txBody>
      </p:sp>
      <p:sp>
        <p:nvSpPr>
          <p:cNvPr id="16" name="TextBox 1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BF5"/>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2C5244"/>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0F1F1A"/>
                </a:solidFill>
                <a:latin typeface="Calibri"/>
              </a:rPr>
              <a:t>WEEK 1   /   LESSON 7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0F766E"/>
                </a:solidFill>
                <a:latin typeface="Calibri"/>
              </a:rPr>
              <a:t>REFLECT  &amp;  APPLY</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2800" b="0" i="0">
                <a:solidFill>
                  <a:srgbClr val="0F1F1A"/>
                </a:solidFill>
                <a:latin typeface="Georgia"/>
              </a:rPr>
              <a:t>Three questions before you close this lesson</a:t>
            </a:r>
          </a:p>
        </p:txBody>
      </p:sp>
      <p:sp>
        <p:nvSpPr>
          <p:cNvPr id="7" name="TextBox 6"/>
          <p:cNvSpPr txBox="1"/>
          <p:nvPr/>
        </p:nvSpPr>
        <p:spPr>
          <a:xfrm>
            <a:off x="548640" y="2286000"/>
            <a:ext cx="10972800" cy="914400"/>
          </a:xfrm>
          <a:prstGeom prst="rect">
            <a:avLst/>
          </a:prstGeom>
          <a:noFill/>
        </p:spPr>
        <p:txBody>
          <a:bodyPr wrap="square" lIns="0" rIns="0" tIns="0" bIns="0" anchor="t">
            <a:spAutoFit/>
          </a:bodyPr>
          <a:lstStyle/>
          <a:p>
            <a:pPr algn="l">
              <a:lnSpc>
                <a:spcPct val="125000"/>
              </a:lnSpc>
            </a:pPr>
            <a:r>
              <a:rPr sz="1400" b="0" i="0">
                <a:solidFill>
                  <a:srgbClr val="475569"/>
                </a:solidFill>
                <a:latin typeface="Calibri"/>
              </a:rPr>
              <a:t>Spend 60 seconds on each. Write the answers down — no scrolling, no shortcuts.</a:t>
            </a:r>
          </a:p>
        </p:txBody>
      </p:sp>
      <p:sp>
        <p:nvSpPr>
          <p:cNvPr id="8" name="Rectangle 7"/>
          <p:cNvSpPr/>
          <p:nvPr/>
        </p:nvSpPr>
        <p:spPr>
          <a:xfrm>
            <a:off x="548640" y="3200400"/>
            <a:ext cx="11064240" cy="82296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200400"/>
            <a:ext cx="777240" cy="82296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200400"/>
            <a:ext cx="777240" cy="822960"/>
          </a:xfrm>
          <a:prstGeom prst="rect">
            <a:avLst/>
          </a:prstGeom>
          <a:noFill/>
        </p:spPr>
        <p:txBody>
          <a:bodyPr wrap="square" lIns="0" rIns="0" tIns="0" bIns="0" anchor="ctr">
            <a:spAutoFit/>
          </a:bodyPr>
          <a:lstStyle/>
          <a:p>
            <a:pPr algn="ctr"/>
            <a:r>
              <a:rPr sz="2000" b="1" i="0">
                <a:solidFill>
                  <a:srgbClr val="C5E063"/>
                </a:solidFill>
                <a:latin typeface="Georgia"/>
              </a:rPr>
              <a:t>Q1</a:t>
            </a:r>
          </a:p>
        </p:txBody>
      </p:sp>
      <p:sp>
        <p:nvSpPr>
          <p:cNvPr id="11" name="TextBox 10"/>
          <p:cNvSpPr txBox="1"/>
          <p:nvPr/>
        </p:nvSpPr>
        <p:spPr>
          <a:xfrm>
            <a:off x="1554480" y="3200400"/>
            <a:ext cx="9966960" cy="822960"/>
          </a:xfrm>
          <a:prstGeom prst="rect">
            <a:avLst/>
          </a:prstGeom>
          <a:noFill/>
        </p:spPr>
        <p:txBody>
          <a:bodyPr wrap="square" lIns="0" rIns="0" tIns="0" bIns="0" anchor="ctr">
            <a:spAutoFit/>
          </a:bodyPr>
          <a:lstStyle/>
          <a:p>
            <a:pPr algn="l">
              <a:lnSpc>
                <a:spcPct val="130000"/>
              </a:lnSpc>
            </a:pPr>
            <a:r>
              <a:rPr sz="1300" b="0" i="1">
                <a:solidFill>
                  <a:srgbClr val="0F1F1A"/>
                </a:solidFill>
                <a:latin typeface="Calibri"/>
              </a:rPr>
              <a:t>Pick one process you've watched at work or college. What workaround had quietly become 'the work'?</a:t>
            </a:r>
          </a:p>
        </p:txBody>
      </p:sp>
      <p:sp>
        <p:nvSpPr>
          <p:cNvPr id="12" name="Rectangle 11"/>
          <p:cNvSpPr/>
          <p:nvPr/>
        </p:nvSpPr>
        <p:spPr>
          <a:xfrm>
            <a:off x="548640" y="4160520"/>
            <a:ext cx="11064240" cy="82296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4160520"/>
            <a:ext cx="777240" cy="82296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4160520"/>
            <a:ext cx="777240" cy="822960"/>
          </a:xfrm>
          <a:prstGeom prst="rect">
            <a:avLst/>
          </a:prstGeom>
          <a:noFill/>
        </p:spPr>
        <p:txBody>
          <a:bodyPr wrap="square" lIns="0" rIns="0" tIns="0" bIns="0" anchor="ctr">
            <a:spAutoFit/>
          </a:bodyPr>
          <a:lstStyle/>
          <a:p>
            <a:pPr algn="ctr"/>
            <a:r>
              <a:rPr sz="2000" b="1" i="0">
                <a:solidFill>
                  <a:srgbClr val="C5E063"/>
                </a:solidFill>
                <a:latin typeface="Georgia"/>
              </a:rPr>
              <a:t>Q2</a:t>
            </a:r>
          </a:p>
        </p:txBody>
      </p:sp>
      <p:sp>
        <p:nvSpPr>
          <p:cNvPr id="15" name="TextBox 14"/>
          <p:cNvSpPr txBox="1"/>
          <p:nvPr/>
        </p:nvSpPr>
        <p:spPr>
          <a:xfrm>
            <a:off x="1554480" y="4160520"/>
            <a:ext cx="9966960" cy="822960"/>
          </a:xfrm>
          <a:prstGeom prst="rect">
            <a:avLst/>
          </a:prstGeom>
          <a:noFill/>
        </p:spPr>
        <p:txBody>
          <a:bodyPr wrap="square" lIns="0" rIns="0" tIns="0" bIns="0" anchor="ctr">
            <a:spAutoFit/>
          </a:bodyPr>
          <a:lstStyle/>
          <a:p>
            <a:pPr algn="l">
              <a:lnSpc>
                <a:spcPct val="130000"/>
              </a:lnSpc>
            </a:pPr>
            <a:r>
              <a:rPr sz="1300" b="0" i="1">
                <a:solidFill>
                  <a:srgbClr val="0F1F1A"/>
                </a:solidFill>
                <a:latin typeface="Calibri"/>
              </a:rPr>
              <a:t>If you had 30 minutes with one stakeholder, would you draw a SIPOC, score the 7 lenses, or just listen — and why?</a:t>
            </a:r>
          </a:p>
        </p:txBody>
      </p:sp>
      <p:sp>
        <p:nvSpPr>
          <p:cNvPr id="16" name="Rectangle 15"/>
          <p:cNvSpPr/>
          <p:nvPr/>
        </p:nvSpPr>
        <p:spPr>
          <a:xfrm>
            <a:off x="548640" y="5120640"/>
            <a:ext cx="11064240" cy="82296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5120640"/>
            <a:ext cx="777240" cy="82296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120640"/>
            <a:ext cx="777240" cy="822960"/>
          </a:xfrm>
          <a:prstGeom prst="rect">
            <a:avLst/>
          </a:prstGeom>
          <a:noFill/>
        </p:spPr>
        <p:txBody>
          <a:bodyPr wrap="square" lIns="0" rIns="0" tIns="0" bIns="0" anchor="ctr">
            <a:spAutoFit/>
          </a:bodyPr>
          <a:lstStyle/>
          <a:p>
            <a:pPr algn="ctr"/>
            <a:r>
              <a:rPr sz="2000" b="1" i="0">
                <a:solidFill>
                  <a:srgbClr val="C5E063"/>
                </a:solidFill>
                <a:latin typeface="Georgia"/>
              </a:rPr>
              <a:t>Q3</a:t>
            </a:r>
          </a:p>
        </p:txBody>
      </p:sp>
      <p:sp>
        <p:nvSpPr>
          <p:cNvPr id="19" name="TextBox 18"/>
          <p:cNvSpPr txBox="1"/>
          <p:nvPr/>
        </p:nvSpPr>
        <p:spPr>
          <a:xfrm>
            <a:off x="1554480" y="5120640"/>
            <a:ext cx="9966960" cy="822960"/>
          </a:xfrm>
          <a:prstGeom prst="rect">
            <a:avLst/>
          </a:prstGeom>
          <a:noFill/>
        </p:spPr>
        <p:txBody>
          <a:bodyPr wrap="square" lIns="0" rIns="0" tIns="0" bIns="0" anchor="ctr">
            <a:spAutoFit/>
          </a:bodyPr>
          <a:lstStyle/>
          <a:p>
            <a:pPr algn="l">
              <a:lnSpc>
                <a:spcPct val="130000"/>
              </a:lnSpc>
            </a:pPr>
            <a:r>
              <a:rPr sz="1300" b="0" i="1">
                <a:solidFill>
                  <a:srgbClr val="0F1F1A"/>
                </a:solidFill>
                <a:latin typeface="Calibri"/>
              </a:rPr>
              <a:t>In your context, where on the Impact × Feasibility matrix is the quietest quick win? Name it in one sentence.</a:t>
            </a:r>
          </a:p>
        </p:txBody>
      </p:sp>
      <p:sp>
        <p:nvSpPr>
          <p:cNvPr id="20" name="TextBox 1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475569"/>
                </a:solidFill>
                <a:latin typeface="Calibri"/>
              </a:rPr>
              <a:t>AI  LEARNING  HUB   ·   LESSON 7 OF 7</a:t>
            </a:r>
          </a:p>
        </p:txBody>
      </p:sp>
      <p:sp>
        <p:nvSpPr>
          <p:cNvPr id="21" name="TextBox 2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475569"/>
                </a:solidFill>
                <a:latin typeface="Calibri"/>
              </a:rPr>
              <a:t>REFLECT</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7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APPLY  IT  →  ASSIGNMENT</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2800" b="0" i="0">
                <a:solidFill>
                  <a:srgbClr val="FFFFFF"/>
                </a:solidFill>
                <a:latin typeface="Georgia"/>
              </a:rPr>
              <a:t>Write a one-page Opportunity Charter for a real process</a:t>
            </a:r>
          </a:p>
        </p:txBody>
      </p:sp>
      <p:sp>
        <p:nvSpPr>
          <p:cNvPr id="7" name="TextBox 6"/>
          <p:cNvSpPr txBox="1"/>
          <p:nvPr/>
        </p:nvSpPr>
        <p:spPr>
          <a:xfrm>
            <a:off x="548640" y="2331720"/>
            <a:ext cx="10972800" cy="914400"/>
          </a:xfrm>
          <a:prstGeom prst="rect">
            <a:avLst/>
          </a:prstGeom>
          <a:noFill/>
        </p:spPr>
        <p:txBody>
          <a:bodyPr wrap="square" lIns="0" rIns="0" tIns="0" bIns="0" anchor="t">
            <a:spAutoFit/>
          </a:bodyPr>
          <a:lstStyle/>
          <a:p>
            <a:pPr algn="l">
              <a:lnSpc>
                <a:spcPct val="125000"/>
              </a:lnSpc>
            </a:pPr>
            <a:r>
              <a:rPr sz="1400" b="0" i="0">
                <a:solidFill>
                  <a:srgbClr val="E5E7EB"/>
                </a:solidFill>
                <a:latin typeface="Calibri"/>
              </a:rPr>
              <a:t>Pick a process you can observe — at work, in a college office, even at home. Run discovery: 30-minute interview, 30-minute Gemba. Build a SIPOC. Score it on the 7 lenses. Place it on the matrix. Write the one-page Charter.</a:t>
            </a:r>
          </a:p>
        </p:txBody>
      </p:sp>
      <p:sp>
        <p:nvSpPr>
          <p:cNvPr id="8" name="Rectangle 7"/>
          <p:cNvSpPr/>
          <p:nvPr/>
        </p:nvSpPr>
        <p:spPr>
          <a:xfrm>
            <a:off x="548640" y="3383280"/>
            <a:ext cx="6858000" cy="27432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520440"/>
            <a:ext cx="6400800" cy="274320"/>
          </a:xfrm>
          <a:prstGeom prst="rect">
            <a:avLst/>
          </a:prstGeom>
          <a:noFill/>
        </p:spPr>
        <p:txBody>
          <a:bodyPr wrap="square" lIns="0" rIns="0" tIns="0" bIns="0" anchor="t">
            <a:spAutoFit/>
          </a:bodyPr>
          <a:lstStyle/>
          <a:p>
            <a:pPr algn="l"/>
            <a:r>
              <a:rPr sz="1000" b="1" i="0" spc="500">
                <a:solidFill>
                  <a:srgbClr val="C5E063"/>
                </a:solidFill>
                <a:latin typeface="Calibri"/>
              </a:rPr>
              <a:t>DELIVERABLES</a:t>
            </a:r>
          </a:p>
        </p:txBody>
      </p:sp>
      <p:sp>
        <p:nvSpPr>
          <p:cNvPr id="10" name="Oval 9"/>
          <p:cNvSpPr/>
          <p:nvPr/>
        </p:nvSpPr>
        <p:spPr>
          <a:xfrm>
            <a:off x="868680" y="3950208"/>
            <a:ext cx="118872" cy="118872"/>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840480"/>
            <a:ext cx="6126480" cy="365760"/>
          </a:xfrm>
          <a:prstGeom prst="rect">
            <a:avLst/>
          </a:prstGeom>
          <a:noFill/>
        </p:spPr>
        <p:txBody>
          <a:bodyPr wrap="square" lIns="0" rIns="0" tIns="0" bIns="0" anchor="ctr">
            <a:spAutoFit/>
          </a:bodyPr>
          <a:lstStyle/>
          <a:p>
            <a:pPr algn="l">
              <a:lnSpc>
                <a:spcPct val="130000"/>
              </a:lnSpc>
            </a:pPr>
            <a:r>
              <a:rPr sz="1200" b="0" i="0">
                <a:solidFill>
                  <a:srgbClr val="FFFFFF"/>
                </a:solidFill>
                <a:latin typeface="Calibri"/>
              </a:rPr>
              <a:t>Notes from one Gemba walk — 6+ observations, with timestamps</a:t>
            </a:r>
          </a:p>
        </p:txBody>
      </p:sp>
      <p:sp>
        <p:nvSpPr>
          <p:cNvPr id="12" name="Oval 11"/>
          <p:cNvSpPr/>
          <p:nvPr/>
        </p:nvSpPr>
        <p:spPr>
          <a:xfrm>
            <a:off x="868680" y="4361688"/>
            <a:ext cx="118872" cy="118872"/>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251960"/>
            <a:ext cx="6126480" cy="365760"/>
          </a:xfrm>
          <a:prstGeom prst="rect">
            <a:avLst/>
          </a:prstGeom>
          <a:noFill/>
        </p:spPr>
        <p:txBody>
          <a:bodyPr wrap="square" lIns="0" rIns="0" tIns="0" bIns="0" anchor="ctr">
            <a:spAutoFit/>
          </a:bodyPr>
          <a:lstStyle/>
          <a:p>
            <a:pPr algn="l">
              <a:lnSpc>
                <a:spcPct val="130000"/>
              </a:lnSpc>
            </a:pPr>
            <a:r>
              <a:rPr sz="1200" b="0" i="0">
                <a:solidFill>
                  <a:srgbClr val="FFFFFF"/>
                </a:solidFill>
                <a:latin typeface="Calibri"/>
              </a:rPr>
              <a:t>Hand-drawn SIPOC with at least one hand-off and one rework loop marked</a:t>
            </a:r>
          </a:p>
        </p:txBody>
      </p:sp>
      <p:sp>
        <p:nvSpPr>
          <p:cNvPr id="14" name="Oval 13"/>
          <p:cNvSpPr/>
          <p:nvPr/>
        </p:nvSpPr>
        <p:spPr>
          <a:xfrm>
            <a:off x="868680" y="4773168"/>
            <a:ext cx="118872" cy="118872"/>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4663440"/>
            <a:ext cx="6126480" cy="365760"/>
          </a:xfrm>
          <a:prstGeom prst="rect">
            <a:avLst/>
          </a:prstGeom>
          <a:noFill/>
        </p:spPr>
        <p:txBody>
          <a:bodyPr wrap="square" lIns="0" rIns="0" tIns="0" bIns="0" anchor="ctr">
            <a:spAutoFit/>
          </a:bodyPr>
          <a:lstStyle/>
          <a:p>
            <a:pPr algn="l">
              <a:lnSpc>
                <a:spcPct val="130000"/>
              </a:lnSpc>
            </a:pPr>
            <a:r>
              <a:rPr sz="1200" b="0" i="0">
                <a:solidFill>
                  <a:srgbClr val="FFFFFF"/>
                </a:solidFill>
                <a:latin typeface="Calibri"/>
              </a:rPr>
              <a:t>7-lens score with one-line justification per lens</a:t>
            </a:r>
          </a:p>
        </p:txBody>
      </p:sp>
      <p:sp>
        <p:nvSpPr>
          <p:cNvPr id="16" name="Oval 15"/>
          <p:cNvSpPr/>
          <p:nvPr/>
        </p:nvSpPr>
        <p:spPr>
          <a:xfrm>
            <a:off x="868680" y="5184648"/>
            <a:ext cx="118872" cy="118872"/>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5074920"/>
            <a:ext cx="6126480" cy="365760"/>
          </a:xfrm>
          <a:prstGeom prst="rect">
            <a:avLst/>
          </a:prstGeom>
          <a:noFill/>
        </p:spPr>
        <p:txBody>
          <a:bodyPr wrap="square" lIns="0" rIns="0" tIns="0" bIns="0" anchor="ctr">
            <a:spAutoFit/>
          </a:bodyPr>
          <a:lstStyle/>
          <a:p>
            <a:pPr algn="l">
              <a:lnSpc>
                <a:spcPct val="130000"/>
              </a:lnSpc>
            </a:pPr>
            <a:r>
              <a:rPr sz="1200" b="0" i="0">
                <a:solidFill>
                  <a:srgbClr val="FFFFFF"/>
                </a:solidFill>
                <a:latin typeface="Calibri"/>
              </a:rPr>
              <a:t>Impact × Feasibility placement with a one-sentence rationale</a:t>
            </a:r>
          </a:p>
        </p:txBody>
      </p:sp>
      <p:sp>
        <p:nvSpPr>
          <p:cNvPr id="18" name="Oval 17"/>
          <p:cNvSpPr/>
          <p:nvPr/>
        </p:nvSpPr>
        <p:spPr>
          <a:xfrm>
            <a:off x="868680" y="5596128"/>
            <a:ext cx="118872" cy="118872"/>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5486400"/>
            <a:ext cx="6126480" cy="365760"/>
          </a:xfrm>
          <a:prstGeom prst="rect">
            <a:avLst/>
          </a:prstGeom>
          <a:noFill/>
        </p:spPr>
        <p:txBody>
          <a:bodyPr wrap="square" lIns="0" rIns="0" tIns="0" bIns="0" anchor="ctr">
            <a:spAutoFit/>
          </a:bodyPr>
          <a:lstStyle/>
          <a:p>
            <a:pPr algn="l">
              <a:lnSpc>
                <a:spcPct val="130000"/>
              </a:lnSpc>
            </a:pPr>
            <a:r>
              <a:rPr sz="1200" b="0" i="0">
                <a:solidFill>
                  <a:srgbClr val="FFFFFF"/>
                </a:solidFill>
                <a:latin typeface="Calibri"/>
              </a:rPr>
              <a:t>One-page Opportunity Charter, ready to present to a sponsor</a:t>
            </a:r>
          </a:p>
        </p:txBody>
      </p:sp>
      <p:sp>
        <p:nvSpPr>
          <p:cNvPr id="20" name="Rectangle 19"/>
          <p:cNvSpPr/>
          <p:nvPr/>
        </p:nvSpPr>
        <p:spPr>
          <a:xfrm>
            <a:off x="7635240" y="3383280"/>
            <a:ext cx="3977639" cy="274320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0" y="3520440"/>
            <a:ext cx="3520440" cy="274320"/>
          </a:xfrm>
          <a:prstGeom prst="rect">
            <a:avLst/>
          </a:prstGeom>
          <a:noFill/>
        </p:spPr>
        <p:txBody>
          <a:bodyPr wrap="square" lIns="0" rIns="0" tIns="0" bIns="0" anchor="t">
            <a:spAutoFit/>
          </a:bodyPr>
          <a:lstStyle/>
          <a:p>
            <a:pPr algn="l"/>
            <a:r>
              <a:rPr sz="1000" b="1" i="0" spc="500">
                <a:solidFill>
                  <a:srgbClr val="2C5244"/>
                </a:solidFill>
                <a:latin typeface="Calibri"/>
              </a:rPr>
              <a:t>WHAT 'GOOD' LOOKS LIKE</a:t>
            </a:r>
          </a:p>
        </p:txBody>
      </p:sp>
      <p:sp>
        <p:nvSpPr>
          <p:cNvPr id="22" name="TextBox 21"/>
          <p:cNvSpPr txBox="1"/>
          <p:nvPr/>
        </p:nvSpPr>
        <p:spPr>
          <a:xfrm>
            <a:off x="7863840" y="3840480"/>
            <a:ext cx="3520440" cy="2194560"/>
          </a:xfrm>
          <a:prstGeom prst="rect">
            <a:avLst/>
          </a:prstGeom>
          <a:noFill/>
        </p:spPr>
        <p:txBody>
          <a:bodyPr wrap="square" lIns="0" rIns="0" tIns="0" bIns="0" anchor="t">
            <a:spAutoFit/>
          </a:bodyPr>
          <a:lstStyle/>
          <a:p>
            <a:pPr algn="l">
              <a:lnSpc>
                <a:spcPct val="140000"/>
              </a:lnSpc>
            </a:pPr>
            <a:r>
              <a:rPr sz="1400" b="0" i="1">
                <a:solidFill>
                  <a:srgbClr val="2C5244"/>
                </a:solidFill>
                <a:latin typeface="Georgia"/>
              </a:rPr>
              <a:t>A great Charter is one page that a busy sponsor reads in two minutes and signs in three. Sourced numbers, honest scoring, a defensible 90-day pilot.</a:t>
            </a:r>
          </a:p>
        </p:txBody>
      </p:sp>
      <p:sp>
        <p:nvSpPr>
          <p:cNvPr id="23" name="TextBox 22"/>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7 OF 7</a:t>
            </a:r>
          </a:p>
        </p:txBody>
      </p:sp>
      <p:sp>
        <p:nvSpPr>
          <p:cNvPr id="24" name="TextBox 23"/>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APPLY</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7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SUMMARY</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2800" b="0" i="0">
                <a:solidFill>
                  <a:srgbClr val="FFFFFF"/>
                </a:solidFill>
                <a:latin typeface="Georgia"/>
              </a:rPr>
              <a:t>Five sentences to remember</a:t>
            </a:r>
          </a:p>
        </p:txBody>
      </p:sp>
      <p:sp>
        <p:nvSpPr>
          <p:cNvPr id="7" name="TextBox 6"/>
          <p:cNvSpPr txBox="1"/>
          <p:nvPr/>
        </p:nvSpPr>
        <p:spPr>
          <a:xfrm>
            <a:off x="548640" y="2286000"/>
            <a:ext cx="10972800" cy="914400"/>
          </a:xfrm>
          <a:prstGeom prst="rect">
            <a:avLst/>
          </a:prstGeom>
          <a:noFill/>
        </p:spPr>
        <p:txBody>
          <a:bodyPr wrap="square" lIns="0" rIns="0" tIns="0" bIns="0" anchor="t">
            <a:spAutoFit/>
          </a:bodyPr>
          <a:lstStyle/>
          <a:p>
            <a:pPr algn="l">
              <a:lnSpc>
                <a:spcPct val="125000"/>
              </a:lnSpc>
            </a:pPr>
            <a:r>
              <a:rPr sz="1400" b="0" i="0">
                <a:solidFill>
                  <a:srgbClr val="E5E7EB"/>
                </a:solidFill>
                <a:latin typeface="Calibri"/>
              </a:rPr>
              <a:t>If you remember nothing else from this lesson, remember these five lines.</a:t>
            </a:r>
          </a:p>
        </p:txBody>
      </p:sp>
      <p:sp>
        <p:nvSpPr>
          <p:cNvPr id="8" name="TextBox 7"/>
          <p:cNvSpPr txBox="1"/>
          <p:nvPr/>
        </p:nvSpPr>
        <p:spPr>
          <a:xfrm>
            <a:off x="548640" y="3154680"/>
            <a:ext cx="548640" cy="502920"/>
          </a:xfrm>
          <a:prstGeom prst="rect">
            <a:avLst/>
          </a:prstGeom>
          <a:noFill/>
        </p:spPr>
        <p:txBody>
          <a:bodyPr wrap="square" lIns="0" rIns="0" tIns="0" bIns="0" anchor="ctr">
            <a:spAutoFit/>
          </a:bodyPr>
          <a:lstStyle/>
          <a:p>
            <a:pPr algn="l"/>
            <a:r>
              <a:rPr sz="2800" b="1" i="0">
                <a:solidFill>
                  <a:srgbClr val="C5E063"/>
                </a:solidFill>
                <a:latin typeface="Georgia"/>
              </a:rPr>
              <a:t>1</a:t>
            </a:r>
          </a:p>
        </p:txBody>
      </p:sp>
      <p:sp>
        <p:nvSpPr>
          <p:cNvPr id="9" name="TextBox 8"/>
          <p:cNvSpPr txBox="1"/>
          <p:nvPr/>
        </p:nvSpPr>
        <p:spPr>
          <a:xfrm>
            <a:off x="1143000" y="3154680"/>
            <a:ext cx="10515600" cy="502920"/>
          </a:xfrm>
          <a:prstGeom prst="rect">
            <a:avLst/>
          </a:prstGeom>
          <a:noFill/>
        </p:spPr>
        <p:txBody>
          <a:bodyPr wrap="square" lIns="0" rIns="0" tIns="0" bIns="0" anchor="ctr">
            <a:spAutoFit/>
          </a:bodyPr>
          <a:lstStyle/>
          <a:p>
            <a:pPr algn="l">
              <a:lnSpc>
                <a:spcPct val="130000"/>
              </a:lnSpc>
            </a:pPr>
            <a:r>
              <a:rPr sz="1400" b="0" i="0">
                <a:solidFill>
                  <a:srgbClr val="FFFFFF"/>
                </a:solidFill>
                <a:latin typeface="Calibri"/>
              </a:rPr>
              <a:t>Discovery is the eye. Without it, automation is blind.</a:t>
            </a:r>
          </a:p>
        </p:txBody>
      </p:sp>
      <p:sp>
        <p:nvSpPr>
          <p:cNvPr id="10" name="TextBox 9"/>
          <p:cNvSpPr txBox="1"/>
          <p:nvPr/>
        </p:nvSpPr>
        <p:spPr>
          <a:xfrm>
            <a:off x="548640" y="3749040"/>
            <a:ext cx="548640" cy="502920"/>
          </a:xfrm>
          <a:prstGeom prst="rect">
            <a:avLst/>
          </a:prstGeom>
          <a:noFill/>
        </p:spPr>
        <p:txBody>
          <a:bodyPr wrap="square" lIns="0" rIns="0" tIns="0" bIns="0" anchor="ctr">
            <a:spAutoFit/>
          </a:bodyPr>
          <a:lstStyle/>
          <a:p>
            <a:pPr algn="l"/>
            <a:r>
              <a:rPr sz="2800" b="1" i="0">
                <a:solidFill>
                  <a:srgbClr val="C5E063"/>
                </a:solidFill>
                <a:latin typeface="Georgia"/>
              </a:rPr>
              <a:t>2</a:t>
            </a:r>
          </a:p>
        </p:txBody>
      </p:sp>
      <p:sp>
        <p:nvSpPr>
          <p:cNvPr id="11" name="TextBox 10"/>
          <p:cNvSpPr txBox="1"/>
          <p:nvPr/>
        </p:nvSpPr>
        <p:spPr>
          <a:xfrm>
            <a:off x="1143000" y="3749040"/>
            <a:ext cx="10515600" cy="502920"/>
          </a:xfrm>
          <a:prstGeom prst="rect">
            <a:avLst/>
          </a:prstGeom>
          <a:noFill/>
        </p:spPr>
        <p:txBody>
          <a:bodyPr wrap="square" lIns="0" rIns="0" tIns="0" bIns="0" anchor="ctr">
            <a:spAutoFit/>
          </a:bodyPr>
          <a:lstStyle/>
          <a:p>
            <a:pPr algn="l">
              <a:lnSpc>
                <a:spcPct val="130000"/>
              </a:lnSpc>
            </a:pPr>
            <a:r>
              <a:rPr sz="1400" b="0" i="0">
                <a:solidFill>
                  <a:srgbClr val="FFFFFF"/>
                </a:solidFill>
                <a:latin typeface="Calibri"/>
              </a:rPr>
              <a:t>Gemba — go to the work, watch silently, capture every workaround.</a:t>
            </a:r>
          </a:p>
        </p:txBody>
      </p:sp>
      <p:sp>
        <p:nvSpPr>
          <p:cNvPr id="12" name="TextBox 11"/>
          <p:cNvSpPr txBox="1"/>
          <p:nvPr/>
        </p:nvSpPr>
        <p:spPr>
          <a:xfrm>
            <a:off x="548640" y="4343400"/>
            <a:ext cx="548640" cy="502920"/>
          </a:xfrm>
          <a:prstGeom prst="rect">
            <a:avLst/>
          </a:prstGeom>
          <a:noFill/>
        </p:spPr>
        <p:txBody>
          <a:bodyPr wrap="square" lIns="0" rIns="0" tIns="0" bIns="0" anchor="ctr">
            <a:spAutoFit/>
          </a:bodyPr>
          <a:lstStyle/>
          <a:p>
            <a:pPr algn="l"/>
            <a:r>
              <a:rPr sz="2800" b="1" i="0">
                <a:solidFill>
                  <a:srgbClr val="C5E063"/>
                </a:solidFill>
                <a:latin typeface="Georgia"/>
              </a:rPr>
              <a:t>3</a:t>
            </a:r>
          </a:p>
        </p:txBody>
      </p:sp>
      <p:sp>
        <p:nvSpPr>
          <p:cNvPr id="13" name="TextBox 12"/>
          <p:cNvSpPr txBox="1"/>
          <p:nvPr/>
        </p:nvSpPr>
        <p:spPr>
          <a:xfrm>
            <a:off x="1143000" y="4343400"/>
            <a:ext cx="10515600" cy="502920"/>
          </a:xfrm>
          <a:prstGeom prst="rect">
            <a:avLst/>
          </a:prstGeom>
          <a:noFill/>
        </p:spPr>
        <p:txBody>
          <a:bodyPr wrap="square" lIns="0" rIns="0" tIns="0" bIns="0" anchor="ctr">
            <a:spAutoFit/>
          </a:bodyPr>
          <a:lstStyle/>
          <a:p>
            <a:pPr algn="l">
              <a:lnSpc>
                <a:spcPct val="130000"/>
              </a:lnSpc>
            </a:pPr>
            <a:r>
              <a:rPr sz="1400" b="0" i="0">
                <a:solidFill>
                  <a:srgbClr val="FFFFFF"/>
                </a:solidFill>
                <a:latin typeface="Calibri"/>
              </a:rPr>
              <a:t>SIPOC in 30 minutes maps any process onto five boxes everyone agrees on.</a:t>
            </a:r>
          </a:p>
        </p:txBody>
      </p:sp>
      <p:sp>
        <p:nvSpPr>
          <p:cNvPr id="14" name="TextBox 13"/>
          <p:cNvSpPr txBox="1"/>
          <p:nvPr/>
        </p:nvSpPr>
        <p:spPr>
          <a:xfrm>
            <a:off x="548640" y="4937760"/>
            <a:ext cx="548640" cy="502920"/>
          </a:xfrm>
          <a:prstGeom prst="rect">
            <a:avLst/>
          </a:prstGeom>
          <a:noFill/>
        </p:spPr>
        <p:txBody>
          <a:bodyPr wrap="square" lIns="0" rIns="0" tIns="0" bIns="0" anchor="ctr">
            <a:spAutoFit/>
          </a:bodyPr>
          <a:lstStyle/>
          <a:p>
            <a:pPr algn="l"/>
            <a:r>
              <a:rPr sz="2800" b="1" i="0">
                <a:solidFill>
                  <a:srgbClr val="C5E063"/>
                </a:solidFill>
                <a:latin typeface="Georgia"/>
              </a:rPr>
              <a:t>4</a:t>
            </a:r>
          </a:p>
        </p:txBody>
      </p:sp>
      <p:sp>
        <p:nvSpPr>
          <p:cNvPr id="15" name="TextBox 14"/>
          <p:cNvSpPr txBox="1"/>
          <p:nvPr/>
        </p:nvSpPr>
        <p:spPr>
          <a:xfrm>
            <a:off x="1143000" y="4937760"/>
            <a:ext cx="10515600" cy="502920"/>
          </a:xfrm>
          <a:prstGeom prst="rect">
            <a:avLst/>
          </a:prstGeom>
          <a:noFill/>
        </p:spPr>
        <p:txBody>
          <a:bodyPr wrap="square" lIns="0" rIns="0" tIns="0" bIns="0" anchor="ctr">
            <a:spAutoFit/>
          </a:bodyPr>
          <a:lstStyle/>
          <a:p>
            <a:pPr algn="l">
              <a:lnSpc>
                <a:spcPct val="130000"/>
              </a:lnSpc>
            </a:pPr>
            <a:r>
              <a:rPr sz="1400" b="0" i="0">
                <a:solidFill>
                  <a:srgbClr val="FFFFFF"/>
                </a:solidFill>
                <a:latin typeface="Calibri"/>
              </a:rPr>
              <a:t>The 7-lens score turns 'I think' into a defensible number for funding.</a:t>
            </a:r>
          </a:p>
        </p:txBody>
      </p:sp>
      <p:sp>
        <p:nvSpPr>
          <p:cNvPr id="16" name="TextBox 15"/>
          <p:cNvSpPr txBox="1"/>
          <p:nvPr/>
        </p:nvSpPr>
        <p:spPr>
          <a:xfrm>
            <a:off x="548640" y="5532120"/>
            <a:ext cx="548640" cy="502920"/>
          </a:xfrm>
          <a:prstGeom prst="rect">
            <a:avLst/>
          </a:prstGeom>
          <a:noFill/>
        </p:spPr>
        <p:txBody>
          <a:bodyPr wrap="square" lIns="0" rIns="0" tIns="0" bIns="0" anchor="ctr">
            <a:spAutoFit/>
          </a:bodyPr>
          <a:lstStyle/>
          <a:p>
            <a:pPr algn="l"/>
            <a:r>
              <a:rPr sz="2800" b="1" i="0">
                <a:solidFill>
                  <a:srgbClr val="C5E063"/>
                </a:solidFill>
                <a:latin typeface="Georgia"/>
              </a:rPr>
              <a:t>5</a:t>
            </a:r>
          </a:p>
        </p:txBody>
      </p:sp>
      <p:sp>
        <p:nvSpPr>
          <p:cNvPr id="17" name="TextBox 16"/>
          <p:cNvSpPr txBox="1"/>
          <p:nvPr/>
        </p:nvSpPr>
        <p:spPr>
          <a:xfrm>
            <a:off x="1143000" y="5532120"/>
            <a:ext cx="10515600" cy="502920"/>
          </a:xfrm>
          <a:prstGeom prst="rect">
            <a:avLst/>
          </a:prstGeom>
          <a:noFill/>
        </p:spPr>
        <p:txBody>
          <a:bodyPr wrap="square" lIns="0" rIns="0" tIns="0" bIns="0" anchor="ctr">
            <a:spAutoFit/>
          </a:bodyPr>
          <a:lstStyle/>
          <a:p>
            <a:pPr algn="l">
              <a:lnSpc>
                <a:spcPct val="130000"/>
              </a:lnSpc>
            </a:pPr>
            <a:r>
              <a:rPr sz="1400" b="0" i="0">
                <a:solidFill>
                  <a:srgbClr val="FFFFFF"/>
                </a:solidFill>
                <a:latin typeface="Calibri"/>
              </a:rPr>
              <a:t>Quick wins fund the programme. Strategic bets follow — never the other way around.</a:t>
            </a:r>
          </a:p>
        </p:txBody>
      </p:sp>
      <p:sp>
        <p:nvSpPr>
          <p:cNvPr id="18" name="TextBox 17"/>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7 OF 7</a:t>
            </a:r>
          </a:p>
        </p:txBody>
      </p:sp>
      <p:sp>
        <p:nvSpPr>
          <p:cNvPr id="19" name="TextBox 18"/>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SUMMARY</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7   /   1 min</a:t>
            </a:r>
          </a:p>
        </p:txBody>
      </p:sp>
      <p:sp>
        <p:nvSpPr>
          <p:cNvPr id="5" name="TextBox 4"/>
          <p:cNvSpPr txBox="1"/>
          <p:nvPr/>
        </p:nvSpPr>
        <p:spPr>
          <a:xfrm>
            <a:off x="548640" y="114300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END OF LESSON 7</a:t>
            </a:r>
          </a:p>
        </p:txBody>
      </p:sp>
      <p:sp>
        <p:nvSpPr>
          <p:cNvPr id="6" name="TextBox 5"/>
          <p:cNvSpPr txBox="1"/>
          <p:nvPr/>
        </p:nvSpPr>
        <p:spPr>
          <a:xfrm>
            <a:off x="548640" y="1417320"/>
            <a:ext cx="10515600" cy="1097280"/>
          </a:xfrm>
          <a:prstGeom prst="rect">
            <a:avLst/>
          </a:prstGeom>
          <a:noFill/>
        </p:spPr>
        <p:txBody>
          <a:bodyPr wrap="square" lIns="0" rIns="0" tIns="0" bIns="0" anchor="t">
            <a:spAutoFit/>
          </a:bodyPr>
          <a:lstStyle/>
          <a:p>
            <a:pPr algn="l"/>
            <a:r>
              <a:rPr sz="3400" b="0" i="0">
                <a:solidFill>
                  <a:srgbClr val="FFFFFF"/>
                </a:solidFill>
                <a:latin typeface="Georgia"/>
              </a:rPr>
              <a:t>What you can now do</a:t>
            </a:r>
          </a:p>
        </p:txBody>
      </p:sp>
      <p:sp>
        <p:nvSpPr>
          <p:cNvPr id="7" name="TextBox 6"/>
          <p:cNvSpPr txBox="1"/>
          <p:nvPr/>
        </p:nvSpPr>
        <p:spPr>
          <a:xfrm>
            <a:off x="548640" y="2240280"/>
            <a:ext cx="10515600" cy="914400"/>
          </a:xfrm>
          <a:prstGeom prst="rect">
            <a:avLst/>
          </a:prstGeom>
          <a:noFill/>
        </p:spPr>
        <p:txBody>
          <a:bodyPr wrap="square" lIns="0" rIns="0" tIns="0" bIns="0" anchor="t">
            <a:spAutoFit/>
          </a:bodyPr>
          <a:lstStyle/>
          <a:p>
            <a:pPr algn="l">
              <a:lnSpc>
                <a:spcPct val="125000"/>
              </a:lnSpc>
            </a:pPr>
            <a:r>
              <a:rPr sz="1400" b="0" i="0">
                <a:solidFill>
                  <a:srgbClr val="E5E7EB"/>
                </a:solidFill>
                <a:latin typeface="Calibri"/>
              </a:rPr>
              <a:t>Each one of these is now part of your working vocabulary.</a:t>
            </a:r>
          </a:p>
        </p:txBody>
      </p:sp>
      <p:sp>
        <p:nvSpPr>
          <p:cNvPr id="8" name="Oval 7"/>
          <p:cNvSpPr/>
          <p:nvPr/>
        </p:nvSpPr>
        <p:spPr>
          <a:xfrm>
            <a:off x="640080" y="301752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3017520"/>
            <a:ext cx="365760" cy="365760"/>
          </a:xfrm>
          <a:prstGeom prst="rect">
            <a:avLst/>
          </a:prstGeom>
          <a:noFill/>
        </p:spPr>
        <p:txBody>
          <a:bodyPr wrap="square" lIns="0" rIns="0" tIns="0" bIns="0" anchor="ctr">
            <a:spAutoFit/>
          </a:bodyPr>
          <a:lstStyle/>
          <a:p>
            <a:pPr algn="ctr"/>
            <a:r>
              <a:rPr sz="1400" b="1" i="0">
                <a:solidFill>
                  <a:srgbClr val="2C5244"/>
                </a:solidFill>
                <a:latin typeface="Georgia"/>
              </a:rPr>
              <a:t>1</a:t>
            </a:r>
          </a:p>
        </p:txBody>
      </p:sp>
      <p:sp>
        <p:nvSpPr>
          <p:cNvPr id="10" name="TextBox 9"/>
          <p:cNvSpPr txBox="1"/>
          <p:nvPr/>
        </p:nvSpPr>
        <p:spPr>
          <a:xfrm>
            <a:off x="1188720" y="301752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Pick the right discovery tool — discovery, mining, or task mining — for any context.</a:t>
            </a:r>
          </a:p>
        </p:txBody>
      </p:sp>
      <p:sp>
        <p:nvSpPr>
          <p:cNvPr id="11" name="Oval 10"/>
          <p:cNvSpPr/>
          <p:nvPr/>
        </p:nvSpPr>
        <p:spPr>
          <a:xfrm>
            <a:off x="640080" y="352044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520440"/>
            <a:ext cx="365760" cy="365760"/>
          </a:xfrm>
          <a:prstGeom prst="rect">
            <a:avLst/>
          </a:prstGeom>
          <a:noFill/>
        </p:spPr>
        <p:txBody>
          <a:bodyPr wrap="square" lIns="0" rIns="0" tIns="0" bIns="0" anchor="ctr">
            <a:spAutoFit/>
          </a:bodyPr>
          <a:lstStyle/>
          <a:p>
            <a:pPr algn="ctr"/>
            <a:r>
              <a:rPr sz="1400" b="1" i="0">
                <a:solidFill>
                  <a:srgbClr val="2C5244"/>
                </a:solidFill>
                <a:latin typeface="Georgia"/>
              </a:rPr>
              <a:t>2</a:t>
            </a:r>
          </a:p>
        </p:txBody>
      </p:sp>
      <p:sp>
        <p:nvSpPr>
          <p:cNvPr id="13" name="TextBox 12"/>
          <p:cNvSpPr txBox="1"/>
          <p:nvPr/>
        </p:nvSpPr>
        <p:spPr>
          <a:xfrm>
            <a:off x="1188720" y="352044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Run a Gemba walk that captures workarounds, hand-offs and rework.</a:t>
            </a:r>
          </a:p>
        </p:txBody>
      </p:sp>
      <p:sp>
        <p:nvSpPr>
          <p:cNvPr id="14" name="Oval 13"/>
          <p:cNvSpPr/>
          <p:nvPr/>
        </p:nvSpPr>
        <p:spPr>
          <a:xfrm>
            <a:off x="640080" y="402336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4023360"/>
            <a:ext cx="365760" cy="365760"/>
          </a:xfrm>
          <a:prstGeom prst="rect">
            <a:avLst/>
          </a:prstGeom>
          <a:noFill/>
        </p:spPr>
        <p:txBody>
          <a:bodyPr wrap="square" lIns="0" rIns="0" tIns="0" bIns="0" anchor="ctr">
            <a:spAutoFit/>
          </a:bodyPr>
          <a:lstStyle/>
          <a:p>
            <a:pPr algn="ctr"/>
            <a:r>
              <a:rPr sz="1400" b="1" i="0">
                <a:solidFill>
                  <a:srgbClr val="2C5244"/>
                </a:solidFill>
                <a:latin typeface="Georgia"/>
              </a:rPr>
              <a:t>3</a:t>
            </a:r>
          </a:p>
        </p:txBody>
      </p:sp>
      <p:sp>
        <p:nvSpPr>
          <p:cNvPr id="16" name="TextBox 15"/>
          <p:cNvSpPr txBox="1"/>
          <p:nvPr/>
        </p:nvSpPr>
        <p:spPr>
          <a:xfrm>
            <a:off x="1188720" y="402336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Draft a SIPOC in 30 minutes with one stakeholder.</a:t>
            </a:r>
          </a:p>
        </p:txBody>
      </p:sp>
      <p:sp>
        <p:nvSpPr>
          <p:cNvPr id="17" name="Oval 16"/>
          <p:cNvSpPr/>
          <p:nvPr/>
        </p:nvSpPr>
        <p:spPr>
          <a:xfrm>
            <a:off x="640080" y="452628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4526280"/>
            <a:ext cx="365760" cy="365760"/>
          </a:xfrm>
          <a:prstGeom prst="rect">
            <a:avLst/>
          </a:prstGeom>
          <a:noFill/>
        </p:spPr>
        <p:txBody>
          <a:bodyPr wrap="square" lIns="0" rIns="0" tIns="0" bIns="0" anchor="ctr">
            <a:spAutoFit/>
          </a:bodyPr>
          <a:lstStyle/>
          <a:p>
            <a:pPr algn="ctr"/>
            <a:r>
              <a:rPr sz="1400" b="1" i="0">
                <a:solidFill>
                  <a:srgbClr val="2C5244"/>
                </a:solidFill>
                <a:latin typeface="Georgia"/>
              </a:rPr>
              <a:t>4</a:t>
            </a:r>
          </a:p>
        </p:txBody>
      </p:sp>
      <p:sp>
        <p:nvSpPr>
          <p:cNvPr id="19" name="TextBox 18"/>
          <p:cNvSpPr txBox="1"/>
          <p:nvPr/>
        </p:nvSpPr>
        <p:spPr>
          <a:xfrm>
            <a:off x="1188720" y="452628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Score any process against seven lenses with defensible justifications.</a:t>
            </a:r>
          </a:p>
        </p:txBody>
      </p:sp>
      <p:sp>
        <p:nvSpPr>
          <p:cNvPr id="20" name="Oval 19"/>
          <p:cNvSpPr/>
          <p:nvPr/>
        </p:nvSpPr>
        <p:spPr>
          <a:xfrm>
            <a:off x="640080" y="502920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5029200"/>
            <a:ext cx="365760" cy="365760"/>
          </a:xfrm>
          <a:prstGeom prst="rect">
            <a:avLst/>
          </a:prstGeom>
          <a:noFill/>
        </p:spPr>
        <p:txBody>
          <a:bodyPr wrap="square" lIns="0" rIns="0" tIns="0" bIns="0" anchor="ctr">
            <a:spAutoFit/>
          </a:bodyPr>
          <a:lstStyle/>
          <a:p>
            <a:pPr algn="ctr"/>
            <a:r>
              <a:rPr sz="1400" b="1" i="0">
                <a:solidFill>
                  <a:srgbClr val="2C5244"/>
                </a:solidFill>
                <a:latin typeface="Georgia"/>
              </a:rPr>
              <a:t>5</a:t>
            </a:r>
          </a:p>
        </p:txBody>
      </p:sp>
      <p:sp>
        <p:nvSpPr>
          <p:cNvPr id="22" name="TextBox 21"/>
          <p:cNvSpPr txBox="1"/>
          <p:nvPr/>
        </p:nvSpPr>
        <p:spPr>
          <a:xfrm>
            <a:off x="1188720" y="502920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Place candidates on Impact × Feasibility and write a fundable Charter.</a:t>
            </a:r>
          </a:p>
        </p:txBody>
      </p:sp>
      <p:sp>
        <p:nvSpPr>
          <p:cNvPr id="23" name="Rounded Rectangle 22"/>
          <p:cNvSpPr/>
          <p:nvPr/>
        </p:nvSpPr>
        <p:spPr>
          <a:xfrm>
            <a:off x="548640" y="5669280"/>
            <a:ext cx="11064240" cy="502920"/>
          </a:xfrm>
          <a:prstGeom prst="roundRect">
            <a:avLst/>
          </a:prstGeom>
          <a:solidFill>
            <a:srgbClr val="224036"/>
          </a:solidFill>
          <a:ln w="9525">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669280"/>
            <a:ext cx="10607040" cy="502920"/>
          </a:xfrm>
          <a:prstGeom prst="rect">
            <a:avLst/>
          </a:prstGeom>
          <a:noFill/>
        </p:spPr>
        <p:txBody>
          <a:bodyPr wrap="square" lIns="0" rIns="0" tIns="0" bIns="0" anchor="ctr">
            <a:spAutoFit/>
          </a:bodyPr>
          <a:lstStyle/>
          <a:p>
            <a:pPr algn="l"/>
            <a:r>
              <a:rPr sz="1100" b="1" i="0" spc="400">
                <a:solidFill>
                  <a:srgbClr val="C5E063"/>
                </a:solidFill>
                <a:latin typeface="Calibri"/>
              </a:rPr>
              <a:t>NEXT  →   WEEK 2 — Building your first end-to-end project</a:t>
            </a:r>
          </a:p>
        </p:txBody>
      </p:sp>
      <p:sp>
        <p:nvSpPr>
          <p:cNvPr id="25" name="TextBox 2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7 OF 7</a:t>
            </a:r>
          </a:p>
        </p:txBody>
      </p:sp>
      <p:sp>
        <p:nvSpPr>
          <p:cNvPr id="26" name="TextBox 2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WRAP</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par>
                    <p:cTn id="123" fill="hold">
                      <p:stCondLst>
                        <p:cond delay="indefinite"/>
                        <p:cond evt="onBegin" delay="0">
                          <p:tn val="2"/>
                        </p:cond>
                      </p:stCondLst>
                      <p:childTnLst>
                        <p:par>
                          <p:cTn id="124" fill="hold">
                            <p:stCondLst>
                              <p:cond delay="0"/>
                            </p:stCondLst>
                            <p:childTnLst>
                              <p:par>
                                <p:cTn id="125" presetID="10" presetClass="entr" presetSubtype="0" fill="hold" grpId="0" nodeType="afterEffect">
                                  <p:stCondLst>
                                    <p:cond delay="18"/>
                                  </p:stCondLst>
                                  <p:childTnLst>
                                    <p:set>
                                      <p:cBhvr>
                                        <p:cTn id="126" dur="1" fill="hold">
                                          <p:stCondLst>
                                            <p:cond delay="0"/>
                                          </p:stCondLst>
                                        </p:cTn>
                                        <p:tgtEl>
                                          <p:spTgt spid="26"/>
                                        </p:tgtEl>
                                        <p:attrNameLst>
                                          <p:attrName>style.visibility</p:attrName>
                                        </p:attrNameLst>
                                      </p:cBhvr>
                                      <p:to>
                                        <p:strVal val="visible"/>
                                      </p:to>
                                    </p:set>
                                    <p:anim calcmode="lin" valueType="num">
                                      <p:cBhvr additive="base">
                                        <p:cTn id="127" dur="150" fill="hold"/>
                                        <p:tgtEl>
                                          <p:spTgt spid="2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