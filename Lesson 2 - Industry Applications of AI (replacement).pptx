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0" y="0"/>
            <a:ext cx="5788152" cy="6858000"/>
          </a:xfrm>
          <a:prstGeom prst="rect">
            <a:avLst/>
          </a:prstGeom>
          <a:solidFill>
            <a:srgbClr val="1A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502920"/>
            <a:ext cx="1188720" cy="118872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1A352B"/>
                </a:solidFill>
                <a:latin typeface="Georgia"/>
              </a:rPr>
              <a:t>L2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2286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5E063"/>
                </a:solidFill>
                <a:latin typeface="Calibri"/>
              </a:rPr>
              <a:t>WHAT'S INSIDE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7432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274320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B7C9BD"/>
                </a:solidFill>
                <a:latin typeface="Calibri"/>
              </a:rPr>
              <a:t>Where AI is already working in production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33375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333756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B7C9BD"/>
                </a:solidFill>
                <a:latin typeface="Calibri"/>
              </a:rPr>
              <a:t>Industry deep-dives across 6 sectors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931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393192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B7C9BD"/>
                </a:solidFill>
                <a:latin typeface="Calibri"/>
              </a:rPr>
              <a:t>What's different about India's AI market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4526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452628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B7C9BD"/>
                </a:solidFill>
                <a:latin typeface="Calibri"/>
              </a:rPr>
              <a:t>Picking a domain that fits your background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51206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C5E063"/>
                </a:solidFill>
                <a:latin typeface="Georgia"/>
              </a:rP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512064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B7C9BD"/>
                </a:solidFill>
                <a:latin typeface="Calibri"/>
              </a:rPr>
              <a:t>How to read AI hype vs real adoption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352B"/>
                </a:solidFill>
                <a:latin typeface="Georgia"/>
              </a:rPr>
              <a:t>AI  LEARNING  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475569"/>
                </a:solidFill>
                <a:latin typeface="Calibri"/>
              </a:rPr>
              <a:t>WEEK 1   /   LESSON 2   /   50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475569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475569"/>
                </a:solidFill>
                <a:latin typeface="Calibri"/>
              </a:rPr>
              <a:t>COVER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1508760"/>
            <a:ext cx="64008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200" b="1" i="0">
                <a:solidFill>
                  <a:srgbClr val="1A352B"/>
                </a:solidFill>
                <a:latin typeface="Georgia"/>
              </a:rPr>
              <a:t>Industry</a:t>
            </a:r>
          </a:p>
          <a:p>
            <a:pPr algn="l">
              <a:lnSpc>
                <a:spcPct val="105000"/>
              </a:lnSpc>
            </a:pPr>
            <a:r>
              <a:rPr sz="5200" b="1" i="0">
                <a:solidFill>
                  <a:srgbClr val="1A352B"/>
                </a:solidFill>
                <a:latin typeface="Georgia"/>
              </a:rPr>
              <a:t>Applications</a:t>
            </a:r>
          </a:p>
          <a:p>
            <a:pPr algn="l">
              <a:lnSpc>
                <a:spcPct val="105000"/>
              </a:lnSpc>
            </a:pPr>
            <a:r>
              <a:rPr sz="5200" b="1" i="0">
                <a:solidFill>
                  <a:srgbClr val="1A352B"/>
                </a:solidFill>
                <a:latin typeface="Georgia"/>
              </a:rPr>
              <a:t>of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526280"/>
            <a:ext cx="6400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2C5244"/>
                </a:solidFill>
                <a:latin typeface="Calibri"/>
              </a:rPr>
              <a:t>AI stopped being a research topic five years ago. Today every major Indian bank, retailer, hospital, and factory has a production AI system — and a hiring plan to build the next.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352B"/>
                </a:solidFill>
                <a:latin typeface="Georgia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475569"/>
                </a:solidFill>
                <a:latin typeface="Calibri"/>
              </a:rPr>
              <a:t>WEEK 1   /   LESSON 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475569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475569"/>
                </a:solidFill>
                <a:latin typeface="Calibri"/>
              </a:rPr>
              <a:t>HOOK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A6C247"/>
                </a:solidFill>
                <a:latin typeface="Calibri"/>
              </a:rPr>
              <a:t>WHY  THIS  LESSON 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A352B"/>
                </a:solidFill>
                <a:latin typeface="Georgia"/>
              </a:rPr>
              <a:t>AI is no longer a future technology. It's a current line item.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00400"/>
            <a:ext cx="2596896" cy="2697480"/>
          </a:xfrm>
          <a:prstGeom prst="roundRect">
            <a:avLst>
              <a:gd name="adj" fmla="val 4000"/>
            </a:avLst>
          </a:prstGeom>
          <a:solidFill>
            <a:srgbClr val="FAFBF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429000"/>
            <a:ext cx="21396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A6C247"/>
                </a:solidFill>
                <a:latin typeface="Calibri"/>
              </a:rPr>
              <a:t>ROUTINE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49039"/>
            <a:ext cx="213969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A352B"/>
                </a:solidFill>
                <a:latin typeface="Georgia"/>
              </a:rPr>
              <a:t>From R&amp;D project</a:t>
            </a:r>
          </a:p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A352B"/>
                </a:solidFill>
                <a:latin typeface="Georgia"/>
              </a:rPr>
              <a:t>to operational tool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892040"/>
            <a:ext cx="213969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Banks score loans with ML. Hospitals triage scans with CNNs. Telcos pick cell-tower upgrades with reinforcement learning. None of this is experimental any more.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74136" y="3200400"/>
            <a:ext cx="2596896" cy="2697480"/>
          </a:xfrm>
          <a:prstGeom prst="roundRect">
            <a:avLst>
              <a:gd name="adj" fmla="val 4000"/>
            </a:avLst>
          </a:prstGeom>
          <a:solidFill>
            <a:srgbClr val="FAFBF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2736" y="3429000"/>
            <a:ext cx="21396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A6C247"/>
                </a:solidFill>
                <a:latin typeface="Calibri"/>
              </a:rPr>
              <a:t>LOCAL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2736" y="3749039"/>
            <a:ext cx="213969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A352B"/>
                </a:solidFill>
                <a:latin typeface="Georgia"/>
              </a:rPr>
              <a:t>India is a top-3</a:t>
            </a:r>
          </a:p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A352B"/>
                </a:solidFill>
                <a:latin typeface="Georgia"/>
              </a:rPr>
              <a:t>adoption market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2736" y="4892040"/>
            <a:ext cx="213969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₹4 lakh crore Indian AI services market by 2027 (NASSCOM). UPI, Aadhaar, and ONDC produced data layers that AI naturally sits on top of.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1" y="3200400"/>
            <a:ext cx="2596896" cy="2697480"/>
          </a:xfrm>
          <a:prstGeom prst="roundRect">
            <a:avLst>
              <a:gd name="adj" fmla="val 4000"/>
            </a:avLst>
          </a:prstGeom>
          <a:solidFill>
            <a:srgbClr val="FAFBF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1" y="3429000"/>
            <a:ext cx="21396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A6C247"/>
                </a:solidFill>
                <a:latin typeface="Calibri"/>
              </a:rPr>
              <a:t>HIRING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1" y="3749039"/>
            <a:ext cx="213969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A352B"/>
                </a:solidFill>
                <a:latin typeface="Georgia"/>
              </a:rPr>
              <a:t>Every domain is</a:t>
            </a:r>
          </a:p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A352B"/>
                </a:solidFill>
                <a:latin typeface="Georgia"/>
              </a:rPr>
              <a:t>hiring AI talent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1" y="4892040"/>
            <a:ext cx="213969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FinTech, HealthTech, AgriTech, GovTech, EdTech, Defence — each is at a different maturity stage. Knowing which fits your background changes your career.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25128" y="3200400"/>
            <a:ext cx="2596896" cy="2697480"/>
          </a:xfrm>
          <a:prstGeom prst="roundRect">
            <a:avLst>
              <a:gd name="adj" fmla="val 4000"/>
            </a:avLst>
          </a:prstGeom>
          <a:solidFill>
            <a:srgbClr val="FAFBF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53728" y="3429000"/>
            <a:ext cx="21396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A6C247"/>
                </a:solidFill>
                <a:latin typeface="Calibri"/>
              </a:rPr>
              <a:t>YOURS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3728" y="3749039"/>
            <a:ext cx="213969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A352B"/>
                </a:solidFill>
                <a:latin typeface="Georgia"/>
              </a:rPr>
              <a:t>Pick where you</a:t>
            </a:r>
          </a:p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A352B"/>
                </a:solidFill>
                <a:latin typeface="Georgia"/>
              </a:rPr>
              <a:t>actually want to 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3728" y="4892040"/>
            <a:ext cx="213969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Choosing the domain is half the job. Same AI skills, vastly different impact when applied to disease screening vs. ad click-through prediction.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352B"/>
                </a:solidFill>
                <a:latin typeface="Georgia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475569"/>
                </a:solidFill>
                <a:latin typeface="Calibri"/>
              </a:rPr>
              <a:t>WEEK 1   /   LESSON 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475569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475569"/>
                </a:solidFill>
                <a:latin typeface="Calibri"/>
              </a:rPr>
              <a:t>OUTCOMES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A6C247"/>
                </a:solidFill>
                <a:latin typeface="Calibri"/>
              </a:rPr>
              <a:t>LEARNING OUTCOMES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A352B"/>
                </a:solidFill>
                <a:latin typeface="Georgia"/>
              </a:rPr>
              <a:t>By the end of this lesson, you will be able to —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A352B"/>
                </a:solidFill>
                <a:latin typeface="Georg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Name three AI capability patterns: perception, prediction, generation.</a:t>
            </a:r>
          </a:p>
        </p:txBody>
      </p:sp>
      <p:sp>
        <p:nvSpPr>
          <p:cNvPr id="12" name="Oval 11"/>
          <p:cNvSpPr/>
          <p:nvPr/>
        </p:nvSpPr>
        <p:spPr>
          <a:xfrm>
            <a:off x="6080759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59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A352B"/>
                </a:solidFill>
                <a:latin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399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Map at least two production AI systems to each of six industries.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A352B"/>
                </a:solidFill>
                <a:latin typeface="Georg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Explain three reasons India's AI market is structurally different.</a:t>
            </a:r>
          </a:p>
        </p:txBody>
      </p:sp>
      <p:sp>
        <p:nvSpPr>
          <p:cNvPr id="18" name="Oval 17"/>
          <p:cNvSpPr/>
          <p:nvPr/>
        </p:nvSpPr>
        <p:spPr>
          <a:xfrm>
            <a:off x="6080759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59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A352B"/>
                </a:solidFill>
                <a:latin typeface="Georgi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399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Match your existing degree/experience to a likely AI domain.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4526279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52627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A352B"/>
                </a:solidFill>
                <a:latin typeface="Georgia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480559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Read an AI press release and judge: hype, pilot, or real adoption.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352B"/>
                </a:solidFill>
                <a:latin typeface="Georgia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475569"/>
                </a:solidFill>
                <a:latin typeface="Calibri"/>
              </a:rPr>
              <a:t>WEEK 1   /   LESSON 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475569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475569"/>
                </a:solidFill>
                <a:latin typeface="Calibri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A6C247"/>
                </a:solidFill>
                <a:latin typeface="Calibri"/>
              </a:rPr>
              <a:t>AGENDA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A352B"/>
                </a:solidFill>
                <a:latin typeface="Georgia"/>
              </a:rPr>
              <a:t>What we'll cover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475569"/>
                </a:solidFill>
                <a:latin typeface="Calibri"/>
              </a:rPr>
              <a:t>Four short parts, ~12 minutes each. Each builds on the last.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08960"/>
            <a:ext cx="2633472" cy="2697480"/>
          </a:xfrm>
          <a:prstGeom prst="roundRect">
            <a:avLst>
              <a:gd name="adj" fmla="val 4000"/>
            </a:avLst>
          </a:prstGeom>
          <a:solidFill>
            <a:srgbClr val="FAFBF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337560"/>
            <a:ext cx="21762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A6C247"/>
                </a:solidFill>
                <a:latin typeface="Georg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023360"/>
            <a:ext cx="21762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A352B"/>
                </a:solidFill>
                <a:latin typeface="Georgia"/>
              </a:rPr>
              <a:t>AI capability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754880"/>
            <a:ext cx="217627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Three patterns: perception, prediction, generation. Almost every product fits one.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3108960"/>
            <a:ext cx="2633472" cy="2697480"/>
          </a:xfrm>
          <a:prstGeom prst="roundRect">
            <a:avLst>
              <a:gd name="adj" fmla="val 4000"/>
            </a:avLst>
          </a:prstGeom>
          <a:solidFill>
            <a:srgbClr val="FAFBF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3337560"/>
            <a:ext cx="21762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A6C247"/>
                </a:solidFill>
                <a:latin typeface="Georgia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4023360"/>
            <a:ext cx="21762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A352B"/>
                </a:solidFill>
                <a:latin typeface="Georgia"/>
              </a:rPr>
              <a:t>Industry deep-dives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4754880"/>
            <a:ext cx="217627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Six sectors, two production examples each — Finance, Healthcare, Retail, Manufacturing, Agri, Cyber.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108960"/>
            <a:ext cx="2633472" cy="2697480"/>
          </a:xfrm>
          <a:prstGeom prst="roundRect">
            <a:avLst>
              <a:gd name="adj" fmla="val 4000"/>
            </a:avLst>
          </a:prstGeom>
          <a:solidFill>
            <a:srgbClr val="FAFBF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37560"/>
            <a:ext cx="21762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A6C247"/>
                </a:solidFill>
                <a:latin typeface="Georgia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023360"/>
            <a:ext cx="21762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A352B"/>
                </a:solidFill>
                <a:latin typeface="Georgia"/>
              </a:rPr>
              <a:t>India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754880"/>
            <a:ext cx="217627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What our market does differently. Aadhaar, UPI, ONDC, regional language gap.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3108960"/>
            <a:ext cx="2633472" cy="2697480"/>
          </a:xfrm>
          <a:prstGeom prst="roundRect">
            <a:avLst>
              <a:gd name="adj" fmla="val 4000"/>
            </a:avLst>
          </a:prstGeom>
          <a:solidFill>
            <a:srgbClr val="FAFBF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1160" y="3337560"/>
            <a:ext cx="21762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A6C247"/>
                </a:solidFill>
                <a:latin typeface="Georgia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4023360"/>
            <a:ext cx="21762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A352B"/>
                </a:solidFill>
                <a:latin typeface="Georgia"/>
              </a:rPr>
              <a:t>Picking your fit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4754880"/>
            <a:ext cx="217627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Map your background to a domain. Read announcements past the marketing.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352B"/>
                </a:solidFill>
                <a:latin typeface="Georgia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475569"/>
                </a:solidFill>
                <a:latin typeface="Calibri"/>
              </a:rPr>
              <a:t>WEEK 1   /   LESSON 2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475569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475569"/>
                </a:solidFill>
                <a:latin typeface="Calibri"/>
              </a:rPr>
              <a:t>PART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A6C247"/>
                </a:solidFill>
                <a:latin typeface="Calibri"/>
              </a:rPr>
              <a:t>PART  1  OF 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1A352B"/>
                </a:solidFill>
                <a:latin typeface="Georgia"/>
              </a:rPr>
              <a:t>AI capability map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2C5244"/>
                </a:solidFill>
                <a:latin typeface="Calibri"/>
              </a:rPr>
              <a:t>Three patterns explain almost every product in this lesson.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352B"/>
                </a:solidFill>
                <a:latin typeface="Georgia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475569"/>
                </a:solidFill>
                <a:latin typeface="Calibri"/>
              </a:rPr>
              <a:t>WEEK 1   /   LESSON 2   /   6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475569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475569"/>
                </a:solidFill>
                <a:latin typeface="Calibri"/>
              </a:rPr>
              <a:t>P1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A6C247"/>
                </a:solidFill>
                <a:latin typeface="Calibri"/>
              </a:rPr>
              <a:t>CONCEPT  1 OF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6400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A352B"/>
                </a:solidFill>
                <a:latin typeface="Georgia"/>
              </a:rPr>
              <a:t>Pattern 1 — Perception. Convert raw signal into structured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640080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Perception = take pixels, audio, or text and produce a label or extracted record.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Computer vision in radiology: chest X-ray → flag pneumonia probability. Apollo, AIIMS, Tata 1mg all run versions of this.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Speech-to-text on call centres: 100,000 customer-support calls / day at a major telco → automatic transcripts → topic clustering for QA.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Document AI in banks: scanned KYC documents → extracted name + DOB + address fields, no human keying. SBI, HDFC do this at scale.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Common technology stack: CNNs (vision), Whisper (speech), LayoutLM (documents).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417320"/>
            <a:ext cx="4297680" cy="4572000"/>
          </a:xfrm>
          <a:prstGeom prst="roundRect">
            <a:avLst>
              <a:gd name="adj" fmla="val 4000"/>
            </a:avLst>
          </a:prstGeom>
          <a:solidFill>
            <a:srgbClr val="1A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169164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2286000"/>
            <a:ext cx="91440" cy="9144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>
                <a:solidFill>
                  <a:srgbClr val="B7C9BD"/>
                </a:solidFill>
                <a:latin typeface="Calibri"/>
              </a:rPr>
              <a:t>Input: pixels, audio waveform, or scanned document.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2852928"/>
            <a:ext cx="91440" cy="9144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2761488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>
                <a:solidFill>
                  <a:srgbClr val="B7C9BD"/>
                </a:solidFill>
                <a:latin typeface="Calibri"/>
              </a:rPr>
              <a:t>Output: a label, transcript, or extracted record.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3419856"/>
            <a:ext cx="91440" cy="9144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332841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>
                <a:solidFill>
                  <a:srgbClr val="B7C9BD"/>
                </a:solidFill>
                <a:latin typeface="Calibri"/>
              </a:rPr>
              <a:t>Usually replaces a tedious human review step.</a:t>
            </a:r>
          </a:p>
        </p:txBody>
      </p:sp>
      <p:sp>
        <p:nvSpPr>
          <p:cNvPr id="18" name="Oval 17"/>
          <p:cNvSpPr/>
          <p:nvPr/>
        </p:nvSpPr>
        <p:spPr>
          <a:xfrm>
            <a:off x="7635240" y="3986784"/>
            <a:ext cx="91440" cy="9144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89534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>
                <a:solidFill>
                  <a:srgbClr val="B7C9BD"/>
                </a:solidFill>
                <a:latin typeface="Calibri"/>
              </a:rPr>
              <a:t>Bottleneck = labelled training data, not models.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352B"/>
                </a:solidFill>
                <a:latin typeface="Georgia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475569"/>
                </a:solidFill>
                <a:latin typeface="Calibri"/>
              </a:rPr>
              <a:t>WEEK 1   /   LESSON 2   /   6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475569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475569"/>
                </a:solidFill>
                <a:latin typeface="Calibri"/>
              </a:rPr>
              <a:t>P1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A6C247"/>
                </a:solidFill>
                <a:latin typeface="Calibri"/>
              </a:rPr>
              <a:t>CONCEPT  2 OF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6400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A352B"/>
                </a:solidFill>
                <a:latin typeface="Georgia"/>
              </a:rPr>
              <a:t>Pattern 2 — Prediction. Score, forecast, recommend.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640080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Prediction = take structured features and produce a number or a ranking.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Credit scoring at fintech NBFCs (KreditBee, ZestMoney): 50+ features → default probability → loan decision.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Demand forecasting at Flipkart, Amazon India: SKU × pincode × day → expected order count → pre-position inventory.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Click-through prediction in ad auctions: user × ad × context → CTR → bid price. The model behind every ad you've ever seen.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Common technology stack: gradient boosting (XGBoost / LightGBM) still dominates tabular; neural nets win when there's lots of unstructured input.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417320"/>
            <a:ext cx="4297680" cy="4572000"/>
          </a:xfrm>
          <a:prstGeom prst="roundRect">
            <a:avLst>
              <a:gd name="adj" fmla="val 4000"/>
            </a:avLst>
          </a:prstGeom>
          <a:solidFill>
            <a:srgbClr val="1A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169164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2286000"/>
            <a:ext cx="91440" cy="9144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>
                <a:solidFill>
                  <a:srgbClr val="B7C9BD"/>
                </a:solidFill>
                <a:latin typeface="Calibri"/>
              </a:rPr>
              <a:t>Input: structured rows (a database query result).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2852928"/>
            <a:ext cx="91440" cy="9144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2761488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>
                <a:solidFill>
                  <a:srgbClr val="B7C9BD"/>
                </a:solidFill>
                <a:latin typeface="Calibri"/>
              </a:rPr>
              <a:t>Output: a score, rank, or forecast number.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3419856"/>
            <a:ext cx="91440" cy="9144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332841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>
                <a:solidFill>
                  <a:srgbClr val="B7C9BD"/>
                </a:solidFill>
                <a:latin typeface="Calibri"/>
              </a:rPr>
              <a:t>Easy to deploy; hard to keep honest as data drifts.</a:t>
            </a:r>
          </a:p>
        </p:txBody>
      </p:sp>
      <p:sp>
        <p:nvSpPr>
          <p:cNvPr id="18" name="Oval 17"/>
          <p:cNvSpPr/>
          <p:nvPr/>
        </p:nvSpPr>
        <p:spPr>
          <a:xfrm>
            <a:off x="7635240" y="3986784"/>
            <a:ext cx="91440" cy="9144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89534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>
                <a:solidFill>
                  <a:srgbClr val="B7C9BD"/>
                </a:solidFill>
                <a:latin typeface="Calibri"/>
              </a:rPr>
              <a:t>First production AI for most teams.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352B"/>
                </a:solidFill>
                <a:latin typeface="Georgia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475569"/>
                </a:solidFill>
                <a:latin typeface="Calibri"/>
              </a:rPr>
              <a:t>WEEK 1   /   LESSON 2   /   6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475569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475569"/>
                </a:solidFill>
                <a:latin typeface="Calibri"/>
              </a:rPr>
              <a:t>P1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A6C247"/>
                </a:solidFill>
                <a:latin typeface="Calibri"/>
              </a:rPr>
              <a:t>CONCEPT  3 OF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6400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A352B"/>
                </a:solidFill>
                <a:latin typeface="Georgia"/>
              </a:rPr>
              <a:t>Pattern 3 — Generation. Create new content matching a pattern.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640080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Generation = take a prompt and produce text, image, audio, or code that didn't exist before.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Chatbots and copilots: customer-support summaries, code completion (GitHub Copilot), marketing copy. Every IT services firm has at least 3 internal copilots.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Synthetic data: generate enough training samples to bootstrap a model in a domain where real data is scarce (rare diseases, fraud patterns).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Personalisation: regional language content generation — a single article auto-translated to 11 Indian languages with cultural localisation.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Common technology stack: LLMs (Claude, GPT, Llama, Mistral), diffusion models for images, vector databases for retrieval-augmented generation.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417320"/>
            <a:ext cx="4297680" cy="4572000"/>
          </a:xfrm>
          <a:prstGeom prst="roundRect">
            <a:avLst>
              <a:gd name="adj" fmla="val 4000"/>
            </a:avLst>
          </a:prstGeom>
          <a:solidFill>
            <a:srgbClr val="1A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169164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2286000"/>
            <a:ext cx="91440" cy="9144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>
                <a:solidFill>
                  <a:srgbClr val="B7C9BD"/>
                </a:solidFill>
                <a:latin typeface="Calibri"/>
              </a:rPr>
              <a:t>Input: a prompt + retrieved context.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2852928"/>
            <a:ext cx="91440" cy="9144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2761488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>
                <a:solidFill>
                  <a:srgbClr val="B7C9BD"/>
                </a:solidFill>
                <a:latin typeface="Calibri"/>
              </a:rPr>
              <a:t>Output: novel text, image, audio, or code.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3419856"/>
            <a:ext cx="91440" cy="9144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332841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>
                <a:solidFill>
                  <a:srgbClr val="B7C9BD"/>
                </a:solidFill>
                <a:latin typeface="Calibri"/>
              </a:rPr>
              <a:t>Newest of the three; most hype, biggest production risk.</a:t>
            </a:r>
          </a:p>
        </p:txBody>
      </p:sp>
      <p:sp>
        <p:nvSpPr>
          <p:cNvPr id="18" name="Oval 17"/>
          <p:cNvSpPr/>
          <p:nvPr/>
        </p:nvSpPr>
        <p:spPr>
          <a:xfrm>
            <a:off x="7635240" y="3986784"/>
            <a:ext cx="91440" cy="9144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89534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>
                <a:solidFill>
                  <a:srgbClr val="B7C9BD"/>
                </a:solidFill>
                <a:latin typeface="Calibri"/>
              </a:rPr>
              <a:t>Evaluation is hard — "is this good?" isn't measurable like accuracy.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352B"/>
                </a:solidFill>
                <a:latin typeface="Georgia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475569"/>
                </a:solidFill>
                <a:latin typeface="Calibri"/>
              </a:rPr>
              <a:t>WEEK 1   /   LESSON 2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475569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475569"/>
                </a:solidFill>
                <a:latin typeface="Calibri"/>
              </a:rPr>
              <a:t>PART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A6C247"/>
                </a:solidFill>
                <a:latin typeface="Calibri"/>
              </a:rPr>
              <a:t>PART  2  OF 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1A352B"/>
                </a:solidFill>
                <a:latin typeface="Georgia"/>
              </a:rPr>
              <a:t>Industry deep-dives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2C5244"/>
                </a:solidFill>
                <a:latin typeface="Calibri"/>
              </a:rPr>
              <a:t>Two real production examples per sector. Six sectors, twelve examples.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352B"/>
                </a:solidFill>
                <a:latin typeface="Georgia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475569"/>
                </a:solidFill>
                <a:latin typeface="Calibri"/>
              </a:rPr>
              <a:t>WEEK 1   /   LESSON 2   /   6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475569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475569"/>
                </a:solidFill>
                <a:latin typeface="Calibri"/>
              </a:rPr>
              <a:t>P2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A6C247"/>
                </a:solidFill>
                <a:latin typeface="Calibri"/>
              </a:rPr>
              <a:t>CONCEPT  4 OF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6400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A352B"/>
                </a:solidFill>
                <a:latin typeface="Georgia"/>
              </a:rPr>
              <a:t>Finance &amp; Healthcare — the two highest-spend sectors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640080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FINANCE — Banks, NBFCs, insurers, payment companies.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HDFC / ICICI: ML-driven fraud detection on UPI transactions in &lt; 200 ms. False positives are the real metric — too many = blocked customers.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Bajaj / Tata AIA insurance: claim triage models route fast-track claims for auto-approval, complex ones to human review.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HEALTHCARE — Hospitals, diagnostic labs, pharma, telemedicine.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Apollo / SRL Diagnostics: AI-assisted radiology — chest X-ray triage, cancer screening, retinal images for diabetic retinopathy.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Niramai (Bengaluru): thermal imaging + ML for breast-cancer screening, deployed across 40+ Indian cities.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417320"/>
            <a:ext cx="4297680" cy="4572000"/>
          </a:xfrm>
          <a:prstGeom prst="roundRect">
            <a:avLst>
              <a:gd name="adj" fmla="val 4000"/>
            </a:avLst>
          </a:prstGeom>
          <a:solidFill>
            <a:srgbClr val="1A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169164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2286000"/>
            <a:ext cx="91440" cy="9144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>
                <a:solidFill>
                  <a:srgbClr val="B7C9BD"/>
                </a:solidFill>
                <a:latin typeface="Calibri"/>
              </a:rPr>
              <a:t>Finance has the most data, deepest ML maturity.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2852928"/>
            <a:ext cx="91440" cy="9144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2761488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>
                <a:solidFill>
                  <a:srgbClr val="B7C9BD"/>
                </a:solidFill>
                <a:latin typeface="Calibri"/>
              </a:rPr>
              <a:t>Healthcare has the highest impact per model.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3419856"/>
            <a:ext cx="91440" cy="9144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332841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>
                <a:solidFill>
                  <a:srgbClr val="B7C9BD"/>
                </a:solidFill>
                <a:latin typeface="Calibri"/>
              </a:rPr>
              <a:t>Both regulated — explainability + audit trails non-optional.</a:t>
            </a:r>
          </a:p>
        </p:txBody>
      </p:sp>
      <p:sp>
        <p:nvSpPr>
          <p:cNvPr id="18" name="Oval 17"/>
          <p:cNvSpPr/>
          <p:nvPr/>
        </p:nvSpPr>
        <p:spPr>
          <a:xfrm>
            <a:off x="7635240" y="3986784"/>
            <a:ext cx="91440" cy="9144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89534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>
                <a:solidFill>
                  <a:srgbClr val="B7C9BD"/>
                </a:solidFill>
                <a:latin typeface="Calibri"/>
              </a:rPr>
              <a:t>Highest-paid AI roles tend to cluster here.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352B"/>
                </a:solidFill>
                <a:latin typeface="Georgia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475569"/>
                </a:solidFill>
                <a:latin typeface="Calibri"/>
              </a:rPr>
              <a:t>WEEK 1   /   LESSON 2   /   6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475569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475569"/>
                </a:solidFill>
                <a:latin typeface="Calibri"/>
              </a:rPr>
              <a:t>P2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A6C247"/>
                </a:solidFill>
                <a:latin typeface="Calibri"/>
              </a:rPr>
              <a:t>CONCEPT  5 OF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6400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A352B"/>
                </a:solidFill>
                <a:latin typeface="Georgia"/>
              </a:rPr>
              <a:t>Retail · Manufacturing · Agri · Cyber — the breadth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640080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RETAIL — Flipkart, Amazon India, Reliance JioMart, BigBasket.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Demand forecasting, dynamic pricing, search ranking, recommendation systems. Every product placement you see is model-driven.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MANUFACTURING — Tata Steel, Reliance refineries, automotive plants.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Predictive maintenance — vibration sensors on motors → ML model → flag a bearing 2 weeks before failure. Saves crores in unplanned downtime.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AGRITECH — DeHaat, AgroStar, ITC e-Choupal.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Satellite + weather + soil data → recommended crop, sowing date, irrigation schedule. Bridges expert agronomy advice to 30M+ farmers.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CYBERSECURITY — Quick Heal, Seqrite, in-house SOCs at every bank.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Anomaly detection on network traffic, phishing-email classification, automated incident triage.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417320"/>
            <a:ext cx="4297680" cy="4572000"/>
          </a:xfrm>
          <a:prstGeom prst="roundRect">
            <a:avLst>
              <a:gd name="adj" fmla="val 4000"/>
            </a:avLst>
          </a:prstGeom>
          <a:solidFill>
            <a:srgbClr val="1A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169164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2286000"/>
            <a:ext cx="91440" cy="9144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>
                <a:solidFill>
                  <a:srgbClr val="B7C9BD"/>
                </a:solidFill>
                <a:latin typeface="Calibri"/>
              </a:rPr>
              <a:t>Retail = highest-volume models (millions of requests/min).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2852928"/>
            <a:ext cx="91440" cy="9144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2761488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>
                <a:solidFill>
                  <a:srgbClr val="B7C9BD"/>
                </a:solidFill>
                <a:latin typeface="Calibri"/>
              </a:rPr>
              <a:t>Manufacturing = highest-margin models (one good prediction saves crores).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3419856"/>
            <a:ext cx="91440" cy="9144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332841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>
                <a:solidFill>
                  <a:srgbClr val="B7C9BD"/>
                </a:solidFill>
                <a:latin typeface="Calibri"/>
              </a:rPr>
              <a:t>Agri = highest-impact-per-rupee (advice changes farmer income).</a:t>
            </a:r>
          </a:p>
        </p:txBody>
      </p:sp>
      <p:sp>
        <p:nvSpPr>
          <p:cNvPr id="18" name="Oval 17"/>
          <p:cNvSpPr/>
          <p:nvPr/>
        </p:nvSpPr>
        <p:spPr>
          <a:xfrm>
            <a:off x="7635240" y="3986784"/>
            <a:ext cx="91440" cy="9144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89534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>
                <a:solidFill>
                  <a:srgbClr val="B7C9BD"/>
                </a:solidFill>
                <a:latin typeface="Calibri"/>
              </a:rPr>
              <a:t>Cyber = adversarial; the model is racing the attacker.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352B"/>
                </a:solidFill>
                <a:latin typeface="Georgia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475569"/>
                </a:solidFill>
                <a:latin typeface="Calibri"/>
              </a:rPr>
              <a:t>WEEK 1   /   LESSON 2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475569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475569"/>
                </a:solidFill>
                <a:latin typeface="Calibri"/>
              </a:rPr>
              <a:t>PART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A6C247"/>
                </a:solidFill>
                <a:latin typeface="Calibri"/>
              </a:rPr>
              <a:t>PART  3  OF 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1A352B"/>
                </a:solidFill>
                <a:latin typeface="Georgia"/>
              </a:rPr>
              <a:t>What's different about India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2C5244"/>
                </a:solidFill>
                <a:latin typeface="Calibri"/>
              </a:rPr>
              <a:t>Aadhaar, UPI, ONDC, and 22 official languages. The map looks different here.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352B"/>
                </a:solidFill>
                <a:latin typeface="Georgia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475569"/>
                </a:solidFill>
                <a:latin typeface="Calibri"/>
              </a:rPr>
              <a:t>WEEK 1   /   LESSON 2   /   6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475569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475569"/>
                </a:solidFill>
                <a:latin typeface="Calibri"/>
              </a:rPr>
              <a:t>P3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A6C247"/>
                </a:solidFill>
                <a:latin typeface="Calibri"/>
              </a:rPr>
              <a:t>CONCEPT  6 OF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6400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A352B"/>
                </a:solidFill>
                <a:latin typeface="Georgia"/>
              </a:rPr>
              <a:t>India's structural data advantage — Aadhaar, UPI, ONDC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640080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Aadhaar is the world's largest biometric identity system — 1.4B people, used for KYC across every regulated industry. AI systems can verify identity in a way no other country can.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UPI processes 18B+ transactions monthly — granular, real-time, low-cost transaction data. Credit scoring without a Bureau record, fraud detection in milliseconds, demand-side analysis at city level.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ONDC (Open Network for Digital Commerce) standardises commerce data across sellers — a data layer no other country has at this scale. Coming wave: cross-seller recommendation, supply-chain optimisation.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Cumulative effect: India trains models on data formats that don't exist elsewhere. International AI tools often need re-tuning to work here — and that re-tuning is the local moat.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417320"/>
            <a:ext cx="4297680" cy="4572000"/>
          </a:xfrm>
          <a:prstGeom prst="roundRect">
            <a:avLst>
              <a:gd name="adj" fmla="val 4000"/>
            </a:avLst>
          </a:prstGeom>
          <a:solidFill>
            <a:srgbClr val="1A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169164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2286000"/>
            <a:ext cx="91440" cy="9144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>
                <a:solidFill>
                  <a:srgbClr val="B7C9BD"/>
                </a:solidFill>
                <a:latin typeface="Calibri"/>
              </a:rPr>
              <a:t>Aadhaar → identity AI is uniquely possible here.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2852928"/>
            <a:ext cx="91440" cy="9144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2761488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>
                <a:solidFill>
                  <a:srgbClr val="B7C9BD"/>
                </a:solidFill>
                <a:latin typeface="Calibri"/>
              </a:rPr>
              <a:t>UPI → real-time transaction analytics at population scale.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3419856"/>
            <a:ext cx="91440" cy="9144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332841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>
                <a:solidFill>
                  <a:srgbClr val="B7C9BD"/>
                </a:solidFill>
                <a:latin typeface="Calibri"/>
              </a:rPr>
              <a:t>ONDC → commerce graph that's structurally different.</a:t>
            </a:r>
          </a:p>
        </p:txBody>
      </p:sp>
      <p:sp>
        <p:nvSpPr>
          <p:cNvPr id="18" name="Oval 17"/>
          <p:cNvSpPr/>
          <p:nvPr/>
        </p:nvSpPr>
        <p:spPr>
          <a:xfrm>
            <a:off x="7635240" y="3986784"/>
            <a:ext cx="91440" cy="9144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89534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>
                <a:solidFill>
                  <a:srgbClr val="B7C9BD"/>
                </a:solidFill>
                <a:latin typeface="Calibri"/>
              </a:rPr>
              <a:t>International models often miss Indian context.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352B"/>
                </a:solidFill>
                <a:latin typeface="Georgia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475569"/>
                </a:solidFill>
                <a:latin typeface="Calibri"/>
              </a:rPr>
              <a:t>WEEK 1   /   LESSON 2   /   6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475569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475569"/>
                </a:solidFill>
                <a:latin typeface="Calibri"/>
              </a:rPr>
              <a:t>P3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A6C247"/>
                </a:solidFill>
                <a:latin typeface="Calibri"/>
              </a:rPr>
              <a:t>CONCEPT  7 OF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6400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A352B"/>
                </a:solidFill>
                <a:latin typeface="Georgia"/>
              </a:rPr>
              <a:t>The regional language gap — 22 languages, 800M+ speakers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640080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Most AI advances are English-first. Indian language NLP lags English by 2-4 years on every benchmark — but the market it serves is far larger.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Bhashini (govt initiative) is open-sourcing high-quality Indic-language models — Hindi, Tamil, Bengali, Telugu, Marathi, Kannada, Gujarati, Malayalam.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Production use cases: customer-support chatbots in regional languages, voice-first interfaces for non-English-speaking users, content moderation across 11+ scripts.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If your career goal is impact-per-user, the regional-language AI opportunity is the largest under-served segment in the world right now.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The teams hiring fastest here: AI4Bharat, Karya, Reverie, Translingua, plus internal NLP teams at every Indian IT services major.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417320"/>
            <a:ext cx="4297680" cy="4572000"/>
          </a:xfrm>
          <a:prstGeom prst="roundRect">
            <a:avLst>
              <a:gd name="adj" fmla="val 4000"/>
            </a:avLst>
          </a:prstGeom>
          <a:solidFill>
            <a:srgbClr val="1A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169164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2286000"/>
            <a:ext cx="91440" cy="9144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>
                <a:solidFill>
                  <a:srgbClr val="B7C9BD"/>
                </a:solidFill>
                <a:latin typeface="Calibri"/>
              </a:rPr>
              <a:t>Indian-language NLP is 2-4 years behind English.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2852928"/>
            <a:ext cx="91440" cy="9144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2761488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>
                <a:solidFill>
                  <a:srgbClr val="B7C9BD"/>
                </a:solidFill>
                <a:latin typeface="Calibri"/>
              </a:rPr>
              <a:t>The market is 800M+ speakers; growing share goes online yearly.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3419856"/>
            <a:ext cx="91440" cy="9144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332841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>
                <a:solidFill>
                  <a:srgbClr val="B7C9BD"/>
                </a:solidFill>
                <a:latin typeface="Calibri"/>
              </a:rPr>
              <a:t>Bhashini-backed open models are leveling the field.</a:t>
            </a:r>
          </a:p>
        </p:txBody>
      </p:sp>
      <p:sp>
        <p:nvSpPr>
          <p:cNvPr id="18" name="Oval 17"/>
          <p:cNvSpPr/>
          <p:nvPr/>
        </p:nvSpPr>
        <p:spPr>
          <a:xfrm>
            <a:off x="7635240" y="3986784"/>
            <a:ext cx="91440" cy="9144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89534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>
                <a:solidFill>
                  <a:srgbClr val="B7C9BD"/>
                </a:solidFill>
                <a:latin typeface="Calibri"/>
              </a:rPr>
              <a:t>Underserved → high impact per hire.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352B"/>
                </a:solidFill>
                <a:latin typeface="Georgia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475569"/>
                </a:solidFill>
                <a:latin typeface="Calibri"/>
              </a:rPr>
              <a:t>WEEK 1   /   LESSON 2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475569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475569"/>
                </a:solidFill>
                <a:latin typeface="Calibri"/>
              </a:rPr>
              <a:t>PART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A6C247"/>
                </a:solidFill>
                <a:latin typeface="Calibri"/>
              </a:rPr>
              <a:t>PART  4  OF 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1A352B"/>
                </a:solidFill>
                <a:latin typeface="Georgia"/>
              </a:rPr>
              <a:t>Picking your fit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2C5244"/>
                </a:solidFill>
                <a:latin typeface="Calibri"/>
              </a:rPr>
              <a:t>Map your background to a domain. Read announcements past the marketing.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352B"/>
                </a:solidFill>
                <a:latin typeface="Georgia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475569"/>
                </a:solidFill>
                <a:latin typeface="Calibri"/>
              </a:rPr>
              <a:t>WEEK 1   /   LESSON 2   /   6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475569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475569"/>
                </a:solidFill>
                <a:latin typeface="Calibri"/>
              </a:rPr>
              <a:t>P4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A6C247"/>
                </a:solidFill>
                <a:latin typeface="Calibri"/>
              </a:rPr>
              <a:t>CONCEPT  8 OF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6400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A352B"/>
                </a:solidFill>
                <a:latin typeface="Georgia"/>
              </a:rPr>
              <a:t>Match your background to an AI domain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640080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COMMERCE / ECON / FINANCE BACKGROUND → FinTech credit scoring, algorithmic trading, insurance claim prediction. Your edge: you read balance sheets, not just code.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BIOLOGY / MEDICINE BACKGROUND → HealthTech screening, drug discovery, hospital operations. Your edge: clinical context the engineer doesn't have.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AGRICULTURE / GEOGRAPHY BACKGROUND → AgriTech, climate AI, GIS. Your edge: domain reality that satellites alone can't teach.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MECHANICAL / INDUSTRIAL ENGINEERING → Predictive maintenance, robotics, process optimisation. Your edge: knowing why a machine actually breaks.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ARTS / LANGUAGES → NLP, content moderation, localisation, AI policy. Your edge: judgement on what a model output means in context.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PURE CS / IT → Anywhere; pair with one of the above by reading the domain literature.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417320"/>
            <a:ext cx="4297680" cy="4572000"/>
          </a:xfrm>
          <a:prstGeom prst="roundRect">
            <a:avLst>
              <a:gd name="adj" fmla="val 4000"/>
            </a:avLst>
          </a:prstGeom>
          <a:solidFill>
            <a:srgbClr val="1A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169164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2286000"/>
            <a:ext cx="91440" cy="9144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>
                <a:solidFill>
                  <a:srgbClr val="B7C9BD"/>
                </a:solidFill>
                <a:latin typeface="Calibri"/>
              </a:rPr>
              <a:t>Your degree is a head-start, not a ceiling.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2852928"/>
            <a:ext cx="91440" cy="9144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2761488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>
                <a:solidFill>
                  <a:srgbClr val="B7C9BD"/>
                </a:solidFill>
                <a:latin typeface="Calibri"/>
              </a:rPr>
              <a:t>Domain knowledge + AI skill beats pure AI in production.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3419856"/>
            <a:ext cx="91440" cy="9144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332841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>
                <a:solidFill>
                  <a:srgbClr val="B7C9BD"/>
                </a:solidFill>
                <a:latin typeface="Calibri"/>
              </a:rPr>
              <a:t>Pick a domain you'd argue about for free.</a:t>
            </a:r>
          </a:p>
        </p:txBody>
      </p:sp>
      <p:sp>
        <p:nvSpPr>
          <p:cNvPr id="18" name="Oval 17"/>
          <p:cNvSpPr/>
          <p:nvPr/>
        </p:nvSpPr>
        <p:spPr>
          <a:xfrm>
            <a:off x="7635240" y="3986784"/>
            <a:ext cx="91440" cy="9144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89534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>
                <a:solidFill>
                  <a:srgbClr val="B7C9BD"/>
                </a:solidFill>
                <a:latin typeface="Calibri"/>
              </a:rPr>
              <a:t>First job is leverage; second is impact.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352B"/>
                </a:solidFill>
                <a:latin typeface="Georgia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475569"/>
                </a:solidFill>
                <a:latin typeface="Calibri"/>
              </a:rPr>
              <a:t>WEEK 1   /   LESSON 2   /   6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475569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475569"/>
                </a:solidFill>
                <a:latin typeface="Calibri"/>
              </a:rPr>
              <a:t>P4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A6C247"/>
                </a:solidFill>
                <a:latin typeface="Calibri"/>
              </a:rPr>
              <a:t>CONCEPT  9 OF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6400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A352B"/>
                </a:solidFill>
                <a:latin typeface="Georgia"/>
              </a:rPr>
              <a:t>How to read AI announcements like an analyst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640080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Every week a company announces an "AI strategy". Most are press releases. A few are signal. Three questions separate them: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1. Is there a NAMED PRODUCTION USER? If "we're piloting with one bank" → pilot. If "5M users across 200 branches" → real.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2. Is there a REVENUE LINE? Real AI shows up in the P&amp;L. "AI Cloud revenue grew 38%" is a fact; "AI will transform our business" is a wish.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3. Can the company HIRE TO IT? Job postings are cheap to write. Look for sustained 6-month hiring in specific AI roles — that's where the money actually went.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When all three are present, the company is operating. When none are, it's a press release. When 1-2 are present, it's a serious bet but unproven.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Same lens on your own choices: pilot, real, or wish?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417320"/>
            <a:ext cx="4297680" cy="4572000"/>
          </a:xfrm>
          <a:prstGeom prst="roundRect">
            <a:avLst>
              <a:gd name="adj" fmla="val 4000"/>
            </a:avLst>
          </a:prstGeom>
          <a:solidFill>
            <a:srgbClr val="1A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169164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2286000"/>
            <a:ext cx="91440" cy="9144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>
                <a:solidFill>
                  <a:srgbClr val="B7C9BD"/>
                </a:solidFill>
                <a:latin typeface="Calibri"/>
              </a:rPr>
              <a:t>Named users &gt; vague claims.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2852928"/>
            <a:ext cx="91440" cy="9144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2761488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>
                <a:solidFill>
                  <a:srgbClr val="B7C9BD"/>
                </a:solidFill>
                <a:latin typeface="Calibri"/>
              </a:rPr>
              <a:t>Revenue line &gt; strategy slide.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3419856"/>
            <a:ext cx="91440" cy="9144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332841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>
                <a:solidFill>
                  <a:srgbClr val="B7C9BD"/>
                </a:solidFill>
                <a:latin typeface="Calibri"/>
              </a:rPr>
              <a:t>Sustained hiring &gt; one role.</a:t>
            </a:r>
          </a:p>
        </p:txBody>
      </p:sp>
      <p:sp>
        <p:nvSpPr>
          <p:cNvPr id="18" name="Oval 17"/>
          <p:cNvSpPr/>
          <p:nvPr/>
        </p:nvSpPr>
        <p:spPr>
          <a:xfrm>
            <a:off x="7635240" y="3986784"/>
            <a:ext cx="91440" cy="9144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89534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>
                <a:solidFill>
                  <a:srgbClr val="B7C9BD"/>
                </a:solidFill>
                <a:latin typeface="Calibri"/>
              </a:rPr>
              <a:t>Apply the lens to your own decisions.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352B"/>
                </a:solidFill>
                <a:latin typeface="Georgia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475569"/>
                </a:solidFill>
                <a:latin typeface="Calibri"/>
              </a:rPr>
              <a:t>WEEK 1   /   LESSON 2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475569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475569"/>
                </a:solidFill>
                <a:latin typeface="Calibri"/>
              </a:rPr>
              <a:t>REFLECT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A6C247"/>
                </a:solidFill>
                <a:latin typeface="Calibri"/>
              </a:rPr>
              <a:t>PAUSE  &amp;  REFLECT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A352B"/>
                </a:solidFill>
                <a:latin typeface="Georgia"/>
              </a:rPr>
              <a:t>Where do you naturally fit?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017520"/>
            <a:ext cx="3611880" cy="2926080"/>
          </a:xfrm>
          <a:prstGeom prst="roundRect">
            <a:avLst>
              <a:gd name="adj" fmla="val 4000"/>
            </a:avLst>
          </a:prstGeom>
          <a:solidFill>
            <a:srgbClr val="FAFBF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3291839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A6C247"/>
                </a:solidFill>
                <a:latin typeface="Calibri"/>
              </a:rPr>
              <a:t>BACKGROUND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657600"/>
            <a:ext cx="3063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A352B"/>
                </a:solidFill>
                <a:latin typeface="Georgia"/>
              </a:rPr>
              <a:t>What's your</a:t>
            </a:r>
          </a:p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A352B"/>
                </a:solidFill>
                <a:latin typeface="Georgia"/>
              </a:rPr>
              <a:t>degree / domain?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4892040"/>
            <a:ext cx="3063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475569"/>
                </a:solidFill>
                <a:latin typeface="Calibri"/>
              </a:rPr>
              <a:t>Engineering, science, commerce, arts — every one has an AI path. Most students underestimate non-engineering fits.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3017520"/>
            <a:ext cx="3611880" cy="2926080"/>
          </a:xfrm>
          <a:prstGeom prst="roundRect">
            <a:avLst>
              <a:gd name="adj" fmla="val 4000"/>
            </a:avLst>
          </a:prstGeom>
          <a:solidFill>
            <a:srgbClr val="FAFBF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59" y="3291839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A6C247"/>
                </a:solidFill>
                <a:latin typeface="Calibri"/>
              </a:rPr>
              <a:t>PROBLEM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59" y="3657600"/>
            <a:ext cx="3063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A352B"/>
                </a:solidFill>
                <a:latin typeface="Georgia"/>
              </a:rPr>
              <a:t>What problem</a:t>
            </a:r>
          </a:p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A352B"/>
                </a:solidFill>
                <a:latin typeface="Georgia"/>
              </a:rPr>
              <a:t>bothers you?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59" y="4892040"/>
            <a:ext cx="3063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475569"/>
                </a:solidFill>
                <a:latin typeface="Calibri"/>
              </a:rPr>
              <a:t>AI gets boring when you don't care about the domain. Bored engineers ship bad models. Pick a problem you'd debate over chai.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3017520"/>
            <a:ext cx="3611880" cy="2926080"/>
          </a:xfrm>
          <a:prstGeom prst="roundRect">
            <a:avLst>
              <a:gd name="adj" fmla="val 4000"/>
            </a:avLst>
          </a:prstGeom>
          <a:solidFill>
            <a:srgbClr val="FAFBF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3291839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A6C247"/>
                </a:solidFill>
                <a:latin typeface="Calibri"/>
              </a:rPr>
              <a:t>CONSTRAINT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3657600"/>
            <a:ext cx="3063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A352B"/>
                </a:solidFill>
                <a:latin typeface="Georgia"/>
              </a:rPr>
              <a:t>Where can you</a:t>
            </a:r>
          </a:p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A352B"/>
                </a:solidFill>
                <a:latin typeface="Georgia"/>
              </a:rPr>
              <a:t>actually get hired?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4892040"/>
            <a:ext cx="3063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475569"/>
                </a:solidFill>
                <a:latin typeface="Calibri"/>
              </a:rPr>
              <a:t>Pune, Bengaluru, Hyderabad, NCR have most AI roles today. Tier-2 is growing fast. Remote AI work exists but is competitive.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352B"/>
                </a:solidFill>
                <a:latin typeface="Georgia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475569"/>
                </a:solidFill>
                <a:latin typeface="Calibri"/>
              </a:rPr>
              <a:t>WEEK 1   /   LESSON 2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475569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475569"/>
                </a:solidFill>
                <a:latin typeface="Calibri"/>
              </a:rPr>
              <a:t>WRAP-UP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A6C247"/>
                </a:solidFill>
                <a:latin typeface="Calibri"/>
              </a:rP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A352B"/>
                </a:solidFill>
                <a:latin typeface="Georgia"/>
              </a:rPr>
              <a:t>Five things to remember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74320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743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A352B"/>
                </a:solidFill>
                <a:latin typeface="Georg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697480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Three AI patterns explain ~90% of production systems: perception (see/hear), prediction (forecast/score), generation (create).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456432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45643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A352B"/>
                </a:solidFill>
                <a:latin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410712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Every major Indian industry has AI in production now — Finance leads, Healthcare and Agri are the fastest-growing.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169664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16966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A352B"/>
                </a:solidFill>
                <a:latin typeface="Georg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123944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India's AI advantage is data — Aadhaar identity, UPI transactions, ONDC commerce — none of which other markets have at this scale.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882896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88289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A352B"/>
                </a:solidFill>
                <a:latin typeface="Georgi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837176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Your degree is not your destiny. Commerce + ML = FinTech credit scoring. Biology + ML = HealthTech screening. Pick the overlap.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5596128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59612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A352B"/>
                </a:solidFill>
                <a:latin typeface="Georgia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550408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Press release vs reality: ask if there's a production user count, a revenue line, or a customer testimonial. If not, it's a pilot.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A6C247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A6C247"/>
                </a:solidFill>
                <a:latin typeface="Calibri"/>
              </a:rPr>
              <a:t>WHAT'S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5E063"/>
                </a:solidFill>
                <a:latin typeface="Calibri"/>
              </a:rPr>
              <a:t>LESSON 3 — PYTHON PROGRAMMING ESSENTIALS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From the map to the tools.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109728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1">
                <a:solidFill>
                  <a:srgbClr val="B7C9BD"/>
                </a:solidFill>
                <a:latin typeface="Calibri"/>
              </a:rPr>
              <a:t>You now know where AI gets used. Next you'll start building it. Python is the working language of every team you've heard about today — Tata, Reliance, Flipkart, Paytm, every healthcare startup. Variables, control flow, functions, and the muscle memory you need for the next 11 weeks.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440680"/>
            <a:ext cx="3566160" cy="502920"/>
          </a:xfrm>
          <a:prstGeom prst="roundRect">
            <a:avLst>
              <a:gd name="adj" fmla="val 40000"/>
            </a:avLst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44068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Variables, types, control 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5440680"/>
            <a:ext cx="2496312" cy="502920"/>
          </a:xfrm>
          <a:prstGeom prst="roundRect">
            <a:avLst>
              <a:gd name="adj" fmla="val 40000"/>
            </a:avLst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5440680"/>
            <a:ext cx="213055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Functions and modules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85432" y="5440680"/>
            <a:ext cx="2734056" cy="502920"/>
          </a:xfrm>
          <a:prstGeom prst="roundRect">
            <a:avLst>
              <a:gd name="adj" fmla="val 40000"/>
            </a:avLst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68312" y="5440680"/>
            <a:ext cx="236829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Reading the Python docs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56648" y="5440680"/>
            <a:ext cx="3328416" cy="502920"/>
          </a:xfrm>
          <a:prstGeom prst="roundRect">
            <a:avLst>
              <a:gd name="adj" fmla="val 40000"/>
            </a:avLst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39528" y="5440680"/>
            <a:ext cx="296265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Your first end-to-end script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