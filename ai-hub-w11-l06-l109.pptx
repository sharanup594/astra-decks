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_her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0"/>
            <a:ext cx="57908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0" y="0"/>
            <a:ext cx="5790895" cy="6858000"/>
          </a:xfrm>
          <a:prstGeom prst="rect">
            <a:avLst/>
          </a:prstGeom>
          <a:solidFill>
            <a:srgbClr val="1A352B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15600" y="502920"/>
            <a:ext cx="1188720" cy="1188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502920"/>
            <a:ext cx="118872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 i="0">
                <a:solidFill>
                  <a:srgbClr val="2C5244"/>
                </a:solidFill>
                <a:latin typeface="Georgia"/>
              </a:rPr>
              <a:t>L7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22860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WHAT'S INSIDE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74320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274320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Scaling hypothesis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333756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333756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Operational AGI definitions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393192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393192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Neurosymbolic + post-Transformer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452628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452628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3 near-term scenarios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512064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512064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Your personal view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7665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FFFFF"/>
                </a:solidFill>
                <a:latin typeface="Calibri"/>
              </a:rPr>
              <a:t>WEEK 11   /   LESSON 7   /   50 MINUTES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508760"/>
            <a:ext cx="640080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Georgia"/>
              </a:rPr>
              <a:t>AGI · scaling · neurosymbolic · your 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160520"/>
            <a:ext cx="64008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E5E7EB"/>
                </a:solidFill>
                <a:latin typeface="Calibri"/>
              </a:rPr>
              <a:t>Partners, investors and CEOs will ask where this is going. Your answer shapes what you build. You don't have to be right — you have to be thoughtful, informed, and willing to update.
What's your current 2026 AI view in one sentence?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COVER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11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WHY  THIS  LESSON 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0F1F1A"/>
                </a:solidFill>
                <a:latin typeface="Georgia"/>
              </a:rPr>
              <a:t>"AI is uncertain" is not a career plan.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697480"/>
            <a:ext cx="457200" cy="45720"/>
          </a:xfrm>
          <a:prstGeom prst="rect">
            <a:avLst/>
          </a:prstGeom>
          <a:solidFill>
            <a:srgbClr val="A6C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Real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7185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0045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SCALE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045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Today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045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506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366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SPEED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366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Now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366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827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4687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IMPACT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4687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Yours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4687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HOOK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11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LEARNING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By the end of this lesson, you will be able to —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78892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788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432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Scaling hypothesis + critics.</a:t>
            </a:r>
          </a:p>
        </p:txBody>
      </p:sp>
      <p:sp>
        <p:nvSpPr>
          <p:cNvPr id="10" name="Oval 9"/>
          <p:cNvSpPr/>
          <p:nvPr/>
        </p:nvSpPr>
        <p:spPr>
          <a:xfrm>
            <a:off x="6080760" y="278892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2788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7432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Operational AGI definitions.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65760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61188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Neurosymbolic + post-Transformer candidates.</a:t>
            </a:r>
          </a:p>
        </p:txBody>
      </p:sp>
      <p:sp>
        <p:nvSpPr>
          <p:cNvPr id="16" name="Oval 15"/>
          <p:cNvSpPr/>
          <p:nvPr/>
        </p:nvSpPr>
        <p:spPr>
          <a:xfrm>
            <a:off x="6080760" y="365760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60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61188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A personal defensible view.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452628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5262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48056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Scenario-plan across 3 futures.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OUTCOMES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11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  <a:latin typeface="Georgia"/>
              </a:rPr>
              <a:t>What we'll cover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Short, sequenced parts. Each one builds on the last.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Scaling hypothesis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The bet behind GPT-class models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6042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8902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902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Operational AGI definitions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902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Key concept of this lesson.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Neurosymbolic +...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What's brewing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8398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1258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1258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3 near-term scenarios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1258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Key concept of this lesson.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AGENDA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11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1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Scaling hypothesis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The bet behind GPT-class models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11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1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Scaling hypothesis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Claim: intelligence emerges predictably with scale.
Evidence: Chinchilla, GPT-4, Claude, Gemini.
Critics: data wall, diminishing returns, cost.
Implication: compute + data = moat.
LAW
Scale → emergence
Holds — so far.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057400"/>
            <a:ext cx="3749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Scaling hypothesis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246120"/>
            <a:ext cx="3749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The bet behind GPT-class models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4892040"/>
            <a:ext cx="365760" cy="3657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502920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303520"/>
            <a:ext cx="3749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Real-world example: applies directly to Indian industry contexts.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11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2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Operational AGI definitions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A core idea you'll use throughout this lesson.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KEY  POINTS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2359152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1945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A core idea you'll use throughout this lesson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3072384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907792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Practical, named, applied to a real Indian use-case.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3785616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621024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Practical, named, applied to a real Indian use-case.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11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3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Neurosymbolic + post-Transformer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Pure neural hits provable-reasoning limits.
Neurosymbolic — LLM + solver / planner.
Mamba / SSMs — linear attention, long context.
Diffusion language (SEDD) — early.
Reasoning-as-training (o1) — new scaling axis.
FRONTIER
Watch list
Bet small; read closely.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057400"/>
            <a:ext cx="3749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Neurosymbolic + post-Transformer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246120"/>
            <a:ext cx="3749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What's brewing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4892040"/>
            <a:ext cx="365760" cy="3657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502920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303520"/>
            <a:ext cx="3749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Real-world example: applies directly to Indian industry contexts.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11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4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3 near-term scenarios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A core idea you'll use throughout this lesson.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KEY  POINTS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2359152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1945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A core idea you'll use throughout this lesson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3072384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907792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Practical, named, applied to a real Indian use-case.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3785616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621024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Practical, named, applied to a real Indian use-case.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11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2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Engage and reflect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Pause, talk, and connect what you just learned to your own work.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11   /   3 min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2377440" cy="365760"/>
          </a:xfrm>
          <a:prstGeom prst="round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500">
                <a:solidFill>
                  <a:srgbClr val="2C5244"/>
                </a:solidFill>
                <a:latin typeface="Calibri"/>
              </a:rPr>
              <a:t>✦  THINK · PAIR · SHARE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12070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ACTIVITY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Georgia"/>
              </a:rPr>
              <a:t>Write your 2026 view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743200"/>
            <a:ext cx="7040880" cy="33832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926080"/>
            <a:ext cx="6492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649224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1">
                <a:solidFill>
                  <a:srgbClr val="FFFFFF"/>
                </a:solidFill>
                <a:latin typeface="Calibri"/>
              </a:rPr>
              <a:t>Apply the four concepts above to one real example from your own week.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18120" y="2743200"/>
            <a:ext cx="3794760" cy="3383280"/>
          </a:xfrm>
          <a:prstGeom prst="rect">
            <a:avLst/>
          </a:prstGeom>
          <a:solidFill>
            <a:srgbClr val="224036"/>
          </a:solidFill>
          <a:ln w="6350">
            <a:solidFill>
              <a:srgbClr val="DCEC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29260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HOW TO RUN IT</a:t>
            </a:r>
          </a:p>
        </p:txBody>
      </p:sp>
      <p:sp>
        <p:nvSpPr>
          <p:cNvPr id="14" name="Oval 13"/>
          <p:cNvSpPr/>
          <p:nvPr/>
        </p:nvSpPr>
        <p:spPr>
          <a:xfrm>
            <a:off x="8092440" y="3246120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324612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24612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7" name="Oval 16"/>
          <p:cNvSpPr/>
          <p:nvPr/>
        </p:nvSpPr>
        <p:spPr>
          <a:xfrm>
            <a:off x="8092440" y="3886200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388620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88620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0" name="Oval 19"/>
          <p:cNvSpPr/>
          <p:nvPr/>
        </p:nvSpPr>
        <p:spPr>
          <a:xfrm>
            <a:off x="8092440" y="4526279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452627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526279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3" name="Oval 22"/>
          <p:cNvSpPr/>
          <p:nvPr/>
        </p:nvSpPr>
        <p:spPr>
          <a:xfrm>
            <a:off x="8092440" y="5166359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92440" y="516635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5166359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Reveal: instructor confirms the canonical answer.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ACTIVITY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11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REFLECT  &amp;  APPLY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Three questions before you close this lesson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475569"/>
                </a:solidFill>
                <a:latin typeface="Calibri"/>
              </a:rPr>
              <a:t>Spend 60 seconds on each. Write the answers down — no scrolling, no shortcuts.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20040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20040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20040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What evidence would change your view in 30 days?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16052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416052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16052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16052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Which thinker do you copy too much?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12064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512064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12064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12064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Where is your view contrarian?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REFLECT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11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3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Knowledge check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Three short questions. One minute each. Honest answers only.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11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1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Scaling critic argument: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Data wall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More compute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Fewer params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None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11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1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Scaling critic argument: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Data wall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Data is finite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11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2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Operational AGI test: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Beauty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Economic value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Colour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None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11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2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Operational AGI test: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Economic value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Economic is measurable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11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3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Post-Transformer candidate: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RNN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Mamba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BERT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LSTM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11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3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Post-Transformer candidate: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Mamba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SSMs = Mamba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11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4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Apply and close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One thing to remember. One thing to ship this week.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11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Five sentences to remember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If you remember nothing else from this lesson, remember these five lines.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5468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15468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Pick the right tool — never the loudest 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4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74904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Practice the framework on a real example.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4340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34340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Watch for the three classic pitfalls.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93776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93776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Document your decision in one sentence.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53212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553212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Carry the discipline forward to the next lesson.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SUMMARY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11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WORKED 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How this lesson plays out in one real Indian context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468880"/>
            <a:ext cx="68580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060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THE  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26080"/>
            <a:ext cx="640080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F1F1A"/>
                </a:solidFill>
                <a:latin typeface="Calibri"/>
              </a:rPr>
              <a:t>Claim: intelligence emerges predictably with scale.
Evidence: Chinchilla, GPT-4, Claude, Gemini.
Critics: data wall, diminishing returns, cost.
Implication: compute + data = moat.
LAW
Scale → emergence
Holds — so far.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800600"/>
            <a:ext cx="6858000" cy="132588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93776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THE  TAKEAWAY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212080"/>
            <a:ext cx="6400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1">
                <a:solidFill>
                  <a:srgbClr val="FFFFFF"/>
                </a:solidFill>
                <a:latin typeface="Georgia"/>
              </a:rPr>
              <a:t>"Thoughtful beats confident; updated beats thoughtful."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35240" y="2468880"/>
            <a:ext cx="3977639" cy="3657600"/>
          </a:xfrm>
          <a:prstGeom prst="rect">
            <a:avLst/>
          </a:prstGeom>
          <a:solidFill>
            <a:srgbClr val="F1F4EC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260604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WHAT  TO  NOTICE</a:t>
            </a:r>
          </a:p>
        </p:txBody>
      </p:sp>
      <p:sp>
        <p:nvSpPr>
          <p:cNvPr id="15" name="Oval 14"/>
          <p:cNvSpPr/>
          <p:nvPr/>
        </p:nvSpPr>
        <p:spPr>
          <a:xfrm>
            <a:off x="7863840" y="297180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29718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97180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Scaling hypothesis</a:t>
            </a:r>
          </a:p>
        </p:txBody>
      </p:sp>
      <p:sp>
        <p:nvSpPr>
          <p:cNvPr id="18" name="Oval 17"/>
          <p:cNvSpPr/>
          <p:nvPr/>
        </p:nvSpPr>
        <p:spPr>
          <a:xfrm>
            <a:off x="7863840" y="3749039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749039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3749039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Operational AGI definitions</a:t>
            </a:r>
          </a:p>
        </p:txBody>
      </p:sp>
      <p:sp>
        <p:nvSpPr>
          <p:cNvPr id="21" name="Oval 20"/>
          <p:cNvSpPr/>
          <p:nvPr/>
        </p:nvSpPr>
        <p:spPr>
          <a:xfrm>
            <a:off x="7863840" y="452628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45262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452628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Neurosymbolic +...</a:t>
            </a:r>
          </a:p>
        </p:txBody>
      </p:sp>
      <p:sp>
        <p:nvSpPr>
          <p:cNvPr id="24" name="Oval 23"/>
          <p:cNvSpPr/>
          <p:nvPr/>
        </p:nvSpPr>
        <p:spPr>
          <a:xfrm>
            <a:off x="7863840" y="530352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0" y="53035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530352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3 near-term scenarios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EXAMPLE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1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11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APPLY  IT  →  ASSIGNMENT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Your 2026 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Write a 500-word post.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383280"/>
            <a:ext cx="6858000" cy="27432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5204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DELIVERABLES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95020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84048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Assign scenario weights.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436168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25196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Name 3 flip beliefs.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77316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66344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Name 3 signals.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518464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07492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Document one decision you made because of this lesson.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35240" y="3383280"/>
            <a:ext cx="3977639" cy="274320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52044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WHAT 'GOOD' LOOKS LIKE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3840480"/>
            <a:ext cx="35204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1">
                <a:solidFill>
                  <a:srgbClr val="2C5244"/>
                </a:solidFill>
                <a:latin typeface="Georgia"/>
              </a:rPr>
              <a:t>Deliverable: 500-word post on LMS.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APPLY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11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ONE  THING  TO  REMEMBER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0" b="1" i="0">
                <a:solidFill>
                  <a:srgbClr val="C5E063"/>
                </a:solidFill>
                <a:latin typeface="Georgia"/>
              </a:rPr>
              <a:t>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105156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3000" b="0" i="1">
                <a:solidFill>
                  <a:srgbClr val="FFFFFF"/>
                </a:solidFill>
                <a:latin typeface="Georgia"/>
              </a:rPr>
              <a:t>"Thoughtful beats confident; updated beats thoughtful."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303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400">
                <a:solidFill>
                  <a:srgbClr val="C5E063"/>
                </a:solidFill>
                <a:latin typeface="Calibri"/>
              </a:rPr>
              <a:t>—  AI Learning 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BIG IDEA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11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END OF LESSON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Georgia"/>
              </a:rPr>
              <a:t>What you can now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4028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Each one of these is now part of your working vocabulary.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01752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0175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Pick the right tool — never the loudest one.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52044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5204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52044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Practice the framework on a real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02336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233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02336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Watch for the three classic pitfalls.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52628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5262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52628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Document your decision in one sentence.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502920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0292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02920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Carry the discipline forward to the next lesson.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669280"/>
            <a:ext cx="11064240" cy="502920"/>
          </a:xfrm>
          <a:prstGeom prst="roundRect">
            <a:avLst/>
          </a:prstGeom>
          <a:solidFill>
            <a:srgbClr val="224036"/>
          </a:solidFill>
          <a:ln w="9525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66928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400">
                <a:solidFill>
                  <a:srgbClr val="C5E063"/>
                </a:solidFill>
                <a:latin typeface="Calibri"/>
              </a:rPr>
              <a:t>NEXT  →   Projects &amp; Assessment.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11 OF 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WRAP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