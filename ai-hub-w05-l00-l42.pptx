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L1</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Discriminative vs Generative</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The LLM lineage — 9 years</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Closed vs open vs Indian</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The 4-criterion picking rubric</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Three SDKs in 10 lines each</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5   /   LESSON 1   /   50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Closed · Open · Indian</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ChatGPT — 2022. In 60 days it crossed 100M users. No product before had come close. Four years later, every Indian CFO tracks LLM API cost as a line item. Today we map the landscape you will build on for the rest of your career.
Which LLM have YOU used in the last 24 hours? You probably don't remember — that is the...</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60 days. 100 million users. An entire industry reshaped.</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WHY</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Real</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SCALE</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Today</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SPEED</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Now</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IMPACT</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Yours</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Distinguish discriminative vs generative AI.</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Trace the LLM lineage from 2017 to 2026.</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Compare closed / open / Indian models by capability and cost.</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Pick a model using the 4-criterion rubric.</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Call Claude, GPT, and a local Llama via SDK.</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Discriminative vs Generative</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The LLM lineage — 9 years</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Closed vs open vs Indian</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Start closed. Switch to open only when cost or sovereignty demand. Premature self-hosting is the #1...</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The 4-criterion picking...</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Capability · Latency · Cost · Data policy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Discriminative vs Generative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Key concept of this lesson.</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1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Discriminative vs Generative</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Discriminative vs Generative</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2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The LLM lineage — 9 years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 core idea you'll use throughout this lesson</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6" name="TextBox 1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7" name="TextBox 1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3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Closed vs open vs Indian</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Start closed. Switch to open only when cost or sovereignty demand. Premature self-hosting is the #1 mistake of Indian AI teams in 2026.</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Closed vs open vs Indian</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Start closed. Switch to open only when cost or sovereignty demand. Premature self-hosting is the #1 mistake of Indian AI teams in 2026.</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4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The 4-criterion picking rubric</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Capability — benchmark on YOUR data.
Latency — TTFT + tokens/sec.
Cost per call — input+output tokens × price.
Data policy — does the vendor train on your inputs?
RUBRIC
4 criteria
Score every new task on these four, in this order.</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Capability — benchmark on YOUR data</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Latency — TTFT + tokens/sec</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Cost per call — input+output tokens × price</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Data policy — does the vendor train on your inputs?</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Engage and reflect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Pause, talk, and connect what you just learned to your own work.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Pick the right model for 3 Indian scenarios</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Pick the right model for 3 Indian scenarios</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Pick the right model for 3 Indian scenarios</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Reveal: instructor confirms the canonical answer.</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criterion in the rubric do YOU under-weight?</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Where might an Indian model (Sarvam / Krutrim) beat a frontier model?</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What is the first LLM feature you want to ship in your org?</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Knowledge check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short questions. One minute each. Honest answers only.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ChatGPT reached 100M users in:</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30 days</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60 days</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6 months</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1 year</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ChatGPT reached 100M users in:</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60 days</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Fastest product in history to reach 100M</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Default model for most Indian teams in 2026:</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LLaMA 2</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 closed frontier model</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BERT</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GPT-2</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Default model for most Indian teams in 2026:</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A closed frontier model</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Start with frontier capability; switch to open only with specific reason</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Which is NOT a picking criterion?</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Capability</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Latency</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Cost</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Colour</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Which is NOT a picking criterion?</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D</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Colour</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Brand or UI is not in the 4-criterion rubric</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Apply and close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thing to remember. One thing to ship this week.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Pick the right tool — never the loudest one.</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Practice the framework on a real example.</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Watch for the three classic pitfalls.</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Document your decision in one sentence.</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Carry the discipline forward to the next lesson.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How this lesson plays out in one real Indian context</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A team applies the lesson's main idea to a real workflow — and the results show up within a quarter.</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"Start closed. Prove value. Then decide whether to self-host."</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Discriminative vs Generative</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The LLM lineage — 9 years</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Closed vs open vs Indian</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The 4-criterion picking...</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Mini assignment — benchmark 3 models</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Run 20 of YOUR own prompts through Claude, GPT, and Llama-3.</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Score capability (1–5) per prompt.</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Log latency + cost.</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Compare in a single spreadsheet.</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Post on the cohort forum.</a:t>
            </a:r>
          </a:p>
        </p:txBody>
      </p:sp>
      <p:sp>
        <p:nvSpPr>
          <p:cNvPr id="18" name="Rectangle 17"/>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0" name="TextBox 19"/>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Deliverable: Spreadsheet link + 2-sentence observation.</a:t>
            </a:r>
          </a:p>
        </p:txBody>
      </p:sp>
      <p:sp>
        <p:nvSpPr>
          <p:cNvPr id="21" name="TextBox 20"/>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2" name="TextBox 21"/>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ONE  THING  TO  REMEMBER</a:t>
            </a:r>
          </a:p>
        </p:txBody>
      </p:sp>
      <p:sp>
        <p:nvSpPr>
          <p:cNvPr id="6" name="TextBox 5"/>
          <p:cNvSpPr txBox="1"/>
          <p:nvPr/>
        </p:nvSpPr>
        <p:spPr>
          <a:xfrm>
            <a:off x="548640" y="2286000"/>
            <a:ext cx="548640" cy="548640"/>
          </a:xfrm>
          <a:prstGeom prst="rect">
            <a:avLst/>
          </a:prstGeom>
          <a:noFill/>
        </p:spPr>
        <p:txBody>
          <a:bodyPr wrap="square" lIns="0" rIns="0" tIns="0" bIns="0" anchor="ctr">
            <a:spAutoFit/>
          </a:bodyPr>
          <a:lstStyle/>
          <a:p>
            <a:pPr algn="l"/>
            <a:r>
              <a:rPr sz="12000" b="1" i="0">
                <a:solidFill>
                  <a:srgbClr val="C5E063"/>
                </a:solidFill>
                <a:latin typeface="Georgia"/>
              </a:rPr>
              <a:t>“</a:t>
            </a:r>
          </a:p>
        </p:txBody>
      </p:sp>
      <p:sp>
        <p:nvSpPr>
          <p:cNvPr id="7" name="TextBox 6"/>
          <p:cNvSpPr txBox="1"/>
          <p:nvPr/>
        </p:nvSpPr>
        <p:spPr>
          <a:xfrm>
            <a:off x="1097280" y="2468880"/>
            <a:ext cx="10515600" cy="2743200"/>
          </a:xfrm>
          <a:prstGeom prst="rect">
            <a:avLst/>
          </a:prstGeom>
          <a:noFill/>
        </p:spPr>
        <p:txBody>
          <a:bodyPr wrap="square" lIns="0" rIns="0" tIns="0" bIns="0" anchor="t">
            <a:spAutoFit/>
          </a:bodyPr>
          <a:lstStyle/>
          <a:p>
            <a:pPr algn="l">
              <a:lnSpc>
                <a:spcPct val="140000"/>
              </a:lnSpc>
            </a:pPr>
            <a:r>
              <a:rPr sz="3000" b="0" i="1">
                <a:solidFill>
                  <a:srgbClr val="FFFFFF"/>
                </a:solidFill>
                <a:latin typeface="Georgia"/>
              </a:rPr>
              <a:t>"Start closed. Prove value. Then decide whether to self-host."</a:t>
            </a:r>
          </a:p>
        </p:txBody>
      </p:sp>
      <p:sp>
        <p:nvSpPr>
          <p:cNvPr id="8" name="TextBox 7"/>
          <p:cNvSpPr txBox="1"/>
          <p:nvPr/>
        </p:nvSpPr>
        <p:spPr>
          <a:xfrm>
            <a:off x="1097280" y="5303520"/>
            <a:ext cx="10515600" cy="365760"/>
          </a:xfrm>
          <a:prstGeom prst="rect">
            <a:avLst/>
          </a:prstGeom>
          <a:noFill/>
        </p:spPr>
        <p:txBody>
          <a:bodyPr wrap="square" lIns="0" rIns="0" tIns="0" bIns="0" anchor="t">
            <a:spAutoFit/>
          </a:bodyPr>
          <a:lstStyle/>
          <a:p>
            <a:pPr algn="l"/>
            <a:r>
              <a:rPr sz="1200" b="1" i="0" spc="400">
                <a:solidFill>
                  <a:srgbClr val="C5E063"/>
                </a:solidFill>
                <a:latin typeface="Calibri"/>
              </a:rPr>
              <a:t>—  AI Learning Hub</a:t>
            </a:r>
          </a:p>
        </p:txBody>
      </p:sp>
      <p:sp>
        <p:nvSpPr>
          <p:cNvPr id="9" name="TextBox 8"/>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0" name="TextBox 9"/>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BIG IDEA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5</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tool — never the loudest one.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Practice the framework on a real example.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Watch for the three classic pitfalls.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Document your decision in one sentence.</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Carry the discipline forward to the next lesson.</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2 — Prompt Engineering. Prompts are code.</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