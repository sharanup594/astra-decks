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L6</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Three horsemen: RPA · AI · Mining</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The stack order that delivers ROI</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Spotting automation candidates</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The 5-factor ROI model</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Enterprise tools at a glance</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1   /   LESSON 6   /   60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Hyperautomation Fundamentals</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When RPA, AI and process mining are combined the right way, you go from 'automating tasks' to 'rewriting how work happens'. Today you'll learn the stack, the order, the ROI math, and the tools — taught through a real ₹247-crore Indian banking case.</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HYPERAUTOMATION</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₹247 crore in twelve months — one Indian bank's automation story</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INVOICES PER YEAR</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84 lakh</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Tier-1 Indian bank's annual supplier-invoice volume.</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OLD COST PER TOUCH</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₹162</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Each invoice was touched by 2.3 humans — at ₹162 per touch.</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NEW COST PER TOUCH</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₹18</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After RPA + AI + mining were stacked in the right order.</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ANNUAL SAVING</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₹247 Cr</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Payback in 11 months. The stack behind it is what we study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Define RPA, AI and process mining — and how they fit together.</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Pick the optimal stack order for a smart automation programme.</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Identify automation candidates from real back-office workloads.</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Apply the 5-factor ROI model to prioritise opportunities.</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Compare leading enterprise automation tools at a glance.</a:t>
            </a:r>
          </a:p>
        </p:txBody>
      </p:sp>
      <p:sp>
        <p:nvSpPr>
          <p:cNvPr id="22" name="Oval 21"/>
          <p:cNvSpPr/>
          <p:nvPr/>
        </p:nvSpPr>
        <p:spPr>
          <a:xfrm>
            <a:off x="608076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076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6</a:t>
            </a:r>
          </a:p>
        </p:txBody>
      </p:sp>
      <p:sp>
        <p:nvSpPr>
          <p:cNvPr id="24" name="TextBox 23"/>
          <p:cNvSpPr txBox="1"/>
          <p:nvPr/>
        </p:nvSpPr>
        <p:spPr>
          <a:xfrm>
            <a:off x="662940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Build a 90-day pitch that wins funding for a smart automation pilot.</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The three horsemen</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RPA, AI and process mining — each one's strength, weakness, and natural place in the stack.</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Stack order matters</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Mine first. Automate next. Add intelligence last. Reverse it and the programme stalls.</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5-factor ROI</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Volume × handle-time × error rate × strategic fit ÷ build cost. The math behind 'fund this'.</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Tools &amp; pitch</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UiPath, Automation Anywhere, Power Automate — and the one-page pitch that gets the cheque.</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The three horsemen of smart automation</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Each one is powerful alone. Combined, they let work happen at machine scale.</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THE  THREE  TECHNOLOGIES</a:t>
            </a:r>
          </a:p>
        </p:txBody>
      </p:sp>
      <p:sp>
        <p:nvSpPr>
          <p:cNvPr id="6" name="TextBox 5"/>
          <p:cNvSpPr txBox="1"/>
          <p:nvPr/>
        </p:nvSpPr>
        <p:spPr>
          <a:xfrm>
            <a:off x="548640" y="1463040"/>
            <a:ext cx="10515600" cy="1097280"/>
          </a:xfrm>
          <a:prstGeom prst="rect">
            <a:avLst/>
          </a:prstGeom>
          <a:noFill/>
        </p:spPr>
        <p:txBody>
          <a:bodyPr wrap="square" lIns="0" rIns="0" tIns="0" bIns="0" anchor="t">
            <a:spAutoFit/>
          </a:bodyPr>
          <a:lstStyle/>
          <a:p>
            <a:pPr algn="l"/>
            <a:r>
              <a:rPr sz="2800" b="0" i="0">
                <a:solidFill>
                  <a:srgbClr val="FFFFFF"/>
                </a:solidFill>
                <a:latin typeface="Georgia"/>
              </a:rPr>
              <a:t>What each one does — and what each one cannot do</a:t>
            </a:r>
          </a:p>
        </p:txBody>
      </p:sp>
      <p:sp>
        <p:nvSpPr>
          <p:cNvPr id="7" name="TextBox 6"/>
          <p:cNvSpPr txBox="1"/>
          <p:nvPr/>
        </p:nvSpPr>
        <p:spPr>
          <a:xfrm>
            <a:off x="548640" y="228600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Naming each correctly is half the battle in any meeting. Confuse RPA with AI in front of an exec, and you lose the room.</a:t>
            </a:r>
          </a:p>
        </p:txBody>
      </p:sp>
      <p:sp>
        <p:nvSpPr>
          <p:cNvPr id="8" name="Rectangle 7"/>
          <p:cNvSpPr/>
          <p:nvPr/>
        </p:nvSpPr>
        <p:spPr>
          <a:xfrm>
            <a:off x="548640" y="3154680"/>
            <a:ext cx="356616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R</a:t>
            </a:r>
          </a:p>
        </p:txBody>
      </p:sp>
      <p:sp>
        <p:nvSpPr>
          <p:cNvPr id="11" name="TextBox 10"/>
          <p:cNvSpPr txBox="1"/>
          <p:nvPr/>
        </p:nvSpPr>
        <p:spPr>
          <a:xfrm>
            <a:off x="1371600" y="344728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RPA</a:t>
            </a:r>
          </a:p>
        </p:txBody>
      </p:sp>
      <p:sp>
        <p:nvSpPr>
          <p:cNvPr id="12" name="TextBox 11"/>
          <p:cNvSpPr txBox="1"/>
          <p:nvPr/>
        </p:nvSpPr>
        <p:spPr>
          <a:xfrm>
            <a:off x="1371600" y="3675888"/>
            <a:ext cx="2651760" cy="365760"/>
          </a:xfrm>
          <a:prstGeom prst="rect">
            <a:avLst/>
          </a:prstGeom>
          <a:noFill/>
        </p:spPr>
        <p:txBody>
          <a:bodyPr wrap="square" lIns="0" rIns="0" tIns="0" bIns="0" anchor="t">
            <a:spAutoFit/>
          </a:bodyPr>
          <a:lstStyle/>
          <a:p>
            <a:pPr algn="l"/>
            <a:r>
              <a:rPr sz="1600" b="1" i="0">
                <a:solidFill>
                  <a:srgbClr val="FFFFFF"/>
                </a:solidFill>
                <a:latin typeface="Georgia"/>
              </a:rPr>
              <a:t>Robotic Process Automation</a:t>
            </a:r>
          </a:p>
        </p:txBody>
      </p:sp>
      <p:sp>
        <p:nvSpPr>
          <p:cNvPr id="13" name="TextBox 12"/>
          <p:cNvSpPr txBox="1"/>
          <p:nvPr/>
        </p:nvSpPr>
        <p:spPr>
          <a:xfrm>
            <a:off x="822960" y="4069080"/>
            <a:ext cx="301752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Software bots that click, type and copy across screens — exactly as a human would. Best for high-volume, rule-based, fully digital steps.</a:t>
            </a:r>
          </a:p>
        </p:txBody>
      </p:sp>
      <p:sp>
        <p:nvSpPr>
          <p:cNvPr id="14" name="Rectangle 13"/>
          <p:cNvSpPr/>
          <p:nvPr/>
        </p:nvSpPr>
        <p:spPr>
          <a:xfrm>
            <a:off x="4297680" y="3154680"/>
            <a:ext cx="356616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200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A</a:t>
            </a:r>
          </a:p>
        </p:txBody>
      </p:sp>
      <p:sp>
        <p:nvSpPr>
          <p:cNvPr id="17" name="TextBox 16"/>
          <p:cNvSpPr txBox="1"/>
          <p:nvPr/>
        </p:nvSpPr>
        <p:spPr>
          <a:xfrm>
            <a:off x="5120640" y="344728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AI</a:t>
            </a:r>
          </a:p>
        </p:txBody>
      </p:sp>
      <p:sp>
        <p:nvSpPr>
          <p:cNvPr id="18" name="TextBox 17"/>
          <p:cNvSpPr txBox="1"/>
          <p:nvPr/>
        </p:nvSpPr>
        <p:spPr>
          <a:xfrm>
            <a:off x="5120640" y="3675888"/>
            <a:ext cx="2651760" cy="365760"/>
          </a:xfrm>
          <a:prstGeom prst="rect">
            <a:avLst/>
          </a:prstGeom>
          <a:noFill/>
        </p:spPr>
        <p:txBody>
          <a:bodyPr wrap="square" lIns="0" rIns="0" tIns="0" bIns="0" anchor="t">
            <a:spAutoFit/>
          </a:bodyPr>
          <a:lstStyle/>
          <a:p>
            <a:pPr algn="l"/>
            <a:r>
              <a:rPr sz="1600" b="1" i="0">
                <a:solidFill>
                  <a:srgbClr val="FFFFFF"/>
                </a:solidFill>
                <a:latin typeface="Georgia"/>
              </a:rPr>
              <a:t>Artificial Intelligence</a:t>
            </a:r>
          </a:p>
        </p:txBody>
      </p:sp>
      <p:sp>
        <p:nvSpPr>
          <p:cNvPr id="19" name="TextBox 18"/>
          <p:cNvSpPr txBox="1"/>
          <p:nvPr/>
        </p:nvSpPr>
        <p:spPr>
          <a:xfrm>
            <a:off x="4572000" y="4069080"/>
            <a:ext cx="301752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Cognition layer — handles the fuzzy stuff. Reads handwritten forms, classifies emails, extracts entities. Steps the bot can't do alone.</a:t>
            </a:r>
          </a:p>
        </p:txBody>
      </p:sp>
      <p:sp>
        <p:nvSpPr>
          <p:cNvPr id="20" name="Rectangle 19"/>
          <p:cNvSpPr/>
          <p:nvPr/>
        </p:nvSpPr>
        <p:spPr>
          <a:xfrm>
            <a:off x="8046720" y="3154680"/>
            <a:ext cx="356616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104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M</a:t>
            </a:r>
          </a:p>
        </p:txBody>
      </p:sp>
      <p:sp>
        <p:nvSpPr>
          <p:cNvPr id="23" name="TextBox 22"/>
          <p:cNvSpPr txBox="1"/>
          <p:nvPr/>
        </p:nvSpPr>
        <p:spPr>
          <a:xfrm>
            <a:off x="8869680" y="344728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PROCESS  MINING</a:t>
            </a:r>
          </a:p>
        </p:txBody>
      </p:sp>
      <p:sp>
        <p:nvSpPr>
          <p:cNvPr id="24" name="TextBox 23"/>
          <p:cNvSpPr txBox="1"/>
          <p:nvPr/>
        </p:nvSpPr>
        <p:spPr>
          <a:xfrm>
            <a:off x="8869680" y="3675888"/>
            <a:ext cx="2651760" cy="365760"/>
          </a:xfrm>
          <a:prstGeom prst="rect">
            <a:avLst/>
          </a:prstGeom>
          <a:noFill/>
        </p:spPr>
        <p:txBody>
          <a:bodyPr wrap="square" lIns="0" rIns="0" tIns="0" bIns="0" anchor="t">
            <a:spAutoFit/>
          </a:bodyPr>
          <a:lstStyle/>
          <a:p>
            <a:pPr algn="l"/>
            <a:r>
              <a:rPr sz="1600" b="1" i="0">
                <a:solidFill>
                  <a:srgbClr val="FFFFFF"/>
                </a:solidFill>
                <a:latin typeface="Georgia"/>
              </a:rPr>
              <a:t>Process Mining</a:t>
            </a:r>
          </a:p>
        </p:txBody>
      </p:sp>
      <p:sp>
        <p:nvSpPr>
          <p:cNvPr id="25" name="TextBox 24"/>
          <p:cNvSpPr txBox="1"/>
          <p:nvPr/>
        </p:nvSpPr>
        <p:spPr>
          <a:xfrm>
            <a:off x="8321040" y="4069080"/>
            <a:ext cx="301752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Reads system logs and reconstructs how work *actually* flows — not how the SOP says. Surfaces hidden loops, rework and exceptions.</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THREE HORSEMEN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STACK  ORDER</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Mine first. Automate next. Add intelligence last.</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Most failed automation programmes get the order wrong. They start with RPA on whatever a stakeholder volunteered, and discover six months later that the bot is automating exceptions, not the rule.
The right order:
·  Mine — reveal what's *actually* happening.
·  Automate — RPA the stable, rule-based steps.
·  Augment — bring AI to the few steps where humans were guessing.</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WHY  IT  WORKS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Mining shows you the loops nobody mentioned — fix them first.</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RPA on stable steps yields predictable, fast ROI.</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AI is reserved for ambiguity — where it earns its keep.</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Reversing the order means automating chaos, then realising.</a:t>
            </a:r>
          </a:p>
        </p:txBody>
      </p:sp>
      <p:sp>
        <p:nvSpPr>
          <p:cNvPr id="18" name="Oval 17"/>
          <p:cNvSpPr/>
          <p:nvPr/>
        </p:nvSpPr>
        <p:spPr>
          <a:xfrm>
            <a:off x="7635240" y="5212080"/>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5047488"/>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The case studies that work all share this sequence.</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STACK ORDER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Spotting candidates worth automating</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The right candidate is not the loudest one. It's the one that scores well on five quiet factors.</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CANDIDATE  CRITERIA</a:t>
            </a:r>
          </a:p>
        </p:txBody>
      </p:sp>
      <p:sp>
        <p:nvSpPr>
          <p:cNvPr id="6" name="TextBox 5"/>
          <p:cNvSpPr txBox="1"/>
          <p:nvPr/>
        </p:nvSpPr>
        <p:spPr>
          <a:xfrm>
            <a:off x="548640" y="1463040"/>
            <a:ext cx="10515600" cy="1097280"/>
          </a:xfrm>
          <a:prstGeom prst="rect">
            <a:avLst/>
          </a:prstGeom>
          <a:noFill/>
        </p:spPr>
        <p:txBody>
          <a:bodyPr wrap="square" lIns="0" rIns="0" tIns="0" bIns="0" anchor="t">
            <a:spAutoFit/>
          </a:bodyPr>
          <a:lstStyle/>
          <a:p>
            <a:pPr algn="l"/>
            <a:r>
              <a:rPr sz="2800" b="0" i="0">
                <a:solidFill>
                  <a:srgbClr val="0F1F1A"/>
                </a:solidFill>
                <a:latin typeface="Georgia"/>
              </a:rPr>
              <a:t>Six criteria that decide whether a process is worth automating</a:t>
            </a:r>
          </a:p>
        </p:txBody>
      </p:sp>
      <p:sp>
        <p:nvSpPr>
          <p:cNvPr id="7" name="TextBox 6"/>
          <p:cNvSpPr txBox="1"/>
          <p:nvPr/>
        </p:nvSpPr>
        <p:spPr>
          <a:xfrm>
            <a:off x="548640" y="2286000"/>
            <a:ext cx="105156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Score each criterion 1–5. A candidate that averages above 3.5 is fundable. Below 3, walk away.</a:t>
            </a:r>
          </a:p>
        </p:txBody>
      </p:sp>
      <p:sp>
        <p:nvSpPr>
          <p:cNvPr id="8" name="Rectangle 7"/>
          <p:cNvSpPr/>
          <p:nvPr/>
        </p:nvSpPr>
        <p:spPr>
          <a:xfrm>
            <a:off x="548640" y="297180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24612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2461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V</a:t>
            </a:r>
          </a:p>
        </p:txBody>
      </p:sp>
      <p:sp>
        <p:nvSpPr>
          <p:cNvPr id="11" name="TextBox 10"/>
          <p:cNvSpPr txBox="1"/>
          <p:nvPr/>
        </p:nvSpPr>
        <p:spPr>
          <a:xfrm>
            <a:off x="1371600" y="32644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VOLUME</a:t>
            </a:r>
          </a:p>
        </p:txBody>
      </p:sp>
      <p:sp>
        <p:nvSpPr>
          <p:cNvPr id="12" name="TextBox 11"/>
          <p:cNvSpPr txBox="1"/>
          <p:nvPr/>
        </p:nvSpPr>
        <p:spPr>
          <a:xfrm>
            <a:off x="1371600" y="3493008"/>
            <a:ext cx="2651760" cy="365760"/>
          </a:xfrm>
          <a:prstGeom prst="rect">
            <a:avLst/>
          </a:prstGeom>
          <a:noFill/>
        </p:spPr>
        <p:txBody>
          <a:bodyPr wrap="square" lIns="0" rIns="0" tIns="0" bIns="0" anchor="t">
            <a:spAutoFit/>
          </a:bodyPr>
          <a:lstStyle/>
          <a:p>
            <a:pPr algn="l"/>
            <a:r>
              <a:rPr sz="1500" b="1" i="0">
                <a:solidFill>
                  <a:srgbClr val="0F1F1A"/>
                </a:solidFill>
                <a:latin typeface="Georgia"/>
              </a:rPr>
              <a:t>High volume</a:t>
            </a:r>
          </a:p>
        </p:txBody>
      </p:sp>
      <p:sp>
        <p:nvSpPr>
          <p:cNvPr id="13" name="TextBox 12"/>
          <p:cNvSpPr txBox="1"/>
          <p:nvPr/>
        </p:nvSpPr>
        <p:spPr>
          <a:xfrm>
            <a:off x="822960" y="388620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More cases per year = more savings. &lt; 1,000 cases/yr is rarely worth it.</a:t>
            </a:r>
          </a:p>
        </p:txBody>
      </p:sp>
      <p:sp>
        <p:nvSpPr>
          <p:cNvPr id="14" name="Rectangle 13"/>
          <p:cNvSpPr/>
          <p:nvPr/>
        </p:nvSpPr>
        <p:spPr>
          <a:xfrm>
            <a:off x="4297680" y="297180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2000" y="324612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32461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R</a:t>
            </a:r>
          </a:p>
        </p:txBody>
      </p:sp>
      <p:sp>
        <p:nvSpPr>
          <p:cNvPr id="17" name="TextBox 16"/>
          <p:cNvSpPr txBox="1"/>
          <p:nvPr/>
        </p:nvSpPr>
        <p:spPr>
          <a:xfrm>
            <a:off x="5120640" y="32644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RULES</a:t>
            </a:r>
          </a:p>
        </p:txBody>
      </p:sp>
      <p:sp>
        <p:nvSpPr>
          <p:cNvPr id="18" name="TextBox 17"/>
          <p:cNvSpPr txBox="1"/>
          <p:nvPr/>
        </p:nvSpPr>
        <p:spPr>
          <a:xfrm>
            <a:off x="5120640" y="3493008"/>
            <a:ext cx="2651760" cy="365760"/>
          </a:xfrm>
          <a:prstGeom prst="rect">
            <a:avLst/>
          </a:prstGeom>
          <a:noFill/>
        </p:spPr>
        <p:txBody>
          <a:bodyPr wrap="square" lIns="0" rIns="0" tIns="0" bIns="0" anchor="t">
            <a:spAutoFit/>
          </a:bodyPr>
          <a:lstStyle/>
          <a:p>
            <a:pPr algn="l"/>
            <a:r>
              <a:rPr sz="1500" b="1" i="0">
                <a:solidFill>
                  <a:srgbClr val="0F1F1A"/>
                </a:solidFill>
                <a:latin typeface="Georgia"/>
              </a:rPr>
              <a:t>Rule-based</a:t>
            </a:r>
          </a:p>
        </p:txBody>
      </p:sp>
      <p:sp>
        <p:nvSpPr>
          <p:cNvPr id="19" name="TextBox 18"/>
          <p:cNvSpPr txBox="1"/>
          <p:nvPr/>
        </p:nvSpPr>
        <p:spPr>
          <a:xfrm>
            <a:off x="4572000" y="388620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Decisions you can list as if/then. If a human says 'it depends', it's not RPA-ready yet.</a:t>
            </a:r>
          </a:p>
        </p:txBody>
      </p:sp>
      <p:sp>
        <p:nvSpPr>
          <p:cNvPr id="20" name="Rectangle 19"/>
          <p:cNvSpPr/>
          <p:nvPr/>
        </p:nvSpPr>
        <p:spPr>
          <a:xfrm>
            <a:off x="8046720" y="297180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1040" y="324612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2461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D</a:t>
            </a:r>
          </a:p>
        </p:txBody>
      </p:sp>
      <p:sp>
        <p:nvSpPr>
          <p:cNvPr id="23" name="TextBox 22"/>
          <p:cNvSpPr txBox="1"/>
          <p:nvPr/>
        </p:nvSpPr>
        <p:spPr>
          <a:xfrm>
            <a:off x="8869680" y="32644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DIGITAL</a:t>
            </a:r>
          </a:p>
        </p:txBody>
      </p:sp>
      <p:sp>
        <p:nvSpPr>
          <p:cNvPr id="24" name="TextBox 23"/>
          <p:cNvSpPr txBox="1"/>
          <p:nvPr/>
        </p:nvSpPr>
        <p:spPr>
          <a:xfrm>
            <a:off x="8869680" y="3493008"/>
            <a:ext cx="2651760" cy="365760"/>
          </a:xfrm>
          <a:prstGeom prst="rect">
            <a:avLst/>
          </a:prstGeom>
          <a:noFill/>
        </p:spPr>
        <p:txBody>
          <a:bodyPr wrap="square" lIns="0" rIns="0" tIns="0" bIns="0" anchor="t">
            <a:spAutoFit/>
          </a:bodyPr>
          <a:lstStyle/>
          <a:p>
            <a:pPr algn="l"/>
            <a:r>
              <a:rPr sz="1500" b="1" i="0">
                <a:solidFill>
                  <a:srgbClr val="0F1F1A"/>
                </a:solidFill>
                <a:latin typeface="Georgia"/>
              </a:rPr>
              <a:t>Fully digital</a:t>
            </a:r>
          </a:p>
        </p:txBody>
      </p:sp>
      <p:sp>
        <p:nvSpPr>
          <p:cNvPr id="25" name="TextBox 24"/>
          <p:cNvSpPr txBox="1"/>
          <p:nvPr/>
        </p:nvSpPr>
        <p:spPr>
          <a:xfrm>
            <a:off x="8321040" y="388620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Inputs and outputs are screens, files, emails. Paper and phone calls fail step one.</a:t>
            </a:r>
          </a:p>
        </p:txBody>
      </p:sp>
      <p:sp>
        <p:nvSpPr>
          <p:cNvPr id="26" name="Rectangle 25"/>
          <p:cNvSpPr/>
          <p:nvPr/>
        </p:nvSpPr>
        <p:spPr>
          <a:xfrm>
            <a:off x="548640" y="466344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93776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937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S</a:t>
            </a:r>
          </a:p>
        </p:txBody>
      </p:sp>
      <p:sp>
        <p:nvSpPr>
          <p:cNvPr id="29" name="TextBox 28"/>
          <p:cNvSpPr txBox="1"/>
          <p:nvPr/>
        </p:nvSpPr>
        <p:spPr>
          <a:xfrm>
            <a:off x="1371600" y="4956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STABLE</a:t>
            </a:r>
          </a:p>
        </p:txBody>
      </p:sp>
      <p:sp>
        <p:nvSpPr>
          <p:cNvPr id="30" name="TextBox 29"/>
          <p:cNvSpPr txBox="1"/>
          <p:nvPr/>
        </p:nvSpPr>
        <p:spPr>
          <a:xfrm>
            <a:off x="1371600" y="5184648"/>
            <a:ext cx="2651760" cy="365760"/>
          </a:xfrm>
          <a:prstGeom prst="rect">
            <a:avLst/>
          </a:prstGeom>
          <a:noFill/>
        </p:spPr>
        <p:txBody>
          <a:bodyPr wrap="square" lIns="0" rIns="0" tIns="0" bIns="0" anchor="t">
            <a:spAutoFit/>
          </a:bodyPr>
          <a:lstStyle/>
          <a:p>
            <a:pPr algn="l"/>
            <a:r>
              <a:rPr sz="1500" b="1" i="0">
                <a:solidFill>
                  <a:srgbClr val="0F1F1A"/>
                </a:solidFill>
                <a:latin typeface="Georgia"/>
              </a:rPr>
              <a:t>Stable steps</a:t>
            </a:r>
          </a:p>
        </p:txBody>
      </p:sp>
      <p:sp>
        <p:nvSpPr>
          <p:cNvPr id="31" name="TextBox 30"/>
          <p:cNvSpPr txBox="1"/>
          <p:nvPr/>
        </p:nvSpPr>
        <p:spPr>
          <a:xfrm>
            <a:off x="822960" y="557784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The process hasn't changed in months. Bots break when interfaces or rules shift weekly.</a:t>
            </a:r>
          </a:p>
        </p:txBody>
      </p:sp>
      <p:sp>
        <p:nvSpPr>
          <p:cNvPr id="32" name="Rectangle 31"/>
          <p:cNvSpPr/>
          <p:nvPr/>
        </p:nvSpPr>
        <p:spPr>
          <a:xfrm>
            <a:off x="4297680" y="466344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72000" y="493776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0" y="4937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E</a:t>
            </a:r>
          </a:p>
        </p:txBody>
      </p:sp>
      <p:sp>
        <p:nvSpPr>
          <p:cNvPr id="35" name="TextBox 34"/>
          <p:cNvSpPr txBox="1"/>
          <p:nvPr/>
        </p:nvSpPr>
        <p:spPr>
          <a:xfrm>
            <a:off x="5120640" y="4956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ERROR  COSTLY</a:t>
            </a:r>
          </a:p>
        </p:txBody>
      </p:sp>
      <p:sp>
        <p:nvSpPr>
          <p:cNvPr id="36" name="TextBox 35"/>
          <p:cNvSpPr txBox="1"/>
          <p:nvPr/>
        </p:nvSpPr>
        <p:spPr>
          <a:xfrm>
            <a:off x="5120640" y="5184648"/>
            <a:ext cx="2651760" cy="365760"/>
          </a:xfrm>
          <a:prstGeom prst="rect">
            <a:avLst/>
          </a:prstGeom>
          <a:noFill/>
        </p:spPr>
        <p:txBody>
          <a:bodyPr wrap="square" lIns="0" rIns="0" tIns="0" bIns="0" anchor="t">
            <a:spAutoFit/>
          </a:bodyPr>
          <a:lstStyle/>
          <a:p>
            <a:pPr algn="l"/>
            <a:r>
              <a:rPr sz="1500" b="1" i="0">
                <a:solidFill>
                  <a:srgbClr val="0F1F1A"/>
                </a:solidFill>
                <a:latin typeface="Georgia"/>
              </a:rPr>
              <a:t>Error rate matters</a:t>
            </a:r>
          </a:p>
        </p:txBody>
      </p:sp>
      <p:sp>
        <p:nvSpPr>
          <p:cNvPr id="37" name="TextBox 36"/>
          <p:cNvSpPr txBox="1"/>
          <p:nvPr/>
        </p:nvSpPr>
        <p:spPr>
          <a:xfrm>
            <a:off x="4572000" y="557784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The pain of a wrong outcome is high — re-work, customer harm, regulator letter.</a:t>
            </a:r>
          </a:p>
        </p:txBody>
      </p:sp>
      <p:sp>
        <p:nvSpPr>
          <p:cNvPr id="38" name="Rectangle 37"/>
          <p:cNvSpPr/>
          <p:nvPr/>
        </p:nvSpPr>
        <p:spPr>
          <a:xfrm>
            <a:off x="8046720" y="4663440"/>
            <a:ext cx="3566160" cy="15544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21040" y="4937760"/>
            <a:ext cx="457200" cy="457200"/>
          </a:xfrm>
          <a:prstGeom prst="ellipse">
            <a:avLst/>
          </a:prstGeom>
          <a:solidFill>
            <a:srgbClr val="EA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0" y="4937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T</a:t>
            </a:r>
          </a:p>
        </p:txBody>
      </p:sp>
      <p:sp>
        <p:nvSpPr>
          <p:cNvPr id="41" name="TextBox 40"/>
          <p:cNvSpPr txBox="1"/>
          <p:nvPr/>
        </p:nvSpPr>
        <p:spPr>
          <a:xfrm>
            <a:off x="8869680" y="4956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TIME-CONSUMING</a:t>
            </a:r>
          </a:p>
        </p:txBody>
      </p:sp>
      <p:sp>
        <p:nvSpPr>
          <p:cNvPr id="42" name="TextBox 41"/>
          <p:cNvSpPr txBox="1"/>
          <p:nvPr/>
        </p:nvSpPr>
        <p:spPr>
          <a:xfrm>
            <a:off x="8869680" y="5184648"/>
            <a:ext cx="2651760" cy="365760"/>
          </a:xfrm>
          <a:prstGeom prst="rect">
            <a:avLst/>
          </a:prstGeom>
          <a:noFill/>
        </p:spPr>
        <p:txBody>
          <a:bodyPr wrap="square" lIns="0" rIns="0" tIns="0" bIns="0" anchor="t">
            <a:spAutoFit/>
          </a:bodyPr>
          <a:lstStyle/>
          <a:p>
            <a:pPr algn="l"/>
            <a:r>
              <a:rPr sz="1500" b="1" i="0">
                <a:solidFill>
                  <a:srgbClr val="0F1F1A"/>
                </a:solidFill>
                <a:latin typeface="Georgia"/>
              </a:rPr>
              <a:t>Time-consuming</a:t>
            </a:r>
          </a:p>
        </p:txBody>
      </p:sp>
      <p:sp>
        <p:nvSpPr>
          <p:cNvPr id="43" name="TextBox 42"/>
          <p:cNvSpPr txBox="1"/>
          <p:nvPr/>
        </p:nvSpPr>
        <p:spPr>
          <a:xfrm>
            <a:off x="8321040" y="5577840"/>
            <a:ext cx="3017520" cy="502920"/>
          </a:xfrm>
          <a:prstGeom prst="rect">
            <a:avLst/>
          </a:prstGeom>
          <a:noFill/>
        </p:spPr>
        <p:txBody>
          <a:bodyPr wrap="square" lIns="0" rIns="0" tIns="0" bIns="0" anchor="t">
            <a:spAutoFit/>
          </a:bodyPr>
          <a:lstStyle/>
          <a:p>
            <a:pPr algn="l">
              <a:lnSpc>
                <a:spcPct val="130000"/>
              </a:lnSpc>
            </a:pPr>
            <a:r>
              <a:rPr sz="1050" b="0" i="0">
                <a:solidFill>
                  <a:srgbClr val="475569"/>
                </a:solidFill>
                <a:latin typeface="Calibri"/>
              </a:rPr>
              <a:t>Each case takes minutes, not seconds. Sub-30-second tasks rarely repay the build.</a:t>
            </a:r>
          </a:p>
        </p:txBody>
      </p:sp>
      <p:sp>
        <p:nvSpPr>
          <p:cNvPr id="44" name="TextBox 4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45" name="TextBox 4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CANDIDATES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par>
                    <p:cTn id="188" fill="hold">
                      <p:stCondLst>
                        <p:cond delay="indefinite"/>
                        <p:cond evt="onBegin" delay="0">
                          <p:tn val="2"/>
                        </p:cond>
                      </p:stCondLst>
                      <p:childTnLst>
                        <p:par>
                          <p:cTn id="189" fill="hold">
                            <p:stCondLst>
                              <p:cond delay="0"/>
                            </p:stCondLst>
                            <p:childTnLst>
                              <p:par>
                                <p:cTn id="190" presetID="10" presetClass="entr" presetSubtype="0" fill="hold" grpId="0" nodeType="afterEffect">
                                  <p:stCondLst>
                                    <p:cond delay="18"/>
                                  </p:stCondLst>
                                  <p:childTnLst>
                                    <p:set>
                                      <p:cBhvr>
                                        <p:cTn id="191" dur="1" fill="hold">
                                          <p:stCondLst>
                                            <p:cond delay="0"/>
                                          </p:stCondLst>
                                        </p:cTn>
                                        <p:tgtEl>
                                          <p:spTgt spid="39"/>
                                        </p:tgtEl>
                                        <p:attrNameLst>
                                          <p:attrName>style.visibility</p:attrName>
                                        </p:attrNameLst>
                                      </p:cBhvr>
                                      <p:to>
                                        <p:strVal val="visible"/>
                                      </p:to>
                                    </p:set>
                                    <p:anim calcmode="lin" valueType="num">
                                      <p:cBhvr additive="base">
                                        <p:cTn id="192" dur="150" fill="hold"/>
                                        <p:tgtEl>
                                          <p:spTgt spid="39"/>
                                        </p:tgtEl>
                                        <p:attrNameLst>
                                          <p:attrName>style.opacity</p:attrName>
                                        </p:attrNameLst>
                                      </p:cBhvr>
                                      <p:tavLst>
                                        <p:tav tm="0">
                                          <p:val>
                                            <p:fltVal val="0"/>
                                          </p:val>
                                        </p:tav>
                                        <p:tav tm="100000">
                                          <p:val>
                                            <p:fltVal val="1"/>
                                          </p:val>
                                        </p:tav>
                                      </p:tavLst>
                                    </p:anim>
                                  </p:childTnLst>
                                </p:cTn>
                              </p:par>
                            </p:childTnLst>
                          </p:cTn>
                        </p:par>
                      </p:childTnLst>
                    </p:cTn>
                  </p:par>
                  <p:par>
                    <p:cTn id="193" fill="hold">
                      <p:stCondLst>
                        <p:cond delay="indefinite"/>
                        <p:cond evt="onBegin" delay="0">
                          <p:tn val="2"/>
                        </p:cond>
                      </p:stCondLst>
                      <p:childTnLst>
                        <p:par>
                          <p:cTn id="194" fill="hold">
                            <p:stCondLst>
                              <p:cond delay="0"/>
                            </p:stCondLst>
                            <p:childTnLst>
                              <p:par>
                                <p:cTn id="195" presetID="10" presetClass="entr" presetSubtype="0" fill="hold" grpId="0" nodeType="afterEffect">
                                  <p:stCondLst>
                                    <p:cond delay="18"/>
                                  </p:stCondLst>
                                  <p:childTnLst>
                                    <p:set>
                                      <p:cBhvr>
                                        <p:cTn id="196" dur="1" fill="hold">
                                          <p:stCondLst>
                                            <p:cond delay="0"/>
                                          </p:stCondLst>
                                        </p:cTn>
                                        <p:tgtEl>
                                          <p:spTgt spid="40"/>
                                        </p:tgtEl>
                                        <p:attrNameLst>
                                          <p:attrName>style.visibility</p:attrName>
                                        </p:attrNameLst>
                                      </p:cBhvr>
                                      <p:to>
                                        <p:strVal val="visible"/>
                                      </p:to>
                                    </p:set>
                                    <p:anim calcmode="lin" valueType="num">
                                      <p:cBhvr additive="base">
                                        <p:cTn id="197" dur="150" fill="hold"/>
                                        <p:tgtEl>
                                          <p:spTgt spid="40"/>
                                        </p:tgtEl>
                                        <p:attrNameLst>
                                          <p:attrName>style.opacity</p:attrName>
                                        </p:attrNameLst>
                                      </p:cBhvr>
                                      <p:tavLst>
                                        <p:tav tm="0">
                                          <p:val>
                                            <p:fltVal val="0"/>
                                          </p:val>
                                        </p:tav>
                                        <p:tav tm="100000">
                                          <p:val>
                                            <p:fltVal val="1"/>
                                          </p:val>
                                        </p:tav>
                                      </p:tavLst>
                                    </p:anim>
                                  </p:childTnLst>
                                </p:cTn>
                              </p:par>
                            </p:childTnLst>
                          </p:cTn>
                        </p:par>
                      </p:childTnLst>
                    </p:cTn>
                  </p:par>
                  <p:par>
                    <p:cTn id="198" fill="hold">
                      <p:stCondLst>
                        <p:cond delay="indefinite"/>
                        <p:cond evt="onBegin" delay="0">
                          <p:tn val="2"/>
                        </p:cond>
                      </p:stCondLst>
                      <p:childTnLst>
                        <p:par>
                          <p:cTn id="199" fill="hold">
                            <p:stCondLst>
                              <p:cond delay="0"/>
                            </p:stCondLst>
                            <p:childTnLst>
                              <p:par>
                                <p:cTn id="200" presetID="10" presetClass="entr" presetSubtype="0" fill="hold" grpId="0" nodeType="afterEffect">
                                  <p:stCondLst>
                                    <p:cond delay="18"/>
                                  </p:stCondLst>
                                  <p:childTnLst>
                                    <p:set>
                                      <p:cBhvr>
                                        <p:cTn id="201" dur="1" fill="hold">
                                          <p:stCondLst>
                                            <p:cond delay="0"/>
                                          </p:stCondLst>
                                        </p:cTn>
                                        <p:tgtEl>
                                          <p:spTgt spid="41"/>
                                        </p:tgtEl>
                                        <p:attrNameLst>
                                          <p:attrName>style.visibility</p:attrName>
                                        </p:attrNameLst>
                                      </p:cBhvr>
                                      <p:to>
                                        <p:strVal val="visible"/>
                                      </p:to>
                                    </p:set>
                                    <p:anim calcmode="lin" valueType="num">
                                      <p:cBhvr additive="base">
                                        <p:cTn id="202" dur="150" fill="hold"/>
                                        <p:tgtEl>
                                          <p:spTgt spid="41"/>
                                        </p:tgtEl>
                                        <p:attrNameLst>
                                          <p:attrName>style.opacity</p:attrName>
                                        </p:attrNameLst>
                                      </p:cBhvr>
                                      <p:tavLst>
                                        <p:tav tm="0">
                                          <p:val>
                                            <p:fltVal val="0"/>
                                          </p:val>
                                        </p:tav>
                                        <p:tav tm="100000">
                                          <p:val>
                                            <p:fltVal val="1"/>
                                          </p:val>
                                        </p:tav>
                                      </p:tavLst>
                                    </p:anim>
                                  </p:childTnLst>
                                </p:cTn>
                              </p:par>
                            </p:childTnLst>
                          </p:cTn>
                        </p:par>
                      </p:childTnLst>
                    </p:cTn>
                  </p:par>
                  <p:par>
                    <p:cTn id="203" fill="hold">
                      <p:stCondLst>
                        <p:cond delay="indefinite"/>
                        <p:cond evt="onBegin" delay="0">
                          <p:tn val="2"/>
                        </p:cond>
                      </p:stCondLst>
                      <p:childTnLst>
                        <p:par>
                          <p:cTn id="204" fill="hold">
                            <p:stCondLst>
                              <p:cond delay="0"/>
                            </p:stCondLst>
                            <p:childTnLst>
                              <p:par>
                                <p:cTn id="205" presetID="10" presetClass="entr" presetSubtype="0" fill="hold" grpId="0" nodeType="afterEffect">
                                  <p:stCondLst>
                                    <p:cond delay="18"/>
                                  </p:stCondLst>
                                  <p:childTnLst>
                                    <p:set>
                                      <p:cBhvr>
                                        <p:cTn id="206" dur="1" fill="hold">
                                          <p:stCondLst>
                                            <p:cond delay="0"/>
                                          </p:stCondLst>
                                        </p:cTn>
                                        <p:tgtEl>
                                          <p:spTgt spid="42"/>
                                        </p:tgtEl>
                                        <p:attrNameLst>
                                          <p:attrName>style.visibility</p:attrName>
                                        </p:attrNameLst>
                                      </p:cBhvr>
                                      <p:to>
                                        <p:strVal val="visible"/>
                                      </p:to>
                                    </p:set>
                                    <p:anim calcmode="lin" valueType="num">
                                      <p:cBhvr additive="base">
                                        <p:cTn id="207" dur="150" fill="hold"/>
                                        <p:tgtEl>
                                          <p:spTgt spid="42"/>
                                        </p:tgtEl>
                                        <p:attrNameLst>
                                          <p:attrName>style.opacity</p:attrName>
                                        </p:attrNameLst>
                                      </p:cBhvr>
                                      <p:tavLst>
                                        <p:tav tm="0">
                                          <p:val>
                                            <p:fltVal val="0"/>
                                          </p:val>
                                        </p:tav>
                                        <p:tav tm="100000">
                                          <p:val>
                                            <p:fltVal val="1"/>
                                          </p:val>
                                        </p:tav>
                                      </p:tavLst>
                                    </p:anim>
                                  </p:childTnLst>
                                </p:cTn>
                              </p:par>
                            </p:childTnLst>
                          </p:cTn>
                        </p:par>
                      </p:childTnLst>
                    </p:cTn>
                  </p:par>
                  <p:par>
                    <p:cTn id="208" fill="hold">
                      <p:stCondLst>
                        <p:cond delay="indefinite"/>
                        <p:cond evt="onBegin" delay="0">
                          <p:tn val="2"/>
                        </p:cond>
                      </p:stCondLst>
                      <p:childTnLst>
                        <p:par>
                          <p:cTn id="209" fill="hold">
                            <p:stCondLst>
                              <p:cond delay="0"/>
                            </p:stCondLst>
                            <p:childTnLst>
                              <p:par>
                                <p:cTn id="210" presetID="10" presetClass="entr" presetSubtype="0" fill="hold" grpId="0" nodeType="afterEffect">
                                  <p:stCondLst>
                                    <p:cond delay="18"/>
                                  </p:stCondLst>
                                  <p:childTnLst>
                                    <p:set>
                                      <p:cBhvr>
                                        <p:cTn id="211" dur="1" fill="hold">
                                          <p:stCondLst>
                                            <p:cond delay="0"/>
                                          </p:stCondLst>
                                        </p:cTn>
                                        <p:tgtEl>
                                          <p:spTgt spid="43"/>
                                        </p:tgtEl>
                                        <p:attrNameLst>
                                          <p:attrName>style.visibility</p:attrName>
                                        </p:attrNameLst>
                                      </p:cBhvr>
                                      <p:to>
                                        <p:strVal val="visible"/>
                                      </p:to>
                                    </p:set>
                                    <p:anim calcmode="lin" valueType="num">
                                      <p:cBhvr additive="base">
                                        <p:cTn id="212" dur="150" fill="hold"/>
                                        <p:tgtEl>
                                          <p:spTgt spid="43"/>
                                        </p:tgtEl>
                                        <p:attrNameLst>
                                          <p:attrName>style.opacity</p:attrName>
                                        </p:attrNameLst>
                                      </p:cBhvr>
                                      <p:tavLst>
                                        <p:tav tm="0">
                                          <p:val>
                                            <p:fltVal val="0"/>
                                          </p:val>
                                        </p:tav>
                                        <p:tav tm="100000">
                                          <p:val>
                                            <p:fltVal val="1"/>
                                          </p:val>
                                        </p:tav>
                                      </p:tavLst>
                                    </p:anim>
                                  </p:childTnLst>
                                </p:cTn>
                              </p:par>
                            </p:childTnLst>
                          </p:cTn>
                        </p:par>
                      </p:childTnLst>
                    </p:cTn>
                  </p:par>
                  <p:par>
                    <p:cTn id="213" fill="hold">
                      <p:stCondLst>
                        <p:cond delay="indefinite"/>
                        <p:cond evt="onBegin" delay="0">
                          <p:tn val="2"/>
                        </p:cond>
                      </p:stCondLst>
                      <p:childTnLst>
                        <p:par>
                          <p:cTn id="214" fill="hold">
                            <p:stCondLst>
                              <p:cond delay="0"/>
                            </p:stCondLst>
                            <p:childTnLst>
                              <p:par>
                                <p:cTn id="215" presetID="10" presetClass="entr" presetSubtype="0" fill="hold" grpId="0" nodeType="afterEffect">
                                  <p:stCondLst>
                                    <p:cond delay="18"/>
                                  </p:stCondLst>
                                  <p:childTnLst>
                                    <p:set>
                                      <p:cBhvr>
                                        <p:cTn id="216" dur="1" fill="hold">
                                          <p:stCondLst>
                                            <p:cond delay="0"/>
                                          </p:stCondLst>
                                        </p:cTn>
                                        <p:tgtEl>
                                          <p:spTgt spid="44"/>
                                        </p:tgtEl>
                                        <p:attrNameLst>
                                          <p:attrName>style.visibility</p:attrName>
                                        </p:attrNameLst>
                                      </p:cBhvr>
                                      <p:to>
                                        <p:strVal val="visible"/>
                                      </p:to>
                                    </p:set>
                                    <p:anim calcmode="lin" valueType="num">
                                      <p:cBhvr additive="base">
                                        <p:cTn id="217" dur="150" fill="hold"/>
                                        <p:tgtEl>
                                          <p:spTgt spid="44"/>
                                        </p:tgtEl>
                                        <p:attrNameLst>
                                          <p:attrName>style.opacity</p:attrName>
                                        </p:attrNameLst>
                                      </p:cBhvr>
                                      <p:tavLst>
                                        <p:tav tm="0">
                                          <p:val>
                                            <p:fltVal val="0"/>
                                          </p:val>
                                        </p:tav>
                                        <p:tav tm="100000">
                                          <p:val>
                                            <p:fltVal val="1"/>
                                          </p:val>
                                        </p:tav>
                                      </p:tavLst>
                                    </p:anim>
                                  </p:childTnLst>
                                </p:cTn>
                              </p:par>
                            </p:childTnLst>
                          </p:cTn>
                        </p:par>
                      </p:childTnLst>
                    </p:cTn>
                  </p:par>
                  <p:par>
                    <p:cTn id="218" fill="hold">
                      <p:stCondLst>
                        <p:cond delay="indefinite"/>
                        <p:cond evt="onBegin" delay="0">
                          <p:tn val="2"/>
                        </p:cond>
                      </p:stCondLst>
                      <p:childTnLst>
                        <p:par>
                          <p:cTn id="219" fill="hold">
                            <p:stCondLst>
                              <p:cond delay="0"/>
                            </p:stCondLst>
                            <p:childTnLst>
                              <p:par>
                                <p:cTn id="220" presetID="10" presetClass="entr" presetSubtype="0" fill="hold" grpId="0" nodeType="afterEffect">
                                  <p:stCondLst>
                                    <p:cond delay="18"/>
                                  </p:stCondLst>
                                  <p:childTnLst>
                                    <p:set>
                                      <p:cBhvr>
                                        <p:cTn id="221" dur="1" fill="hold">
                                          <p:stCondLst>
                                            <p:cond delay="0"/>
                                          </p:stCondLst>
                                        </p:cTn>
                                        <p:tgtEl>
                                          <p:spTgt spid="45"/>
                                        </p:tgtEl>
                                        <p:attrNameLst>
                                          <p:attrName>style.visibility</p:attrName>
                                        </p:attrNameLst>
                                      </p:cBhvr>
                                      <p:to>
                                        <p:strVal val="visible"/>
                                      </p:to>
                                    </p:set>
                                    <p:anim calcmode="lin" valueType="num">
                                      <p:cBhvr additive="base">
                                        <p:cTn id="222" dur="150" fill="hold"/>
                                        <p:tgtEl>
                                          <p:spTgt spid="4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Sort six processes — RPA, AI-needed, or 'don't automate'</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Decide for each of these. Justify each placement in one line.
1.  Copying GST invoice numbers from PDFs into SAP
2.  Reading hand-written customer complaint forms
3.  Approving leave requests under 3 days
4.  Drafting a personal apology letter to a VIP customer
5.  Reconciling 4 lakh bank transactions every night
6.  Designing the next quarter's marketing campaign</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solo — sort each into RPA / AI-needed / don't automate.</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with a partner — debate the borderline cases.</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share-out — instructor calls on a team.</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30s reveal — instructor reveals canonical sort.</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The 5-factor ROI model</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The math your executive sponsor wants to see — and the only way to compare candidates fairly.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HOW  TO  RUN  IT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Five factors. Multiplied together. The candidate with the highest score wins funding.</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Apply the same model to every candidate. Standardised math beats individual storytelling — every time.</a:t>
            </a:r>
          </a:p>
        </p:txBody>
      </p:sp>
      <p:sp>
        <p:nvSpPr>
          <p:cNvPr id="8" name="Rectangle 7"/>
          <p:cNvSpPr/>
          <p:nvPr/>
        </p:nvSpPr>
        <p:spPr>
          <a:xfrm>
            <a:off x="548640"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1</a:t>
            </a:r>
          </a:p>
        </p:txBody>
      </p:sp>
      <p:sp>
        <p:nvSpPr>
          <p:cNvPr id="10" name="Rectangle 9"/>
          <p:cNvSpPr/>
          <p:nvPr/>
        </p:nvSpPr>
        <p:spPr>
          <a:xfrm>
            <a:off x="548640"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Annual volume</a:t>
            </a:r>
          </a:p>
        </p:txBody>
      </p:sp>
      <p:sp>
        <p:nvSpPr>
          <p:cNvPr id="12" name="TextBox 11"/>
          <p:cNvSpPr txBox="1"/>
          <p:nvPr/>
        </p:nvSpPr>
        <p:spPr>
          <a:xfrm>
            <a:off x="713232"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How many cases per year? More volume → more savings. Multiply by handle time to get total minutes.</a:t>
            </a:r>
          </a:p>
        </p:txBody>
      </p:sp>
      <p:sp>
        <p:nvSpPr>
          <p:cNvPr id="13" name="TextBox 12"/>
          <p:cNvSpPr txBox="1"/>
          <p:nvPr/>
        </p:nvSpPr>
        <p:spPr>
          <a:xfrm>
            <a:off x="2492654"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14" name="Rectangle 13"/>
          <p:cNvSpPr/>
          <p:nvPr/>
        </p:nvSpPr>
        <p:spPr>
          <a:xfrm>
            <a:off x="2794406"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4406"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2</a:t>
            </a:r>
          </a:p>
        </p:txBody>
      </p:sp>
      <p:sp>
        <p:nvSpPr>
          <p:cNvPr id="16" name="Rectangle 15"/>
          <p:cNvSpPr/>
          <p:nvPr/>
        </p:nvSpPr>
        <p:spPr>
          <a:xfrm>
            <a:off x="2794406"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58998"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Handle time</a:t>
            </a:r>
          </a:p>
        </p:txBody>
      </p:sp>
      <p:sp>
        <p:nvSpPr>
          <p:cNvPr id="18" name="TextBox 17"/>
          <p:cNvSpPr txBox="1"/>
          <p:nvPr/>
        </p:nvSpPr>
        <p:spPr>
          <a:xfrm>
            <a:off x="2958998"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How long does one case take today? Longer means more potential savings per automated case.</a:t>
            </a:r>
          </a:p>
        </p:txBody>
      </p:sp>
      <p:sp>
        <p:nvSpPr>
          <p:cNvPr id="19" name="TextBox 18"/>
          <p:cNvSpPr txBox="1"/>
          <p:nvPr/>
        </p:nvSpPr>
        <p:spPr>
          <a:xfrm>
            <a:off x="4738420"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20" name="Rectangle 19"/>
          <p:cNvSpPr/>
          <p:nvPr/>
        </p:nvSpPr>
        <p:spPr>
          <a:xfrm>
            <a:off x="5040172"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0172"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3</a:t>
            </a:r>
          </a:p>
        </p:txBody>
      </p:sp>
      <p:sp>
        <p:nvSpPr>
          <p:cNvPr id="22" name="Rectangle 21"/>
          <p:cNvSpPr/>
          <p:nvPr/>
        </p:nvSpPr>
        <p:spPr>
          <a:xfrm>
            <a:off x="5040172"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04764"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Error / rework rate</a:t>
            </a:r>
          </a:p>
        </p:txBody>
      </p:sp>
      <p:sp>
        <p:nvSpPr>
          <p:cNvPr id="24" name="TextBox 23"/>
          <p:cNvSpPr txBox="1"/>
          <p:nvPr/>
        </p:nvSpPr>
        <p:spPr>
          <a:xfrm>
            <a:off x="5204764"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What % needs correction? Automation pays double when manual error rates are high.</a:t>
            </a:r>
          </a:p>
        </p:txBody>
      </p:sp>
      <p:sp>
        <p:nvSpPr>
          <p:cNvPr id="25" name="TextBox 24"/>
          <p:cNvSpPr txBox="1"/>
          <p:nvPr/>
        </p:nvSpPr>
        <p:spPr>
          <a:xfrm>
            <a:off x="6984187"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26" name="Rectangle 25"/>
          <p:cNvSpPr/>
          <p:nvPr/>
        </p:nvSpPr>
        <p:spPr>
          <a:xfrm>
            <a:off x="7285939"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5939"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4</a:t>
            </a:r>
          </a:p>
        </p:txBody>
      </p:sp>
      <p:sp>
        <p:nvSpPr>
          <p:cNvPr id="28" name="Rectangle 27"/>
          <p:cNvSpPr/>
          <p:nvPr/>
        </p:nvSpPr>
        <p:spPr>
          <a:xfrm>
            <a:off x="7285939"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0531"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Strategic fit</a:t>
            </a:r>
          </a:p>
        </p:txBody>
      </p:sp>
      <p:sp>
        <p:nvSpPr>
          <p:cNvPr id="30" name="TextBox 29"/>
          <p:cNvSpPr txBox="1"/>
          <p:nvPr/>
        </p:nvSpPr>
        <p:spPr>
          <a:xfrm>
            <a:off x="7450531"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Does this unlock new customer experience or competitive advantage? Score 1–5 honestly.</a:t>
            </a:r>
          </a:p>
        </p:txBody>
      </p:sp>
      <p:sp>
        <p:nvSpPr>
          <p:cNvPr id="31" name="TextBox 30"/>
          <p:cNvSpPr txBox="1"/>
          <p:nvPr/>
        </p:nvSpPr>
        <p:spPr>
          <a:xfrm>
            <a:off x="9229953"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32" name="Rectangle 31"/>
          <p:cNvSpPr/>
          <p:nvPr/>
        </p:nvSpPr>
        <p:spPr>
          <a:xfrm>
            <a:off x="9531705"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31705"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5</a:t>
            </a:r>
          </a:p>
        </p:txBody>
      </p:sp>
      <p:sp>
        <p:nvSpPr>
          <p:cNvPr id="34" name="Rectangle 33"/>
          <p:cNvSpPr/>
          <p:nvPr/>
        </p:nvSpPr>
        <p:spPr>
          <a:xfrm>
            <a:off x="9531705"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6297"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Implementation cost</a:t>
            </a:r>
          </a:p>
        </p:txBody>
      </p:sp>
      <p:sp>
        <p:nvSpPr>
          <p:cNvPr id="36" name="TextBox 35"/>
          <p:cNvSpPr txBox="1"/>
          <p:nvPr/>
        </p:nvSpPr>
        <p:spPr>
          <a:xfrm>
            <a:off x="9696297"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All-in build + AI + change-management. Only fund where year-1 net ROI is at least 2x cost.</a:t>
            </a:r>
          </a:p>
        </p:txBody>
      </p:sp>
      <p:sp>
        <p:nvSpPr>
          <p:cNvPr id="37" name="TextBox 3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38" name="TextBox 3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PROCESS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ENTERPRISE  TOOLS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The big four — at a glance</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The right tool is the one that fits your stack, your budget and your local talent pool. Nothing else.</a:t>
            </a:r>
          </a:p>
        </p:txBody>
      </p:sp>
      <p:sp>
        <p:nvSpPr>
          <p:cNvPr id="8" name="Rectangle 7"/>
          <p:cNvSpPr/>
          <p:nvPr/>
        </p:nvSpPr>
        <p:spPr>
          <a:xfrm>
            <a:off x="548640" y="3154680"/>
            <a:ext cx="2351151"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54680"/>
            <a:ext cx="2351151" cy="457200"/>
          </a:xfrm>
          <a:prstGeom prst="rect">
            <a:avLst/>
          </a:prstGeom>
          <a:noFill/>
        </p:spPr>
        <p:txBody>
          <a:bodyPr wrap="square" lIns="0" rIns="0" tIns="0" bIns="0" anchor="ctr">
            <a:spAutoFit/>
          </a:bodyPr>
          <a:lstStyle/>
          <a:p>
            <a:pPr algn="ctr"/>
            <a:r>
              <a:rPr sz="1100" b="1" i="0" spc="400">
                <a:solidFill>
                  <a:srgbClr val="C5E063"/>
                </a:solidFill>
                <a:latin typeface="Calibri"/>
              </a:rPr>
              <a:t>Tool</a:t>
            </a:r>
          </a:p>
        </p:txBody>
      </p:sp>
      <p:sp>
        <p:nvSpPr>
          <p:cNvPr id="10" name="Rectangle 9"/>
          <p:cNvSpPr/>
          <p:nvPr/>
        </p:nvSpPr>
        <p:spPr>
          <a:xfrm>
            <a:off x="2899791" y="3154680"/>
            <a:ext cx="2904362"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9791" y="3154680"/>
            <a:ext cx="2904362" cy="457200"/>
          </a:xfrm>
          <a:prstGeom prst="rect">
            <a:avLst/>
          </a:prstGeom>
          <a:noFill/>
        </p:spPr>
        <p:txBody>
          <a:bodyPr wrap="square" lIns="0" rIns="0" tIns="0" bIns="0" anchor="ctr">
            <a:spAutoFit/>
          </a:bodyPr>
          <a:lstStyle/>
          <a:p>
            <a:pPr algn="ctr"/>
            <a:r>
              <a:rPr sz="1100" b="1" i="0" spc="400">
                <a:solidFill>
                  <a:srgbClr val="C5E063"/>
                </a:solidFill>
                <a:latin typeface="Calibri"/>
              </a:rPr>
              <a:t>Strongest at</a:t>
            </a:r>
          </a:p>
        </p:txBody>
      </p:sp>
      <p:sp>
        <p:nvSpPr>
          <p:cNvPr id="12" name="Rectangle 11"/>
          <p:cNvSpPr/>
          <p:nvPr/>
        </p:nvSpPr>
        <p:spPr>
          <a:xfrm>
            <a:off x="5804154" y="3154680"/>
            <a:ext cx="2904362"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04154" y="3154680"/>
            <a:ext cx="2904362" cy="457200"/>
          </a:xfrm>
          <a:prstGeom prst="rect">
            <a:avLst/>
          </a:prstGeom>
          <a:noFill/>
        </p:spPr>
        <p:txBody>
          <a:bodyPr wrap="square" lIns="0" rIns="0" tIns="0" bIns="0" anchor="ctr">
            <a:spAutoFit/>
          </a:bodyPr>
          <a:lstStyle/>
          <a:p>
            <a:pPr algn="ctr"/>
            <a:r>
              <a:rPr sz="1100" b="1" i="0" spc="400">
                <a:solidFill>
                  <a:srgbClr val="C5E063"/>
                </a:solidFill>
                <a:latin typeface="Calibri"/>
              </a:rPr>
              <a:t>Best fit</a:t>
            </a:r>
          </a:p>
        </p:txBody>
      </p:sp>
      <p:sp>
        <p:nvSpPr>
          <p:cNvPr id="14" name="Rectangle 13"/>
          <p:cNvSpPr/>
          <p:nvPr/>
        </p:nvSpPr>
        <p:spPr>
          <a:xfrm>
            <a:off x="8708517" y="3154680"/>
            <a:ext cx="2904362"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08517" y="3154680"/>
            <a:ext cx="2904362" cy="457200"/>
          </a:xfrm>
          <a:prstGeom prst="rect">
            <a:avLst/>
          </a:prstGeom>
          <a:noFill/>
        </p:spPr>
        <p:txBody>
          <a:bodyPr wrap="square" lIns="0" rIns="0" tIns="0" bIns="0" anchor="ctr">
            <a:spAutoFit/>
          </a:bodyPr>
          <a:lstStyle/>
          <a:p>
            <a:pPr algn="ctr"/>
            <a:r>
              <a:rPr sz="1100" b="1" i="0" spc="400">
                <a:solidFill>
                  <a:srgbClr val="C5E063"/>
                </a:solidFill>
                <a:latin typeface="Calibri"/>
              </a:rPr>
              <a:t>Watch out for</a:t>
            </a:r>
          </a:p>
        </p:txBody>
      </p:sp>
      <p:sp>
        <p:nvSpPr>
          <p:cNvPr id="16" name="Rectangle 15"/>
          <p:cNvSpPr/>
          <p:nvPr/>
        </p:nvSpPr>
        <p:spPr>
          <a:xfrm>
            <a:off x="548640" y="3611880"/>
            <a:ext cx="2351151"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611880"/>
            <a:ext cx="2076831" cy="502920"/>
          </a:xfrm>
          <a:prstGeom prst="rect">
            <a:avLst/>
          </a:prstGeom>
          <a:noFill/>
        </p:spPr>
        <p:txBody>
          <a:bodyPr wrap="square" lIns="0" rIns="0" tIns="0" bIns="0" anchor="ctr">
            <a:spAutoFit/>
          </a:bodyPr>
          <a:lstStyle/>
          <a:p>
            <a:pPr algn="l"/>
            <a:r>
              <a:rPr sz="1100" b="1" i="0">
                <a:solidFill>
                  <a:srgbClr val="2C5244"/>
                </a:solidFill>
                <a:latin typeface="Calibri"/>
              </a:rPr>
              <a:t>UiPath</a:t>
            </a:r>
          </a:p>
        </p:txBody>
      </p:sp>
      <p:sp>
        <p:nvSpPr>
          <p:cNvPr id="18" name="Rectangle 17"/>
          <p:cNvSpPr/>
          <p:nvPr/>
        </p:nvSpPr>
        <p:spPr>
          <a:xfrm>
            <a:off x="2899791" y="361188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91231" y="361188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Mature ecosystem</a:t>
            </a:r>
          </a:p>
        </p:txBody>
      </p:sp>
      <p:sp>
        <p:nvSpPr>
          <p:cNvPr id="20" name="Rectangle 19"/>
          <p:cNvSpPr/>
          <p:nvPr/>
        </p:nvSpPr>
        <p:spPr>
          <a:xfrm>
            <a:off x="5804154" y="361188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95594" y="361188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Large enterprises, GCC India</a:t>
            </a:r>
          </a:p>
        </p:txBody>
      </p:sp>
      <p:sp>
        <p:nvSpPr>
          <p:cNvPr id="22" name="Rectangle 21"/>
          <p:cNvSpPr/>
          <p:nvPr/>
        </p:nvSpPr>
        <p:spPr>
          <a:xfrm>
            <a:off x="8708517" y="361188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99957" y="361188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Premium pricing, learning curve</a:t>
            </a:r>
          </a:p>
        </p:txBody>
      </p:sp>
      <p:sp>
        <p:nvSpPr>
          <p:cNvPr id="24" name="Rectangle 23"/>
          <p:cNvSpPr/>
          <p:nvPr/>
        </p:nvSpPr>
        <p:spPr>
          <a:xfrm>
            <a:off x="548640" y="4114800"/>
            <a:ext cx="2351151"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114800"/>
            <a:ext cx="2076831" cy="502920"/>
          </a:xfrm>
          <a:prstGeom prst="rect">
            <a:avLst/>
          </a:prstGeom>
          <a:noFill/>
        </p:spPr>
        <p:txBody>
          <a:bodyPr wrap="square" lIns="0" rIns="0" tIns="0" bIns="0" anchor="ctr">
            <a:spAutoFit/>
          </a:bodyPr>
          <a:lstStyle/>
          <a:p>
            <a:pPr algn="l"/>
            <a:r>
              <a:rPr sz="1100" b="1" i="0">
                <a:solidFill>
                  <a:srgbClr val="2C5244"/>
                </a:solidFill>
                <a:latin typeface="Calibri"/>
              </a:rPr>
              <a:t>Automation Anywhere</a:t>
            </a:r>
          </a:p>
        </p:txBody>
      </p:sp>
      <p:sp>
        <p:nvSpPr>
          <p:cNvPr id="26" name="Rectangle 25"/>
          <p:cNvSpPr/>
          <p:nvPr/>
        </p:nvSpPr>
        <p:spPr>
          <a:xfrm>
            <a:off x="2899791" y="411480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91231" y="411480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Cloud-native bots</a:t>
            </a:r>
          </a:p>
        </p:txBody>
      </p:sp>
      <p:sp>
        <p:nvSpPr>
          <p:cNvPr id="28" name="Rectangle 27"/>
          <p:cNvSpPr/>
          <p:nvPr/>
        </p:nvSpPr>
        <p:spPr>
          <a:xfrm>
            <a:off x="5804154" y="411480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5594" y="411480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Cloud-first BFSI / IT firms</a:t>
            </a:r>
          </a:p>
        </p:txBody>
      </p:sp>
      <p:sp>
        <p:nvSpPr>
          <p:cNvPr id="30" name="Rectangle 29"/>
          <p:cNvSpPr/>
          <p:nvPr/>
        </p:nvSpPr>
        <p:spPr>
          <a:xfrm>
            <a:off x="8708517" y="411480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99957" y="411480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Smaller community than UiPath</a:t>
            </a:r>
          </a:p>
        </p:txBody>
      </p:sp>
      <p:sp>
        <p:nvSpPr>
          <p:cNvPr id="32" name="Rectangle 31"/>
          <p:cNvSpPr/>
          <p:nvPr/>
        </p:nvSpPr>
        <p:spPr>
          <a:xfrm>
            <a:off x="548640" y="4617720"/>
            <a:ext cx="2351151"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17720"/>
            <a:ext cx="2076831" cy="502920"/>
          </a:xfrm>
          <a:prstGeom prst="rect">
            <a:avLst/>
          </a:prstGeom>
          <a:noFill/>
        </p:spPr>
        <p:txBody>
          <a:bodyPr wrap="square" lIns="0" rIns="0" tIns="0" bIns="0" anchor="ctr">
            <a:spAutoFit/>
          </a:bodyPr>
          <a:lstStyle/>
          <a:p>
            <a:pPr algn="l"/>
            <a:r>
              <a:rPr sz="1100" b="1" i="0">
                <a:solidFill>
                  <a:srgbClr val="2C5244"/>
                </a:solidFill>
                <a:latin typeface="Calibri"/>
              </a:rPr>
              <a:t>Power Automate</a:t>
            </a:r>
          </a:p>
        </p:txBody>
      </p:sp>
      <p:sp>
        <p:nvSpPr>
          <p:cNvPr id="34" name="Rectangle 33"/>
          <p:cNvSpPr/>
          <p:nvPr/>
        </p:nvSpPr>
        <p:spPr>
          <a:xfrm>
            <a:off x="2899791" y="461772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1231" y="461772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Microsoft 365 fit</a:t>
            </a:r>
          </a:p>
        </p:txBody>
      </p:sp>
      <p:sp>
        <p:nvSpPr>
          <p:cNvPr id="36" name="Rectangle 35"/>
          <p:cNvSpPr/>
          <p:nvPr/>
        </p:nvSpPr>
        <p:spPr>
          <a:xfrm>
            <a:off x="5804154" y="461772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95594" y="461772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Mid-market on the MS stack</a:t>
            </a:r>
          </a:p>
        </p:txBody>
      </p:sp>
      <p:sp>
        <p:nvSpPr>
          <p:cNvPr id="38" name="Rectangle 37"/>
          <p:cNvSpPr/>
          <p:nvPr/>
        </p:nvSpPr>
        <p:spPr>
          <a:xfrm>
            <a:off x="8708517" y="461772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99957" y="461772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Limited for non-MS workloads</a:t>
            </a:r>
          </a:p>
        </p:txBody>
      </p:sp>
      <p:sp>
        <p:nvSpPr>
          <p:cNvPr id="40" name="Rectangle 39"/>
          <p:cNvSpPr/>
          <p:nvPr/>
        </p:nvSpPr>
        <p:spPr>
          <a:xfrm>
            <a:off x="548640" y="5120640"/>
            <a:ext cx="2351151"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120640"/>
            <a:ext cx="2076831" cy="502920"/>
          </a:xfrm>
          <a:prstGeom prst="rect">
            <a:avLst/>
          </a:prstGeom>
          <a:noFill/>
        </p:spPr>
        <p:txBody>
          <a:bodyPr wrap="square" lIns="0" rIns="0" tIns="0" bIns="0" anchor="ctr">
            <a:spAutoFit/>
          </a:bodyPr>
          <a:lstStyle/>
          <a:p>
            <a:pPr algn="l"/>
            <a:r>
              <a:rPr sz="1100" b="1" i="0">
                <a:solidFill>
                  <a:srgbClr val="2C5244"/>
                </a:solidFill>
                <a:latin typeface="Calibri"/>
              </a:rPr>
              <a:t>Blue Prism</a:t>
            </a:r>
          </a:p>
        </p:txBody>
      </p:sp>
      <p:sp>
        <p:nvSpPr>
          <p:cNvPr id="42" name="Rectangle 41"/>
          <p:cNvSpPr/>
          <p:nvPr/>
        </p:nvSpPr>
        <p:spPr>
          <a:xfrm>
            <a:off x="2899791" y="512064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1231" y="512064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Governance &amp; control</a:t>
            </a:r>
          </a:p>
        </p:txBody>
      </p:sp>
      <p:sp>
        <p:nvSpPr>
          <p:cNvPr id="44" name="Rectangle 43"/>
          <p:cNvSpPr/>
          <p:nvPr/>
        </p:nvSpPr>
        <p:spPr>
          <a:xfrm>
            <a:off x="5804154" y="512064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95594" y="512064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Highly-regulated banks</a:t>
            </a:r>
          </a:p>
        </p:txBody>
      </p:sp>
      <p:sp>
        <p:nvSpPr>
          <p:cNvPr id="46" name="Rectangle 45"/>
          <p:cNvSpPr/>
          <p:nvPr/>
        </p:nvSpPr>
        <p:spPr>
          <a:xfrm>
            <a:off x="8708517" y="512064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99957" y="512064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Steeper UI for citizen devs</a:t>
            </a:r>
          </a:p>
        </p:txBody>
      </p:sp>
      <p:sp>
        <p:nvSpPr>
          <p:cNvPr id="48" name="TextBox 4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49" name="TextBox 4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AT A GLANCE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par>
                    <p:cTn id="188" fill="hold">
                      <p:stCondLst>
                        <p:cond delay="indefinite"/>
                        <p:cond evt="onBegin" delay="0">
                          <p:tn val="2"/>
                        </p:cond>
                      </p:stCondLst>
                      <p:childTnLst>
                        <p:par>
                          <p:cTn id="189" fill="hold">
                            <p:stCondLst>
                              <p:cond delay="0"/>
                            </p:stCondLst>
                            <p:childTnLst>
                              <p:par>
                                <p:cTn id="190" presetID="10" presetClass="entr" presetSubtype="0" fill="hold" grpId="0" nodeType="afterEffect">
                                  <p:stCondLst>
                                    <p:cond delay="18"/>
                                  </p:stCondLst>
                                  <p:childTnLst>
                                    <p:set>
                                      <p:cBhvr>
                                        <p:cTn id="191" dur="1" fill="hold">
                                          <p:stCondLst>
                                            <p:cond delay="0"/>
                                          </p:stCondLst>
                                        </p:cTn>
                                        <p:tgtEl>
                                          <p:spTgt spid="39"/>
                                        </p:tgtEl>
                                        <p:attrNameLst>
                                          <p:attrName>style.visibility</p:attrName>
                                        </p:attrNameLst>
                                      </p:cBhvr>
                                      <p:to>
                                        <p:strVal val="visible"/>
                                      </p:to>
                                    </p:set>
                                    <p:anim calcmode="lin" valueType="num">
                                      <p:cBhvr additive="base">
                                        <p:cTn id="192" dur="150" fill="hold"/>
                                        <p:tgtEl>
                                          <p:spTgt spid="39"/>
                                        </p:tgtEl>
                                        <p:attrNameLst>
                                          <p:attrName>style.opacity</p:attrName>
                                        </p:attrNameLst>
                                      </p:cBhvr>
                                      <p:tavLst>
                                        <p:tav tm="0">
                                          <p:val>
                                            <p:fltVal val="0"/>
                                          </p:val>
                                        </p:tav>
                                        <p:tav tm="100000">
                                          <p:val>
                                            <p:fltVal val="1"/>
                                          </p:val>
                                        </p:tav>
                                      </p:tavLst>
                                    </p:anim>
                                  </p:childTnLst>
                                </p:cTn>
                              </p:par>
                            </p:childTnLst>
                          </p:cTn>
                        </p:par>
                      </p:childTnLst>
                    </p:cTn>
                  </p:par>
                  <p:par>
                    <p:cTn id="193" fill="hold">
                      <p:stCondLst>
                        <p:cond delay="indefinite"/>
                        <p:cond evt="onBegin" delay="0">
                          <p:tn val="2"/>
                        </p:cond>
                      </p:stCondLst>
                      <p:childTnLst>
                        <p:par>
                          <p:cTn id="194" fill="hold">
                            <p:stCondLst>
                              <p:cond delay="0"/>
                            </p:stCondLst>
                            <p:childTnLst>
                              <p:par>
                                <p:cTn id="195" presetID="10" presetClass="entr" presetSubtype="0" fill="hold" grpId="0" nodeType="afterEffect">
                                  <p:stCondLst>
                                    <p:cond delay="18"/>
                                  </p:stCondLst>
                                  <p:childTnLst>
                                    <p:set>
                                      <p:cBhvr>
                                        <p:cTn id="196" dur="1" fill="hold">
                                          <p:stCondLst>
                                            <p:cond delay="0"/>
                                          </p:stCondLst>
                                        </p:cTn>
                                        <p:tgtEl>
                                          <p:spTgt spid="40"/>
                                        </p:tgtEl>
                                        <p:attrNameLst>
                                          <p:attrName>style.visibility</p:attrName>
                                        </p:attrNameLst>
                                      </p:cBhvr>
                                      <p:to>
                                        <p:strVal val="visible"/>
                                      </p:to>
                                    </p:set>
                                    <p:anim calcmode="lin" valueType="num">
                                      <p:cBhvr additive="base">
                                        <p:cTn id="197" dur="150" fill="hold"/>
                                        <p:tgtEl>
                                          <p:spTgt spid="40"/>
                                        </p:tgtEl>
                                        <p:attrNameLst>
                                          <p:attrName>style.opacity</p:attrName>
                                        </p:attrNameLst>
                                      </p:cBhvr>
                                      <p:tavLst>
                                        <p:tav tm="0">
                                          <p:val>
                                            <p:fltVal val="0"/>
                                          </p:val>
                                        </p:tav>
                                        <p:tav tm="100000">
                                          <p:val>
                                            <p:fltVal val="1"/>
                                          </p:val>
                                        </p:tav>
                                      </p:tavLst>
                                    </p:anim>
                                  </p:childTnLst>
                                </p:cTn>
                              </p:par>
                            </p:childTnLst>
                          </p:cTn>
                        </p:par>
                      </p:childTnLst>
                    </p:cTn>
                  </p:par>
                  <p:par>
                    <p:cTn id="198" fill="hold">
                      <p:stCondLst>
                        <p:cond delay="indefinite"/>
                        <p:cond evt="onBegin" delay="0">
                          <p:tn val="2"/>
                        </p:cond>
                      </p:stCondLst>
                      <p:childTnLst>
                        <p:par>
                          <p:cTn id="199" fill="hold">
                            <p:stCondLst>
                              <p:cond delay="0"/>
                            </p:stCondLst>
                            <p:childTnLst>
                              <p:par>
                                <p:cTn id="200" presetID="10" presetClass="entr" presetSubtype="0" fill="hold" grpId="0" nodeType="afterEffect">
                                  <p:stCondLst>
                                    <p:cond delay="18"/>
                                  </p:stCondLst>
                                  <p:childTnLst>
                                    <p:set>
                                      <p:cBhvr>
                                        <p:cTn id="201" dur="1" fill="hold">
                                          <p:stCondLst>
                                            <p:cond delay="0"/>
                                          </p:stCondLst>
                                        </p:cTn>
                                        <p:tgtEl>
                                          <p:spTgt spid="41"/>
                                        </p:tgtEl>
                                        <p:attrNameLst>
                                          <p:attrName>style.visibility</p:attrName>
                                        </p:attrNameLst>
                                      </p:cBhvr>
                                      <p:to>
                                        <p:strVal val="visible"/>
                                      </p:to>
                                    </p:set>
                                    <p:anim calcmode="lin" valueType="num">
                                      <p:cBhvr additive="base">
                                        <p:cTn id="202" dur="150" fill="hold"/>
                                        <p:tgtEl>
                                          <p:spTgt spid="41"/>
                                        </p:tgtEl>
                                        <p:attrNameLst>
                                          <p:attrName>style.opacity</p:attrName>
                                        </p:attrNameLst>
                                      </p:cBhvr>
                                      <p:tavLst>
                                        <p:tav tm="0">
                                          <p:val>
                                            <p:fltVal val="0"/>
                                          </p:val>
                                        </p:tav>
                                        <p:tav tm="100000">
                                          <p:val>
                                            <p:fltVal val="1"/>
                                          </p:val>
                                        </p:tav>
                                      </p:tavLst>
                                    </p:anim>
                                  </p:childTnLst>
                                </p:cTn>
                              </p:par>
                            </p:childTnLst>
                          </p:cTn>
                        </p:par>
                      </p:childTnLst>
                    </p:cTn>
                  </p:par>
                  <p:par>
                    <p:cTn id="203" fill="hold">
                      <p:stCondLst>
                        <p:cond delay="indefinite"/>
                        <p:cond evt="onBegin" delay="0">
                          <p:tn val="2"/>
                        </p:cond>
                      </p:stCondLst>
                      <p:childTnLst>
                        <p:par>
                          <p:cTn id="204" fill="hold">
                            <p:stCondLst>
                              <p:cond delay="0"/>
                            </p:stCondLst>
                            <p:childTnLst>
                              <p:par>
                                <p:cTn id="205" presetID="10" presetClass="entr" presetSubtype="0" fill="hold" grpId="0" nodeType="afterEffect">
                                  <p:stCondLst>
                                    <p:cond delay="18"/>
                                  </p:stCondLst>
                                  <p:childTnLst>
                                    <p:set>
                                      <p:cBhvr>
                                        <p:cTn id="206" dur="1" fill="hold">
                                          <p:stCondLst>
                                            <p:cond delay="0"/>
                                          </p:stCondLst>
                                        </p:cTn>
                                        <p:tgtEl>
                                          <p:spTgt spid="42"/>
                                        </p:tgtEl>
                                        <p:attrNameLst>
                                          <p:attrName>style.visibility</p:attrName>
                                        </p:attrNameLst>
                                      </p:cBhvr>
                                      <p:to>
                                        <p:strVal val="visible"/>
                                      </p:to>
                                    </p:set>
                                    <p:anim calcmode="lin" valueType="num">
                                      <p:cBhvr additive="base">
                                        <p:cTn id="207" dur="150" fill="hold"/>
                                        <p:tgtEl>
                                          <p:spTgt spid="42"/>
                                        </p:tgtEl>
                                        <p:attrNameLst>
                                          <p:attrName>style.opacity</p:attrName>
                                        </p:attrNameLst>
                                      </p:cBhvr>
                                      <p:tavLst>
                                        <p:tav tm="0">
                                          <p:val>
                                            <p:fltVal val="0"/>
                                          </p:val>
                                        </p:tav>
                                        <p:tav tm="100000">
                                          <p:val>
                                            <p:fltVal val="1"/>
                                          </p:val>
                                        </p:tav>
                                      </p:tavLst>
                                    </p:anim>
                                  </p:childTnLst>
                                </p:cTn>
                              </p:par>
                            </p:childTnLst>
                          </p:cTn>
                        </p:par>
                      </p:childTnLst>
                    </p:cTn>
                  </p:par>
                  <p:par>
                    <p:cTn id="208" fill="hold">
                      <p:stCondLst>
                        <p:cond delay="indefinite"/>
                        <p:cond evt="onBegin" delay="0">
                          <p:tn val="2"/>
                        </p:cond>
                      </p:stCondLst>
                      <p:childTnLst>
                        <p:par>
                          <p:cTn id="209" fill="hold">
                            <p:stCondLst>
                              <p:cond delay="0"/>
                            </p:stCondLst>
                            <p:childTnLst>
                              <p:par>
                                <p:cTn id="210" presetID="10" presetClass="entr" presetSubtype="0" fill="hold" grpId="0" nodeType="afterEffect">
                                  <p:stCondLst>
                                    <p:cond delay="18"/>
                                  </p:stCondLst>
                                  <p:childTnLst>
                                    <p:set>
                                      <p:cBhvr>
                                        <p:cTn id="211" dur="1" fill="hold">
                                          <p:stCondLst>
                                            <p:cond delay="0"/>
                                          </p:stCondLst>
                                        </p:cTn>
                                        <p:tgtEl>
                                          <p:spTgt spid="43"/>
                                        </p:tgtEl>
                                        <p:attrNameLst>
                                          <p:attrName>style.visibility</p:attrName>
                                        </p:attrNameLst>
                                      </p:cBhvr>
                                      <p:to>
                                        <p:strVal val="visible"/>
                                      </p:to>
                                    </p:set>
                                    <p:anim calcmode="lin" valueType="num">
                                      <p:cBhvr additive="base">
                                        <p:cTn id="212" dur="150" fill="hold"/>
                                        <p:tgtEl>
                                          <p:spTgt spid="43"/>
                                        </p:tgtEl>
                                        <p:attrNameLst>
                                          <p:attrName>style.opacity</p:attrName>
                                        </p:attrNameLst>
                                      </p:cBhvr>
                                      <p:tavLst>
                                        <p:tav tm="0">
                                          <p:val>
                                            <p:fltVal val="0"/>
                                          </p:val>
                                        </p:tav>
                                        <p:tav tm="100000">
                                          <p:val>
                                            <p:fltVal val="1"/>
                                          </p:val>
                                        </p:tav>
                                      </p:tavLst>
                                    </p:anim>
                                  </p:childTnLst>
                                </p:cTn>
                              </p:par>
                            </p:childTnLst>
                          </p:cTn>
                        </p:par>
                      </p:childTnLst>
                    </p:cTn>
                  </p:par>
                  <p:par>
                    <p:cTn id="213" fill="hold">
                      <p:stCondLst>
                        <p:cond delay="indefinite"/>
                        <p:cond evt="onBegin" delay="0">
                          <p:tn val="2"/>
                        </p:cond>
                      </p:stCondLst>
                      <p:childTnLst>
                        <p:par>
                          <p:cTn id="214" fill="hold">
                            <p:stCondLst>
                              <p:cond delay="0"/>
                            </p:stCondLst>
                            <p:childTnLst>
                              <p:par>
                                <p:cTn id="215" presetID="10" presetClass="entr" presetSubtype="0" fill="hold" grpId="0" nodeType="afterEffect">
                                  <p:stCondLst>
                                    <p:cond delay="18"/>
                                  </p:stCondLst>
                                  <p:childTnLst>
                                    <p:set>
                                      <p:cBhvr>
                                        <p:cTn id="216" dur="1" fill="hold">
                                          <p:stCondLst>
                                            <p:cond delay="0"/>
                                          </p:stCondLst>
                                        </p:cTn>
                                        <p:tgtEl>
                                          <p:spTgt spid="44"/>
                                        </p:tgtEl>
                                        <p:attrNameLst>
                                          <p:attrName>style.visibility</p:attrName>
                                        </p:attrNameLst>
                                      </p:cBhvr>
                                      <p:to>
                                        <p:strVal val="visible"/>
                                      </p:to>
                                    </p:set>
                                    <p:anim calcmode="lin" valueType="num">
                                      <p:cBhvr additive="base">
                                        <p:cTn id="217" dur="150" fill="hold"/>
                                        <p:tgtEl>
                                          <p:spTgt spid="44"/>
                                        </p:tgtEl>
                                        <p:attrNameLst>
                                          <p:attrName>style.opacity</p:attrName>
                                        </p:attrNameLst>
                                      </p:cBhvr>
                                      <p:tavLst>
                                        <p:tav tm="0">
                                          <p:val>
                                            <p:fltVal val="0"/>
                                          </p:val>
                                        </p:tav>
                                        <p:tav tm="100000">
                                          <p:val>
                                            <p:fltVal val="1"/>
                                          </p:val>
                                        </p:tav>
                                      </p:tavLst>
                                    </p:anim>
                                  </p:childTnLst>
                                </p:cTn>
                              </p:par>
                            </p:childTnLst>
                          </p:cTn>
                        </p:par>
                      </p:childTnLst>
                    </p:cTn>
                  </p:par>
                  <p:par>
                    <p:cTn id="218" fill="hold">
                      <p:stCondLst>
                        <p:cond delay="indefinite"/>
                        <p:cond evt="onBegin" delay="0">
                          <p:tn val="2"/>
                        </p:cond>
                      </p:stCondLst>
                      <p:childTnLst>
                        <p:par>
                          <p:cTn id="219" fill="hold">
                            <p:stCondLst>
                              <p:cond delay="0"/>
                            </p:stCondLst>
                            <p:childTnLst>
                              <p:par>
                                <p:cTn id="220" presetID="10" presetClass="entr" presetSubtype="0" fill="hold" grpId="0" nodeType="afterEffect">
                                  <p:stCondLst>
                                    <p:cond delay="18"/>
                                  </p:stCondLst>
                                  <p:childTnLst>
                                    <p:set>
                                      <p:cBhvr>
                                        <p:cTn id="221" dur="1" fill="hold">
                                          <p:stCondLst>
                                            <p:cond delay="0"/>
                                          </p:stCondLst>
                                        </p:cTn>
                                        <p:tgtEl>
                                          <p:spTgt spid="45"/>
                                        </p:tgtEl>
                                        <p:attrNameLst>
                                          <p:attrName>style.visibility</p:attrName>
                                        </p:attrNameLst>
                                      </p:cBhvr>
                                      <p:to>
                                        <p:strVal val="visible"/>
                                      </p:to>
                                    </p:set>
                                    <p:anim calcmode="lin" valueType="num">
                                      <p:cBhvr additive="base">
                                        <p:cTn id="222" dur="150" fill="hold"/>
                                        <p:tgtEl>
                                          <p:spTgt spid="45"/>
                                        </p:tgtEl>
                                        <p:attrNameLst>
                                          <p:attrName>style.opacity</p:attrName>
                                        </p:attrNameLst>
                                      </p:cBhvr>
                                      <p:tavLst>
                                        <p:tav tm="0">
                                          <p:val>
                                            <p:fltVal val="0"/>
                                          </p:val>
                                        </p:tav>
                                        <p:tav tm="100000">
                                          <p:val>
                                            <p:fltVal val="1"/>
                                          </p:val>
                                        </p:tav>
                                      </p:tavLst>
                                    </p:anim>
                                  </p:childTnLst>
                                </p:cTn>
                              </p:par>
                            </p:childTnLst>
                          </p:cTn>
                        </p:par>
                      </p:childTnLst>
                    </p:cTn>
                  </p:par>
                  <p:par>
                    <p:cTn id="223" fill="hold">
                      <p:stCondLst>
                        <p:cond delay="indefinite"/>
                        <p:cond evt="onBegin" delay="0">
                          <p:tn val="2"/>
                        </p:cond>
                      </p:stCondLst>
                      <p:childTnLst>
                        <p:par>
                          <p:cTn id="224" fill="hold">
                            <p:stCondLst>
                              <p:cond delay="0"/>
                            </p:stCondLst>
                            <p:childTnLst>
                              <p:par>
                                <p:cTn id="225" presetID="10" presetClass="entr" presetSubtype="0" fill="hold" grpId="0" nodeType="afterEffect">
                                  <p:stCondLst>
                                    <p:cond delay="18"/>
                                  </p:stCondLst>
                                  <p:childTnLst>
                                    <p:set>
                                      <p:cBhvr>
                                        <p:cTn id="226" dur="1" fill="hold">
                                          <p:stCondLst>
                                            <p:cond delay="0"/>
                                          </p:stCondLst>
                                        </p:cTn>
                                        <p:tgtEl>
                                          <p:spTgt spid="46"/>
                                        </p:tgtEl>
                                        <p:attrNameLst>
                                          <p:attrName>style.visibility</p:attrName>
                                        </p:attrNameLst>
                                      </p:cBhvr>
                                      <p:to>
                                        <p:strVal val="visible"/>
                                      </p:to>
                                    </p:set>
                                    <p:anim calcmode="lin" valueType="num">
                                      <p:cBhvr additive="base">
                                        <p:cTn id="227" dur="150" fill="hold"/>
                                        <p:tgtEl>
                                          <p:spTgt spid="46"/>
                                        </p:tgtEl>
                                        <p:attrNameLst>
                                          <p:attrName>style.opacity</p:attrName>
                                        </p:attrNameLst>
                                      </p:cBhvr>
                                      <p:tavLst>
                                        <p:tav tm="0">
                                          <p:val>
                                            <p:fltVal val="0"/>
                                          </p:val>
                                        </p:tav>
                                        <p:tav tm="100000">
                                          <p:val>
                                            <p:fltVal val="1"/>
                                          </p:val>
                                        </p:tav>
                                      </p:tavLst>
                                    </p:anim>
                                  </p:childTnLst>
                                </p:cTn>
                              </p:par>
                            </p:childTnLst>
                          </p:cTn>
                        </p:par>
                      </p:childTnLst>
                    </p:cTn>
                  </p:par>
                  <p:par>
                    <p:cTn id="228" fill="hold">
                      <p:stCondLst>
                        <p:cond delay="indefinite"/>
                        <p:cond evt="onBegin" delay="0">
                          <p:tn val="2"/>
                        </p:cond>
                      </p:stCondLst>
                      <p:childTnLst>
                        <p:par>
                          <p:cTn id="229" fill="hold">
                            <p:stCondLst>
                              <p:cond delay="0"/>
                            </p:stCondLst>
                            <p:childTnLst>
                              <p:par>
                                <p:cTn id="230" presetID="10" presetClass="entr" presetSubtype="0" fill="hold" grpId="0" nodeType="afterEffect">
                                  <p:stCondLst>
                                    <p:cond delay="18"/>
                                  </p:stCondLst>
                                  <p:childTnLst>
                                    <p:set>
                                      <p:cBhvr>
                                        <p:cTn id="231" dur="1" fill="hold">
                                          <p:stCondLst>
                                            <p:cond delay="0"/>
                                          </p:stCondLst>
                                        </p:cTn>
                                        <p:tgtEl>
                                          <p:spTgt spid="47"/>
                                        </p:tgtEl>
                                        <p:attrNameLst>
                                          <p:attrName>style.visibility</p:attrName>
                                        </p:attrNameLst>
                                      </p:cBhvr>
                                      <p:to>
                                        <p:strVal val="visible"/>
                                      </p:to>
                                    </p:set>
                                    <p:anim calcmode="lin" valueType="num">
                                      <p:cBhvr additive="base">
                                        <p:cTn id="232" dur="150" fill="hold"/>
                                        <p:tgtEl>
                                          <p:spTgt spid="47"/>
                                        </p:tgtEl>
                                        <p:attrNameLst>
                                          <p:attrName>style.opacity</p:attrName>
                                        </p:attrNameLst>
                                      </p:cBhvr>
                                      <p:tavLst>
                                        <p:tav tm="0">
                                          <p:val>
                                            <p:fltVal val="0"/>
                                          </p:val>
                                        </p:tav>
                                        <p:tav tm="100000">
                                          <p:val>
                                            <p:fltVal val="1"/>
                                          </p:val>
                                        </p:tav>
                                      </p:tavLst>
                                    </p:anim>
                                  </p:childTnLst>
                                </p:cTn>
                              </p:par>
                            </p:childTnLst>
                          </p:cTn>
                        </p:par>
                      </p:childTnLst>
                    </p:cTn>
                  </p:par>
                  <p:par>
                    <p:cTn id="233" fill="hold">
                      <p:stCondLst>
                        <p:cond delay="indefinite"/>
                        <p:cond evt="onBegin" delay="0">
                          <p:tn val="2"/>
                        </p:cond>
                      </p:stCondLst>
                      <p:childTnLst>
                        <p:par>
                          <p:cTn id="234" fill="hold">
                            <p:stCondLst>
                              <p:cond delay="0"/>
                            </p:stCondLst>
                            <p:childTnLst>
                              <p:par>
                                <p:cTn id="235" presetID="10" presetClass="entr" presetSubtype="0" fill="hold" grpId="0" nodeType="afterEffect">
                                  <p:stCondLst>
                                    <p:cond delay="18"/>
                                  </p:stCondLst>
                                  <p:childTnLst>
                                    <p:set>
                                      <p:cBhvr>
                                        <p:cTn id="236" dur="1" fill="hold">
                                          <p:stCondLst>
                                            <p:cond delay="0"/>
                                          </p:stCondLst>
                                        </p:cTn>
                                        <p:tgtEl>
                                          <p:spTgt spid="48"/>
                                        </p:tgtEl>
                                        <p:attrNameLst>
                                          <p:attrName>style.visibility</p:attrName>
                                        </p:attrNameLst>
                                      </p:cBhvr>
                                      <p:to>
                                        <p:strVal val="visible"/>
                                      </p:to>
                                    </p:set>
                                    <p:anim calcmode="lin" valueType="num">
                                      <p:cBhvr additive="base">
                                        <p:cTn id="237" dur="150" fill="hold"/>
                                        <p:tgtEl>
                                          <p:spTgt spid="48"/>
                                        </p:tgtEl>
                                        <p:attrNameLst>
                                          <p:attrName>style.opacity</p:attrName>
                                        </p:attrNameLst>
                                      </p:cBhvr>
                                      <p:tavLst>
                                        <p:tav tm="0">
                                          <p:val>
                                            <p:fltVal val="0"/>
                                          </p:val>
                                        </p:tav>
                                        <p:tav tm="100000">
                                          <p:val>
                                            <p:fltVal val="1"/>
                                          </p:val>
                                        </p:tav>
                                      </p:tavLst>
                                    </p:anim>
                                  </p:childTnLst>
                                </p:cTn>
                              </p:par>
                            </p:childTnLst>
                          </p:cTn>
                        </p:par>
                      </p:childTnLst>
                    </p:cTn>
                  </p:par>
                  <p:par>
                    <p:cTn id="238" fill="hold">
                      <p:stCondLst>
                        <p:cond delay="indefinite"/>
                        <p:cond evt="onBegin" delay="0">
                          <p:tn val="2"/>
                        </p:cond>
                      </p:stCondLst>
                      <p:childTnLst>
                        <p:par>
                          <p:cTn id="239" fill="hold">
                            <p:stCondLst>
                              <p:cond delay="0"/>
                            </p:stCondLst>
                            <p:childTnLst>
                              <p:par>
                                <p:cTn id="240" presetID="10" presetClass="entr" presetSubtype="0" fill="hold" grpId="0" nodeType="afterEffect">
                                  <p:stCondLst>
                                    <p:cond delay="18"/>
                                  </p:stCondLst>
                                  <p:childTnLst>
                                    <p:set>
                                      <p:cBhvr>
                                        <p:cTn id="241" dur="1" fill="hold">
                                          <p:stCondLst>
                                            <p:cond delay="0"/>
                                          </p:stCondLst>
                                        </p:cTn>
                                        <p:tgtEl>
                                          <p:spTgt spid="49"/>
                                        </p:tgtEl>
                                        <p:attrNameLst>
                                          <p:attrName>style.visibility</p:attrName>
                                        </p:attrNameLst>
                                      </p:cBhvr>
                                      <p:to>
                                        <p:strVal val="visible"/>
                                      </p:to>
                                    </p:set>
                                    <p:anim calcmode="lin" valueType="num">
                                      <p:cBhvr additive="base">
                                        <p:cTn id="242" dur="150" fill="hold"/>
                                        <p:tgtEl>
                                          <p:spTgt spid="4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From analysis to a fundable pitch</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Every great smart automation programme starts with a one-page pitch your sponsor cannot say no to.</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Same Tier-1 bank — how the ₹247-crore pitch was built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84 lakh supplier invoices a year, ₹312 crore handling cost, 23-day average payment cycle, regular audit findings about duplicate payments. The team had four candidate processes. Three were popular with managers; one was popular with the data.</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The data candidate won. Mining first showed 41% of touches were exception-handling on the same five vendors. RPA covered the stable 90%; AI handled the duplicates. Stack order, exactly as taught. ₹247 crore saved. Payback: 11 months.</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Mining was done before any bot was scoped.</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Five vendors caused 41% of exceptions — fixable upstream.</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RPA covered the stable 90% of cases first; AI joined later.</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ROI math followed the 5-factor model — sponsor signed in one meeting.</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What is the right order to stack the three technologies?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AI → RPA → Mining (start with the cleverest tech)</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Mining → RPA → AI</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RPA → AI → Mining (deploy bots first, then learn)</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Order does not matter as long as all three are deployed</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What is the right order to stack the three technologies?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Mining → RPA → AI</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Mining first — to see what is actually happening. RPA next — to automate the stable, rule-based steps that mining surfaced. AI last — to handle the few steps where humans were judging. Reversing this order is the most common reason programmes stall.</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Which process is the *least* suitable RPA candidate?</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Reconciling 4 lakh bank transactions nightly using clear rules</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Copying invoice numbers from PDFs into ERP — fully digital, stable</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Approving leave requests under 3 days using HR rules</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Designing the next marketing campaign for Diwali</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Which process is the *least* suitable RPA candidate?</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D</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Designing the next marketing campaign for Diwali</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Marketing design is creative, ambiguous and changes constantly — every signal a bot needs is missing. The other three score high on volume, rule-clarity, digital input and stability. RPA does not replace judgement; it replaces clicks.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A candidate scores: 200,000 cases/yr, 12 min/case, 8% error rate, strategic fit 4/5, implementation cost ₹40 lakh. Year-1 net saving estimated ₹2.1 crore. Should you fund it?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 — strategic fit is below 5</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 — error rate is too low</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Yes — Year-1 net ROI exceeds 2× implementation cost</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Yes — every project should be funded</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A candidate scores: 200,000 cases/yr, 12 min/case, 8% error rate, strategic fit 4/5, implementation cost ₹40 lakh. Year-1 net saving estimated ₹2.1 crore. Should you fund it?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C</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Yes — Year-1 net ROI exceeds 2× implementation cost</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₹2.1 crore saving against ₹40 lakh build is a 5.25× return in year one — comfortably above the 2× rule of thumb. Volume, handle-time and error-rate all multiply favourably. This is exactly the kind of candidate the 5-factor model is built to surface.</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Identify one process around you (work, college, family) that is high-volume and rule-based. What's the volume?</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If you applied the 5-factor model to that process today, where would the score break down — volume, rules, digital, stable, or strategic?</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technology would you reach for first — mining, RPA or AI? Be honest about why.</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6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Pitch a smart automation pilot — one page, real company</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Pick a real Indian company you know. Identify one back-office process worth automating. Mine it (even via interview), score it with the 5-factor model, propose the stack, and sketch a 90-day pilot — all on one page.</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Process scored with all five factors and a one-line justification each</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Stack proposal: which is RPA, which AI, which mining-only</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Year-1 net ROI calculation with cited numbers (volume × time × ₹ saved)</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90-day pilot plan with three measurable milestones</a:t>
            </a:r>
          </a:p>
        </p:txBody>
      </p:sp>
      <p:sp>
        <p:nvSpPr>
          <p:cNvPr id="18" name="Oval 17"/>
          <p:cNvSpPr/>
          <p:nvPr/>
        </p:nvSpPr>
        <p:spPr>
          <a:xfrm>
            <a:off x="868680" y="559612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48640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Top three risks named, each with a one-sentence mitigation</a:t>
            </a:r>
          </a:p>
        </p:txBody>
      </p:sp>
      <p:sp>
        <p:nvSpPr>
          <p:cNvPr id="20" name="Rectangle 19"/>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2" name="TextBox 21"/>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A great submission could be presented to a CFO tomorrow morning. Numbers cited. Stack defensible. Risks honest. Pilot achievable.</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RPA clicks. AI thinks. Mining sees. The three together rewrite how work happens.</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Mine first. Automate next. Add intelligence last. Reverse this and the programme stalls.</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Six criteria spot a real candidate: volume, rules, digital, stable, error-cost, time.</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The 5-factor ROI model is the math that wins funding — not the storytelling.</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The right tool fits your stack and your local talent — not the analyst's quadrant.</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6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6</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Define RPA, AI and process mining without confusing the three.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stack order for any new automation programme.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Score automation candidates against six clear criteria.</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Run any candidate through the 5-factor ROI model in five minutes.</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Sketch a 90-day pilot pitch that survives a CFO conversation.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7 — Process Discovery &amp; Opportunity Analysis</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